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Roboto Medium"/>
      <p:regular r:id="rId17"/>
    </p:embeddedFont>
    <p:embeddedFont>
      <p:font typeface="Roboto Medium"/>
      <p:regular r:id="rId18"/>
    </p:embeddedFont>
    <p:embeddedFont>
      <p:font typeface="Roboto Medium"/>
      <p:regular r:id="rId19"/>
    </p:embeddedFont>
    <p:embeddedFont>
      <p:font typeface="Roboto Medium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2074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Arquitecturas Modernas de IA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29025"/>
            <a:ext cx="36490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AGI · Multimodal · Agentic AI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3235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2026, la IA generativa ha dejado de ser una herramienta de respuestas simples. Estamos ante sistemas integrados, autónomos y capaces de razonar y actuar en el mundo real.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5674995"/>
            <a:ext cx="673537" cy="426244"/>
          </a:xfrm>
          <a:prstGeom prst="roundRect">
            <a:avLst>
              <a:gd name="adj" fmla="val 17880"/>
            </a:avLst>
          </a:prstGeom>
          <a:solidFill>
            <a:srgbClr val="0F163E"/>
          </a:solidFill>
          <a:ln/>
        </p:spPr>
      </p:sp>
      <p:sp>
        <p:nvSpPr>
          <p:cNvPr id="7" name="Text 4"/>
          <p:cNvSpPr/>
          <p:nvPr/>
        </p:nvSpPr>
        <p:spPr>
          <a:xfrm>
            <a:off x="929878" y="5742980"/>
            <a:ext cx="40136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5.2.4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580674" y="5667375"/>
            <a:ext cx="176617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5A6E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24382" y="5742980"/>
            <a:ext cx="147875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NIVEL AVANZADO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7981"/>
            <a:ext cx="118049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 modelos separados a inteligencia unificada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92072"/>
            <a:ext cx="8284131" cy="46942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624852"/>
            <a:ext cx="30469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El cambio de paradigma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205996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Hasta 2024, cada modalidad tenía su propio modelo: ChatGPT para texto, DALL·E para imágenes, Whisper para audio.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861679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2026, los modelos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multimodales unificados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procesan y generan texto, imágenes, audio, vídeo y código en una sola interfaz, comprendiendo las relaciones entre todos ellos.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218" y="627578"/>
            <a:ext cx="5644515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Multimodalidad Total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90218" y="1670209"/>
            <a:ext cx="7563564" cy="1314450"/>
          </a:xfrm>
          <a:prstGeom prst="roundRect">
            <a:avLst>
              <a:gd name="adj" fmla="val 721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3580" y="1903571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GPT-5.3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3580" y="2391013"/>
            <a:ext cx="7096839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Texto + visión + voz nativa + razonamiento paso a paso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0218" y="3209330"/>
            <a:ext cx="7563564" cy="1314450"/>
          </a:xfrm>
          <a:prstGeom prst="roundRect">
            <a:avLst>
              <a:gd name="adj" fmla="val 721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3580" y="3442692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Gemini 3.1 Pro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3580" y="3930134"/>
            <a:ext cx="7096839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Integración profunda con Google Workspace, YouTube y Maps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0218" y="4748451"/>
            <a:ext cx="7563564" cy="1314450"/>
          </a:xfrm>
          <a:prstGeom prst="roundRect">
            <a:avLst>
              <a:gd name="adj" fmla="val 721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3580" y="4981813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Claude 4.6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3580" y="5469255"/>
            <a:ext cx="7096839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Razonamiento largo, análisis de documentos complejos y visión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0218" y="6287572"/>
            <a:ext cx="7563564" cy="1314450"/>
          </a:xfrm>
          <a:prstGeom prst="roundRect">
            <a:avLst>
              <a:gd name="adj" fmla="val 721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23580" y="6520934"/>
            <a:ext cx="31320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Grok 4.2 / Qwen-Max 3.5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23580" y="7008376"/>
            <a:ext cx="7096839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Multimodal + búsqueda en tiempo real + herramientas externas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6785"/>
            <a:ext cx="75011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Multimodalidad en la práctica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22540"/>
            <a:ext cx="29454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Ejemplo real sin código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803684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Subes un vídeo de 5 minutos, una captura de pantalla y tu voz preguntando algo. El modelo: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096464"/>
            <a:ext cx="4205168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Resume el contenido automáticamente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Extrae datos y métricas clave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 subtítulos y thumbnails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Sugiere mejoras al guion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6352937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 en una sola conversación, sin herramientas externas.</a:t>
            </a:r>
            <a:endParaRPr lang="en-US" sz="1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981" y="2292072"/>
            <a:ext cx="8284131" cy="46942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2965"/>
            <a:ext cx="68410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Agentic AI: La IA que actúa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2537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ya no solo conversan. En 2026, los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agentes autónomos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planifican, toman decisiones y ejecutan tareas complejas con mínima supervisión humana.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006328"/>
            <a:ext cx="453628" cy="453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Planificación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233863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Descomponen una meta grande en subtareas ejecutables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006328"/>
            <a:ext cx="453628" cy="4536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Uso de herramientas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6884" y="4233863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Buscan en la web, envían emails, llaman APIs y editan documentos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413296"/>
            <a:ext cx="453628" cy="4536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61504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Memoria a largo plazo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93790" y="6640830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Recuerdan contexto de conversaciones de semanas anteriores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5413296"/>
            <a:ext cx="453628" cy="4536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6884" y="61504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Auto-corrección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456884" y="6640830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Razonamiento en cadena avanzado y detección de errores propios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784" y="666155"/>
            <a:ext cx="5637728" cy="668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Agentes reales en 2026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48784" y="1864281"/>
            <a:ext cx="4257199" cy="1689616"/>
          </a:xfrm>
          <a:prstGeom prst="roundRect">
            <a:avLst>
              <a:gd name="adj" fmla="val 8659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8304" y="1864281"/>
            <a:ext cx="121920" cy="1689616"/>
          </a:xfrm>
          <a:prstGeom prst="roundRect">
            <a:avLst>
              <a:gd name="adj" fmla="val 73704"/>
            </a:avLst>
          </a:prstGeom>
          <a:solidFill>
            <a:srgbClr val="5A6ED8"/>
          </a:solidFill>
          <a:ln/>
        </p:spPr>
      </p:sp>
      <p:sp>
        <p:nvSpPr>
          <p:cNvPr id="5" name="Text 3"/>
          <p:cNvSpPr/>
          <p:nvPr/>
        </p:nvSpPr>
        <p:spPr>
          <a:xfrm>
            <a:off x="1084540" y="2108597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Claude Computer Use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84540" y="2644497"/>
            <a:ext cx="3677126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Controla un ordenador virtual: hace clic, escribe y navega por la web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8784" y="3755588"/>
            <a:ext cx="4257199" cy="1689616"/>
          </a:xfrm>
          <a:prstGeom prst="roundRect">
            <a:avLst>
              <a:gd name="adj" fmla="val 8659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8304" y="3755588"/>
            <a:ext cx="121920" cy="1689616"/>
          </a:xfrm>
          <a:prstGeom prst="roundRect">
            <a:avLst>
              <a:gd name="adj" fmla="val 73704"/>
            </a:avLst>
          </a:prstGeom>
          <a:solidFill>
            <a:srgbClr val="5A6ED8"/>
          </a:solidFill>
          <a:ln/>
        </p:spPr>
      </p:sp>
      <p:sp>
        <p:nvSpPr>
          <p:cNvPr id="9" name="Text 7"/>
          <p:cNvSpPr/>
          <p:nvPr/>
        </p:nvSpPr>
        <p:spPr>
          <a:xfrm>
            <a:off x="1084540" y="3999905"/>
            <a:ext cx="3161705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CrewAI / LangGraph Cloud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84540" y="4535805"/>
            <a:ext cx="3677126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Frameworks agentic accesibles en plataformas no-code y low-code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48784" y="5646896"/>
            <a:ext cx="4257199" cy="1689616"/>
          </a:xfrm>
          <a:prstGeom prst="roundRect">
            <a:avLst>
              <a:gd name="adj" fmla="val 8659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8304" y="5646896"/>
            <a:ext cx="121920" cy="1689616"/>
          </a:xfrm>
          <a:prstGeom prst="roundRect">
            <a:avLst>
              <a:gd name="adj" fmla="val 73704"/>
            </a:avLst>
          </a:prstGeom>
          <a:solidFill>
            <a:srgbClr val="5A6ED8"/>
          </a:solidFill>
          <a:ln/>
        </p:spPr>
      </p:sp>
      <p:sp>
        <p:nvSpPr>
          <p:cNvPr id="13" name="Text 11"/>
          <p:cNvSpPr/>
          <p:nvPr/>
        </p:nvSpPr>
        <p:spPr>
          <a:xfrm>
            <a:off x="1084540" y="5891213"/>
            <a:ext cx="2987397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Copilot Studio + Azure AI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84540" y="6427113"/>
            <a:ext cx="3677126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Solución empresarial líder en 2026 para automatización de procesos</a:t>
            </a:r>
            <a:endParaRPr lang="en-US" sz="16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5573" y="2233613"/>
            <a:ext cx="8353544" cy="47335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951" y="1042035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«Antes le pedías a un asistente que escribiera un email. Ahora le dices: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"Organiza mi viaje a Barcelona en abril, presupuesto bajo 800€, hotel céntrico, vuelos directos y entradas a la Sagrada Família"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y el agente lo ejecuta todo.»</a:t>
            </a:r>
            <a:endParaRPr lang="en-US" sz="1750" dirty="0"/>
          </a:p>
        </p:txBody>
      </p:sp>
      <p:sp>
        <p:nvSpPr>
          <p:cNvPr id="3" name="Shape 1"/>
          <p:cNvSpPr/>
          <p:nvPr/>
        </p:nvSpPr>
        <p:spPr>
          <a:xfrm>
            <a:off x="793790" y="786884"/>
            <a:ext cx="30480" cy="1236107"/>
          </a:xfrm>
          <a:prstGeom prst="rect">
            <a:avLst/>
          </a:prstGeom>
          <a:solidFill>
            <a:srgbClr val="5A6E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4959" y="2278142"/>
            <a:ext cx="7660481" cy="454652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7778" y="3389387"/>
            <a:ext cx="652129" cy="65213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16770" y="5586659"/>
            <a:ext cx="1904221" cy="73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Confirma y actualiza</a:t>
            </a:r>
            <a:endParaRPr lang="en-US" sz="2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0368" y="3390610"/>
            <a:ext cx="652130" cy="65213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16929" y="5586659"/>
            <a:ext cx="1904221" cy="73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Planifica y ejecuta</a:t>
            </a:r>
            <a:endParaRPr lang="en-US" sz="2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0528" y="3390610"/>
            <a:ext cx="652130" cy="65213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977961" y="5586659"/>
            <a:ext cx="1904221" cy="73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Recibe instrucción</a:t>
            </a:r>
            <a:endParaRPr lang="en-US" sz="2300" dirty="0"/>
          </a:p>
        </p:txBody>
      </p:sp>
      <p:sp>
        <p:nvSpPr>
          <p:cNvPr id="11" name="Text 5"/>
          <p:cNvSpPr/>
          <p:nvPr/>
        </p:nvSpPr>
        <p:spPr>
          <a:xfrm>
            <a:off x="793790" y="707981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 analogía ilustra el salto cualitativo de la IA conversacional a la IA agentic: del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lenguaje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la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acción real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el mundo digital.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18178"/>
            <a:ext cx="57154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El Camino hacia la AGI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56711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febrero de 2026,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hemos alcanzado la AGI plena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Sin embargo, los sistemas actuales superan a expertos humanos en dominios específicos: codificación, matemáticas avanzadas, razonamiento científico y análisis legal.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661422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90-95%</a:t>
            </a:r>
            <a:endParaRPr lang="en-US" sz="5850" dirty="0"/>
          </a:p>
        </p:txBody>
      </p:sp>
      <p:sp>
        <p:nvSpPr>
          <p:cNvPr id="6" name="Text 3"/>
          <p:cNvSpPr/>
          <p:nvPr/>
        </p:nvSpPr>
        <p:spPr>
          <a:xfrm>
            <a:off x="2174558" y="6693218"/>
            <a:ext cx="36180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Rendimiento en benchmarks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7183636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Superan a expertos en GPQA, MATH-500 y SWE-bench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456884" y="5661422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~2030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9125545" y="6693218"/>
            <a:ext cx="30424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Predicción mediana AGI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56884" y="7183636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Según encuestas a expertos del sector (rango: 2027–2035)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8700"/>
            <a:ext cx="80620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Debate abierto en torno a la AGI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54454"/>
            <a:ext cx="37377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Desafíos técnicos pendientes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35598"/>
            <a:ext cx="6244709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Misalignment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alucinaciones estratégicas y goal misgeneralization siguen siendo un riesgo real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Ningún modelo aprende tareas nuevas desde cero sin reentrenamiento masivo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AGI estrecha (superhumana en dominios) no equivale a AGI general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254454"/>
            <a:ext cx="36259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Respuesta regulatoria global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835598"/>
            <a:ext cx="6244709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UE AI Act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en plena aplicación para sistemas de alto riesgo desde 2025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EE.UU.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Executive Order + propuestas legislativas en el Congreso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China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controles estrictos sobre modelos de gran escala y su despliegue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620" y="1322189"/>
            <a:ext cx="7103031" cy="558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Niveles de IA en 2026: Comparativa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1150620" y="2162056"/>
            <a:ext cx="12329041" cy="3930253"/>
          </a:xfrm>
          <a:prstGeom prst="roundRect">
            <a:avLst>
              <a:gd name="adj" fmla="val 190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8240" y="2169676"/>
            <a:ext cx="12313801" cy="43957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337191" y="2261711"/>
            <a:ext cx="2348032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Nivel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50030" y="2261711"/>
            <a:ext cx="3083004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Capacidad principal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7842" y="2261711"/>
            <a:ext cx="2713553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Ejemplos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76203" y="2261711"/>
            <a:ext cx="1235869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No-code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176879" y="2261711"/>
            <a:ext cx="1116568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Autonomía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58240" y="2609255"/>
            <a:ext cx="12313801" cy="6950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337191" y="2701290"/>
            <a:ext cx="2348032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 generativa clásica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50030" y="2701290"/>
            <a:ext cx="3083004" cy="51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 contenido a partir de un prompt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7842" y="2701290"/>
            <a:ext cx="2713553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ChatGPT 3.5/4, Midjourney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76203" y="2701290"/>
            <a:ext cx="1235869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Sí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176879" y="2701290"/>
            <a:ext cx="1116568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Baja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58240" y="3304342"/>
            <a:ext cx="12313801" cy="6950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337191" y="3396377"/>
            <a:ext cx="2348032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Multimodal unificado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50030" y="3396377"/>
            <a:ext cx="3083004" cy="51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Texto + imagen + audio + vídeo en una sola interfaz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7842" y="3396377"/>
            <a:ext cx="2713553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GPT-4o, Gemini 2.5, Claude 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76203" y="3396377"/>
            <a:ext cx="1235869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Sí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176879" y="3396377"/>
            <a:ext cx="1116568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158240" y="3999428"/>
            <a:ext cx="12313801" cy="6950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37191" y="4091464"/>
            <a:ext cx="2348032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Agentic AI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50030" y="4091464"/>
            <a:ext cx="3083004" cy="51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Planifica, usa herramientas y ejecuta tareas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97842" y="4091464"/>
            <a:ext cx="2713553" cy="51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o3 agents, Claude Computer Use, CrewAI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76203" y="4091464"/>
            <a:ext cx="1235869" cy="51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Plataformas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176879" y="4091464"/>
            <a:ext cx="1116568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158240" y="4694515"/>
            <a:ext cx="12313801" cy="6950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337191" y="4786551"/>
            <a:ext cx="2348032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Pre-AGI / AGI estrecha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050030" y="4786551"/>
            <a:ext cx="3083004" cy="51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Supera humanos en casi cualquier dominio intelectual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97842" y="4786551"/>
            <a:ext cx="2713553" cy="51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o3, Gemini Ultra, Grok 3, Qwen-Max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576203" y="4786551"/>
            <a:ext cx="1235869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176879" y="4786551"/>
            <a:ext cx="1116568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Muy alta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158240" y="5389602"/>
            <a:ext cx="12313801" cy="6950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337191" y="5481638"/>
            <a:ext cx="2348032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AGI plena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050030" y="5481638"/>
            <a:ext cx="3083004" cy="51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Cualquier tarea intelectual + aprendizaje autónomo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97842" y="5481638"/>
            <a:ext cx="2713553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Aún no existe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576203" y="5481638"/>
            <a:ext cx="1235869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176879" y="5481638"/>
            <a:ext cx="1116568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150620" y="6250543"/>
            <a:ext cx="12329041" cy="656749"/>
          </a:xfrm>
          <a:prstGeom prst="roundRect">
            <a:avLst>
              <a:gd name="adj" fmla="val 11427"/>
            </a:avLst>
          </a:prstGeom>
          <a:solidFill>
            <a:srgbClr val="0F163E"/>
          </a:solidFill>
          <a:ln/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9214" y="6500336"/>
            <a:ext cx="223242" cy="178594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731050" y="6435923"/>
            <a:ext cx="11570018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frontera entre niveles es difusa y avanza rápidamente. Los modelos de 2026 ya operan en la zona de transición entre Agentic AI y Pre-AGI.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2026-02-20T15:48:01Z</dcterms:created>
  <dcterms:modified xsi:type="dcterms:W3CDTF">2026-02-20T15:48:01Z</dcterms:modified>
</cp:coreProperties>
</file>