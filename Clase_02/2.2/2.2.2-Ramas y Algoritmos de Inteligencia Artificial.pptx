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webp" ContentType="image/webp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ustom.xml" ContentType="application/vnd.openxmlformats-officedocument.custom-propertie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Relationship Id="rId4" Type="http://schemas.openxmlformats.org/officeDocument/2006/relationships/custom-properties" Target="docProps/custom.xml" 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embeddedFontLst>
    <p:embeddedFont>
      <p:font typeface="MiSans" charset="-122" pitchFamily="34"/>
      <p:regular r:id="rId19"/>
    </p:embeddedFont>
    <p:embeddedFont>
      <p:font typeface="Alimama ShuHeiTi" charset="-122" pitchFamily="34"/>
      <p:regular r:id="rId20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Relationship Id="rId19" Type="http://schemas.openxmlformats.org/officeDocument/2006/relationships/font" Target="fonts/font1.fntdata"/><Relationship Id="rId20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PTIST_MAST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webp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D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images.presentationgo.com/e571232c06dfc03d533c300c9599ac5a728f4219.png">    </p:cNvPr>
          <p:cNvPicPr>
            <a:picLocks noChangeAspect="1"/>
          </p:cNvPicPr>
          <p:nvPr/>
        </p:nvPicPr>
        <p:blipFill>
          <a:blip r:embed="rId1">
            <a:alphaModFix amt="40000"/>
          </a:blip>
          <a:srcRect l="0" r="0" t="21875" b="21875"/>
          <a:stretch/>
        </p:blipFill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 rotWithShape="1" flip="none">
            <a:gsLst>
              <a:gs pos="0">
                <a:srgbClr val="1A1D23">
                  <a:alpha val="95000"/>
                </a:srgbClr>
              </a:gs>
              <a:gs pos="50000">
                <a:srgbClr val="1A1D23">
                  <a:alpha val="85000"/>
                </a:srgbClr>
              </a:gs>
              <a:gs pos="100000">
                <a:srgbClr val="000000">
                  <a:alpha val="0"/>
                </a:srgbClr>
              </a:gs>
            </a:gsLst>
            <a:lin ang="2700000" scaled="1"/>
          </a:gradFill>
          <a:ln/>
        </p:spPr>
      </p:sp>
      <p:sp>
        <p:nvSpPr>
          <p:cNvPr id="4" name="Shape 1"/>
          <p:cNvSpPr/>
          <p:nvPr/>
        </p:nvSpPr>
        <p:spPr>
          <a:xfrm>
            <a:off x="400050" y="807244"/>
            <a:ext cx="2924175" cy="419100"/>
          </a:xfrm>
          <a:custGeom>
            <a:avLst/>
            <a:gdLst/>
            <a:ahLst/>
            <a:cxnLst/>
            <a:rect l="l" t="t" r="r" b="b"/>
            <a:pathLst>
              <a:path w="2924175" h="419100">
                <a:moveTo>
                  <a:pt x="0" y="0"/>
                </a:moveTo>
                <a:lnTo>
                  <a:pt x="2924175" y="0"/>
                </a:lnTo>
                <a:lnTo>
                  <a:pt x="2924175" y="419100"/>
                </a:lnTo>
                <a:lnTo>
                  <a:pt x="0" y="419100"/>
                </a:lnTo>
                <a:lnTo>
                  <a:pt x="0" y="0"/>
                </a:lnTo>
                <a:close/>
              </a:path>
            </a:pathLst>
          </a:custGeom>
          <a:solidFill>
            <a:srgbClr val="C8A265">
              <a:alpha val="20000"/>
            </a:srgbClr>
          </a:solidFill>
          <a:ln/>
        </p:spPr>
      </p:sp>
      <p:sp>
        <p:nvSpPr>
          <p:cNvPr id="5" name="Shape 2"/>
          <p:cNvSpPr/>
          <p:nvPr/>
        </p:nvSpPr>
        <p:spPr>
          <a:xfrm>
            <a:off x="400050" y="807244"/>
            <a:ext cx="38100" cy="419100"/>
          </a:xfrm>
          <a:custGeom>
            <a:avLst/>
            <a:gdLst/>
            <a:ahLst/>
            <a:cxnLst/>
            <a:rect l="l" t="t" r="r" b="b"/>
            <a:pathLst>
              <a:path w="38100" h="419100">
                <a:moveTo>
                  <a:pt x="0" y="0"/>
                </a:moveTo>
                <a:lnTo>
                  <a:pt x="38100" y="0"/>
                </a:lnTo>
                <a:lnTo>
                  <a:pt x="38100" y="419100"/>
                </a:lnTo>
                <a:lnTo>
                  <a:pt x="0" y="419100"/>
                </a:lnTo>
                <a:lnTo>
                  <a:pt x="0" y="0"/>
                </a:lnTo>
                <a:close/>
              </a:path>
            </a:pathLst>
          </a:custGeom>
          <a:solidFill>
            <a:srgbClr val="C8A265"/>
          </a:solidFill>
          <a:ln/>
        </p:spPr>
      </p:sp>
      <p:sp>
        <p:nvSpPr>
          <p:cNvPr id="6" name="Text 3"/>
          <p:cNvSpPr/>
          <p:nvPr/>
        </p:nvSpPr>
        <p:spPr>
          <a:xfrm>
            <a:off x="647700" y="902494"/>
            <a:ext cx="253275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spc="135" kern="0" dirty="0">
                <a:solidFill>
                  <a:srgbClr val="C8A26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INTELIGENCIA ARTIFICIAL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381000" y="1531144"/>
            <a:ext cx="118872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7200" b="1" dirty="0">
                <a:solidFill>
                  <a:srgbClr val="E0E2E6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Ramas y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7200" b="1" dirty="0">
                <a:solidFill>
                  <a:srgbClr val="E0E2E6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Algoritmos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381000" y="4045744"/>
            <a:ext cx="1219200" cy="38100"/>
          </a:xfrm>
          <a:custGeom>
            <a:avLst/>
            <a:gdLst/>
            <a:ahLst/>
            <a:cxnLst/>
            <a:rect l="l" t="t" r="r" b="b"/>
            <a:pathLst>
              <a:path w="1219200" h="38100">
                <a:moveTo>
                  <a:pt x="0" y="0"/>
                </a:moveTo>
                <a:lnTo>
                  <a:pt x="1219200" y="0"/>
                </a:lnTo>
                <a:lnTo>
                  <a:pt x="121920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C8A265"/>
          </a:solidFill>
          <a:ln/>
        </p:spPr>
      </p:sp>
      <p:sp>
        <p:nvSpPr>
          <p:cNvPr id="9" name="Text 6"/>
          <p:cNvSpPr/>
          <p:nvPr/>
        </p:nvSpPr>
        <p:spPr>
          <a:xfrm>
            <a:off x="381000" y="4388644"/>
            <a:ext cx="7458075" cy="933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2250" dirty="0">
                <a:solidFill>
                  <a:srgbClr val="788A9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Una exploración completa de las principales áreas y técnicas de IA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381000" y="5443538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  <a:lnTo>
                  <a:pt x="11430000" y="9525"/>
                </a:lnTo>
                <a:lnTo>
                  <a:pt x="0" y="9525"/>
                </a:lnTo>
                <a:lnTo>
                  <a:pt x="0" y="0"/>
                </a:lnTo>
                <a:close/>
              </a:path>
            </a:pathLst>
          </a:custGeom>
          <a:solidFill>
            <a:srgbClr val="788A9C">
              <a:alpha val="30196"/>
            </a:srgbClr>
          </a:solidFill>
          <a:ln/>
        </p:spPr>
      </p:sp>
      <p:sp>
        <p:nvSpPr>
          <p:cNvPr id="11" name="Shape 8"/>
          <p:cNvSpPr/>
          <p:nvPr/>
        </p:nvSpPr>
        <p:spPr>
          <a:xfrm>
            <a:off x="381000" y="569595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76202" y="0"/>
                </a:moveTo>
                <a:lnTo>
                  <a:pt x="380998" y="0"/>
                </a:lnTo>
                <a:cubicBezTo>
                  <a:pt x="423055" y="0"/>
                  <a:pt x="457200" y="34145"/>
                  <a:pt x="457200" y="76202"/>
                </a:cubicBezTo>
                <a:lnTo>
                  <a:pt x="457200" y="380998"/>
                </a:lnTo>
                <a:cubicBezTo>
                  <a:pt x="457200" y="423055"/>
                  <a:pt x="423055" y="457200"/>
                  <a:pt x="380998" y="457200"/>
                </a:cubicBezTo>
                <a:lnTo>
                  <a:pt x="76202" y="457200"/>
                </a:lnTo>
                <a:cubicBezTo>
                  <a:pt x="34145" y="457200"/>
                  <a:pt x="0" y="423055"/>
                  <a:pt x="0" y="3809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4A6D8C">
              <a:alpha val="30196"/>
            </a:srgbClr>
          </a:solidFill>
          <a:ln/>
        </p:spPr>
      </p:sp>
      <p:sp>
        <p:nvSpPr>
          <p:cNvPr id="12" name="Shape 9"/>
          <p:cNvSpPr/>
          <p:nvPr/>
        </p:nvSpPr>
        <p:spPr>
          <a:xfrm>
            <a:off x="495300" y="581025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53578" y="25003"/>
                </a:moveTo>
                <a:cubicBezTo>
                  <a:pt x="53578" y="11207"/>
                  <a:pt x="64785" y="0"/>
                  <a:pt x="78581" y="0"/>
                </a:cubicBezTo>
                <a:lnTo>
                  <a:pt x="89297" y="0"/>
                </a:lnTo>
                <a:cubicBezTo>
                  <a:pt x="97200" y="0"/>
                  <a:pt x="103584" y="6385"/>
                  <a:pt x="103584" y="14288"/>
                </a:cubicBezTo>
                <a:lnTo>
                  <a:pt x="103584" y="214313"/>
                </a:lnTo>
                <a:cubicBezTo>
                  <a:pt x="103584" y="222215"/>
                  <a:pt x="97200" y="228600"/>
                  <a:pt x="89297" y="228600"/>
                </a:cubicBezTo>
                <a:lnTo>
                  <a:pt x="75009" y="228600"/>
                </a:lnTo>
                <a:cubicBezTo>
                  <a:pt x="61704" y="228600"/>
                  <a:pt x="50497" y="219492"/>
                  <a:pt x="47327" y="207169"/>
                </a:cubicBezTo>
                <a:cubicBezTo>
                  <a:pt x="47015" y="207169"/>
                  <a:pt x="46747" y="207169"/>
                  <a:pt x="46434" y="207169"/>
                </a:cubicBezTo>
                <a:cubicBezTo>
                  <a:pt x="26700" y="207169"/>
                  <a:pt x="10716" y="191185"/>
                  <a:pt x="10716" y="171450"/>
                </a:cubicBezTo>
                <a:cubicBezTo>
                  <a:pt x="10716" y="163413"/>
                  <a:pt x="13395" y="156002"/>
                  <a:pt x="17859" y="150019"/>
                </a:cubicBezTo>
                <a:cubicBezTo>
                  <a:pt x="9198" y="143500"/>
                  <a:pt x="3572" y="133142"/>
                  <a:pt x="3572" y="121444"/>
                </a:cubicBezTo>
                <a:cubicBezTo>
                  <a:pt x="3572" y="107647"/>
                  <a:pt x="11430" y="95637"/>
                  <a:pt x="22860" y="89699"/>
                </a:cubicBezTo>
                <a:cubicBezTo>
                  <a:pt x="19690" y="84341"/>
                  <a:pt x="17859" y="78090"/>
                  <a:pt x="17859" y="71438"/>
                </a:cubicBezTo>
                <a:cubicBezTo>
                  <a:pt x="17859" y="51703"/>
                  <a:pt x="33844" y="35719"/>
                  <a:pt x="53578" y="35719"/>
                </a:cubicBezTo>
                <a:lnTo>
                  <a:pt x="53578" y="25003"/>
                </a:lnTo>
                <a:close/>
                <a:moveTo>
                  <a:pt x="175022" y="25003"/>
                </a:moveTo>
                <a:lnTo>
                  <a:pt x="175022" y="35719"/>
                </a:lnTo>
                <a:cubicBezTo>
                  <a:pt x="194756" y="35719"/>
                  <a:pt x="210741" y="51703"/>
                  <a:pt x="210741" y="71438"/>
                </a:cubicBezTo>
                <a:cubicBezTo>
                  <a:pt x="210741" y="78135"/>
                  <a:pt x="208910" y="84386"/>
                  <a:pt x="205740" y="89699"/>
                </a:cubicBezTo>
                <a:cubicBezTo>
                  <a:pt x="217215" y="95637"/>
                  <a:pt x="225028" y="107603"/>
                  <a:pt x="225028" y="121444"/>
                </a:cubicBezTo>
                <a:cubicBezTo>
                  <a:pt x="225028" y="133142"/>
                  <a:pt x="219402" y="143500"/>
                  <a:pt x="210741" y="150019"/>
                </a:cubicBezTo>
                <a:cubicBezTo>
                  <a:pt x="215205" y="156002"/>
                  <a:pt x="217884" y="163413"/>
                  <a:pt x="217884" y="171450"/>
                </a:cubicBezTo>
                <a:cubicBezTo>
                  <a:pt x="217884" y="191185"/>
                  <a:pt x="201900" y="207169"/>
                  <a:pt x="182166" y="207169"/>
                </a:cubicBezTo>
                <a:cubicBezTo>
                  <a:pt x="181853" y="207169"/>
                  <a:pt x="181585" y="207169"/>
                  <a:pt x="181273" y="207169"/>
                </a:cubicBezTo>
                <a:cubicBezTo>
                  <a:pt x="178103" y="219492"/>
                  <a:pt x="166896" y="228600"/>
                  <a:pt x="153591" y="228600"/>
                </a:cubicBezTo>
                <a:lnTo>
                  <a:pt x="139303" y="228600"/>
                </a:lnTo>
                <a:cubicBezTo>
                  <a:pt x="131400" y="228600"/>
                  <a:pt x="125016" y="222215"/>
                  <a:pt x="125016" y="214313"/>
                </a:cubicBezTo>
                <a:lnTo>
                  <a:pt x="125016" y="14288"/>
                </a:lnTo>
                <a:cubicBezTo>
                  <a:pt x="125016" y="6385"/>
                  <a:pt x="131400" y="0"/>
                  <a:pt x="139303" y="0"/>
                </a:cubicBezTo>
                <a:lnTo>
                  <a:pt x="150019" y="0"/>
                </a:lnTo>
                <a:cubicBezTo>
                  <a:pt x="163815" y="0"/>
                  <a:pt x="175022" y="11207"/>
                  <a:pt x="175022" y="25003"/>
                </a:cubicBezTo>
                <a:close/>
              </a:path>
            </a:pathLst>
          </a:custGeom>
          <a:solidFill>
            <a:srgbClr val="C8A265"/>
          </a:solidFill>
          <a:ln/>
        </p:spPr>
      </p:sp>
      <p:sp>
        <p:nvSpPr>
          <p:cNvPr id="13" name="Text 10"/>
          <p:cNvSpPr/>
          <p:nvPr/>
        </p:nvSpPr>
        <p:spPr>
          <a:xfrm>
            <a:off x="990600" y="5676900"/>
            <a:ext cx="350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788A9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Tecnología de Vanguardia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990600" y="5905500"/>
            <a:ext cx="35147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E0E2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Machine Learning • Deep Learning • NLP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10730657" y="5676900"/>
            <a:ext cx="10763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30000"/>
              </a:lnSpc>
            </a:pPr>
            <a:r>
              <a:rPr lang="en-US" sz="1200" dirty="0">
                <a:solidFill>
                  <a:srgbClr val="788A9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2026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10711607" y="5905500"/>
            <a:ext cx="10953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500" b="1" dirty="0">
                <a:solidFill>
                  <a:srgbClr val="C8A26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IA Moderna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A1D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00050" y="381000"/>
            <a:ext cx="2428875" cy="381000"/>
          </a:xfrm>
          <a:custGeom>
            <a:avLst/>
            <a:gdLst/>
            <a:ahLst/>
            <a:cxnLst/>
            <a:rect l="l" t="t" r="r" b="b"/>
            <a:pathLst>
              <a:path w="2428875" h="381000">
                <a:moveTo>
                  <a:pt x="0" y="0"/>
                </a:moveTo>
                <a:lnTo>
                  <a:pt x="2428875" y="0"/>
                </a:lnTo>
                <a:lnTo>
                  <a:pt x="2428875" y="381000"/>
                </a:lnTo>
                <a:lnTo>
                  <a:pt x="0" y="381000"/>
                </a:lnTo>
                <a:lnTo>
                  <a:pt x="0" y="0"/>
                </a:lnTo>
                <a:close/>
              </a:path>
            </a:pathLst>
          </a:custGeom>
          <a:solidFill>
            <a:srgbClr val="4A6D8C">
              <a:alpha val="2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400050" y="381000"/>
            <a:ext cx="38100" cy="381000"/>
          </a:xfrm>
          <a:custGeom>
            <a:avLst/>
            <a:gdLst/>
            <a:ahLst/>
            <a:cxnLst/>
            <a:rect l="l" t="t" r="r" b="b"/>
            <a:pathLst>
              <a:path w="38100" h="381000">
                <a:moveTo>
                  <a:pt x="0" y="0"/>
                </a:moveTo>
                <a:lnTo>
                  <a:pt x="38100" y="0"/>
                </a:lnTo>
                <a:lnTo>
                  <a:pt x="38100" y="381000"/>
                </a:lnTo>
                <a:lnTo>
                  <a:pt x="0" y="381000"/>
                </a:lnTo>
                <a:lnTo>
                  <a:pt x="0" y="0"/>
                </a:lnTo>
                <a:close/>
              </a:path>
            </a:pathLst>
          </a:custGeom>
          <a:solidFill>
            <a:srgbClr val="C8A265"/>
          </a:solidFill>
          <a:ln/>
        </p:spPr>
      </p:sp>
      <p:sp>
        <p:nvSpPr>
          <p:cNvPr id="4" name="Text 2"/>
          <p:cNvSpPr/>
          <p:nvPr/>
        </p:nvSpPr>
        <p:spPr>
          <a:xfrm>
            <a:off x="609600" y="466725"/>
            <a:ext cx="210056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spc="60" kern="0" dirty="0">
                <a:solidFill>
                  <a:srgbClr val="C8A26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ESTRUCTURA DEL CURSO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381000" y="914400"/>
            <a:ext cx="1171575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4500" b="1" dirty="0">
                <a:solidFill>
                  <a:srgbClr val="E0E2E6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Contenido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00050" y="1790700"/>
            <a:ext cx="5543550" cy="1057275"/>
          </a:xfrm>
          <a:custGeom>
            <a:avLst/>
            <a:gdLst/>
            <a:ahLst/>
            <a:cxnLst/>
            <a:rect l="l" t="t" r="r" b="b"/>
            <a:pathLst>
              <a:path w="5543550" h="1057275">
                <a:moveTo>
                  <a:pt x="38100" y="0"/>
                </a:moveTo>
                <a:lnTo>
                  <a:pt x="5467352" y="0"/>
                </a:lnTo>
                <a:cubicBezTo>
                  <a:pt x="5509435" y="0"/>
                  <a:pt x="5543550" y="34115"/>
                  <a:pt x="5543550" y="76198"/>
                </a:cubicBezTo>
                <a:lnTo>
                  <a:pt x="5543550" y="981077"/>
                </a:lnTo>
                <a:cubicBezTo>
                  <a:pt x="5543550" y="1023160"/>
                  <a:pt x="5509435" y="1057275"/>
                  <a:pt x="5467352" y="1057275"/>
                </a:cubicBezTo>
                <a:lnTo>
                  <a:pt x="38100" y="1057275"/>
                </a:lnTo>
                <a:cubicBezTo>
                  <a:pt x="17072" y="1057275"/>
                  <a:pt x="0" y="1040203"/>
                  <a:pt x="0" y="1019175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4A6D8C">
              <a:alpha val="10196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400050" y="1790700"/>
            <a:ext cx="38100" cy="1057275"/>
          </a:xfrm>
          <a:custGeom>
            <a:avLst/>
            <a:gdLst/>
            <a:ahLst/>
            <a:cxnLst/>
            <a:rect l="l" t="t" r="r" b="b"/>
            <a:pathLst>
              <a:path w="38100" h="1057275">
                <a:moveTo>
                  <a:pt x="38100" y="0"/>
                </a:moveTo>
                <a:lnTo>
                  <a:pt x="38100" y="0"/>
                </a:lnTo>
                <a:lnTo>
                  <a:pt x="38100" y="1057275"/>
                </a:lnTo>
                <a:lnTo>
                  <a:pt x="38100" y="1057275"/>
                </a:lnTo>
                <a:cubicBezTo>
                  <a:pt x="17072" y="1057275"/>
                  <a:pt x="0" y="1040203"/>
                  <a:pt x="0" y="1019175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C8A265"/>
          </a:solidFill>
          <a:ln/>
        </p:spPr>
      </p:sp>
      <p:sp>
        <p:nvSpPr>
          <p:cNvPr id="8" name="Shape 6"/>
          <p:cNvSpPr/>
          <p:nvPr/>
        </p:nvSpPr>
        <p:spPr>
          <a:xfrm>
            <a:off x="609600" y="1981200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76202" y="0"/>
                </a:moveTo>
                <a:lnTo>
                  <a:pt x="457198" y="0"/>
                </a:lnTo>
                <a:cubicBezTo>
                  <a:pt x="499283" y="0"/>
                  <a:pt x="533400" y="34117"/>
                  <a:pt x="533400" y="76202"/>
                </a:cubicBezTo>
                <a:lnTo>
                  <a:pt x="533400" y="457198"/>
                </a:lnTo>
                <a:cubicBezTo>
                  <a:pt x="533400" y="499283"/>
                  <a:pt x="499283" y="533400"/>
                  <a:pt x="457198" y="533400"/>
                </a:cubicBezTo>
                <a:lnTo>
                  <a:pt x="76202" y="533400"/>
                </a:lnTo>
                <a:cubicBezTo>
                  <a:pt x="34117" y="533400"/>
                  <a:pt x="0" y="499283"/>
                  <a:pt x="0" y="4571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C8A265"/>
          </a:solidFill>
          <a:ln/>
        </p:spPr>
      </p:sp>
      <p:sp>
        <p:nvSpPr>
          <p:cNvPr id="9" name="Text 7"/>
          <p:cNvSpPr/>
          <p:nvPr/>
        </p:nvSpPr>
        <p:spPr>
          <a:xfrm>
            <a:off x="759619" y="2095500"/>
            <a:ext cx="3429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1A1D2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01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295400" y="1981200"/>
            <a:ext cx="4572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E0E2E6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Aprendizaje Automático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295400" y="2324100"/>
            <a:ext cx="45339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200" dirty="0">
                <a:solidFill>
                  <a:srgbClr val="788A9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Machine Learning (ML)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6267450" y="1790700"/>
            <a:ext cx="5543550" cy="1057275"/>
          </a:xfrm>
          <a:custGeom>
            <a:avLst/>
            <a:gdLst/>
            <a:ahLst/>
            <a:cxnLst/>
            <a:rect l="l" t="t" r="r" b="b"/>
            <a:pathLst>
              <a:path w="5543550" h="1057275">
                <a:moveTo>
                  <a:pt x="38100" y="0"/>
                </a:moveTo>
                <a:lnTo>
                  <a:pt x="5467352" y="0"/>
                </a:lnTo>
                <a:cubicBezTo>
                  <a:pt x="5509435" y="0"/>
                  <a:pt x="5543550" y="34115"/>
                  <a:pt x="5543550" y="76198"/>
                </a:cubicBezTo>
                <a:lnTo>
                  <a:pt x="5543550" y="981077"/>
                </a:lnTo>
                <a:cubicBezTo>
                  <a:pt x="5543550" y="1023160"/>
                  <a:pt x="5509435" y="1057275"/>
                  <a:pt x="5467352" y="1057275"/>
                </a:cubicBezTo>
                <a:lnTo>
                  <a:pt x="38100" y="1057275"/>
                </a:lnTo>
                <a:cubicBezTo>
                  <a:pt x="17072" y="1057275"/>
                  <a:pt x="0" y="1040203"/>
                  <a:pt x="0" y="1019175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4A6D8C">
              <a:alpha val="10196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6267450" y="1790700"/>
            <a:ext cx="38100" cy="1057275"/>
          </a:xfrm>
          <a:custGeom>
            <a:avLst/>
            <a:gdLst/>
            <a:ahLst/>
            <a:cxnLst/>
            <a:rect l="l" t="t" r="r" b="b"/>
            <a:pathLst>
              <a:path w="38100" h="1057275">
                <a:moveTo>
                  <a:pt x="38100" y="0"/>
                </a:moveTo>
                <a:lnTo>
                  <a:pt x="38100" y="0"/>
                </a:lnTo>
                <a:lnTo>
                  <a:pt x="38100" y="1057275"/>
                </a:lnTo>
                <a:lnTo>
                  <a:pt x="38100" y="1057275"/>
                </a:lnTo>
                <a:cubicBezTo>
                  <a:pt x="17072" y="1057275"/>
                  <a:pt x="0" y="1040203"/>
                  <a:pt x="0" y="1019175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C8A265"/>
          </a:solidFill>
          <a:ln/>
        </p:spPr>
      </p:sp>
      <p:sp>
        <p:nvSpPr>
          <p:cNvPr id="14" name="Shape 12"/>
          <p:cNvSpPr/>
          <p:nvPr/>
        </p:nvSpPr>
        <p:spPr>
          <a:xfrm>
            <a:off x="6477000" y="1981200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76202" y="0"/>
                </a:moveTo>
                <a:lnTo>
                  <a:pt x="457198" y="0"/>
                </a:lnTo>
                <a:cubicBezTo>
                  <a:pt x="499283" y="0"/>
                  <a:pt x="533400" y="34117"/>
                  <a:pt x="533400" y="76202"/>
                </a:cubicBezTo>
                <a:lnTo>
                  <a:pt x="533400" y="457198"/>
                </a:lnTo>
                <a:cubicBezTo>
                  <a:pt x="533400" y="499283"/>
                  <a:pt x="499283" y="533400"/>
                  <a:pt x="457198" y="533400"/>
                </a:cubicBezTo>
                <a:lnTo>
                  <a:pt x="76202" y="533400"/>
                </a:lnTo>
                <a:cubicBezTo>
                  <a:pt x="34117" y="533400"/>
                  <a:pt x="0" y="499283"/>
                  <a:pt x="0" y="4571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C8A265"/>
          </a:solidFill>
          <a:ln/>
        </p:spPr>
      </p:sp>
      <p:sp>
        <p:nvSpPr>
          <p:cNvPr id="15" name="Text 13"/>
          <p:cNvSpPr/>
          <p:nvPr/>
        </p:nvSpPr>
        <p:spPr>
          <a:xfrm>
            <a:off x="6607671" y="2095500"/>
            <a:ext cx="39052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1A1D2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02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7162800" y="1981200"/>
            <a:ext cx="4572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E0E2E6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Aprendizaje Profundo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7162800" y="2324100"/>
            <a:ext cx="45339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200" dirty="0">
                <a:solidFill>
                  <a:srgbClr val="788A9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Deep Learning (DL)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400050" y="3000375"/>
            <a:ext cx="5543550" cy="1057275"/>
          </a:xfrm>
          <a:custGeom>
            <a:avLst/>
            <a:gdLst/>
            <a:ahLst/>
            <a:cxnLst/>
            <a:rect l="l" t="t" r="r" b="b"/>
            <a:pathLst>
              <a:path w="5543550" h="1057275">
                <a:moveTo>
                  <a:pt x="38100" y="0"/>
                </a:moveTo>
                <a:lnTo>
                  <a:pt x="5467352" y="0"/>
                </a:lnTo>
                <a:cubicBezTo>
                  <a:pt x="5509435" y="0"/>
                  <a:pt x="5543550" y="34115"/>
                  <a:pt x="5543550" y="76198"/>
                </a:cubicBezTo>
                <a:lnTo>
                  <a:pt x="5543550" y="981077"/>
                </a:lnTo>
                <a:cubicBezTo>
                  <a:pt x="5543550" y="1023160"/>
                  <a:pt x="5509435" y="1057275"/>
                  <a:pt x="5467352" y="1057275"/>
                </a:cubicBezTo>
                <a:lnTo>
                  <a:pt x="38100" y="1057275"/>
                </a:lnTo>
                <a:cubicBezTo>
                  <a:pt x="17072" y="1057275"/>
                  <a:pt x="0" y="1040203"/>
                  <a:pt x="0" y="1019175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4A6D8C">
              <a:alpha val="10196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400050" y="3000375"/>
            <a:ext cx="38100" cy="1057275"/>
          </a:xfrm>
          <a:custGeom>
            <a:avLst/>
            <a:gdLst/>
            <a:ahLst/>
            <a:cxnLst/>
            <a:rect l="l" t="t" r="r" b="b"/>
            <a:pathLst>
              <a:path w="38100" h="1057275">
                <a:moveTo>
                  <a:pt x="38100" y="0"/>
                </a:moveTo>
                <a:lnTo>
                  <a:pt x="38100" y="0"/>
                </a:lnTo>
                <a:lnTo>
                  <a:pt x="38100" y="1057275"/>
                </a:lnTo>
                <a:lnTo>
                  <a:pt x="38100" y="1057275"/>
                </a:lnTo>
                <a:cubicBezTo>
                  <a:pt x="17072" y="1057275"/>
                  <a:pt x="0" y="1040203"/>
                  <a:pt x="0" y="1019175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C8A265"/>
          </a:solidFill>
          <a:ln/>
        </p:spPr>
      </p:sp>
      <p:sp>
        <p:nvSpPr>
          <p:cNvPr id="20" name="Shape 18"/>
          <p:cNvSpPr/>
          <p:nvPr/>
        </p:nvSpPr>
        <p:spPr>
          <a:xfrm>
            <a:off x="609600" y="3190875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76202" y="0"/>
                </a:moveTo>
                <a:lnTo>
                  <a:pt x="457198" y="0"/>
                </a:lnTo>
                <a:cubicBezTo>
                  <a:pt x="499283" y="0"/>
                  <a:pt x="533400" y="34117"/>
                  <a:pt x="533400" y="76202"/>
                </a:cubicBezTo>
                <a:lnTo>
                  <a:pt x="533400" y="457198"/>
                </a:lnTo>
                <a:cubicBezTo>
                  <a:pt x="533400" y="499283"/>
                  <a:pt x="499283" y="533400"/>
                  <a:pt x="457198" y="533400"/>
                </a:cubicBezTo>
                <a:lnTo>
                  <a:pt x="76202" y="533400"/>
                </a:lnTo>
                <a:cubicBezTo>
                  <a:pt x="34117" y="533400"/>
                  <a:pt x="0" y="499283"/>
                  <a:pt x="0" y="4571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C8A265"/>
          </a:solidFill>
          <a:ln/>
        </p:spPr>
      </p:sp>
      <p:sp>
        <p:nvSpPr>
          <p:cNvPr id="21" name="Text 19"/>
          <p:cNvSpPr/>
          <p:nvPr/>
        </p:nvSpPr>
        <p:spPr>
          <a:xfrm>
            <a:off x="737295" y="3305175"/>
            <a:ext cx="39052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1A1D2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03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295400" y="3190875"/>
            <a:ext cx="4572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E0E2E6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Procesamiento del Lenguaje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295400" y="3533775"/>
            <a:ext cx="45339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200" dirty="0">
                <a:solidFill>
                  <a:srgbClr val="788A9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Natural Language Processing (NLP)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6267450" y="3000375"/>
            <a:ext cx="5543550" cy="1057275"/>
          </a:xfrm>
          <a:custGeom>
            <a:avLst/>
            <a:gdLst/>
            <a:ahLst/>
            <a:cxnLst/>
            <a:rect l="l" t="t" r="r" b="b"/>
            <a:pathLst>
              <a:path w="5543550" h="1057275">
                <a:moveTo>
                  <a:pt x="38100" y="0"/>
                </a:moveTo>
                <a:lnTo>
                  <a:pt x="5467352" y="0"/>
                </a:lnTo>
                <a:cubicBezTo>
                  <a:pt x="5509435" y="0"/>
                  <a:pt x="5543550" y="34115"/>
                  <a:pt x="5543550" y="76198"/>
                </a:cubicBezTo>
                <a:lnTo>
                  <a:pt x="5543550" y="981077"/>
                </a:lnTo>
                <a:cubicBezTo>
                  <a:pt x="5543550" y="1023160"/>
                  <a:pt x="5509435" y="1057275"/>
                  <a:pt x="5467352" y="1057275"/>
                </a:cubicBezTo>
                <a:lnTo>
                  <a:pt x="38100" y="1057275"/>
                </a:lnTo>
                <a:cubicBezTo>
                  <a:pt x="17072" y="1057275"/>
                  <a:pt x="0" y="1040203"/>
                  <a:pt x="0" y="1019175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4A6D8C">
              <a:alpha val="10196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6267450" y="3000375"/>
            <a:ext cx="38100" cy="1057275"/>
          </a:xfrm>
          <a:custGeom>
            <a:avLst/>
            <a:gdLst/>
            <a:ahLst/>
            <a:cxnLst/>
            <a:rect l="l" t="t" r="r" b="b"/>
            <a:pathLst>
              <a:path w="38100" h="1057275">
                <a:moveTo>
                  <a:pt x="38100" y="0"/>
                </a:moveTo>
                <a:lnTo>
                  <a:pt x="38100" y="0"/>
                </a:lnTo>
                <a:lnTo>
                  <a:pt x="38100" y="1057275"/>
                </a:lnTo>
                <a:lnTo>
                  <a:pt x="38100" y="1057275"/>
                </a:lnTo>
                <a:cubicBezTo>
                  <a:pt x="17072" y="1057275"/>
                  <a:pt x="0" y="1040203"/>
                  <a:pt x="0" y="1019175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C8A265"/>
          </a:solidFill>
          <a:ln/>
        </p:spPr>
      </p:sp>
      <p:sp>
        <p:nvSpPr>
          <p:cNvPr id="26" name="Shape 24"/>
          <p:cNvSpPr/>
          <p:nvPr/>
        </p:nvSpPr>
        <p:spPr>
          <a:xfrm>
            <a:off x="6477000" y="3190875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76202" y="0"/>
                </a:moveTo>
                <a:lnTo>
                  <a:pt x="457198" y="0"/>
                </a:lnTo>
                <a:cubicBezTo>
                  <a:pt x="499283" y="0"/>
                  <a:pt x="533400" y="34117"/>
                  <a:pt x="533400" y="76202"/>
                </a:cubicBezTo>
                <a:lnTo>
                  <a:pt x="533400" y="457198"/>
                </a:lnTo>
                <a:cubicBezTo>
                  <a:pt x="533400" y="499283"/>
                  <a:pt x="499283" y="533400"/>
                  <a:pt x="457198" y="533400"/>
                </a:cubicBezTo>
                <a:lnTo>
                  <a:pt x="76202" y="533400"/>
                </a:lnTo>
                <a:cubicBezTo>
                  <a:pt x="34117" y="533400"/>
                  <a:pt x="0" y="499283"/>
                  <a:pt x="0" y="4571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C8A265"/>
          </a:solidFill>
          <a:ln/>
        </p:spPr>
      </p:sp>
      <p:sp>
        <p:nvSpPr>
          <p:cNvPr id="27" name="Text 25"/>
          <p:cNvSpPr/>
          <p:nvPr/>
        </p:nvSpPr>
        <p:spPr>
          <a:xfrm>
            <a:off x="6604992" y="3305175"/>
            <a:ext cx="39052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1A1D2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04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7162800" y="3190875"/>
            <a:ext cx="4572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E0E2E6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Visión por Computadora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7162800" y="3533775"/>
            <a:ext cx="45339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200" dirty="0">
                <a:solidFill>
                  <a:srgbClr val="788A9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Computer Vision (CV)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400050" y="4210050"/>
            <a:ext cx="5543550" cy="1057275"/>
          </a:xfrm>
          <a:custGeom>
            <a:avLst/>
            <a:gdLst/>
            <a:ahLst/>
            <a:cxnLst/>
            <a:rect l="l" t="t" r="r" b="b"/>
            <a:pathLst>
              <a:path w="5543550" h="1057275">
                <a:moveTo>
                  <a:pt x="38100" y="0"/>
                </a:moveTo>
                <a:lnTo>
                  <a:pt x="5467352" y="0"/>
                </a:lnTo>
                <a:cubicBezTo>
                  <a:pt x="5509435" y="0"/>
                  <a:pt x="5543550" y="34115"/>
                  <a:pt x="5543550" y="76198"/>
                </a:cubicBezTo>
                <a:lnTo>
                  <a:pt x="5543550" y="981077"/>
                </a:lnTo>
                <a:cubicBezTo>
                  <a:pt x="5543550" y="1023160"/>
                  <a:pt x="5509435" y="1057275"/>
                  <a:pt x="5467352" y="1057275"/>
                </a:cubicBezTo>
                <a:lnTo>
                  <a:pt x="38100" y="1057275"/>
                </a:lnTo>
                <a:cubicBezTo>
                  <a:pt x="17072" y="1057275"/>
                  <a:pt x="0" y="1040203"/>
                  <a:pt x="0" y="1019175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4A6D8C">
              <a:alpha val="10196"/>
            </a:srgbClr>
          </a:solidFill>
          <a:ln/>
        </p:spPr>
      </p:sp>
      <p:sp>
        <p:nvSpPr>
          <p:cNvPr id="31" name="Shape 29"/>
          <p:cNvSpPr/>
          <p:nvPr/>
        </p:nvSpPr>
        <p:spPr>
          <a:xfrm>
            <a:off x="400050" y="4210050"/>
            <a:ext cx="38100" cy="1057275"/>
          </a:xfrm>
          <a:custGeom>
            <a:avLst/>
            <a:gdLst/>
            <a:ahLst/>
            <a:cxnLst/>
            <a:rect l="l" t="t" r="r" b="b"/>
            <a:pathLst>
              <a:path w="38100" h="1057275">
                <a:moveTo>
                  <a:pt x="38100" y="0"/>
                </a:moveTo>
                <a:lnTo>
                  <a:pt x="38100" y="0"/>
                </a:lnTo>
                <a:lnTo>
                  <a:pt x="38100" y="1057275"/>
                </a:lnTo>
                <a:lnTo>
                  <a:pt x="38100" y="1057275"/>
                </a:lnTo>
                <a:cubicBezTo>
                  <a:pt x="17072" y="1057275"/>
                  <a:pt x="0" y="1040203"/>
                  <a:pt x="0" y="1019175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C8A265"/>
          </a:solidFill>
          <a:ln/>
        </p:spPr>
      </p:sp>
      <p:sp>
        <p:nvSpPr>
          <p:cNvPr id="32" name="Shape 30"/>
          <p:cNvSpPr/>
          <p:nvPr/>
        </p:nvSpPr>
        <p:spPr>
          <a:xfrm>
            <a:off x="609600" y="4400550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76202" y="0"/>
                </a:moveTo>
                <a:lnTo>
                  <a:pt x="457198" y="0"/>
                </a:lnTo>
                <a:cubicBezTo>
                  <a:pt x="499283" y="0"/>
                  <a:pt x="533400" y="34117"/>
                  <a:pt x="533400" y="76202"/>
                </a:cubicBezTo>
                <a:lnTo>
                  <a:pt x="533400" y="457198"/>
                </a:lnTo>
                <a:cubicBezTo>
                  <a:pt x="533400" y="499283"/>
                  <a:pt x="499283" y="533400"/>
                  <a:pt x="457198" y="533400"/>
                </a:cubicBezTo>
                <a:lnTo>
                  <a:pt x="76202" y="533400"/>
                </a:lnTo>
                <a:cubicBezTo>
                  <a:pt x="34117" y="533400"/>
                  <a:pt x="0" y="499283"/>
                  <a:pt x="0" y="4571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C8A265"/>
          </a:solidFill>
          <a:ln/>
        </p:spPr>
      </p:sp>
      <p:sp>
        <p:nvSpPr>
          <p:cNvPr id="33" name="Text 31"/>
          <p:cNvSpPr/>
          <p:nvPr/>
        </p:nvSpPr>
        <p:spPr>
          <a:xfrm>
            <a:off x="736253" y="4514850"/>
            <a:ext cx="39052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1A1D2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05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1295400" y="4400550"/>
            <a:ext cx="4572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E0E2E6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Sistemas Expertos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1295400" y="4743450"/>
            <a:ext cx="45339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200" dirty="0">
                <a:solidFill>
                  <a:srgbClr val="788A9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Expert Systems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6267450" y="4210050"/>
            <a:ext cx="5543550" cy="1057275"/>
          </a:xfrm>
          <a:custGeom>
            <a:avLst/>
            <a:gdLst/>
            <a:ahLst/>
            <a:cxnLst/>
            <a:rect l="l" t="t" r="r" b="b"/>
            <a:pathLst>
              <a:path w="5543550" h="1057275">
                <a:moveTo>
                  <a:pt x="38100" y="0"/>
                </a:moveTo>
                <a:lnTo>
                  <a:pt x="5467352" y="0"/>
                </a:lnTo>
                <a:cubicBezTo>
                  <a:pt x="5509435" y="0"/>
                  <a:pt x="5543550" y="34115"/>
                  <a:pt x="5543550" y="76198"/>
                </a:cubicBezTo>
                <a:lnTo>
                  <a:pt x="5543550" y="981077"/>
                </a:lnTo>
                <a:cubicBezTo>
                  <a:pt x="5543550" y="1023160"/>
                  <a:pt x="5509435" y="1057275"/>
                  <a:pt x="5467352" y="1057275"/>
                </a:cubicBezTo>
                <a:lnTo>
                  <a:pt x="38100" y="1057275"/>
                </a:lnTo>
                <a:cubicBezTo>
                  <a:pt x="17072" y="1057275"/>
                  <a:pt x="0" y="1040203"/>
                  <a:pt x="0" y="1019175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4A6D8C">
              <a:alpha val="10196"/>
            </a:srgbClr>
          </a:solidFill>
          <a:ln/>
        </p:spPr>
      </p:sp>
      <p:sp>
        <p:nvSpPr>
          <p:cNvPr id="37" name="Shape 35"/>
          <p:cNvSpPr/>
          <p:nvPr/>
        </p:nvSpPr>
        <p:spPr>
          <a:xfrm>
            <a:off x="6267450" y="4210050"/>
            <a:ext cx="38100" cy="1057275"/>
          </a:xfrm>
          <a:custGeom>
            <a:avLst/>
            <a:gdLst/>
            <a:ahLst/>
            <a:cxnLst/>
            <a:rect l="l" t="t" r="r" b="b"/>
            <a:pathLst>
              <a:path w="38100" h="1057275">
                <a:moveTo>
                  <a:pt x="38100" y="0"/>
                </a:moveTo>
                <a:lnTo>
                  <a:pt x="38100" y="0"/>
                </a:lnTo>
                <a:lnTo>
                  <a:pt x="38100" y="1057275"/>
                </a:lnTo>
                <a:lnTo>
                  <a:pt x="38100" y="1057275"/>
                </a:lnTo>
                <a:cubicBezTo>
                  <a:pt x="17072" y="1057275"/>
                  <a:pt x="0" y="1040203"/>
                  <a:pt x="0" y="1019175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C8A265"/>
          </a:solidFill>
          <a:ln/>
        </p:spPr>
      </p:sp>
      <p:sp>
        <p:nvSpPr>
          <p:cNvPr id="38" name="Shape 36"/>
          <p:cNvSpPr/>
          <p:nvPr/>
        </p:nvSpPr>
        <p:spPr>
          <a:xfrm>
            <a:off x="6477000" y="4400550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76202" y="0"/>
                </a:moveTo>
                <a:lnTo>
                  <a:pt x="457198" y="0"/>
                </a:lnTo>
                <a:cubicBezTo>
                  <a:pt x="499283" y="0"/>
                  <a:pt x="533400" y="34117"/>
                  <a:pt x="533400" y="76202"/>
                </a:cubicBezTo>
                <a:lnTo>
                  <a:pt x="533400" y="457198"/>
                </a:lnTo>
                <a:cubicBezTo>
                  <a:pt x="533400" y="499283"/>
                  <a:pt x="499283" y="533400"/>
                  <a:pt x="457198" y="533400"/>
                </a:cubicBezTo>
                <a:lnTo>
                  <a:pt x="76202" y="533400"/>
                </a:lnTo>
                <a:cubicBezTo>
                  <a:pt x="34117" y="533400"/>
                  <a:pt x="0" y="499283"/>
                  <a:pt x="0" y="4571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C8A265"/>
          </a:solidFill>
          <a:ln/>
        </p:spPr>
      </p:sp>
      <p:sp>
        <p:nvSpPr>
          <p:cNvPr id="39" name="Text 37"/>
          <p:cNvSpPr/>
          <p:nvPr/>
        </p:nvSpPr>
        <p:spPr>
          <a:xfrm>
            <a:off x="6603206" y="4514850"/>
            <a:ext cx="39052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1A1D2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06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7162800" y="4400550"/>
            <a:ext cx="4572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E0E2E6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Robótica e IA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7162800" y="4743450"/>
            <a:ext cx="45339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200" dirty="0">
                <a:solidFill>
                  <a:srgbClr val="788A9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Robotics &amp; AI</a:t>
            </a:r>
            <a:endParaRPr lang="en-US" sz="1600" dirty="0"/>
          </a:p>
        </p:txBody>
      </p:sp>
      <p:sp>
        <p:nvSpPr>
          <p:cNvPr id="42" name="Shape 40"/>
          <p:cNvSpPr/>
          <p:nvPr/>
        </p:nvSpPr>
        <p:spPr>
          <a:xfrm>
            <a:off x="400050" y="5419725"/>
            <a:ext cx="5543550" cy="1057275"/>
          </a:xfrm>
          <a:custGeom>
            <a:avLst/>
            <a:gdLst/>
            <a:ahLst/>
            <a:cxnLst/>
            <a:rect l="l" t="t" r="r" b="b"/>
            <a:pathLst>
              <a:path w="5543550" h="1057275">
                <a:moveTo>
                  <a:pt x="38100" y="0"/>
                </a:moveTo>
                <a:lnTo>
                  <a:pt x="5467352" y="0"/>
                </a:lnTo>
                <a:cubicBezTo>
                  <a:pt x="5509435" y="0"/>
                  <a:pt x="5543550" y="34115"/>
                  <a:pt x="5543550" y="76198"/>
                </a:cubicBezTo>
                <a:lnTo>
                  <a:pt x="5543550" y="981077"/>
                </a:lnTo>
                <a:cubicBezTo>
                  <a:pt x="5543550" y="1023160"/>
                  <a:pt x="5509435" y="1057275"/>
                  <a:pt x="5467352" y="1057275"/>
                </a:cubicBezTo>
                <a:lnTo>
                  <a:pt x="38100" y="1057275"/>
                </a:lnTo>
                <a:cubicBezTo>
                  <a:pt x="17072" y="1057275"/>
                  <a:pt x="0" y="1040203"/>
                  <a:pt x="0" y="1019175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4A6D8C">
              <a:alpha val="10196"/>
            </a:srgbClr>
          </a:solidFill>
          <a:ln/>
        </p:spPr>
      </p:sp>
      <p:sp>
        <p:nvSpPr>
          <p:cNvPr id="43" name="Shape 41"/>
          <p:cNvSpPr/>
          <p:nvPr/>
        </p:nvSpPr>
        <p:spPr>
          <a:xfrm>
            <a:off x="400050" y="5419725"/>
            <a:ext cx="38100" cy="1057275"/>
          </a:xfrm>
          <a:custGeom>
            <a:avLst/>
            <a:gdLst/>
            <a:ahLst/>
            <a:cxnLst/>
            <a:rect l="l" t="t" r="r" b="b"/>
            <a:pathLst>
              <a:path w="38100" h="1057275">
                <a:moveTo>
                  <a:pt x="38100" y="0"/>
                </a:moveTo>
                <a:lnTo>
                  <a:pt x="38100" y="0"/>
                </a:lnTo>
                <a:lnTo>
                  <a:pt x="38100" y="1057275"/>
                </a:lnTo>
                <a:lnTo>
                  <a:pt x="38100" y="1057275"/>
                </a:lnTo>
                <a:cubicBezTo>
                  <a:pt x="17072" y="1057275"/>
                  <a:pt x="0" y="1040203"/>
                  <a:pt x="0" y="1019175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C8A265"/>
          </a:solidFill>
          <a:ln/>
        </p:spPr>
      </p:sp>
      <p:sp>
        <p:nvSpPr>
          <p:cNvPr id="44" name="Shape 42"/>
          <p:cNvSpPr/>
          <p:nvPr/>
        </p:nvSpPr>
        <p:spPr>
          <a:xfrm>
            <a:off x="609600" y="5610225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76202" y="0"/>
                </a:moveTo>
                <a:lnTo>
                  <a:pt x="457198" y="0"/>
                </a:lnTo>
                <a:cubicBezTo>
                  <a:pt x="499283" y="0"/>
                  <a:pt x="533400" y="34117"/>
                  <a:pt x="533400" y="76202"/>
                </a:cubicBezTo>
                <a:lnTo>
                  <a:pt x="533400" y="457198"/>
                </a:lnTo>
                <a:cubicBezTo>
                  <a:pt x="533400" y="499283"/>
                  <a:pt x="499283" y="533400"/>
                  <a:pt x="457198" y="533400"/>
                </a:cubicBezTo>
                <a:lnTo>
                  <a:pt x="76202" y="533400"/>
                </a:lnTo>
                <a:cubicBezTo>
                  <a:pt x="34117" y="533400"/>
                  <a:pt x="0" y="499283"/>
                  <a:pt x="0" y="4571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C8A265"/>
          </a:solidFill>
          <a:ln/>
        </p:spPr>
      </p:sp>
      <p:sp>
        <p:nvSpPr>
          <p:cNvPr id="45" name="Text 43"/>
          <p:cNvSpPr/>
          <p:nvPr/>
        </p:nvSpPr>
        <p:spPr>
          <a:xfrm>
            <a:off x="745331" y="5724525"/>
            <a:ext cx="37147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1A1D2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07</a:t>
            </a:r>
            <a:endParaRPr lang="en-US" sz="1600" dirty="0"/>
          </a:p>
        </p:txBody>
      </p:sp>
      <p:sp>
        <p:nvSpPr>
          <p:cNvPr id="46" name="Text 44"/>
          <p:cNvSpPr/>
          <p:nvPr/>
        </p:nvSpPr>
        <p:spPr>
          <a:xfrm>
            <a:off x="1295400" y="5610225"/>
            <a:ext cx="4572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E0E2E6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IA Generativa</a:t>
            </a:r>
            <a:endParaRPr lang="en-US" sz="1600" dirty="0"/>
          </a:p>
        </p:txBody>
      </p:sp>
      <p:sp>
        <p:nvSpPr>
          <p:cNvPr id="47" name="Text 45"/>
          <p:cNvSpPr/>
          <p:nvPr/>
        </p:nvSpPr>
        <p:spPr>
          <a:xfrm>
            <a:off x="1295400" y="5953125"/>
            <a:ext cx="45339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200" dirty="0">
                <a:solidFill>
                  <a:srgbClr val="788A9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Generative AI</a:t>
            </a:r>
            <a:endParaRPr lang="en-US" sz="1600" dirty="0"/>
          </a:p>
        </p:txBody>
      </p:sp>
      <p:sp>
        <p:nvSpPr>
          <p:cNvPr id="48" name="Shape 46"/>
          <p:cNvSpPr/>
          <p:nvPr/>
        </p:nvSpPr>
        <p:spPr>
          <a:xfrm>
            <a:off x="6267450" y="5419725"/>
            <a:ext cx="5543550" cy="1057275"/>
          </a:xfrm>
          <a:custGeom>
            <a:avLst/>
            <a:gdLst/>
            <a:ahLst/>
            <a:cxnLst/>
            <a:rect l="l" t="t" r="r" b="b"/>
            <a:pathLst>
              <a:path w="5543550" h="1057275">
                <a:moveTo>
                  <a:pt x="38100" y="0"/>
                </a:moveTo>
                <a:lnTo>
                  <a:pt x="5467352" y="0"/>
                </a:lnTo>
                <a:cubicBezTo>
                  <a:pt x="5509435" y="0"/>
                  <a:pt x="5543550" y="34115"/>
                  <a:pt x="5543550" y="76198"/>
                </a:cubicBezTo>
                <a:lnTo>
                  <a:pt x="5543550" y="981077"/>
                </a:lnTo>
                <a:cubicBezTo>
                  <a:pt x="5543550" y="1023160"/>
                  <a:pt x="5509435" y="1057275"/>
                  <a:pt x="5467352" y="1057275"/>
                </a:cubicBezTo>
                <a:lnTo>
                  <a:pt x="38100" y="1057275"/>
                </a:lnTo>
                <a:cubicBezTo>
                  <a:pt x="17072" y="1057275"/>
                  <a:pt x="0" y="1040203"/>
                  <a:pt x="0" y="1019175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4A6D8C">
              <a:alpha val="10196"/>
            </a:srgbClr>
          </a:solidFill>
          <a:ln/>
        </p:spPr>
      </p:sp>
      <p:sp>
        <p:nvSpPr>
          <p:cNvPr id="49" name="Shape 47"/>
          <p:cNvSpPr/>
          <p:nvPr/>
        </p:nvSpPr>
        <p:spPr>
          <a:xfrm>
            <a:off x="6267450" y="5419725"/>
            <a:ext cx="38100" cy="1057275"/>
          </a:xfrm>
          <a:custGeom>
            <a:avLst/>
            <a:gdLst/>
            <a:ahLst/>
            <a:cxnLst/>
            <a:rect l="l" t="t" r="r" b="b"/>
            <a:pathLst>
              <a:path w="38100" h="1057275">
                <a:moveTo>
                  <a:pt x="38100" y="0"/>
                </a:moveTo>
                <a:lnTo>
                  <a:pt x="38100" y="0"/>
                </a:lnTo>
                <a:lnTo>
                  <a:pt x="38100" y="1057275"/>
                </a:lnTo>
                <a:lnTo>
                  <a:pt x="38100" y="1057275"/>
                </a:lnTo>
                <a:cubicBezTo>
                  <a:pt x="17072" y="1057275"/>
                  <a:pt x="0" y="1040203"/>
                  <a:pt x="0" y="1019175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C8A265"/>
          </a:solidFill>
          <a:ln/>
        </p:spPr>
      </p:sp>
      <p:sp>
        <p:nvSpPr>
          <p:cNvPr id="50" name="Shape 48"/>
          <p:cNvSpPr/>
          <p:nvPr/>
        </p:nvSpPr>
        <p:spPr>
          <a:xfrm>
            <a:off x="6477000" y="5610225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76202" y="0"/>
                </a:moveTo>
                <a:lnTo>
                  <a:pt x="457198" y="0"/>
                </a:lnTo>
                <a:cubicBezTo>
                  <a:pt x="499283" y="0"/>
                  <a:pt x="533400" y="34117"/>
                  <a:pt x="533400" y="76202"/>
                </a:cubicBezTo>
                <a:lnTo>
                  <a:pt x="533400" y="457198"/>
                </a:lnTo>
                <a:cubicBezTo>
                  <a:pt x="533400" y="499283"/>
                  <a:pt x="499283" y="533400"/>
                  <a:pt x="457198" y="533400"/>
                </a:cubicBezTo>
                <a:lnTo>
                  <a:pt x="76202" y="533400"/>
                </a:lnTo>
                <a:cubicBezTo>
                  <a:pt x="34117" y="533400"/>
                  <a:pt x="0" y="499283"/>
                  <a:pt x="0" y="4571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C8A265"/>
          </a:solidFill>
          <a:ln/>
        </p:spPr>
      </p:sp>
      <p:sp>
        <p:nvSpPr>
          <p:cNvPr id="51" name="Text 49"/>
          <p:cNvSpPr/>
          <p:nvPr/>
        </p:nvSpPr>
        <p:spPr>
          <a:xfrm>
            <a:off x="6600825" y="5724525"/>
            <a:ext cx="40005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1A1D2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08</a:t>
            </a:r>
            <a:endParaRPr lang="en-US" sz="1600" dirty="0"/>
          </a:p>
        </p:txBody>
      </p:sp>
      <p:sp>
        <p:nvSpPr>
          <p:cNvPr id="52" name="Text 50"/>
          <p:cNvSpPr/>
          <p:nvPr/>
        </p:nvSpPr>
        <p:spPr>
          <a:xfrm>
            <a:off x="7162800" y="5610225"/>
            <a:ext cx="4572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E0E2E6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IA Explicable</a:t>
            </a:r>
            <a:endParaRPr lang="en-US" sz="1600" dirty="0"/>
          </a:p>
        </p:txBody>
      </p:sp>
      <p:sp>
        <p:nvSpPr>
          <p:cNvPr id="53" name="Text 51"/>
          <p:cNvSpPr/>
          <p:nvPr/>
        </p:nvSpPr>
        <p:spPr>
          <a:xfrm>
            <a:off x="7162800" y="5953125"/>
            <a:ext cx="45339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200" dirty="0">
                <a:solidFill>
                  <a:srgbClr val="788A9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Explainable AI (XAI)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A1D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37996" y="321901"/>
            <a:ext cx="2567160" cy="321901"/>
          </a:xfrm>
          <a:custGeom>
            <a:avLst/>
            <a:gdLst/>
            <a:ahLst/>
            <a:cxnLst/>
            <a:rect l="l" t="t" r="r" b="b"/>
            <a:pathLst>
              <a:path w="2567160" h="321901">
                <a:moveTo>
                  <a:pt x="0" y="0"/>
                </a:moveTo>
                <a:lnTo>
                  <a:pt x="2567160" y="0"/>
                </a:lnTo>
                <a:lnTo>
                  <a:pt x="2567160" y="321901"/>
                </a:lnTo>
                <a:lnTo>
                  <a:pt x="0" y="321901"/>
                </a:lnTo>
                <a:lnTo>
                  <a:pt x="0" y="0"/>
                </a:lnTo>
                <a:close/>
              </a:path>
            </a:pathLst>
          </a:custGeom>
          <a:solidFill>
            <a:srgbClr val="4A6D8C">
              <a:alpha val="2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337996" y="321901"/>
            <a:ext cx="32190" cy="321901"/>
          </a:xfrm>
          <a:custGeom>
            <a:avLst/>
            <a:gdLst/>
            <a:ahLst/>
            <a:cxnLst/>
            <a:rect l="l" t="t" r="r" b="b"/>
            <a:pathLst>
              <a:path w="32190" h="321901">
                <a:moveTo>
                  <a:pt x="0" y="0"/>
                </a:moveTo>
                <a:lnTo>
                  <a:pt x="32190" y="0"/>
                </a:lnTo>
                <a:lnTo>
                  <a:pt x="32190" y="321901"/>
                </a:lnTo>
                <a:lnTo>
                  <a:pt x="0" y="321901"/>
                </a:lnTo>
                <a:lnTo>
                  <a:pt x="0" y="0"/>
                </a:lnTo>
                <a:close/>
              </a:path>
            </a:pathLst>
          </a:custGeom>
          <a:solidFill>
            <a:srgbClr val="C8A265"/>
          </a:solidFill>
          <a:ln/>
        </p:spPr>
      </p:sp>
      <p:sp>
        <p:nvSpPr>
          <p:cNvPr id="4" name="Text 2"/>
          <p:cNvSpPr/>
          <p:nvPr/>
        </p:nvSpPr>
        <p:spPr>
          <a:xfrm>
            <a:off x="515042" y="394329"/>
            <a:ext cx="2295808" cy="1770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14" b="1" spc="51" kern="0" dirty="0">
                <a:solidFill>
                  <a:srgbClr val="C8A26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01 • APRENDIZAJE AUTOMÁTICO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321901" y="772562"/>
            <a:ext cx="11741339" cy="38628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042" b="1" dirty="0">
                <a:solidFill>
                  <a:srgbClr val="E0E2E6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Machine Learning (ML)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321901" y="1255414"/>
            <a:ext cx="11628673" cy="5230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67" dirty="0">
                <a:solidFill>
                  <a:srgbClr val="788A9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El aprendizaje automático es una de las ramas más importantes de la IA, centrada en desarrollar modelos que </a:t>
            </a:r>
            <a:pPr>
              <a:lnSpc>
                <a:spcPct val="140000"/>
              </a:lnSpc>
            </a:pPr>
            <a:r>
              <a:rPr lang="en-US" sz="1267" b="1" dirty="0">
                <a:solidFill>
                  <a:srgbClr val="C8A26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aprenden patrones a partir de datos sin ser programados explícitamente</a:t>
            </a:r>
            <a:pPr>
              <a:lnSpc>
                <a:spcPct val="140000"/>
              </a:lnSpc>
            </a:pPr>
            <a:r>
              <a:rPr lang="en-US" sz="1267" dirty="0">
                <a:solidFill>
                  <a:srgbClr val="788A9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325925" y="1975667"/>
            <a:ext cx="5681552" cy="1979691"/>
          </a:xfrm>
          <a:custGeom>
            <a:avLst/>
            <a:gdLst/>
            <a:ahLst/>
            <a:cxnLst/>
            <a:rect l="l" t="t" r="r" b="b"/>
            <a:pathLst>
              <a:path w="5681552" h="1979691">
                <a:moveTo>
                  <a:pt x="96569" y="0"/>
                </a:moveTo>
                <a:lnTo>
                  <a:pt x="5584983" y="0"/>
                </a:lnTo>
                <a:cubicBezTo>
                  <a:pt x="5638317" y="0"/>
                  <a:pt x="5681552" y="43236"/>
                  <a:pt x="5681552" y="96569"/>
                </a:cubicBezTo>
                <a:lnTo>
                  <a:pt x="5681552" y="1883122"/>
                </a:lnTo>
                <a:cubicBezTo>
                  <a:pt x="5681552" y="1936456"/>
                  <a:pt x="5638317" y="1979691"/>
                  <a:pt x="5584983" y="1979691"/>
                </a:cubicBezTo>
                <a:lnTo>
                  <a:pt x="96569" y="1979691"/>
                </a:lnTo>
                <a:cubicBezTo>
                  <a:pt x="43236" y="1979691"/>
                  <a:pt x="0" y="1936456"/>
                  <a:pt x="0" y="1883122"/>
                </a:cubicBezTo>
                <a:lnTo>
                  <a:pt x="0" y="96569"/>
                </a:lnTo>
                <a:cubicBezTo>
                  <a:pt x="0" y="43236"/>
                  <a:pt x="43236" y="0"/>
                  <a:pt x="96569" y="0"/>
                </a:cubicBezTo>
                <a:close/>
              </a:path>
            </a:pathLst>
          </a:custGeom>
          <a:solidFill>
            <a:srgbClr val="4A6D8C">
              <a:alpha val="10196"/>
            </a:srgbClr>
          </a:solidFill>
          <a:ln w="12700">
            <a:solidFill>
              <a:srgbClr val="4A6D8C">
                <a:alpha val="30196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90899" y="2140642"/>
            <a:ext cx="386281" cy="386281"/>
          </a:xfrm>
          <a:custGeom>
            <a:avLst/>
            <a:gdLst/>
            <a:ahLst/>
            <a:cxnLst/>
            <a:rect l="l" t="t" r="r" b="b"/>
            <a:pathLst>
              <a:path w="386281" h="386281">
                <a:moveTo>
                  <a:pt x="64381" y="0"/>
                </a:moveTo>
                <a:lnTo>
                  <a:pt x="321900" y="0"/>
                </a:lnTo>
                <a:cubicBezTo>
                  <a:pt x="357433" y="0"/>
                  <a:pt x="386281" y="28848"/>
                  <a:pt x="386281" y="64381"/>
                </a:cubicBezTo>
                <a:lnTo>
                  <a:pt x="386281" y="321900"/>
                </a:lnTo>
                <a:cubicBezTo>
                  <a:pt x="386281" y="357457"/>
                  <a:pt x="357457" y="386281"/>
                  <a:pt x="321900" y="386281"/>
                </a:cubicBezTo>
                <a:lnTo>
                  <a:pt x="64381" y="386281"/>
                </a:lnTo>
                <a:cubicBezTo>
                  <a:pt x="28825" y="386281"/>
                  <a:pt x="0" y="357457"/>
                  <a:pt x="0" y="321900"/>
                </a:cubicBezTo>
                <a:lnTo>
                  <a:pt x="0" y="64381"/>
                </a:lnTo>
                <a:cubicBezTo>
                  <a:pt x="0" y="28848"/>
                  <a:pt x="28848" y="0"/>
                  <a:pt x="64381" y="0"/>
                </a:cubicBezTo>
                <a:close/>
              </a:path>
            </a:pathLst>
          </a:custGeom>
          <a:solidFill>
            <a:srgbClr val="C8A265"/>
          </a:solidFill>
          <a:ln/>
        </p:spPr>
      </p:sp>
      <p:sp>
        <p:nvSpPr>
          <p:cNvPr id="9" name="Shape 7"/>
          <p:cNvSpPr/>
          <p:nvPr/>
        </p:nvSpPr>
        <p:spPr>
          <a:xfrm>
            <a:off x="603564" y="2253307"/>
            <a:ext cx="160950" cy="160950"/>
          </a:xfrm>
          <a:custGeom>
            <a:avLst/>
            <a:gdLst/>
            <a:ahLst/>
            <a:cxnLst/>
            <a:rect l="l" t="t" r="r" b="b"/>
            <a:pathLst>
              <a:path w="160950" h="160950">
                <a:moveTo>
                  <a:pt x="20119" y="20119"/>
                </a:moveTo>
                <a:cubicBezTo>
                  <a:pt x="20119" y="14555"/>
                  <a:pt x="15624" y="10059"/>
                  <a:pt x="10059" y="10059"/>
                </a:cubicBezTo>
                <a:cubicBezTo>
                  <a:pt x="4495" y="10059"/>
                  <a:pt x="0" y="14555"/>
                  <a:pt x="0" y="20119"/>
                </a:cubicBezTo>
                <a:lnTo>
                  <a:pt x="0" y="125743"/>
                </a:lnTo>
                <a:cubicBezTo>
                  <a:pt x="0" y="139637"/>
                  <a:pt x="11254" y="150891"/>
                  <a:pt x="25149" y="150891"/>
                </a:cubicBezTo>
                <a:lnTo>
                  <a:pt x="150891" y="150891"/>
                </a:lnTo>
                <a:cubicBezTo>
                  <a:pt x="156455" y="150891"/>
                  <a:pt x="160950" y="146396"/>
                  <a:pt x="160950" y="140832"/>
                </a:cubicBezTo>
                <a:cubicBezTo>
                  <a:pt x="160950" y="135268"/>
                  <a:pt x="156455" y="130772"/>
                  <a:pt x="150891" y="130772"/>
                </a:cubicBezTo>
                <a:lnTo>
                  <a:pt x="25149" y="130772"/>
                </a:lnTo>
                <a:cubicBezTo>
                  <a:pt x="22382" y="130772"/>
                  <a:pt x="20119" y="128509"/>
                  <a:pt x="20119" y="125743"/>
                </a:cubicBezTo>
                <a:lnTo>
                  <a:pt x="20119" y="20119"/>
                </a:lnTo>
                <a:close/>
                <a:moveTo>
                  <a:pt x="147936" y="47342"/>
                </a:moveTo>
                <a:cubicBezTo>
                  <a:pt x="151866" y="43413"/>
                  <a:pt x="151866" y="37031"/>
                  <a:pt x="147936" y="33102"/>
                </a:cubicBezTo>
                <a:cubicBezTo>
                  <a:pt x="144007" y="29172"/>
                  <a:pt x="137625" y="29172"/>
                  <a:pt x="133696" y="33102"/>
                </a:cubicBezTo>
                <a:lnTo>
                  <a:pt x="100594" y="66235"/>
                </a:lnTo>
                <a:lnTo>
                  <a:pt x="82550" y="48222"/>
                </a:lnTo>
                <a:cubicBezTo>
                  <a:pt x="78621" y="44293"/>
                  <a:pt x="72239" y="44293"/>
                  <a:pt x="68310" y="48222"/>
                </a:cubicBezTo>
                <a:lnTo>
                  <a:pt x="38131" y="78400"/>
                </a:lnTo>
                <a:cubicBezTo>
                  <a:pt x="34202" y="82330"/>
                  <a:pt x="34202" y="88711"/>
                  <a:pt x="38131" y="92641"/>
                </a:cubicBezTo>
                <a:cubicBezTo>
                  <a:pt x="42061" y="96570"/>
                  <a:pt x="48442" y="96570"/>
                  <a:pt x="52372" y="92641"/>
                </a:cubicBezTo>
                <a:lnTo>
                  <a:pt x="75446" y="69567"/>
                </a:lnTo>
                <a:lnTo>
                  <a:pt x="93490" y="87611"/>
                </a:lnTo>
                <a:cubicBezTo>
                  <a:pt x="97419" y="91541"/>
                  <a:pt x="103800" y="91541"/>
                  <a:pt x="107730" y="87611"/>
                </a:cubicBezTo>
                <a:lnTo>
                  <a:pt x="147968" y="47374"/>
                </a:lnTo>
                <a:close/>
              </a:path>
            </a:pathLst>
          </a:custGeom>
          <a:solidFill>
            <a:srgbClr val="1A1D23"/>
          </a:solidFill>
          <a:ln/>
        </p:spPr>
      </p:sp>
      <p:sp>
        <p:nvSpPr>
          <p:cNvPr id="10" name="Text 8"/>
          <p:cNvSpPr/>
          <p:nvPr/>
        </p:nvSpPr>
        <p:spPr>
          <a:xfrm>
            <a:off x="973750" y="2205022"/>
            <a:ext cx="1005941" cy="25752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21" b="1" dirty="0">
                <a:solidFill>
                  <a:srgbClr val="E0E2E6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Regresión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90899" y="2655683"/>
            <a:ext cx="5424032" cy="2253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41" b="1" dirty="0">
                <a:solidFill>
                  <a:srgbClr val="C8A26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Regresión Lineal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90899" y="2913204"/>
            <a:ext cx="5415984" cy="2092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14" dirty="0">
                <a:solidFill>
                  <a:srgbClr val="788A9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Modelos estadísticos para análisis predictivo de variables continuas.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490899" y="3223034"/>
            <a:ext cx="5351604" cy="8048"/>
          </a:xfrm>
          <a:custGeom>
            <a:avLst/>
            <a:gdLst/>
            <a:ahLst/>
            <a:cxnLst/>
            <a:rect l="l" t="t" r="r" b="b"/>
            <a:pathLst>
              <a:path w="5351604" h="8048">
                <a:moveTo>
                  <a:pt x="0" y="0"/>
                </a:moveTo>
                <a:lnTo>
                  <a:pt x="5351604" y="0"/>
                </a:lnTo>
                <a:lnTo>
                  <a:pt x="5351604" y="8048"/>
                </a:lnTo>
                <a:lnTo>
                  <a:pt x="0" y="8048"/>
                </a:lnTo>
                <a:lnTo>
                  <a:pt x="0" y="0"/>
                </a:lnTo>
                <a:close/>
              </a:path>
            </a:pathLst>
          </a:custGeom>
          <a:solidFill>
            <a:srgbClr val="788A9C">
              <a:alpha val="20000"/>
            </a:srgbClr>
          </a:solidFill>
          <a:ln/>
        </p:spPr>
      </p:sp>
      <p:sp>
        <p:nvSpPr>
          <p:cNvPr id="14" name="Text 12"/>
          <p:cNvSpPr/>
          <p:nvPr/>
        </p:nvSpPr>
        <p:spPr>
          <a:xfrm>
            <a:off x="490899" y="3323628"/>
            <a:ext cx="5424032" cy="2253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41" b="1" dirty="0">
                <a:solidFill>
                  <a:srgbClr val="C8A26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Regresión Logística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90899" y="3581149"/>
            <a:ext cx="5415984" cy="2092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14" dirty="0">
                <a:solidFill>
                  <a:srgbClr val="788A9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Algoritmo para clasificación binaria basado en probabilidades.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6179116" y="1975667"/>
            <a:ext cx="5681552" cy="1979691"/>
          </a:xfrm>
          <a:custGeom>
            <a:avLst/>
            <a:gdLst/>
            <a:ahLst/>
            <a:cxnLst/>
            <a:rect l="l" t="t" r="r" b="b"/>
            <a:pathLst>
              <a:path w="5681552" h="1979691">
                <a:moveTo>
                  <a:pt x="96569" y="0"/>
                </a:moveTo>
                <a:lnTo>
                  <a:pt x="5584983" y="0"/>
                </a:lnTo>
                <a:cubicBezTo>
                  <a:pt x="5638317" y="0"/>
                  <a:pt x="5681552" y="43236"/>
                  <a:pt x="5681552" y="96569"/>
                </a:cubicBezTo>
                <a:lnTo>
                  <a:pt x="5681552" y="1883122"/>
                </a:lnTo>
                <a:cubicBezTo>
                  <a:pt x="5681552" y="1936456"/>
                  <a:pt x="5638317" y="1979691"/>
                  <a:pt x="5584983" y="1979691"/>
                </a:cubicBezTo>
                <a:lnTo>
                  <a:pt x="96569" y="1979691"/>
                </a:lnTo>
                <a:cubicBezTo>
                  <a:pt x="43236" y="1979691"/>
                  <a:pt x="0" y="1936456"/>
                  <a:pt x="0" y="1883122"/>
                </a:cubicBezTo>
                <a:lnTo>
                  <a:pt x="0" y="96569"/>
                </a:lnTo>
                <a:cubicBezTo>
                  <a:pt x="0" y="43236"/>
                  <a:pt x="43236" y="0"/>
                  <a:pt x="96569" y="0"/>
                </a:cubicBezTo>
                <a:close/>
              </a:path>
            </a:pathLst>
          </a:custGeom>
          <a:solidFill>
            <a:srgbClr val="4A6D8C">
              <a:alpha val="10196"/>
            </a:srgbClr>
          </a:solidFill>
          <a:ln w="12700">
            <a:solidFill>
              <a:srgbClr val="4A6D8C">
                <a:alpha val="30196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344090" y="2140642"/>
            <a:ext cx="386281" cy="386281"/>
          </a:xfrm>
          <a:custGeom>
            <a:avLst/>
            <a:gdLst/>
            <a:ahLst/>
            <a:cxnLst/>
            <a:rect l="l" t="t" r="r" b="b"/>
            <a:pathLst>
              <a:path w="386281" h="386281">
                <a:moveTo>
                  <a:pt x="64381" y="0"/>
                </a:moveTo>
                <a:lnTo>
                  <a:pt x="321900" y="0"/>
                </a:lnTo>
                <a:cubicBezTo>
                  <a:pt x="357433" y="0"/>
                  <a:pt x="386281" y="28848"/>
                  <a:pt x="386281" y="64381"/>
                </a:cubicBezTo>
                <a:lnTo>
                  <a:pt x="386281" y="321900"/>
                </a:lnTo>
                <a:cubicBezTo>
                  <a:pt x="386281" y="357457"/>
                  <a:pt x="357457" y="386281"/>
                  <a:pt x="321900" y="386281"/>
                </a:cubicBezTo>
                <a:lnTo>
                  <a:pt x="64381" y="386281"/>
                </a:lnTo>
                <a:cubicBezTo>
                  <a:pt x="28825" y="386281"/>
                  <a:pt x="0" y="357457"/>
                  <a:pt x="0" y="321900"/>
                </a:cubicBezTo>
                <a:lnTo>
                  <a:pt x="0" y="64381"/>
                </a:lnTo>
                <a:cubicBezTo>
                  <a:pt x="0" y="28848"/>
                  <a:pt x="28848" y="0"/>
                  <a:pt x="64381" y="0"/>
                </a:cubicBezTo>
                <a:close/>
              </a:path>
            </a:pathLst>
          </a:custGeom>
          <a:solidFill>
            <a:srgbClr val="C8A265"/>
          </a:solidFill>
          <a:ln/>
        </p:spPr>
      </p:sp>
      <p:sp>
        <p:nvSpPr>
          <p:cNvPr id="18" name="Shape 16"/>
          <p:cNvSpPr/>
          <p:nvPr/>
        </p:nvSpPr>
        <p:spPr>
          <a:xfrm>
            <a:off x="6456755" y="2253307"/>
            <a:ext cx="160950" cy="160950"/>
          </a:xfrm>
          <a:custGeom>
            <a:avLst/>
            <a:gdLst/>
            <a:ahLst/>
            <a:cxnLst/>
            <a:rect l="l" t="t" r="r" b="b"/>
            <a:pathLst>
              <a:path w="160950" h="160950">
                <a:moveTo>
                  <a:pt x="60356" y="20119"/>
                </a:moveTo>
                <a:cubicBezTo>
                  <a:pt x="60356" y="14555"/>
                  <a:pt x="64852" y="10059"/>
                  <a:pt x="70416" y="10059"/>
                </a:cubicBezTo>
                <a:lnTo>
                  <a:pt x="90535" y="10059"/>
                </a:lnTo>
                <a:cubicBezTo>
                  <a:pt x="96099" y="10059"/>
                  <a:pt x="100594" y="14555"/>
                  <a:pt x="100594" y="20119"/>
                </a:cubicBezTo>
                <a:lnTo>
                  <a:pt x="100594" y="40238"/>
                </a:lnTo>
                <a:cubicBezTo>
                  <a:pt x="100594" y="45802"/>
                  <a:pt x="96099" y="50297"/>
                  <a:pt x="90535" y="50297"/>
                </a:cubicBezTo>
                <a:lnTo>
                  <a:pt x="88020" y="50297"/>
                </a:lnTo>
                <a:lnTo>
                  <a:pt x="88020" y="70416"/>
                </a:lnTo>
                <a:lnTo>
                  <a:pt x="125743" y="70416"/>
                </a:lnTo>
                <a:cubicBezTo>
                  <a:pt x="138254" y="70416"/>
                  <a:pt x="148376" y="80538"/>
                  <a:pt x="148376" y="93050"/>
                </a:cubicBezTo>
                <a:lnTo>
                  <a:pt x="148376" y="110653"/>
                </a:lnTo>
                <a:lnTo>
                  <a:pt x="150891" y="110653"/>
                </a:lnTo>
                <a:cubicBezTo>
                  <a:pt x="156455" y="110653"/>
                  <a:pt x="160950" y="115149"/>
                  <a:pt x="160950" y="120713"/>
                </a:cubicBezTo>
                <a:lnTo>
                  <a:pt x="160950" y="140832"/>
                </a:lnTo>
                <a:cubicBezTo>
                  <a:pt x="160950" y="146396"/>
                  <a:pt x="156455" y="150891"/>
                  <a:pt x="150891" y="150891"/>
                </a:cubicBezTo>
                <a:lnTo>
                  <a:pt x="130772" y="150891"/>
                </a:lnTo>
                <a:cubicBezTo>
                  <a:pt x="125208" y="150891"/>
                  <a:pt x="120713" y="146396"/>
                  <a:pt x="120713" y="140832"/>
                </a:cubicBezTo>
                <a:lnTo>
                  <a:pt x="120713" y="120713"/>
                </a:lnTo>
                <a:cubicBezTo>
                  <a:pt x="120713" y="115149"/>
                  <a:pt x="125208" y="110653"/>
                  <a:pt x="130772" y="110653"/>
                </a:cubicBezTo>
                <a:lnTo>
                  <a:pt x="133287" y="110653"/>
                </a:lnTo>
                <a:lnTo>
                  <a:pt x="133287" y="93050"/>
                </a:lnTo>
                <a:cubicBezTo>
                  <a:pt x="133287" y="88869"/>
                  <a:pt x="129924" y="85505"/>
                  <a:pt x="125743" y="85505"/>
                </a:cubicBezTo>
                <a:lnTo>
                  <a:pt x="88020" y="85505"/>
                </a:lnTo>
                <a:lnTo>
                  <a:pt x="88020" y="110653"/>
                </a:lnTo>
                <a:lnTo>
                  <a:pt x="90535" y="110653"/>
                </a:lnTo>
                <a:cubicBezTo>
                  <a:pt x="96099" y="110653"/>
                  <a:pt x="100594" y="115149"/>
                  <a:pt x="100594" y="120713"/>
                </a:cubicBezTo>
                <a:lnTo>
                  <a:pt x="100594" y="140832"/>
                </a:lnTo>
                <a:cubicBezTo>
                  <a:pt x="100594" y="146396"/>
                  <a:pt x="96099" y="150891"/>
                  <a:pt x="90535" y="150891"/>
                </a:cubicBezTo>
                <a:lnTo>
                  <a:pt x="70416" y="150891"/>
                </a:lnTo>
                <a:cubicBezTo>
                  <a:pt x="64852" y="150891"/>
                  <a:pt x="60356" y="146396"/>
                  <a:pt x="60356" y="140832"/>
                </a:cubicBezTo>
                <a:lnTo>
                  <a:pt x="60356" y="120713"/>
                </a:lnTo>
                <a:cubicBezTo>
                  <a:pt x="60356" y="115149"/>
                  <a:pt x="64852" y="110653"/>
                  <a:pt x="70416" y="110653"/>
                </a:cubicBezTo>
                <a:lnTo>
                  <a:pt x="72931" y="110653"/>
                </a:lnTo>
                <a:lnTo>
                  <a:pt x="72931" y="85505"/>
                </a:lnTo>
                <a:lnTo>
                  <a:pt x="35208" y="85505"/>
                </a:lnTo>
                <a:cubicBezTo>
                  <a:pt x="31027" y="85505"/>
                  <a:pt x="27663" y="88869"/>
                  <a:pt x="27663" y="93050"/>
                </a:cubicBezTo>
                <a:lnTo>
                  <a:pt x="27663" y="110653"/>
                </a:lnTo>
                <a:lnTo>
                  <a:pt x="30178" y="110653"/>
                </a:lnTo>
                <a:cubicBezTo>
                  <a:pt x="35742" y="110653"/>
                  <a:pt x="40238" y="115149"/>
                  <a:pt x="40238" y="120713"/>
                </a:cubicBezTo>
                <a:lnTo>
                  <a:pt x="40238" y="140832"/>
                </a:lnTo>
                <a:cubicBezTo>
                  <a:pt x="40238" y="146396"/>
                  <a:pt x="35742" y="150891"/>
                  <a:pt x="30178" y="150891"/>
                </a:cubicBezTo>
                <a:lnTo>
                  <a:pt x="10059" y="150891"/>
                </a:lnTo>
                <a:cubicBezTo>
                  <a:pt x="4495" y="150891"/>
                  <a:pt x="0" y="146396"/>
                  <a:pt x="0" y="140832"/>
                </a:cubicBezTo>
                <a:lnTo>
                  <a:pt x="0" y="120713"/>
                </a:lnTo>
                <a:cubicBezTo>
                  <a:pt x="0" y="115149"/>
                  <a:pt x="4495" y="110653"/>
                  <a:pt x="10059" y="110653"/>
                </a:cubicBezTo>
                <a:lnTo>
                  <a:pt x="12574" y="110653"/>
                </a:lnTo>
                <a:lnTo>
                  <a:pt x="12574" y="93050"/>
                </a:lnTo>
                <a:cubicBezTo>
                  <a:pt x="12574" y="80538"/>
                  <a:pt x="22697" y="70416"/>
                  <a:pt x="35208" y="70416"/>
                </a:cubicBezTo>
                <a:lnTo>
                  <a:pt x="72931" y="70416"/>
                </a:lnTo>
                <a:lnTo>
                  <a:pt x="72931" y="50297"/>
                </a:lnTo>
                <a:lnTo>
                  <a:pt x="70416" y="50297"/>
                </a:lnTo>
                <a:cubicBezTo>
                  <a:pt x="64852" y="50297"/>
                  <a:pt x="60356" y="45802"/>
                  <a:pt x="60356" y="40238"/>
                </a:cubicBezTo>
                <a:lnTo>
                  <a:pt x="60356" y="20119"/>
                </a:lnTo>
                <a:close/>
              </a:path>
            </a:pathLst>
          </a:custGeom>
          <a:solidFill>
            <a:srgbClr val="1A1D23"/>
          </a:solidFill>
          <a:ln/>
        </p:spPr>
      </p:sp>
      <p:sp>
        <p:nvSpPr>
          <p:cNvPr id="19" name="Text 17"/>
          <p:cNvSpPr/>
          <p:nvPr/>
        </p:nvSpPr>
        <p:spPr>
          <a:xfrm>
            <a:off x="6826942" y="2205022"/>
            <a:ext cx="1883121" cy="25752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21" b="1" dirty="0">
                <a:solidFill>
                  <a:srgbClr val="E0E2E6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Árboles de Decisión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6344090" y="2655683"/>
            <a:ext cx="5424032" cy="2253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41" b="1" dirty="0">
                <a:solidFill>
                  <a:srgbClr val="C8A26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Árboles Simples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6344090" y="2913204"/>
            <a:ext cx="5415984" cy="2092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14" dirty="0">
                <a:solidFill>
                  <a:srgbClr val="788A9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Algoritmos para clasificación y regresión basados en reglas lógicas.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6344090" y="3223034"/>
            <a:ext cx="5351604" cy="8048"/>
          </a:xfrm>
          <a:custGeom>
            <a:avLst/>
            <a:gdLst/>
            <a:ahLst/>
            <a:cxnLst/>
            <a:rect l="l" t="t" r="r" b="b"/>
            <a:pathLst>
              <a:path w="5351604" h="8048">
                <a:moveTo>
                  <a:pt x="0" y="0"/>
                </a:moveTo>
                <a:lnTo>
                  <a:pt x="5351604" y="0"/>
                </a:lnTo>
                <a:lnTo>
                  <a:pt x="5351604" y="8048"/>
                </a:lnTo>
                <a:lnTo>
                  <a:pt x="0" y="8048"/>
                </a:lnTo>
                <a:lnTo>
                  <a:pt x="0" y="0"/>
                </a:lnTo>
                <a:close/>
              </a:path>
            </a:pathLst>
          </a:custGeom>
          <a:solidFill>
            <a:srgbClr val="788A9C">
              <a:alpha val="20000"/>
            </a:srgbClr>
          </a:solidFill>
          <a:ln/>
        </p:spPr>
      </p:sp>
      <p:sp>
        <p:nvSpPr>
          <p:cNvPr id="23" name="Text 21"/>
          <p:cNvSpPr/>
          <p:nvPr/>
        </p:nvSpPr>
        <p:spPr>
          <a:xfrm>
            <a:off x="6344090" y="3323628"/>
            <a:ext cx="5424032" cy="2253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41" b="1" dirty="0">
                <a:solidFill>
                  <a:srgbClr val="C8A26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Random Forest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6344090" y="3581149"/>
            <a:ext cx="5415984" cy="2092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14" dirty="0">
                <a:solidFill>
                  <a:srgbClr val="788A9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Conjunto de múltiples árboles de decisión para mejorar precisión y reducir sobreajuste.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325925" y="4124356"/>
            <a:ext cx="5681552" cy="1875073"/>
          </a:xfrm>
          <a:custGeom>
            <a:avLst/>
            <a:gdLst/>
            <a:ahLst/>
            <a:cxnLst/>
            <a:rect l="l" t="t" r="r" b="b"/>
            <a:pathLst>
              <a:path w="5681552" h="1875073">
                <a:moveTo>
                  <a:pt x="96566" y="0"/>
                </a:moveTo>
                <a:lnTo>
                  <a:pt x="5584986" y="0"/>
                </a:lnTo>
                <a:cubicBezTo>
                  <a:pt x="5638318" y="0"/>
                  <a:pt x="5681552" y="43234"/>
                  <a:pt x="5681552" y="96566"/>
                </a:cubicBezTo>
                <a:lnTo>
                  <a:pt x="5681552" y="1778507"/>
                </a:lnTo>
                <a:cubicBezTo>
                  <a:pt x="5681552" y="1831839"/>
                  <a:pt x="5638318" y="1875073"/>
                  <a:pt x="5584986" y="1875073"/>
                </a:cubicBezTo>
                <a:lnTo>
                  <a:pt x="96566" y="1875073"/>
                </a:lnTo>
                <a:cubicBezTo>
                  <a:pt x="43234" y="1875073"/>
                  <a:pt x="0" y="1831839"/>
                  <a:pt x="0" y="1778507"/>
                </a:cubicBezTo>
                <a:lnTo>
                  <a:pt x="0" y="96566"/>
                </a:lnTo>
                <a:cubicBezTo>
                  <a:pt x="0" y="43270"/>
                  <a:pt x="43270" y="0"/>
                  <a:pt x="96566" y="0"/>
                </a:cubicBezTo>
                <a:close/>
              </a:path>
            </a:pathLst>
          </a:custGeom>
          <a:solidFill>
            <a:srgbClr val="4A6D8C">
              <a:alpha val="10196"/>
            </a:srgbClr>
          </a:solidFill>
          <a:ln w="12700">
            <a:solidFill>
              <a:srgbClr val="4A6D8C">
                <a:alpha val="30196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90899" y="4289331"/>
            <a:ext cx="386281" cy="386281"/>
          </a:xfrm>
          <a:custGeom>
            <a:avLst/>
            <a:gdLst/>
            <a:ahLst/>
            <a:cxnLst/>
            <a:rect l="l" t="t" r="r" b="b"/>
            <a:pathLst>
              <a:path w="386281" h="386281">
                <a:moveTo>
                  <a:pt x="64381" y="0"/>
                </a:moveTo>
                <a:lnTo>
                  <a:pt x="321900" y="0"/>
                </a:lnTo>
                <a:cubicBezTo>
                  <a:pt x="357433" y="0"/>
                  <a:pt x="386281" y="28848"/>
                  <a:pt x="386281" y="64381"/>
                </a:cubicBezTo>
                <a:lnTo>
                  <a:pt x="386281" y="321900"/>
                </a:lnTo>
                <a:cubicBezTo>
                  <a:pt x="386281" y="357457"/>
                  <a:pt x="357457" y="386281"/>
                  <a:pt x="321900" y="386281"/>
                </a:cubicBezTo>
                <a:lnTo>
                  <a:pt x="64381" y="386281"/>
                </a:lnTo>
                <a:cubicBezTo>
                  <a:pt x="28825" y="386281"/>
                  <a:pt x="0" y="357457"/>
                  <a:pt x="0" y="321900"/>
                </a:cubicBezTo>
                <a:lnTo>
                  <a:pt x="0" y="64381"/>
                </a:lnTo>
                <a:cubicBezTo>
                  <a:pt x="0" y="28848"/>
                  <a:pt x="28848" y="0"/>
                  <a:pt x="64381" y="0"/>
                </a:cubicBezTo>
                <a:close/>
              </a:path>
            </a:pathLst>
          </a:custGeom>
          <a:solidFill>
            <a:srgbClr val="C8A265"/>
          </a:solidFill>
          <a:ln/>
        </p:spPr>
      </p:sp>
      <p:sp>
        <p:nvSpPr>
          <p:cNvPr id="27" name="Shape 25"/>
          <p:cNvSpPr/>
          <p:nvPr/>
        </p:nvSpPr>
        <p:spPr>
          <a:xfrm>
            <a:off x="603564" y="4401996"/>
            <a:ext cx="160950" cy="160950"/>
          </a:xfrm>
          <a:custGeom>
            <a:avLst/>
            <a:gdLst/>
            <a:ahLst/>
            <a:cxnLst/>
            <a:rect l="l" t="t" r="r" b="b"/>
            <a:pathLst>
              <a:path w="160950" h="160950">
                <a:moveTo>
                  <a:pt x="20716" y="71830"/>
                </a:moveTo>
                <a:cubicBezTo>
                  <a:pt x="24897" y="42595"/>
                  <a:pt x="50077" y="20119"/>
                  <a:pt x="80475" y="20119"/>
                </a:cubicBezTo>
                <a:cubicBezTo>
                  <a:pt x="97136" y="20119"/>
                  <a:pt x="112225" y="26877"/>
                  <a:pt x="123165" y="37786"/>
                </a:cubicBezTo>
                <a:cubicBezTo>
                  <a:pt x="123228" y="37849"/>
                  <a:pt x="123291" y="37911"/>
                  <a:pt x="123353" y="37974"/>
                </a:cubicBezTo>
                <a:lnTo>
                  <a:pt x="125743" y="40238"/>
                </a:lnTo>
                <a:lnTo>
                  <a:pt x="110685" y="40238"/>
                </a:lnTo>
                <a:cubicBezTo>
                  <a:pt x="105121" y="40238"/>
                  <a:pt x="100625" y="44733"/>
                  <a:pt x="100625" y="50297"/>
                </a:cubicBezTo>
                <a:cubicBezTo>
                  <a:pt x="100625" y="55861"/>
                  <a:pt x="105121" y="60356"/>
                  <a:pt x="110685" y="60356"/>
                </a:cubicBezTo>
                <a:lnTo>
                  <a:pt x="150923" y="60356"/>
                </a:lnTo>
                <a:cubicBezTo>
                  <a:pt x="156487" y="60356"/>
                  <a:pt x="160982" y="55861"/>
                  <a:pt x="160982" y="50297"/>
                </a:cubicBezTo>
                <a:lnTo>
                  <a:pt x="160982" y="10059"/>
                </a:lnTo>
                <a:cubicBezTo>
                  <a:pt x="160982" y="4495"/>
                  <a:pt x="156487" y="0"/>
                  <a:pt x="150923" y="0"/>
                </a:cubicBezTo>
                <a:cubicBezTo>
                  <a:pt x="145358" y="0"/>
                  <a:pt x="140863" y="4495"/>
                  <a:pt x="140863" y="10059"/>
                </a:cubicBezTo>
                <a:lnTo>
                  <a:pt x="140863" y="26846"/>
                </a:lnTo>
                <a:lnTo>
                  <a:pt x="137311" y="23482"/>
                </a:lnTo>
                <a:cubicBezTo>
                  <a:pt x="122756" y="8991"/>
                  <a:pt x="102637" y="0"/>
                  <a:pt x="80475" y="0"/>
                </a:cubicBezTo>
                <a:cubicBezTo>
                  <a:pt x="39923" y="0"/>
                  <a:pt x="6381" y="29990"/>
                  <a:pt x="817" y="69001"/>
                </a:cubicBezTo>
                <a:cubicBezTo>
                  <a:pt x="31" y="74502"/>
                  <a:pt x="3835" y="79595"/>
                  <a:pt x="9336" y="80381"/>
                </a:cubicBezTo>
                <a:cubicBezTo>
                  <a:pt x="14838" y="81167"/>
                  <a:pt x="19930" y="77332"/>
                  <a:pt x="20716" y="71862"/>
                </a:cubicBezTo>
                <a:close/>
                <a:moveTo>
                  <a:pt x="160133" y="91949"/>
                </a:moveTo>
                <a:cubicBezTo>
                  <a:pt x="160919" y="86448"/>
                  <a:pt x="157084" y="81355"/>
                  <a:pt x="151614" y="80570"/>
                </a:cubicBezTo>
                <a:cubicBezTo>
                  <a:pt x="146144" y="79784"/>
                  <a:pt x="141020" y="83619"/>
                  <a:pt x="140234" y="89089"/>
                </a:cubicBezTo>
                <a:cubicBezTo>
                  <a:pt x="136053" y="118324"/>
                  <a:pt x="110874" y="140800"/>
                  <a:pt x="80475" y="140800"/>
                </a:cubicBezTo>
                <a:cubicBezTo>
                  <a:pt x="63814" y="140800"/>
                  <a:pt x="48725" y="134042"/>
                  <a:pt x="37786" y="123133"/>
                </a:cubicBezTo>
                <a:cubicBezTo>
                  <a:pt x="37723" y="123071"/>
                  <a:pt x="37660" y="123008"/>
                  <a:pt x="37597" y="122945"/>
                </a:cubicBezTo>
                <a:lnTo>
                  <a:pt x="35208" y="120681"/>
                </a:lnTo>
                <a:lnTo>
                  <a:pt x="50266" y="120681"/>
                </a:lnTo>
                <a:cubicBezTo>
                  <a:pt x="55830" y="120681"/>
                  <a:pt x="60325" y="116186"/>
                  <a:pt x="60325" y="110622"/>
                </a:cubicBezTo>
                <a:cubicBezTo>
                  <a:pt x="60325" y="105058"/>
                  <a:pt x="55830" y="100563"/>
                  <a:pt x="50266" y="100563"/>
                </a:cubicBezTo>
                <a:lnTo>
                  <a:pt x="10059" y="100594"/>
                </a:lnTo>
                <a:cubicBezTo>
                  <a:pt x="7387" y="100594"/>
                  <a:pt x="4810" y="101663"/>
                  <a:pt x="2924" y="103580"/>
                </a:cubicBezTo>
                <a:cubicBezTo>
                  <a:pt x="1037" y="105498"/>
                  <a:pt x="-31" y="108044"/>
                  <a:pt x="0" y="110748"/>
                </a:cubicBezTo>
                <a:lnTo>
                  <a:pt x="314" y="150671"/>
                </a:lnTo>
                <a:cubicBezTo>
                  <a:pt x="346" y="156235"/>
                  <a:pt x="4904" y="160699"/>
                  <a:pt x="10468" y="160636"/>
                </a:cubicBezTo>
                <a:cubicBezTo>
                  <a:pt x="16032" y="160573"/>
                  <a:pt x="20496" y="156047"/>
                  <a:pt x="20433" y="150482"/>
                </a:cubicBezTo>
                <a:lnTo>
                  <a:pt x="20307" y="134293"/>
                </a:lnTo>
                <a:lnTo>
                  <a:pt x="23671" y="137468"/>
                </a:lnTo>
                <a:cubicBezTo>
                  <a:pt x="38226" y="151960"/>
                  <a:pt x="58313" y="160950"/>
                  <a:pt x="80475" y="160950"/>
                </a:cubicBezTo>
                <a:cubicBezTo>
                  <a:pt x="121027" y="160950"/>
                  <a:pt x="154569" y="130961"/>
                  <a:pt x="160133" y="91949"/>
                </a:cubicBezTo>
                <a:close/>
              </a:path>
            </a:pathLst>
          </a:custGeom>
          <a:solidFill>
            <a:srgbClr val="1A1D23"/>
          </a:solidFill>
          <a:ln/>
        </p:spPr>
      </p:sp>
      <p:sp>
        <p:nvSpPr>
          <p:cNvPr id="28" name="Text 26"/>
          <p:cNvSpPr/>
          <p:nvPr/>
        </p:nvSpPr>
        <p:spPr>
          <a:xfrm>
            <a:off x="973750" y="4353711"/>
            <a:ext cx="515042" cy="25752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21" b="1" dirty="0">
                <a:solidFill>
                  <a:srgbClr val="E0E2E6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SVM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490899" y="4804372"/>
            <a:ext cx="5424032" cy="2253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41" b="1" dirty="0">
                <a:solidFill>
                  <a:srgbClr val="C8A26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Máquinas de Soporte Vectorial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490899" y="5094083"/>
            <a:ext cx="5415984" cy="41847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14" dirty="0">
                <a:solidFill>
                  <a:srgbClr val="788A9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Técnica poderosa para clasificación y regresión basada en hiperplanos de separación óptima.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490899" y="5609125"/>
            <a:ext cx="844990" cy="225331"/>
          </a:xfrm>
          <a:custGeom>
            <a:avLst/>
            <a:gdLst/>
            <a:ahLst/>
            <a:cxnLst/>
            <a:rect l="l" t="t" r="r" b="b"/>
            <a:pathLst>
              <a:path w="844990" h="225331">
                <a:moveTo>
                  <a:pt x="112665" y="0"/>
                </a:moveTo>
                <a:lnTo>
                  <a:pt x="732325" y="0"/>
                </a:lnTo>
                <a:cubicBezTo>
                  <a:pt x="794548" y="0"/>
                  <a:pt x="844990" y="50442"/>
                  <a:pt x="844990" y="112665"/>
                </a:cubicBezTo>
                <a:lnTo>
                  <a:pt x="844990" y="112665"/>
                </a:lnTo>
                <a:cubicBezTo>
                  <a:pt x="844990" y="174889"/>
                  <a:pt x="794548" y="225331"/>
                  <a:pt x="732325" y="225331"/>
                </a:cubicBezTo>
                <a:lnTo>
                  <a:pt x="112665" y="225331"/>
                </a:lnTo>
                <a:cubicBezTo>
                  <a:pt x="50442" y="225331"/>
                  <a:pt x="0" y="174889"/>
                  <a:pt x="0" y="112665"/>
                </a:cubicBezTo>
                <a:lnTo>
                  <a:pt x="0" y="112665"/>
                </a:lnTo>
                <a:cubicBezTo>
                  <a:pt x="0" y="50442"/>
                  <a:pt x="50442" y="0"/>
                  <a:pt x="112665" y="0"/>
                </a:cubicBezTo>
                <a:close/>
              </a:path>
            </a:pathLst>
          </a:custGeom>
          <a:solidFill>
            <a:srgbClr val="4A6D8C">
              <a:alpha val="30196"/>
            </a:srgbClr>
          </a:solidFill>
          <a:ln/>
        </p:spPr>
      </p:sp>
      <p:sp>
        <p:nvSpPr>
          <p:cNvPr id="32" name="Text 30"/>
          <p:cNvSpPr/>
          <p:nvPr/>
        </p:nvSpPr>
        <p:spPr>
          <a:xfrm>
            <a:off x="490899" y="5609125"/>
            <a:ext cx="901323" cy="225331"/>
          </a:xfrm>
          <a:prstGeom prst="rect">
            <a:avLst/>
          </a:prstGeom>
          <a:noFill/>
          <a:ln/>
        </p:spPr>
        <p:txBody>
          <a:bodyPr wrap="square" lIns="96570" tIns="32190" rIns="96570" bIns="32190" rtlCol="0" anchor="ctr"/>
          <a:lstStyle/>
          <a:p>
            <a:pPr>
              <a:lnSpc>
                <a:spcPct val="120000"/>
              </a:lnSpc>
            </a:pPr>
            <a:r>
              <a:rPr lang="en-US" sz="887" dirty="0">
                <a:solidFill>
                  <a:srgbClr val="E0E2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Clasificación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1397754" y="5609125"/>
            <a:ext cx="708182" cy="225331"/>
          </a:xfrm>
          <a:custGeom>
            <a:avLst/>
            <a:gdLst/>
            <a:ahLst/>
            <a:cxnLst/>
            <a:rect l="l" t="t" r="r" b="b"/>
            <a:pathLst>
              <a:path w="708182" h="225331">
                <a:moveTo>
                  <a:pt x="112665" y="0"/>
                </a:moveTo>
                <a:lnTo>
                  <a:pt x="595517" y="0"/>
                </a:lnTo>
                <a:cubicBezTo>
                  <a:pt x="657740" y="0"/>
                  <a:pt x="708182" y="50442"/>
                  <a:pt x="708182" y="112665"/>
                </a:cubicBezTo>
                <a:lnTo>
                  <a:pt x="708182" y="112665"/>
                </a:lnTo>
                <a:cubicBezTo>
                  <a:pt x="708182" y="174889"/>
                  <a:pt x="657740" y="225331"/>
                  <a:pt x="595517" y="225331"/>
                </a:cubicBezTo>
                <a:lnTo>
                  <a:pt x="112665" y="225331"/>
                </a:lnTo>
                <a:cubicBezTo>
                  <a:pt x="50442" y="225331"/>
                  <a:pt x="0" y="174889"/>
                  <a:pt x="0" y="112665"/>
                </a:cubicBezTo>
                <a:lnTo>
                  <a:pt x="0" y="112665"/>
                </a:lnTo>
                <a:cubicBezTo>
                  <a:pt x="0" y="50442"/>
                  <a:pt x="50442" y="0"/>
                  <a:pt x="112665" y="0"/>
                </a:cubicBezTo>
                <a:close/>
              </a:path>
            </a:pathLst>
          </a:custGeom>
          <a:solidFill>
            <a:srgbClr val="4A6D8C">
              <a:alpha val="30196"/>
            </a:srgbClr>
          </a:solidFill>
          <a:ln/>
        </p:spPr>
      </p:sp>
      <p:sp>
        <p:nvSpPr>
          <p:cNvPr id="34" name="Text 32"/>
          <p:cNvSpPr/>
          <p:nvPr/>
        </p:nvSpPr>
        <p:spPr>
          <a:xfrm>
            <a:off x="1397754" y="5609125"/>
            <a:ext cx="764515" cy="225331"/>
          </a:xfrm>
          <a:prstGeom prst="rect">
            <a:avLst/>
          </a:prstGeom>
          <a:noFill/>
          <a:ln/>
        </p:spPr>
        <p:txBody>
          <a:bodyPr wrap="square" lIns="96570" tIns="32190" rIns="96570" bIns="32190" rtlCol="0" anchor="ctr"/>
          <a:lstStyle/>
          <a:p>
            <a:pPr>
              <a:lnSpc>
                <a:spcPct val="120000"/>
              </a:lnSpc>
            </a:pPr>
            <a:r>
              <a:rPr lang="en-US" sz="887" dirty="0">
                <a:solidFill>
                  <a:srgbClr val="E0E2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Regresión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2171071" y="5609125"/>
            <a:ext cx="1005941" cy="225331"/>
          </a:xfrm>
          <a:custGeom>
            <a:avLst/>
            <a:gdLst/>
            <a:ahLst/>
            <a:cxnLst/>
            <a:rect l="l" t="t" r="r" b="b"/>
            <a:pathLst>
              <a:path w="1005941" h="225331">
                <a:moveTo>
                  <a:pt x="112665" y="0"/>
                </a:moveTo>
                <a:lnTo>
                  <a:pt x="893275" y="0"/>
                </a:lnTo>
                <a:cubicBezTo>
                  <a:pt x="955499" y="0"/>
                  <a:pt x="1005941" y="50442"/>
                  <a:pt x="1005941" y="112665"/>
                </a:cubicBezTo>
                <a:lnTo>
                  <a:pt x="1005941" y="112665"/>
                </a:lnTo>
                <a:cubicBezTo>
                  <a:pt x="1005941" y="174889"/>
                  <a:pt x="955499" y="225331"/>
                  <a:pt x="893275" y="225331"/>
                </a:cubicBezTo>
                <a:lnTo>
                  <a:pt x="112665" y="225331"/>
                </a:lnTo>
                <a:cubicBezTo>
                  <a:pt x="50442" y="225331"/>
                  <a:pt x="0" y="174889"/>
                  <a:pt x="0" y="112665"/>
                </a:cubicBezTo>
                <a:lnTo>
                  <a:pt x="0" y="112665"/>
                </a:lnTo>
                <a:cubicBezTo>
                  <a:pt x="0" y="50442"/>
                  <a:pt x="50442" y="0"/>
                  <a:pt x="112665" y="0"/>
                </a:cubicBezTo>
                <a:close/>
              </a:path>
            </a:pathLst>
          </a:custGeom>
          <a:solidFill>
            <a:srgbClr val="4A6D8C">
              <a:alpha val="30196"/>
            </a:srgbClr>
          </a:solidFill>
          <a:ln/>
        </p:spPr>
      </p:sp>
      <p:sp>
        <p:nvSpPr>
          <p:cNvPr id="36" name="Text 34"/>
          <p:cNvSpPr/>
          <p:nvPr/>
        </p:nvSpPr>
        <p:spPr>
          <a:xfrm>
            <a:off x="2171071" y="5609125"/>
            <a:ext cx="1062273" cy="225331"/>
          </a:xfrm>
          <a:prstGeom prst="rect">
            <a:avLst/>
          </a:prstGeom>
          <a:noFill/>
          <a:ln/>
        </p:spPr>
        <p:txBody>
          <a:bodyPr wrap="square" lIns="96570" tIns="32190" rIns="96570" bIns="32190" rtlCol="0" anchor="ctr"/>
          <a:lstStyle/>
          <a:p>
            <a:pPr>
              <a:lnSpc>
                <a:spcPct val="120000"/>
              </a:lnSpc>
            </a:pPr>
            <a:r>
              <a:rPr lang="en-US" sz="887" dirty="0">
                <a:solidFill>
                  <a:srgbClr val="E0E2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Kernel Methods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6179116" y="4124356"/>
            <a:ext cx="5681552" cy="1875073"/>
          </a:xfrm>
          <a:custGeom>
            <a:avLst/>
            <a:gdLst/>
            <a:ahLst/>
            <a:cxnLst/>
            <a:rect l="l" t="t" r="r" b="b"/>
            <a:pathLst>
              <a:path w="5681552" h="1875073">
                <a:moveTo>
                  <a:pt x="96566" y="0"/>
                </a:moveTo>
                <a:lnTo>
                  <a:pt x="5584986" y="0"/>
                </a:lnTo>
                <a:cubicBezTo>
                  <a:pt x="5638318" y="0"/>
                  <a:pt x="5681552" y="43234"/>
                  <a:pt x="5681552" y="96566"/>
                </a:cubicBezTo>
                <a:lnTo>
                  <a:pt x="5681552" y="1778507"/>
                </a:lnTo>
                <a:cubicBezTo>
                  <a:pt x="5681552" y="1831839"/>
                  <a:pt x="5638318" y="1875073"/>
                  <a:pt x="5584986" y="1875073"/>
                </a:cubicBezTo>
                <a:lnTo>
                  <a:pt x="96566" y="1875073"/>
                </a:lnTo>
                <a:cubicBezTo>
                  <a:pt x="43234" y="1875073"/>
                  <a:pt x="0" y="1831839"/>
                  <a:pt x="0" y="1778507"/>
                </a:cubicBezTo>
                <a:lnTo>
                  <a:pt x="0" y="96566"/>
                </a:lnTo>
                <a:cubicBezTo>
                  <a:pt x="0" y="43270"/>
                  <a:pt x="43270" y="0"/>
                  <a:pt x="96566" y="0"/>
                </a:cubicBezTo>
                <a:close/>
              </a:path>
            </a:pathLst>
          </a:custGeom>
          <a:solidFill>
            <a:srgbClr val="4A6D8C">
              <a:alpha val="10196"/>
            </a:srgbClr>
          </a:solidFill>
          <a:ln w="12700">
            <a:solidFill>
              <a:srgbClr val="4A6D8C">
                <a:alpha val="30196"/>
              </a:srgbClr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6344090" y="4289331"/>
            <a:ext cx="386281" cy="386281"/>
          </a:xfrm>
          <a:custGeom>
            <a:avLst/>
            <a:gdLst/>
            <a:ahLst/>
            <a:cxnLst/>
            <a:rect l="l" t="t" r="r" b="b"/>
            <a:pathLst>
              <a:path w="386281" h="386281">
                <a:moveTo>
                  <a:pt x="64381" y="0"/>
                </a:moveTo>
                <a:lnTo>
                  <a:pt x="321900" y="0"/>
                </a:lnTo>
                <a:cubicBezTo>
                  <a:pt x="357433" y="0"/>
                  <a:pt x="386281" y="28848"/>
                  <a:pt x="386281" y="64381"/>
                </a:cubicBezTo>
                <a:lnTo>
                  <a:pt x="386281" y="321900"/>
                </a:lnTo>
                <a:cubicBezTo>
                  <a:pt x="386281" y="357457"/>
                  <a:pt x="357457" y="386281"/>
                  <a:pt x="321900" y="386281"/>
                </a:cubicBezTo>
                <a:lnTo>
                  <a:pt x="64381" y="386281"/>
                </a:lnTo>
                <a:cubicBezTo>
                  <a:pt x="28825" y="386281"/>
                  <a:pt x="0" y="357457"/>
                  <a:pt x="0" y="321900"/>
                </a:cubicBezTo>
                <a:lnTo>
                  <a:pt x="0" y="64381"/>
                </a:lnTo>
                <a:cubicBezTo>
                  <a:pt x="0" y="28848"/>
                  <a:pt x="28848" y="0"/>
                  <a:pt x="64381" y="0"/>
                </a:cubicBezTo>
                <a:close/>
              </a:path>
            </a:pathLst>
          </a:custGeom>
          <a:solidFill>
            <a:srgbClr val="C8A265"/>
          </a:solidFill>
          <a:ln/>
        </p:spPr>
      </p:sp>
      <p:sp>
        <p:nvSpPr>
          <p:cNvPr id="39" name="Shape 37"/>
          <p:cNvSpPr/>
          <p:nvPr/>
        </p:nvSpPr>
        <p:spPr>
          <a:xfrm>
            <a:off x="6456755" y="4401996"/>
            <a:ext cx="160950" cy="160950"/>
          </a:xfrm>
          <a:custGeom>
            <a:avLst/>
            <a:gdLst/>
            <a:ahLst/>
            <a:cxnLst/>
            <a:rect l="l" t="t" r="r" b="b"/>
            <a:pathLst>
              <a:path w="160950" h="160950">
                <a:moveTo>
                  <a:pt x="0" y="25149"/>
                </a:moveTo>
                <a:cubicBezTo>
                  <a:pt x="0" y="16818"/>
                  <a:pt x="6759" y="10059"/>
                  <a:pt x="15089" y="10059"/>
                </a:cubicBezTo>
                <a:lnTo>
                  <a:pt x="45267" y="10059"/>
                </a:lnTo>
                <a:cubicBezTo>
                  <a:pt x="53598" y="10059"/>
                  <a:pt x="60356" y="16818"/>
                  <a:pt x="60356" y="25149"/>
                </a:cubicBezTo>
                <a:lnTo>
                  <a:pt x="60356" y="30178"/>
                </a:lnTo>
                <a:lnTo>
                  <a:pt x="100594" y="30178"/>
                </a:lnTo>
                <a:lnTo>
                  <a:pt x="100594" y="25149"/>
                </a:lnTo>
                <a:cubicBezTo>
                  <a:pt x="100594" y="16818"/>
                  <a:pt x="107353" y="10059"/>
                  <a:pt x="115683" y="10059"/>
                </a:cubicBezTo>
                <a:lnTo>
                  <a:pt x="145861" y="10059"/>
                </a:lnTo>
                <a:cubicBezTo>
                  <a:pt x="154192" y="10059"/>
                  <a:pt x="160950" y="16818"/>
                  <a:pt x="160950" y="25149"/>
                </a:cubicBezTo>
                <a:lnTo>
                  <a:pt x="160950" y="55327"/>
                </a:lnTo>
                <a:cubicBezTo>
                  <a:pt x="160950" y="63657"/>
                  <a:pt x="154192" y="70416"/>
                  <a:pt x="145861" y="70416"/>
                </a:cubicBezTo>
                <a:lnTo>
                  <a:pt x="115683" y="70416"/>
                </a:lnTo>
                <a:cubicBezTo>
                  <a:pt x="107353" y="70416"/>
                  <a:pt x="100594" y="63657"/>
                  <a:pt x="100594" y="55327"/>
                </a:cubicBezTo>
                <a:lnTo>
                  <a:pt x="100594" y="50297"/>
                </a:lnTo>
                <a:lnTo>
                  <a:pt x="60356" y="50297"/>
                </a:lnTo>
                <a:lnTo>
                  <a:pt x="60356" y="55327"/>
                </a:lnTo>
                <a:cubicBezTo>
                  <a:pt x="60356" y="57622"/>
                  <a:pt x="59822" y="59822"/>
                  <a:pt x="58910" y="61771"/>
                </a:cubicBezTo>
                <a:lnTo>
                  <a:pt x="80475" y="90535"/>
                </a:lnTo>
                <a:lnTo>
                  <a:pt x="105624" y="90535"/>
                </a:lnTo>
                <a:cubicBezTo>
                  <a:pt x="113954" y="90535"/>
                  <a:pt x="120713" y="97293"/>
                  <a:pt x="120713" y="105624"/>
                </a:cubicBezTo>
                <a:lnTo>
                  <a:pt x="120713" y="135802"/>
                </a:lnTo>
                <a:cubicBezTo>
                  <a:pt x="120713" y="144132"/>
                  <a:pt x="113954" y="150891"/>
                  <a:pt x="105624" y="150891"/>
                </a:cubicBezTo>
                <a:lnTo>
                  <a:pt x="75446" y="150891"/>
                </a:lnTo>
                <a:cubicBezTo>
                  <a:pt x="67115" y="150891"/>
                  <a:pt x="60356" y="144132"/>
                  <a:pt x="60356" y="135802"/>
                </a:cubicBezTo>
                <a:lnTo>
                  <a:pt x="60356" y="105624"/>
                </a:lnTo>
                <a:cubicBezTo>
                  <a:pt x="60356" y="103329"/>
                  <a:pt x="60891" y="101128"/>
                  <a:pt x="61802" y="99179"/>
                </a:cubicBezTo>
                <a:lnTo>
                  <a:pt x="40238" y="70416"/>
                </a:lnTo>
                <a:lnTo>
                  <a:pt x="15089" y="70416"/>
                </a:lnTo>
                <a:cubicBezTo>
                  <a:pt x="6759" y="70416"/>
                  <a:pt x="0" y="63657"/>
                  <a:pt x="0" y="55327"/>
                </a:cubicBezTo>
                <a:lnTo>
                  <a:pt x="0" y="25149"/>
                </a:lnTo>
                <a:close/>
              </a:path>
            </a:pathLst>
          </a:custGeom>
          <a:solidFill>
            <a:srgbClr val="1A1D23"/>
          </a:solidFill>
          <a:ln/>
        </p:spPr>
      </p:sp>
      <p:sp>
        <p:nvSpPr>
          <p:cNvPr id="40" name="Text 38"/>
          <p:cNvSpPr/>
          <p:nvPr/>
        </p:nvSpPr>
        <p:spPr>
          <a:xfrm>
            <a:off x="6826942" y="4353711"/>
            <a:ext cx="571374" cy="25752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21" b="1" dirty="0">
                <a:solidFill>
                  <a:srgbClr val="E0E2E6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k-NN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6344090" y="4804372"/>
            <a:ext cx="5424032" cy="2253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41" b="1" dirty="0">
                <a:solidFill>
                  <a:srgbClr val="C8A26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k-Nearest Neighbors</a:t>
            </a:r>
            <a:endParaRPr lang="en-US" sz="1600" dirty="0"/>
          </a:p>
        </p:txBody>
      </p:sp>
      <p:sp>
        <p:nvSpPr>
          <p:cNvPr id="42" name="Text 40"/>
          <p:cNvSpPr/>
          <p:nvPr/>
        </p:nvSpPr>
        <p:spPr>
          <a:xfrm>
            <a:off x="6344090" y="5094083"/>
            <a:ext cx="5415984" cy="41847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14" dirty="0">
                <a:solidFill>
                  <a:srgbClr val="788A9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Algoritmo basado en la proximidad de datos, clasificando según los k vecinos más cercanos.</a:t>
            </a:r>
            <a:endParaRPr lang="en-US" sz="1600" dirty="0"/>
          </a:p>
        </p:txBody>
      </p:sp>
      <p:sp>
        <p:nvSpPr>
          <p:cNvPr id="43" name="Shape 41"/>
          <p:cNvSpPr/>
          <p:nvPr/>
        </p:nvSpPr>
        <p:spPr>
          <a:xfrm>
            <a:off x="6344090" y="5609125"/>
            <a:ext cx="844990" cy="225331"/>
          </a:xfrm>
          <a:custGeom>
            <a:avLst/>
            <a:gdLst/>
            <a:ahLst/>
            <a:cxnLst/>
            <a:rect l="l" t="t" r="r" b="b"/>
            <a:pathLst>
              <a:path w="844990" h="225331">
                <a:moveTo>
                  <a:pt x="112665" y="0"/>
                </a:moveTo>
                <a:lnTo>
                  <a:pt x="732325" y="0"/>
                </a:lnTo>
                <a:cubicBezTo>
                  <a:pt x="794548" y="0"/>
                  <a:pt x="844990" y="50442"/>
                  <a:pt x="844990" y="112665"/>
                </a:cubicBezTo>
                <a:lnTo>
                  <a:pt x="844990" y="112665"/>
                </a:lnTo>
                <a:cubicBezTo>
                  <a:pt x="844990" y="174889"/>
                  <a:pt x="794548" y="225331"/>
                  <a:pt x="732325" y="225331"/>
                </a:cubicBezTo>
                <a:lnTo>
                  <a:pt x="112665" y="225331"/>
                </a:lnTo>
                <a:cubicBezTo>
                  <a:pt x="50442" y="225331"/>
                  <a:pt x="0" y="174889"/>
                  <a:pt x="0" y="112665"/>
                </a:cubicBezTo>
                <a:lnTo>
                  <a:pt x="0" y="112665"/>
                </a:lnTo>
                <a:cubicBezTo>
                  <a:pt x="0" y="50442"/>
                  <a:pt x="50442" y="0"/>
                  <a:pt x="112665" y="0"/>
                </a:cubicBezTo>
                <a:close/>
              </a:path>
            </a:pathLst>
          </a:custGeom>
          <a:solidFill>
            <a:srgbClr val="4A6D8C">
              <a:alpha val="30196"/>
            </a:srgbClr>
          </a:solidFill>
          <a:ln/>
        </p:spPr>
      </p:sp>
      <p:sp>
        <p:nvSpPr>
          <p:cNvPr id="44" name="Text 42"/>
          <p:cNvSpPr/>
          <p:nvPr/>
        </p:nvSpPr>
        <p:spPr>
          <a:xfrm>
            <a:off x="6344090" y="5609125"/>
            <a:ext cx="901323" cy="225331"/>
          </a:xfrm>
          <a:prstGeom prst="rect">
            <a:avLst/>
          </a:prstGeom>
          <a:noFill/>
          <a:ln/>
        </p:spPr>
        <p:txBody>
          <a:bodyPr wrap="square" lIns="96570" tIns="32190" rIns="96570" bIns="32190" rtlCol="0" anchor="ctr"/>
          <a:lstStyle/>
          <a:p>
            <a:pPr>
              <a:lnSpc>
                <a:spcPct val="120000"/>
              </a:lnSpc>
            </a:pPr>
            <a:r>
              <a:rPr lang="en-US" sz="887" dirty="0">
                <a:solidFill>
                  <a:srgbClr val="E0E2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Clasificación</a:t>
            </a:r>
            <a:endParaRPr lang="en-US" sz="1600" dirty="0"/>
          </a:p>
        </p:txBody>
      </p:sp>
      <p:sp>
        <p:nvSpPr>
          <p:cNvPr id="45" name="Shape 43"/>
          <p:cNvSpPr/>
          <p:nvPr/>
        </p:nvSpPr>
        <p:spPr>
          <a:xfrm>
            <a:off x="7250946" y="5609125"/>
            <a:ext cx="909370" cy="225331"/>
          </a:xfrm>
          <a:custGeom>
            <a:avLst/>
            <a:gdLst/>
            <a:ahLst/>
            <a:cxnLst/>
            <a:rect l="l" t="t" r="r" b="b"/>
            <a:pathLst>
              <a:path w="909370" h="225331">
                <a:moveTo>
                  <a:pt x="112665" y="0"/>
                </a:moveTo>
                <a:lnTo>
                  <a:pt x="796705" y="0"/>
                </a:lnTo>
                <a:cubicBezTo>
                  <a:pt x="858928" y="0"/>
                  <a:pt x="909370" y="50442"/>
                  <a:pt x="909370" y="112665"/>
                </a:cubicBezTo>
                <a:lnTo>
                  <a:pt x="909370" y="112665"/>
                </a:lnTo>
                <a:cubicBezTo>
                  <a:pt x="909370" y="174889"/>
                  <a:pt x="858928" y="225331"/>
                  <a:pt x="796705" y="225331"/>
                </a:cubicBezTo>
                <a:lnTo>
                  <a:pt x="112665" y="225331"/>
                </a:lnTo>
                <a:cubicBezTo>
                  <a:pt x="50442" y="225331"/>
                  <a:pt x="0" y="174889"/>
                  <a:pt x="0" y="112665"/>
                </a:cubicBezTo>
                <a:lnTo>
                  <a:pt x="0" y="112665"/>
                </a:lnTo>
                <a:cubicBezTo>
                  <a:pt x="0" y="50442"/>
                  <a:pt x="50442" y="0"/>
                  <a:pt x="112665" y="0"/>
                </a:cubicBezTo>
                <a:close/>
              </a:path>
            </a:pathLst>
          </a:custGeom>
          <a:solidFill>
            <a:srgbClr val="4A6D8C">
              <a:alpha val="30196"/>
            </a:srgbClr>
          </a:solidFill>
          <a:ln/>
        </p:spPr>
      </p:sp>
      <p:sp>
        <p:nvSpPr>
          <p:cNvPr id="46" name="Text 44"/>
          <p:cNvSpPr/>
          <p:nvPr/>
        </p:nvSpPr>
        <p:spPr>
          <a:xfrm>
            <a:off x="7250946" y="5609125"/>
            <a:ext cx="965703" cy="225331"/>
          </a:xfrm>
          <a:prstGeom prst="rect">
            <a:avLst/>
          </a:prstGeom>
          <a:noFill/>
          <a:ln/>
        </p:spPr>
        <p:txBody>
          <a:bodyPr wrap="square" lIns="96570" tIns="32190" rIns="96570" bIns="32190" rtlCol="0" anchor="ctr"/>
          <a:lstStyle/>
          <a:p>
            <a:pPr>
              <a:lnSpc>
                <a:spcPct val="120000"/>
              </a:lnSpc>
            </a:pPr>
            <a:r>
              <a:rPr lang="en-US" sz="887" dirty="0">
                <a:solidFill>
                  <a:srgbClr val="E0E2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Lazy Learning</a:t>
            </a:r>
            <a:endParaRPr lang="en-US" sz="1600" dirty="0"/>
          </a:p>
        </p:txBody>
      </p:sp>
      <p:sp>
        <p:nvSpPr>
          <p:cNvPr id="47" name="Shape 45"/>
          <p:cNvSpPr/>
          <p:nvPr/>
        </p:nvSpPr>
        <p:spPr>
          <a:xfrm>
            <a:off x="8228594" y="5609125"/>
            <a:ext cx="997893" cy="225331"/>
          </a:xfrm>
          <a:custGeom>
            <a:avLst/>
            <a:gdLst/>
            <a:ahLst/>
            <a:cxnLst/>
            <a:rect l="l" t="t" r="r" b="b"/>
            <a:pathLst>
              <a:path w="997893" h="225331">
                <a:moveTo>
                  <a:pt x="112665" y="0"/>
                </a:moveTo>
                <a:lnTo>
                  <a:pt x="885228" y="0"/>
                </a:lnTo>
                <a:cubicBezTo>
                  <a:pt x="947451" y="0"/>
                  <a:pt x="997893" y="50442"/>
                  <a:pt x="997893" y="112665"/>
                </a:cubicBezTo>
                <a:lnTo>
                  <a:pt x="997893" y="112665"/>
                </a:lnTo>
                <a:cubicBezTo>
                  <a:pt x="997893" y="174889"/>
                  <a:pt x="947451" y="225331"/>
                  <a:pt x="885228" y="225331"/>
                </a:cubicBezTo>
                <a:lnTo>
                  <a:pt x="112665" y="225331"/>
                </a:lnTo>
                <a:cubicBezTo>
                  <a:pt x="50442" y="225331"/>
                  <a:pt x="0" y="174889"/>
                  <a:pt x="0" y="112665"/>
                </a:cubicBezTo>
                <a:lnTo>
                  <a:pt x="0" y="112665"/>
                </a:lnTo>
                <a:cubicBezTo>
                  <a:pt x="0" y="50442"/>
                  <a:pt x="50442" y="0"/>
                  <a:pt x="112665" y="0"/>
                </a:cubicBezTo>
                <a:close/>
              </a:path>
            </a:pathLst>
          </a:custGeom>
          <a:solidFill>
            <a:srgbClr val="4A6D8C">
              <a:alpha val="30196"/>
            </a:srgbClr>
          </a:solidFill>
          <a:ln/>
        </p:spPr>
      </p:sp>
      <p:sp>
        <p:nvSpPr>
          <p:cNvPr id="48" name="Text 46"/>
          <p:cNvSpPr/>
          <p:nvPr/>
        </p:nvSpPr>
        <p:spPr>
          <a:xfrm>
            <a:off x="8228594" y="5609125"/>
            <a:ext cx="1054226" cy="225331"/>
          </a:xfrm>
          <a:prstGeom prst="rect">
            <a:avLst/>
          </a:prstGeom>
          <a:noFill/>
          <a:ln/>
        </p:spPr>
        <p:txBody>
          <a:bodyPr wrap="square" lIns="96570" tIns="32190" rIns="96570" bIns="32190" rtlCol="0" anchor="ctr"/>
          <a:lstStyle/>
          <a:p>
            <a:pPr>
              <a:lnSpc>
                <a:spcPct val="120000"/>
              </a:lnSpc>
            </a:pPr>
            <a:r>
              <a:rPr lang="en-US" sz="887" dirty="0">
                <a:solidFill>
                  <a:srgbClr val="E0E2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No paramétrico</a:t>
            </a:r>
            <a:endParaRPr lang="en-US" sz="1600" dirty="0"/>
          </a:p>
        </p:txBody>
      </p:sp>
      <p:sp>
        <p:nvSpPr>
          <p:cNvPr id="49" name="Shape 47"/>
          <p:cNvSpPr/>
          <p:nvPr/>
        </p:nvSpPr>
        <p:spPr>
          <a:xfrm>
            <a:off x="337996" y="6132214"/>
            <a:ext cx="11532103" cy="515042"/>
          </a:xfrm>
          <a:custGeom>
            <a:avLst/>
            <a:gdLst/>
            <a:ahLst/>
            <a:cxnLst/>
            <a:rect l="l" t="t" r="r" b="b"/>
            <a:pathLst>
              <a:path w="11532103" h="515042">
                <a:moveTo>
                  <a:pt x="32190" y="0"/>
                </a:moveTo>
                <a:lnTo>
                  <a:pt x="11467723" y="0"/>
                </a:lnTo>
                <a:cubicBezTo>
                  <a:pt x="11503279" y="0"/>
                  <a:pt x="11532103" y="28824"/>
                  <a:pt x="11532103" y="64380"/>
                </a:cubicBezTo>
                <a:lnTo>
                  <a:pt x="11532103" y="450661"/>
                </a:lnTo>
                <a:cubicBezTo>
                  <a:pt x="11532103" y="486218"/>
                  <a:pt x="11503279" y="515042"/>
                  <a:pt x="11467723" y="515042"/>
                </a:cubicBezTo>
                <a:lnTo>
                  <a:pt x="32190" y="515042"/>
                </a:lnTo>
                <a:cubicBezTo>
                  <a:pt x="14412" y="515042"/>
                  <a:pt x="0" y="500630"/>
                  <a:pt x="0" y="482851"/>
                </a:cubicBezTo>
                <a:lnTo>
                  <a:pt x="0" y="32190"/>
                </a:lnTo>
                <a:cubicBezTo>
                  <a:pt x="0" y="14424"/>
                  <a:pt x="14424" y="0"/>
                  <a:pt x="32190" y="0"/>
                </a:cubicBezTo>
                <a:close/>
              </a:path>
            </a:pathLst>
          </a:custGeom>
          <a:solidFill>
            <a:srgbClr val="C8A265">
              <a:alpha val="10196"/>
            </a:srgbClr>
          </a:solidFill>
          <a:ln/>
        </p:spPr>
      </p:sp>
      <p:sp>
        <p:nvSpPr>
          <p:cNvPr id="50" name="Shape 48"/>
          <p:cNvSpPr/>
          <p:nvPr/>
        </p:nvSpPr>
        <p:spPr>
          <a:xfrm>
            <a:off x="337996" y="6132214"/>
            <a:ext cx="32190" cy="515042"/>
          </a:xfrm>
          <a:custGeom>
            <a:avLst/>
            <a:gdLst/>
            <a:ahLst/>
            <a:cxnLst/>
            <a:rect l="l" t="t" r="r" b="b"/>
            <a:pathLst>
              <a:path w="32190" h="515042">
                <a:moveTo>
                  <a:pt x="32190" y="0"/>
                </a:moveTo>
                <a:lnTo>
                  <a:pt x="32190" y="0"/>
                </a:lnTo>
                <a:lnTo>
                  <a:pt x="32190" y="515042"/>
                </a:lnTo>
                <a:lnTo>
                  <a:pt x="32190" y="515042"/>
                </a:lnTo>
                <a:cubicBezTo>
                  <a:pt x="14412" y="515042"/>
                  <a:pt x="0" y="500630"/>
                  <a:pt x="0" y="482851"/>
                </a:cubicBezTo>
                <a:lnTo>
                  <a:pt x="0" y="32190"/>
                </a:lnTo>
                <a:cubicBezTo>
                  <a:pt x="0" y="14424"/>
                  <a:pt x="14424" y="0"/>
                  <a:pt x="32190" y="0"/>
                </a:cubicBezTo>
                <a:close/>
              </a:path>
            </a:pathLst>
          </a:custGeom>
          <a:solidFill>
            <a:srgbClr val="C8A265"/>
          </a:solidFill>
          <a:ln/>
        </p:spPr>
      </p:sp>
      <p:sp>
        <p:nvSpPr>
          <p:cNvPr id="51" name="Shape 49"/>
          <p:cNvSpPr/>
          <p:nvPr/>
        </p:nvSpPr>
        <p:spPr>
          <a:xfrm>
            <a:off x="531137" y="6293164"/>
            <a:ext cx="144855" cy="193141"/>
          </a:xfrm>
          <a:custGeom>
            <a:avLst/>
            <a:gdLst/>
            <a:ahLst/>
            <a:cxnLst/>
            <a:rect l="l" t="t" r="r" b="b"/>
            <a:pathLst>
              <a:path w="144855" h="193141">
                <a:moveTo>
                  <a:pt x="110490" y="144855"/>
                </a:moveTo>
                <a:cubicBezTo>
                  <a:pt x="113244" y="136443"/>
                  <a:pt x="118751" y="128823"/>
                  <a:pt x="124976" y="122260"/>
                </a:cubicBezTo>
                <a:cubicBezTo>
                  <a:pt x="137311" y="109283"/>
                  <a:pt x="144855" y="91742"/>
                  <a:pt x="144855" y="72428"/>
                </a:cubicBezTo>
                <a:cubicBezTo>
                  <a:pt x="144855" y="32442"/>
                  <a:pt x="112414" y="0"/>
                  <a:pt x="72428" y="0"/>
                </a:cubicBezTo>
                <a:cubicBezTo>
                  <a:pt x="32442" y="0"/>
                  <a:pt x="0" y="32442"/>
                  <a:pt x="0" y="72428"/>
                </a:cubicBezTo>
                <a:cubicBezTo>
                  <a:pt x="0" y="91742"/>
                  <a:pt x="7545" y="109283"/>
                  <a:pt x="19880" y="122260"/>
                </a:cubicBezTo>
                <a:cubicBezTo>
                  <a:pt x="26104" y="128823"/>
                  <a:pt x="31649" y="136443"/>
                  <a:pt x="34365" y="144855"/>
                </a:cubicBezTo>
                <a:lnTo>
                  <a:pt x="110452" y="144855"/>
                </a:lnTo>
                <a:close/>
                <a:moveTo>
                  <a:pt x="108642" y="162962"/>
                </a:moveTo>
                <a:lnTo>
                  <a:pt x="36214" y="162962"/>
                </a:lnTo>
                <a:lnTo>
                  <a:pt x="36214" y="168998"/>
                </a:lnTo>
                <a:cubicBezTo>
                  <a:pt x="36214" y="185671"/>
                  <a:pt x="49719" y="199176"/>
                  <a:pt x="66392" y="199176"/>
                </a:cubicBezTo>
                <a:lnTo>
                  <a:pt x="78463" y="199176"/>
                </a:lnTo>
                <a:cubicBezTo>
                  <a:pt x="95137" y="199176"/>
                  <a:pt x="108642" y="185671"/>
                  <a:pt x="108642" y="168998"/>
                </a:cubicBezTo>
                <a:lnTo>
                  <a:pt x="108642" y="162962"/>
                </a:lnTo>
                <a:close/>
                <a:moveTo>
                  <a:pt x="69410" y="42250"/>
                </a:moveTo>
                <a:cubicBezTo>
                  <a:pt x="54396" y="42250"/>
                  <a:pt x="42250" y="54396"/>
                  <a:pt x="42250" y="69410"/>
                </a:cubicBezTo>
                <a:cubicBezTo>
                  <a:pt x="42250" y="74427"/>
                  <a:pt x="38213" y="78463"/>
                  <a:pt x="33196" y="78463"/>
                </a:cubicBezTo>
                <a:cubicBezTo>
                  <a:pt x="28179" y="78463"/>
                  <a:pt x="24143" y="74427"/>
                  <a:pt x="24143" y="69410"/>
                </a:cubicBezTo>
                <a:cubicBezTo>
                  <a:pt x="24143" y="44400"/>
                  <a:pt x="44400" y="24143"/>
                  <a:pt x="69410" y="24143"/>
                </a:cubicBezTo>
                <a:cubicBezTo>
                  <a:pt x="74427" y="24143"/>
                  <a:pt x="78463" y="28179"/>
                  <a:pt x="78463" y="33196"/>
                </a:cubicBezTo>
                <a:cubicBezTo>
                  <a:pt x="78463" y="38213"/>
                  <a:pt x="74427" y="42250"/>
                  <a:pt x="69410" y="42250"/>
                </a:cubicBezTo>
                <a:close/>
              </a:path>
            </a:pathLst>
          </a:custGeom>
          <a:solidFill>
            <a:srgbClr val="C8A265"/>
          </a:solidFill>
          <a:ln/>
        </p:spPr>
      </p:sp>
      <p:sp>
        <p:nvSpPr>
          <p:cNvPr id="52" name="Text 50"/>
          <p:cNvSpPr/>
          <p:nvPr/>
        </p:nvSpPr>
        <p:spPr>
          <a:xfrm>
            <a:off x="820848" y="6293164"/>
            <a:ext cx="5399889" cy="1931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14" b="1" dirty="0">
                <a:solidFill>
                  <a:srgbClr val="C8A26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Aplicación clave:</a:t>
            </a:r>
            <a:pPr>
              <a:lnSpc>
                <a:spcPct val="130000"/>
              </a:lnSpc>
            </a:pPr>
            <a:r>
              <a:rPr lang="en-US" sz="1014" dirty="0">
                <a:solidFill>
                  <a:srgbClr val="E0E2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Predicción de precios, detección de fraudes, sistemas de recomendación</a:t>
            </a:r>
            <a:endParaRPr lang="en-US" sz="1600" dirty="0"/>
          </a:p>
        </p:txBody>
      </p:sp>
      <p:sp>
        <p:nvSpPr>
          <p:cNvPr id="53" name="Text 51"/>
          <p:cNvSpPr/>
          <p:nvPr/>
        </p:nvSpPr>
        <p:spPr>
          <a:xfrm>
            <a:off x="10265875" y="6260974"/>
            <a:ext cx="1472697" cy="160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887" dirty="0">
                <a:solidFill>
                  <a:srgbClr val="788A9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Complejidad</a:t>
            </a:r>
            <a:endParaRPr lang="en-US" sz="1600" dirty="0"/>
          </a:p>
        </p:txBody>
      </p:sp>
      <p:sp>
        <p:nvSpPr>
          <p:cNvPr id="54" name="Shape 52"/>
          <p:cNvSpPr/>
          <p:nvPr/>
        </p:nvSpPr>
        <p:spPr>
          <a:xfrm>
            <a:off x="10322208" y="6454115"/>
            <a:ext cx="257521" cy="64380"/>
          </a:xfrm>
          <a:custGeom>
            <a:avLst/>
            <a:gdLst/>
            <a:ahLst/>
            <a:cxnLst/>
            <a:rect l="l" t="t" r="r" b="b"/>
            <a:pathLst>
              <a:path w="257521" h="64380">
                <a:moveTo>
                  <a:pt x="32190" y="0"/>
                </a:moveTo>
                <a:lnTo>
                  <a:pt x="225331" y="0"/>
                </a:lnTo>
                <a:cubicBezTo>
                  <a:pt x="243109" y="0"/>
                  <a:pt x="257521" y="14412"/>
                  <a:pt x="257521" y="32190"/>
                </a:cubicBezTo>
                <a:lnTo>
                  <a:pt x="257521" y="32190"/>
                </a:lnTo>
                <a:cubicBezTo>
                  <a:pt x="257521" y="49968"/>
                  <a:pt x="243109" y="64380"/>
                  <a:pt x="225331" y="64380"/>
                </a:cubicBezTo>
                <a:lnTo>
                  <a:pt x="32190" y="64380"/>
                </a:lnTo>
                <a:cubicBezTo>
                  <a:pt x="14424" y="64380"/>
                  <a:pt x="0" y="49956"/>
                  <a:pt x="0" y="32190"/>
                </a:cubicBezTo>
                <a:lnTo>
                  <a:pt x="0" y="32190"/>
                </a:lnTo>
                <a:cubicBezTo>
                  <a:pt x="0" y="14424"/>
                  <a:pt x="14424" y="0"/>
                  <a:pt x="32190" y="0"/>
                </a:cubicBezTo>
                <a:close/>
              </a:path>
            </a:pathLst>
          </a:custGeom>
          <a:solidFill>
            <a:srgbClr val="C8A265"/>
          </a:solidFill>
          <a:ln/>
        </p:spPr>
      </p:sp>
      <p:sp>
        <p:nvSpPr>
          <p:cNvPr id="55" name="Shape 53"/>
          <p:cNvSpPr/>
          <p:nvPr/>
        </p:nvSpPr>
        <p:spPr>
          <a:xfrm>
            <a:off x="10611919" y="6454115"/>
            <a:ext cx="257521" cy="64380"/>
          </a:xfrm>
          <a:custGeom>
            <a:avLst/>
            <a:gdLst/>
            <a:ahLst/>
            <a:cxnLst/>
            <a:rect l="l" t="t" r="r" b="b"/>
            <a:pathLst>
              <a:path w="257521" h="64380">
                <a:moveTo>
                  <a:pt x="32190" y="0"/>
                </a:moveTo>
                <a:lnTo>
                  <a:pt x="225331" y="0"/>
                </a:lnTo>
                <a:cubicBezTo>
                  <a:pt x="243109" y="0"/>
                  <a:pt x="257521" y="14412"/>
                  <a:pt x="257521" y="32190"/>
                </a:cubicBezTo>
                <a:lnTo>
                  <a:pt x="257521" y="32190"/>
                </a:lnTo>
                <a:cubicBezTo>
                  <a:pt x="257521" y="49968"/>
                  <a:pt x="243109" y="64380"/>
                  <a:pt x="225331" y="64380"/>
                </a:cubicBezTo>
                <a:lnTo>
                  <a:pt x="32190" y="64380"/>
                </a:lnTo>
                <a:cubicBezTo>
                  <a:pt x="14424" y="64380"/>
                  <a:pt x="0" y="49956"/>
                  <a:pt x="0" y="32190"/>
                </a:cubicBezTo>
                <a:lnTo>
                  <a:pt x="0" y="32190"/>
                </a:lnTo>
                <a:cubicBezTo>
                  <a:pt x="0" y="14424"/>
                  <a:pt x="14424" y="0"/>
                  <a:pt x="32190" y="0"/>
                </a:cubicBezTo>
                <a:close/>
              </a:path>
            </a:pathLst>
          </a:custGeom>
          <a:solidFill>
            <a:srgbClr val="C8A265"/>
          </a:solidFill>
          <a:ln/>
        </p:spPr>
      </p:sp>
      <p:sp>
        <p:nvSpPr>
          <p:cNvPr id="56" name="Shape 54"/>
          <p:cNvSpPr/>
          <p:nvPr/>
        </p:nvSpPr>
        <p:spPr>
          <a:xfrm>
            <a:off x="10901630" y="6454115"/>
            <a:ext cx="257521" cy="64380"/>
          </a:xfrm>
          <a:custGeom>
            <a:avLst/>
            <a:gdLst/>
            <a:ahLst/>
            <a:cxnLst/>
            <a:rect l="l" t="t" r="r" b="b"/>
            <a:pathLst>
              <a:path w="257521" h="64380">
                <a:moveTo>
                  <a:pt x="32190" y="0"/>
                </a:moveTo>
                <a:lnTo>
                  <a:pt x="225331" y="0"/>
                </a:lnTo>
                <a:cubicBezTo>
                  <a:pt x="243109" y="0"/>
                  <a:pt x="257521" y="14412"/>
                  <a:pt x="257521" y="32190"/>
                </a:cubicBezTo>
                <a:lnTo>
                  <a:pt x="257521" y="32190"/>
                </a:lnTo>
                <a:cubicBezTo>
                  <a:pt x="257521" y="49968"/>
                  <a:pt x="243109" y="64380"/>
                  <a:pt x="225331" y="64380"/>
                </a:cubicBezTo>
                <a:lnTo>
                  <a:pt x="32190" y="64380"/>
                </a:lnTo>
                <a:cubicBezTo>
                  <a:pt x="14424" y="64380"/>
                  <a:pt x="0" y="49956"/>
                  <a:pt x="0" y="32190"/>
                </a:cubicBezTo>
                <a:lnTo>
                  <a:pt x="0" y="32190"/>
                </a:lnTo>
                <a:cubicBezTo>
                  <a:pt x="0" y="14424"/>
                  <a:pt x="14424" y="0"/>
                  <a:pt x="32190" y="0"/>
                </a:cubicBezTo>
                <a:close/>
              </a:path>
            </a:pathLst>
          </a:custGeom>
          <a:solidFill>
            <a:srgbClr val="788A9C">
              <a:alpha val="30196"/>
            </a:srgbClr>
          </a:solidFill>
          <a:ln/>
        </p:spPr>
      </p:sp>
      <p:sp>
        <p:nvSpPr>
          <p:cNvPr id="57" name="Shape 55"/>
          <p:cNvSpPr/>
          <p:nvPr/>
        </p:nvSpPr>
        <p:spPr>
          <a:xfrm>
            <a:off x="11191341" y="6454115"/>
            <a:ext cx="257521" cy="64380"/>
          </a:xfrm>
          <a:custGeom>
            <a:avLst/>
            <a:gdLst/>
            <a:ahLst/>
            <a:cxnLst/>
            <a:rect l="l" t="t" r="r" b="b"/>
            <a:pathLst>
              <a:path w="257521" h="64380">
                <a:moveTo>
                  <a:pt x="32190" y="0"/>
                </a:moveTo>
                <a:lnTo>
                  <a:pt x="225331" y="0"/>
                </a:lnTo>
                <a:cubicBezTo>
                  <a:pt x="243109" y="0"/>
                  <a:pt x="257521" y="14412"/>
                  <a:pt x="257521" y="32190"/>
                </a:cubicBezTo>
                <a:lnTo>
                  <a:pt x="257521" y="32190"/>
                </a:lnTo>
                <a:cubicBezTo>
                  <a:pt x="257521" y="49968"/>
                  <a:pt x="243109" y="64380"/>
                  <a:pt x="225331" y="64380"/>
                </a:cubicBezTo>
                <a:lnTo>
                  <a:pt x="32190" y="64380"/>
                </a:lnTo>
                <a:cubicBezTo>
                  <a:pt x="14424" y="64380"/>
                  <a:pt x="0" y="49956"/>
                  <a:pt x="0" y="32190"/>
                </a:cubicBezTo>
                <a:lnTo>
                  <a:pt x="0" y="32190"/>
                </a:lnTo>
                <a:cubicBezTo>
                  <a:pt x="0" y="14424"/>
                  <a:pt x="14424" y="0"/>
                  <a:pt x="32190" y="0"/>
                </a:cubicBezTo>
                <a:close/>
              </a:path>
            </a:pathLst>
          </a:custGeom>
          <a:solidFill>
            <a:srgbClr val="788A9C">
              <a:alpha val="30196"/>
            </a:srgbClr>
          </a:solidFill>
          <a:ln/>
        </p:spPr>
      </p:sp>
      <p:sp>
        <p:nvSpPr>
          <p:cNvPr id="58" name="Shape 56"/>
          <p:cNvSpPr/>
          <p:nvPr/>
        </p:nvSpPr>
        <p:spPr>
          <a:xfrm>
            <a:off x="11481051" y="6454115"/>
            <a:ext cx="257521" cy="64380"/>
          </a:xfrm>
          <a:custGeom>
            <a:avLst/>
            <a:gdLst/>
            <a:ahLst/>
            <a:cxnLst/>
            <a:rect l="l" t="t" r="r" b="b"/>
            <a:pathLst>
              <a:path w="257521" h="64380">
                <a:moveTo>
                  <a:pt x="32190" y="0"/>
                </a:moveTo>
                <a:lnTo>
                  <a:pt x="225331" y="0"/>
                </a:lnTo>
                <a:cubicBezTo>
                  <a:pt x="243109" y="0"/>
                  <a:pt x="257521" y="14412"/>
                  <a:pt x="257521" y="32190"/>
                </a:cubicBezTo>
                <a:lnTo>
                  <a:pt x="257521" y="32190"/>
                </a:lnTo>
                <a:cubicBezTo>
                  <a:pt x="257521" y="49968"/>
                  <a:pt x="243109" y="64380"/>
                  <a:pt x="225331" y="64380"/>
                </a:cubicBezTo>
                <a:lnTo>
                  <a:pt x="32190" y="64380"/>
                </a:lnTo>
                <a:cubicBezTo>
                  <a:pt x="14424" y="64380"/>
                  <a:pt x="0" y="49956"/>
                  <a:pt x="0" y="32190"/>
                </a:cubicBezTo>
                <a:lnTo>
                  <a:pt x="0" y="32190"/>
                </a:lnTo>
                <a:cubicBezTo>
                  <a:pt x="0" y="14424"/>
                  <a:pt x="14424" y="0"/>
                  <a:pt x="32190" y="0"/>
                </a:cubicBezTo>
                <a:close/>
              </a:path>
            </a:pathLst>
          </a:custGeom>
          <a:solidFill>
            <a:srgbClr val="788A9C">
              <a:alpha val="30196"/>
            </a:srgbClr>
          </a:solidFill>
          <a:ln/>
        </p:spPr>
      </p:sp>
    </p:spTree>
  </p:cSld>
  <p:clrMapOvr>
    <a:masterClrMapping/>
  </p:clrMapOvr>
  <p:transition>
    <p:fade/>
    <p:spd val="med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A1D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91486" y="372844"/>
            <a:ext cx="2833615" cy="372844"/>
          </a:xfrm>
          <a:custGeom>
            <a:avLst/>
            <a:gdLst/>
            <a:ahLst/>
            <a:cxnLst/>
            <a:rect l="l" t="t" r="r" b="b"/>
            <a:pathLst>
              <a:path w="2833615" h="372844">
                <a:moveTo>
                  <a:pt x="0" y="0"/>
                </a:moveTo>
                <a:lnTo>
                  <a:pt x="2833615" y="0"/>
                </a:lnTo>
                <a:lnTo>
                  <a:pt x="2833615" y="372844"/>
                </a:lnTo>
                <a:lnTo>
                  <a:pt x="0" y="372844"/>
                </a:lnTo>
                <a:lnTo>
                  <a:pt x="0" y="0"/>
                </a:lnTo>
                <a:close/>
              </a:path>
            </a:pathLst>
          </a:custGeom>
          <a:solidFill>
            <a:srgbClr val="4A6D8C">
              <a:alpha val="2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391486" y="372844"/>
            <a:ext cx="37284" cy="372844"/>
          </a:xfrm>
          <a:custGeom>
            <a:avLst/>
            <a:gdLst/>
            <a:ahLst/>
            <a:cxnLst/>
            <a:rect l="l" t="t" r="r" b="b"/>
            <a:pathLst>
              <a:path w="37284" h="372844">
                <a:moveTo>
                  <a:pt x="0" y="0"/>
                </a:moveTo>
                <a:lnTo>
                  <a:pt x="37284" y="0"/>
                </a:lnTo>
                <a:lnTo>
                  <a:pt x="37284" y="372844"/>
                </a:lnTo>
                <a:lnTo>
                  <a:pt x="0" y="372844"/>
                </a:lnTo>
                <a:lnTo>
                  <a:pt x="0" y="0"/>
                </a:lnTo>
                <a:close/>
              </a:path>
            </a:pathLst>
          </a:custGeom>
          <a:solidFill>
            <a:srgbClr val="C8A265"/>
          </a:solidFill>
          <a:ln/>
        </p:spPr>
      </p:sp>
      <p:sp>
        <p:nvSpPr>
          <p:cNvPr id="4" name="Text 2"/>
          <p:cNvSpPr/>
          <p:nvPr/>
        </p:nvSpPr>
        <p:spPr>
          <a:xfrm>
            <a:off x="596550" y="456734"/>
            <a:ext cx="2515386" cy="205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74" b="1" spc="59" kern="0" dirty="0">
                <a:solidFill>
                  <a:srgbClr val="C8A26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02 • APRENDIZAJE PROFUNDO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372844" y="894826"/>
            <a:ext cx="5275743" cy="4474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523" b="1" dirty="0">
                <a:solidFill>
                  <a:srgbClr val="E0E2E6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Deep Learning (DL)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372844" y="1491376"/>
            <a:ext cx="5145248" cy="9134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468" dirty="0">
                <a:solidFill>
                  <a:srgbClr val="788A9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Subrama del Machine Learning que utiliza </a:t>
            </a:r>
            <a:pPr>
              <a:lnSpc>
                <a:spcPct val="140000"/>
              </a:lnSpc>
            </a:pPr>
            <a:r>
              <a:rPr lang="en-US" sz="1468" b="1" dirty="0">
                <a:solidFill>
                  <a:srgbClr val="C8A26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redes neuronales artificiales con múltiples capas</a:t>
            </a:r>
            <a:pPr>
              <a:lnSpc>
                <a:spcPct val="140000"/>
              </a:lnSpc>
            </a:pPr>
            <a:r>
              <a:rPr lang="en-US" sz="1468" dirty="0">
                <a:solidFill>
                  <a:srgbClr val="788A9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para procesar datos complejos y extraer características de alto nivel.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377505" y="2628550"/>
            <a:ext cx="5042716" cy="4222459"/>
          </a:xfrm>
          <a:custGeom>
            <a:avLst/>
            <a:gdLst/>
            <a:ahLst/>
            <a:cxnLst/>
            <a:rect l="l" t="t" r="r" b="b"/>
            <a:pathLst>
              <a:path w="5042716" h="4222459">
                <a:moveTo>
                  <a:pt x="111853" y="0"/>
                </a:moveTo>
                <a:lnTo>
                  <a:pt x="4930863" y="0"/>
                </a:lnTo>
                <a:cubicBezTo>
                  <a:pt x="4992637" y="0"/>
                  <a:pt x="5042716" y="50078"/>
                  <a:pt x="5042716" y="111853"/>
                </a:cubicBezTo>
                <a:lnTo>
                  <a:pt x="5042716" y="4110606"/>
                </a:lnTo>
                <a:cubicBezTo>
                  <a:pt x="5042716" y="4172380"/>
                  <a:pt x="4992637" y="4222459"/>
                  <a:pt x="4930863" y="4222459"/>
                </a:cubicBezTo>
                <a:lnTo>
                  <a:pt x="111853" y="4222459"/>
                </a:lnTo>
                <a:cubicBezTo>
                  <a:pt x="50078" y="4222459"/>
                  <a:pt x="0" y="4172380"/>
                  <a:pt x="0" y="4110606"/>
                </a:cubicBezTo>
                <a:lnTo>
                  <a:pt x="0" y="111853"/>
                </a:lnTo>
                <a:cubicBezTo>
                  <a:pt x="0" y="50120"/>
                  <a:pt x="50120" y="0"/>
                  <a:pt x="111853" y="0"/>
                </a:cubicBezTo>
                <a:close/>
              </a:path>
            </a:pathLst>
          </a:custGeom>
          <a:solidFill>
            <a:srgbClr val="4A6D8C">
              <a:alpha val="10196"/>
            </a:srgbClr>
          </a:solidFill>
          <a:ln w="12700">
            <a:solidFill>
              <a:srgbClr val="4A6D8C">
                <a:alpha val="30196"/>
              </a:srgbClr>
            </a:solidFill>
            <a:prstDash val="solid"/>
          </a:ln>
        </p:spPr>
      </p:sp>
      <p:pic>
        <p:nvPicPr>
          <p:cNvPr id="8" name="Image 0" descr="https://kimi-web-img.moonshot.cn/img/miro.medium.com/55a3eebf9059bd93aabf8e2ee92f9bd2867d067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8587" y="2819633"/>
            <a:ext cx="4660550" cy="1789651"/>
          </a:xfrm>
          <a:prstGeom prst="roundRect">
            <a:avLst>
              <a:gd name="adj" fmla="val 4167"/>
            </a:avLst>
          </a:prstGeom>
        </p:spPr>
      </p:pic>
      <p:sp>
        <p:nvSpPr>
          <p:cNvPr id="9" name="Shape 6"/>
          <p:cNvSpPr/>
          <p:nvPr/>
        </p:nvSpPr>
        <p:spPr>
          <a:xfrm>
            <a:off x="568587" y="4795706"/>
            <a:ext cx="298275" cy="298275"/>
          </a:xfrm>
          <a:custGeom>
            <a:avLst/>
            <a:gdLst/>
            <a:ahLst/>
            <a:cxnLst/>
            <a:rect l="l" t="t" r="r" b="b"/>
            <a:pathLst>
              <a:path w="298275" h="298275">
                <a:moveTo>
                  <a:pt x="149138" y="0"/>
                </a:moveTo>
                <a:lnTo>
                  <a:pt x="149138" y="0"/>
                </a:lnTo>
                <a:cubicBezTo>
                  <a:pt x="231504" y="0"/>
                  <a:pt x="298275" y="66771"/>
                  <a:pt x="298275" y="149138"/>
                </a:cubicBezTo>
                <a:lnTo>
                  <a:pt x="298275" y="149138"/>
                </a:lnTo>
                <a:cubicBezTo>
                  <a:pt x="298275" y="231504"/>
                  <a:pt x="231504" y="298275"/>
                  <a:pt x="149138" y="298275"/>
                </a:cubicBezTo>
                <a:lnTo>
                  <a:pt x="149138" y="298275"/>
                </a:lnTo>
                <a:cubicBezTo>
                  <a:pt x="66771" y="298275"/>
                  <a:pt x="0" y="231504"/>
                  <a:pt x="0" y="149138"/>
                </a:cubicBezTo>
                <a:lnTo>
                  <a:pt x="0" y="149138"/>
                </a:lnTo>
                <a:cubicBezTo>
                  <a:pt x="0" y="66771"/>
                  <a:pt x="66771" y="0"/>
                  <a:pt x="149138" y="0"/>
                </a:cubicBezTo>
                <a:close/>
              </a:path>
            </a:pathLst>
          </a:custGeom>
          <a:solidFill>
            <a:srgbClr val="C8A265"/>
          </a:solidFill>
          <a:ln/>
        </p:spPr>
      </p:sp>
      <p:sp>
        <p:nvSpPr>
          <p:cNvPr id="10" name="Shape 7"/>
          <p:cNvSpPr/>
          <p:nvPr/>
        </p:nvSpPr>
        <p:spPr>
          <a:xfrm>
            <a:off x="654807" y="4879596"/>
            <a:ext cx="130495" cy="130495"/>
          </a:xfrm>
          <a:custGeom>
            <a:avLst/>
            <a:gdLst/>
            <a:ahLst/>
            <a:cxnLst/>
            <a:rect l="l" t="t" r="r" b="b"/>
            <a:pathLst>
              <a:path w="130495" h="130495">
                <a:moveTo>
                  <a:pt x="59258" y="1325"/>
                </a:moveTo>
                <a:cubicBezTo>
                  <a:pt x="63056" y="-433"/>
                  <a:pt x="67440" y="-433"/>
                  <a:pt x="71237" y="1325"/>
                </a:cubicBezTo>
                <a:lnTo>
                  <a:pt x="126953" y="27068"/>
                </a:lnTo>
                <a:cubicBezTo>
                  <a:pt x="129119" y="28062"/>
                  <a:pt x="130495" y="30228"/>
                  <a:pt x="130495" y="32624"/>
                </a:cubicBezTo>
                <a:cubicBezTo>
                  <a:pt x="130495" y="35020"/>
                  <a:pt x="129119" y="37186"/>
                  <a:pt x="126953" y="38180"/>
                </a:cubicBezTo>
                <a:lnTo>
                  <a:pt x="71237" y="63922"/>
                </a:lnTo>
                <a:cubicBezTo>
                  <a:pt x="67440" y="65681"/>
                  <a:pt x="63056" y="65681"/>
                  <a:pt x="59258" y="63922"/>
                </a:cubicBezTo>
                <a:lnTo>
                  <a:pt x="3543" y="38180"/>
                </a:lnTo>
                <a:cubicBezTo>
                  <a:pt x="1376" y="37161"/>
                  <a:pt x="0" y="34994"/>
                  <a:pt x="0" y="32624"/>
                </a:cubicBezTo>
                <a:cubicBezTo>
                  <a:pt x="0" y="30254"/>
                  <a:pt x="1376" y="28062"/>
                  <a:pt x="3543" y="27068"/>
                </a:cubicBezTo>
                <a:lnTo>
                  <a:pt x="59258" y="1325"/>
                </a:lnTo>
                <a:close/>
                <a:moveTo>
                  <a:pt x="12259" y="55664"/>
                </a:moveTo>
                <a:lnTo>
                  <a:pt x="54135" y="75009"/>
                </a:lnTo>
                <a:cubicBezTo>
                  <a:pt x="61195" y="78272"/>
                  <a:pt x="69326" y="78272"/>
                  <a:pt x="76386" y="75009"/>
                </a:cubicBezTo>
                <a:lnTo>
                  <a:pt x="118261" y="55664"/>
                </a:lnTo>
                <a:lnTo>
                  <a:pt x="126953" y="59691"/>
                </a:lnTo>
                <a:cubicBezTo>
                  <a:pt x="129119" y="60685"/>
                  <a:pt x="130495" y="62852"/>
                  <a:pt x="130495" y="65248"/>
                </a:cubicBezTo>
                <a:cubicBezTo>
                  <a:pt x="130495" y="67644"/>
                  <a:pt x="129119" y="69810"/>
                  <a:pt x="126953" y="70804"/>
                </a:cubicBezTo>
                <a:lnTo>
                  <a:pt x="71237" y="96546"/>
                </a:lnTo>
                <a:cubicBezTo>
                  <a:pt x="67440" y="98305"/>
                  <a:pt x="63056" y="98305"/>
                  <a:pt x="59258" y="96546"/>
                </a:cubicBezTo>
                <a:lnTo>
                  <a:pt x="3543" y="70804"/>
                </a:lnTo>
                <a:cubicBezTo>
                  <a:pt x="1376" y="69784"/>
                  <a:pt x="0" y="67618"/>
                  <a:pt x="0" y="65248"/>
                </a:cubicBezTo>
                <a:cubicBezTo>
                  <a:pt x="0" y="62877"/>
                  <a:pt x="1376" y="60685"/>
                  <a:pt x="3543" y="59691"/>
                </a:cubicBezTo>
                <a:lnTo>
                  <a:pt x="12234" y="55664"/>
                </a:lnTo>
                <a:close/>
                <a:moveTo>
                  <a:pt x="3543" y="92315"/>
                </a:moveTo>
                <a:lnTo>
                  <a:pt x="12234" y="88288"/>
                </a:lnTo>
                <a:lnTo>
                  <a:pt x="54110" y="107633"/>
                </a:lnTo>
                <a:cubicBezTo>
                  <a:pt x="61170" y="110896"/>
                  <a:pt x="69300" y="110896"/>
                  <a:pt x="76360" y="107633"/>
                </a:cubicBezTo>
                <a:lnTo>
                  <a:pt x="118236" y="88288"/>
                </a:lnTo>
                <a:lnTo>
                  <a:pt x="126927" y="92315"/>
                </a:lnTo>
                <a:cubicBezTo>
                  <a:pt x="129094" y="93309"/>
                  <a:pt x="130470" y="95476"/>
                  <a:pt x="130470" y="97872"/>
                </a:cubicBezTo>
                <a:cubicBezTo>
                  <a:pt x="130470" y="100267"/>
                  <a:pt x="129094" y="102434"/>
                  <a:pt x="126927" y="103428"/>
                </a:cubicBezTo>
                <a:lnTo>
                  <a:pt x="71212" y="129170"/>
                </a:lnTo>
                <a:cubicBezTo>
                  <a:pt x="67414" y="130929"/>
                  <a:pt x="63030" y="130929"/>
                  <a:pt x="59233" y="129170"/>
                </a:cubicBezTo>
                <a:lnTo>
                  <a:pt x="3543" y="103428"/>
                </a:lnTo>
                <a:cubicBezTo>
                  <a:pt x="1376" y="102408"/>
                  <a:pt x="0" y="100242"/>
                  <a:pt x="0" y="97872"/>
                </a:cubicBezTo>
                <a:cubicBezTo>
                  <a:pt x="0" y="95501"/>
                  <a:pt x="1376" y="93309"/>
                  <a:pt x="3543" y="92315"/>
                </a:cubicBezTo>
                <a:close/>
              </a:path>
            </a:pathLst>
          </a:custGeom>
          <a:solidFill>
            <a:srgbClr val="1A1D23"/>
          </a:solidFill>
          <a:ln/>
        </p:spPr>
      </p:sp>
      <p:sp>
        <p:nvSpPr>
          <p:cNvPr id="11" name="Text 8"/>
          <p:cNvSpPr/>
          <p:nvPr/>
        </p:nvSpPr>
        <p:spPr>
          <a:xfrm>
            <a:off x="978716" y="4758422"/>
            <a:ext cx="4334312" cy="2609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21" b="1" dirty="0">
                <a:solidFill>
                  <a:srgbClr val="E0E2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Múltiples Capas Ocultas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978716" y="5019413"/>
            <a:ext cx="4324991" cy="4474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74" dirty="0">
                <a:solidFill>
                  <a:srgbClr val="788A9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Capas que aprenden representaciones jerárquicas de los datos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568587" y="5615963"/>
            <a:ext cx="298275" cy="298275"/>
          </a:xfrm>
          <a:custGeom>
            <a:avLst/>
            <a:gdLst/>
            <a:ahLst/>
            <a:cxnLst/>
            <a:rect l="l" t="t" r="r" b="b"/>
            <a:pathLst>
              <a:path w="298275" h="298275">
                <a:moveTo>
                  <a:pt x="149138" y="0"/>
                </a:moveTo>
                <a:lnTo>
                  <a:pt x="149138" y="0"/>
                </a:lnTo>
                <a:cubicBezTo>
                  <a:pt x="231504" y="0"/>
                  <a:pt x="298275" y="66771"/>
                  <a:pt x="298275" y="149138"/>
                </a:cubicBezTo>
                <a:lnTo>
                  <a:pt x="298275" y="149138"/>
                </a:lnTo>
                <a:cubicBezTo>
                  <a:pt x="298275" y="231504"/>
                  <a:pt x="231504" y="298275"/>
                  <a:pt x="149138" y="298275"/>
                </a:cubicBezTo>
                <a:lnTo>
                  <a:pt x="149138" y="298275"/>
                </a:lnTo>
                <a:cubicBezTo>
                  <a:pt x="66771" y="298275"/>
                  <a:pt x="0" y="231504"/>
                  <a:pt x="0" y="149138"/>
                </a:cubicBezTo>
                <a:lnTo>
                  <a:pt x="0" y="149138"/>
                </a:lnTo>
                <a:cubicBezTo>
                  <a:pt x="0" y="66771"/>
                  <a:pt x="66771" y="0"/>
                  <a:pt x="149138" y="0"/>
                </a:cubicBezTo>
                <a:close/>
              </a:path>
            </a:pathLst>
          </a:custGeom>
          <a:solidFill>
            <a:srgbClr val="C8A265"/>
          </a:solidFill>
          <a:ln/>
        </p:spPr>
      </p:sp>
      <p:sp>
        <p:nvSpPr>
          <p:cNvPr id="14" name="Shape 11"/>
          <p:cNvSpPr/>
          <p:nvPr/>
        </p:nvSpPr>
        <p:spPr>
          <a:xfrm>
            <a:off x="654807" y="5699853"/>
            <a:ext cx="130495" cy="130495"/>
          </a:xfrm>
          <a:custGeom>
            <a:avLst/>
            <a:gdLst/>
            <a:ahLst/>
            <a:cxnLst/>
            <a:rect l="l" t="t" r="r" b="b"/>
            <a:pathLst>
              <a:path w="130495" h="130495">
                <a:moveTo>
                  <a:pt x="44858" y="6117"/>
                </a:moveTo>
                <a:cubicBezTo>
                  <a:pt x="44858" y="2727"/>
                  <a:pt x="42131" y="0"/>
                  <a:pt x="38741" y="0"/>
                </a:cubicBezTo>
                <a:cubicBezTo>
                  <a:pt x="35351" y="0"/>
                  <a:pt x="32624" y="2727"/>
                  <a:pt x="32624" y="6117"/>
                </a:cubicBezTo>
                <a:lnTo>
                  <a:pt x="32624" y="16312"/>
                </a:lnTo>
                <a:cubicBezTo>
                  <a:pt x="23627" y="16312"/>
                  <a:pt x="16312" y="23627"/>
                  <a:pt x="16312" y="32624"/>
                </a:cubicBezTo>
                <a:lnTo>
                  <a:pt x="6117" y="32624"/>
                </a:lnTo>
                <a:cubicBezTo>
                  <a:pt x="2727" y="32624"/>
                  <a:pt x="0" y="35351"/>
                  <a:pt x="0" y="38741"/>
                </a:cubicBezTo>
                <a:cubicBezTo>
                  <a:pt x="0" y="42131"/>
                  <a:pt x="2727" y="44858"/>
                  <a:pt x="6117" y="44858"/>
                </a:cubicBezTo>
                <a:lnTo>
                  <a:pt x="16312" y="44858"/>
                </a:lnTo>
                <a:lnTo>
                  <a:pt x="16312" y="59131"/>
                </a:lnTo>
                <a:lnTo>
                  <a:pt x="6117" y="59131"/>
                </a:lnTo>
                <a:cubicBezTo>
                  <a:pt x="2727" y="59131"/>
                  <a:pt x="0" y="61858"/>
                  <a:pt x="0" y="65248"/>
                </a:cubicBezTo>
                <a:cubicBezTo>
                  <a:pt x="0" y="68638"/>
                  <a:pt x="2727" y="71365"/>
                  <a:pt x="6117" y="71365"/>
                </a:cubicBezTo>
                <a:lnTo>
                  <a:pt x="16312" y="71365"/>
                </a:lnTo>
                <a:lnTo>
                  <a:pt x="16312" y="85638"/>
                </a:lnTo>
                <a:lnTo>
                  <a:pt x="6117" y="85638"/>
                </a:lnTo>
                <a:cubicBezTo>
                  <a:pt x="2727" y="85638"/>
                  <a:pt x="0" y="88365"/>
                  <a:pt x="0" y="91755"/>
                </a:cubicBezTo>
                <a:cubicBezTo>
                  <a:pt x="0" y="95144"/>
                  <a:pt x="2727" y="97872"/>
                  <a:pt x="6117" y="97872"/>
                </a:cubicBezTo>
                <a:lnTo>
                  <a:pt x="16312" y="97872"/>
                </a:lnTo>
                <a:cubicBezTo>
                  <a:pt x="16312" y="106869"/>
                  <a:pt x="23627" y="114183"/>
                  <a:pt x="32624" y="114183"/>
                </a:cubicBezTo>
                <a:lnTo>
                  <a:pt x="32624" y="124378"/>
                </a:lnTo>
                <a:cubicBezTo>
                  <a:pt x="32624" y="127768"/>
                  <a:pt x="35351" y="130495"/>
                  <a:pt x="38741" y="130495"/>
                </a:cubicBezTo>
                <a:cubicBezTo>
                  <a:pt x="42131" y="130495"/>
                  <a:pt x="44858" y="127768"/>
                  <a:pt x="44858" y="124378"/>
                </a:cubicBezTo>
                <a:lnTo>
                  <a:pt x="44858" y="114183"/>
                </a:lnTo>
                <a:lnTo>
                  <a:pt x="59131" y="114183"/>
                </a:lnTo>
                <a:lnTo>
                  <a:pt x="59131" y="124378"/>
                </a:lnTo>
                <a:cubicBezTo>
                  <a:pt x="59131" y="127768"/>
                  <a:pt x="61858" y="130495"/>
                  <a:pt x="65248" y="130495"/>
                </a:cubicBezTo>
                <a:cubicBezTo>
                  <a:pt x="68638" y="130495"/>
                  <a:pt x="71365" y="127768"/>
                  <a:pt x="71365" y="124378"/>
                </a:cubicBezTo>
                <a:lnTo>
                  <a:pt x="71365" y="114183"/>
                </a:lnTo>
                <a:lnTo>
                  <a:pt x="85638" y="114183"/>
                </a:lnTo>
                <a:lnTo>
                  <a:pt x="85638" y="124378"/>
                </a:lnTo>
                <a:cubicBezTo>
                  <a:pt x="85638" y="127768"/>
                  <a:pt x="88365" y="130495"/>
                  <a:pt x="91755" y="130495"/>
                </a:cubicBezTo>
                <a:cubicBezTo>
                  <a:pt x="95144" y="130495"/>
                  <a:pt x="97872" y="127768"/>
                  <a:pt x="97872" y="124378"/>
                </a:cubicBezTo>
                <a:lnTo>
                  <a:pt x="97872" y="114183"/>
                </a:lnTo>
                <a:cubicBezTo>
                  <a:pt x="106869" y="114183"/>
                  <a:pt x="114183" y="106869"/>
                  <a:pt x="114183" y="97872"/>
                </a:cubicBezTo>
                <a:lnTo>
                  <a:pt x="124378" y="97872"/>
                </a:lnTo>
                <a:cubicBezTo>
                  <a:pt x="127768" y="97872"/>
                  <a:pt x="130495" y="95144"/>
                  <a:pt x="130495" y="91755"/>
                </a:cubicBezTo>
                <a:cubicBezTo>
                  <a:pt x="130495" y="88365"/>
                  <a:pt x="127768" y="85638"/>
                  <a:pt x="124378" y="85638"/>
                </a:cubicBezTo>
                <a:lnTo>
                  <a:pt x="114183" y="85638"/>
                </a:lnTo>
                <a:lnTo>
                  <a:pt x="114183" y="71365"/>
                </a:lnTo>
                <a:lnTo>
                  <a:pt x="124378" y="71365"/>
                </a:lnTo>
                <a:cubicBezTo>
                  <a:pt x="127768" y="71365"/>
                  <a:pt x="130495" y="68638"/>
                  <a:pt x="130495" y="65248"/>
                </a:cubicBezTo>
                <a:cubicBezTo>
                  <a:pt x="130495" y="61858"/>
                  <a:pt x="127768" y="59131"/>
                  <a:pt x="124378" y="59131"/>
                </a:cubicBezTo>
                <a:lnTo>
                  <a:pt x="114183" y="59131"/>
                </a:lnTo>
                <a:lnTo>
                  <a:pt x="114183" y="44858"/>
                </a:lnTo>
                <a:lnTo>
                  <a:pt x="124378" y="44858"/>
                </a:lnTo>
                <a:cubicBezTo>
                  <a:pt x="127768" y="44858"/>
                  <a:pt x="130495" y="42131"/>
                  <a:pt x="130495" y="38741"/>
                </a:cubicBezTo>
                <a:cubicBezTo>
                  <a:pt x="130495" y="35351"/>
                  <a:pt x="127768" y="32624"/>
                  <a:pt x="124378" y="32624"/>
                </a:cubicBezTo>
                <a:lnTo>
                  <a:pt x="114183" y="32624"/>
                </a:lnTo>
                <a:cubicBezTo>
                  <a:pt x="114183" y="23627"/>
                  <a:pt x="106869" y="16312"/>
                  <a:pt x="97872" y="16312"/>
                </a:cubicBezTo>
                <a:lnTo>
                  <a:pt x="97872" y="6117"/>
                </a:lnTo>
                <a:cubicBezTo>
                  <a:pt x="97872" y="2727"/>
                  <a:pt x="95144" y="0"/>
                  <a:pt x="91755" y="0"/>
                </a:cubicBezTo>
                <a:cubicBezTo>
                  <a:pt x="88365" y="0"/>
                  <a:pt x="85638" y="2727"/>
                  <a:pt x="85638" y="6117"/>
                </a:cubicBezTo>
                <a:lnTo>
                  <a:pt x="85638" y="16312"/>
                </a:lnTo>
                <a:lnTo>
                  <a:pt x="71365" y="16312"/>
                </a:lnTo>
                <a:lnTo>
                  <a:pt x="71365" y="6117"/>
                </a:lnTo>
                <a:cubicBezTo>
                  <a:pt x="71365" y="2727"/>
                  <a:pt x="68638" y="0"/>
                  <a:pt x="65248" y="0"/>
                </a:cubicBezTo>
                <a:cubicBezTo>
                  <a:pt x="61858" y="0"/>
                  <a:pt x="59131" y="2727"/>
                  <a:pt x="59131" y="6117"/>
                </a:cubicBezTo>
                <a:lnTo>
                  <a:pt x="59131" y="16312"/>
                </a:lnTo>
                <a:lnTo>
                  <a:pt x="44858" y="16312"/>
                </a:lnTo>
                <a:lnTo>
                  <a:pt x="44858" y="6117"/>
                </a:lnTo>
                <a:close/>
                <a:moveTo>
                  <a:pt x="40780" y="32624"/>
                </a:moveTo>
                <a:lnTo>
                  <a:pt x="89716" y="32624"/>
                </a:lnTo>
                <a:cubicBezTo>
                  <a:pt x="94227" y="32624"/>
                  <a:pt x="97872" y="36269"/>
                  <a:pt x="97872" y="40780"/>
                </a:cubicBezTo>
                <a:lnTo>
                  <a:pt x="97872" y="89716"/>
                </a:lnTo>
                <a:cubicBezTo>
                  <a:pt x="97872" y="94227"/>
                  <a:pt x="94227" y="97872"/>
                  <a:pt x="89716" y="97872"/>
                </a:cubicBezTo>
                <a:lnTo>
                  <a:pt x="40780" y="97872"/>
                </a:lnTo>
                <a:cubicBezTo>
                  <a:pt x="36269" y="97872"/>
                  <a:pt x="32624" y="94227"/>
                  <a:pt x="32624" y="89716"/>
                </a:cubicBezTo>
                <a:lnTo>
                  <a:pt x="32624" y="40780"/>
                </a:lnTo>
                <a:cubicBezTo>
                  <a:pt x="32624" y="36269"/>
                  <a:pt x="36269" y="32624"/>
                  <a:pt x="40780" y="32624"/>
                </a:cubicBezTo>
                <a:close/>
                <a:moveTo>
                  <a:pt x="44858" y="44858"/>
                </a:moveTo>
                <a:lnTo>
                  <a:pt x="44858" y="85638"/>
                </a:lnTo>
                <a:lnTo>
                  <a:pt x="85638" y="85638"/>
                </a:lnTo>
                <a:lnTo>
                  <a:pt x="85638" y="44858"/>
                </a:lnTo>
                <a:lnTo>
                  <a:pt x="44858" y="44858"/>
                </a:lnTo>
                <a:close/>
              </a:path>
            </a:pathLst>
          </a:custGeom>
          <a:solidFill>
            <a:srgbClr val="1A1D23"/>
          </a:solidFill>
          <a:ln/>
        </p:spPr>
      </p:sp>
      <p:sp>
        <p:nvSpPr>
          <p:cNvPr id="15" name="Text 12"/>
          <p:cNvSpPr/>
          <p:nvPr/>
        </p:nvSpPr>
        <p:spPr>
          <a:xfrm>
            <a:off x="978716" y="5578679"/>
            <a:ext cx="3877578" cy="2609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21" b="1" dirty="0">
                <a:solidFill>
                  <a:srgbClr val="E0E2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Requiere GPU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978716" y="5839670"/>
            <a:ext cx="3868257" cy="2237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74" dirty="0">
                <a:solidFill>
                  <a:srgbClr val="788A9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Alto poder computacional para entrenamiento eficiente</a:t>
            </a:r>
            <a:endParaRPr lang="en-US" sz="1600" dirty="0"/>
          </a:p>
        </p:txBody>
      </p:sp>
      <p:sp>
        <p:nvSpPr>
          <p:cNvPr id="17" name="Shape 14"/>
          <p:cNvSpPr/>
          <p:nvPr/>
        </p:nvSpPr>
        <p:spPr>
          <a:xfrm>
            <a:off x="568587" y="6212514"/>
            <a:ext cx="298275" cy="298275"/>
          </a:xfrm>
          <a:custGeom>
            <a:avLst/>
            <a:gdLst/>
            <a:ahLst/>
            <a:cxnLst/>
            <a:rect l="l" t="t" r="r" b="b"/>
            <a:pathLst>
              <a:path w="298275" h="298275">
                <a:moveTo>
                  <a:pt x="149138" y="0"/>
                </a:moveTo>
                <a:lnTo>
                  <a:pt x="149138" y="0"/>
                </a:lnTo>
                <a:cubicBezTo>
                  <a:pt x="231504" y="0"/>
                  <a:pt x="298275" y="66771"/>
                  <a:pt x="298275" y="149138"/>
                </a:cubicBezTo>
                <a:lnTo>
                  <a:pt x="298275" y="149138"/>
                </a:lnTo>
                <a:cubicBezTo>
                  <a:pt x="298275" y="231504"/>
                  <a:pt x="231504" y="298275"/>
                  <a:pt x="149138" y="298275"/>
                </a:cubicBezTo>
                <a:lnTo>
                  <a:pt x="149138" y="298275"/>
                </a:lnTo>
                <a:cubicBezTo>
                  <a:pt x="66771" y="298275"/>
                  <a:pt x="0" y="231504"/>
                  <a:pt x="0" y="149138"/>
                </a:cubicBezTo>
                <a:lnTo>
                  <a:pt x="0" y="149138"/>
                </a:lnTo>
                <a:cubicBezTo>
                  <a:pt x="0" y="66771"/>
                  <a:pt x="66771" y="0"/>
                  <a:pt x="149138" y="0"/>
                </a:cubicBezTo>
                <a:close/>
              </a:path>
            </a:pathLst>
          </a:custGeom>
          <a:solidFill>
            <a:srgbClr val="C8A265"/>
          </a:solidFill>
          <a:ln/>
        </p:spPr>
      </p:sp>
      <p:sp>
        <p:nvSpPr>
          <p:cNvPr id="18" name="Shape 15"/>
          <p:cNvSpPr/>
          <p:nvPr/>
        </p:nvSpPr>
        <p:spPr>
          <a:xfrm>
            <a:off x="662963" y="6296404"/>
            <a:ext cx="114183" cy="130495"/>
          </a:xfrm>
          <a:custGeom>
            <a:avLst/>
            <a:gdLst/>
            <a:ahLst/>
            <a:cxnLst/>
            <a:rect l="l" t="t" r="r" b="b"/>
            <a:pathLst>
              <a:path w="114183" h="130495">
                <a:moveTo>
                  <a:pt x="114183" y="52453"/>
                </a:moveTo>
                <a:cubicBezTo>
                  <a:pt x="110411" y="54951"/>
                  <a:pt x="106078" y="56964"/>
                  <a:pt x="101567" y="58570"/>
                </a:cubicBezTo>
                <a:cubicBezTo>
                  <a:pt x="89588" y="62852"/>
                  <a:pt x="73862" y="65248"/>
                  <a:pt x="57092" y="65248"/>
                </a:cubicBezTo>
                <a:cubicBezTo>
                  <a:pt x="40321" y="65248"/>
                  <a:pt x="24570" y="62826"/>
                  <a:pt x="12616" y="58570"/>
                </a:cubicBezTo>
                <a:cubicBezTo>
                  <a:pt x="8130" y="56964"/>
                  <a:pt x="3772" y="54951"/>
                  <a:pt x="0" y="52453"/>
                </a:cubicBezTo>
                <a:lnTo>
                  <a:pt x="0" y="73404"/>
                </a:lnTo>
                <a:cubicBezTo>
                  <a:pt x="0" y="84669"/>
                  <a:pt x="25564" y="93794"/>
                  <a:pt x="57092" y="93794"/>
                </a:cubicBezTo>
                <a:cubicBezTo>
                  <a:pt x="88620" y="93794"/>
                  <a:pt x="114183" y="84669"/>
                  <a:pt x="114183" y="73404"/>
                </a:cubicBezTo>
                <a:lnTo>
                  <a:pt x="114183" y="52453"/>
                </a:lnTo>
                <a:close/>
                <a:moveTo>
                  <a:pt x="114183" y="32624"/>
                </a:moveTo>
                <a:lnTo>
                  <a:pt x="114183" y="20390"/>
                </a:lnTo>
                <a:cubicBezTo>
                  <a:pt x="114183" y="9124"/>
                  <a:pt x="88620" y="0"/>
                  <a:pt x="57092" y="0"/>
                </a:cubicBezTo>
                <a:cubicBezTo>
                  <a:pt x="25564" y="0"/>
                  <a:pt x="0" y="9124"/>
                  <a:pt x="0" y="20390"/>
                </a:cubicBezTo>
                <a:lnTo>
                  <a:pt x="0" y="32624"/>
                </a:lnTo>
                <a:cubicBezTo>
                  <a:pt x="0" y="43889"/>
                  <a:pt x="25564" y="53014"/>
                  <a:pt x="57092" y="53014"/>
                </a:cubicBezTo>
                <a:cubicBezTo>
                  <a:pt x="88620" y="53014"/>
                  <a:pt x="114183" y="43889"/>
                  <a:pt x="114183" y="32624"/>
                </a:cubicBezTo>
                <a:close/>
                <a:moveTo>
                  <a:pt x="101567" y="99350"/>
                </a:moveTo>
                <a:cubicBezTo>
                  <a:pt x="89614" y="103606"/>
                  <a:pt x="73888" y="106028"/>
                  <a:pt x="57092" y="106028"/>
                </a:cubicBezTo>
                <a:cubicBezTo>
                  <a:pt x="40296" y="106028"/>
                  <a:pt x="24570" y="103606"/>
                  <a:pt x="12616" y="99350"/>
                </a:cubicBezTo>
                <a:cubicBezTo>
                  <a:pt x="8130" y="97744"/>
                  <a:pt x="3772" y="95731"/>
                  <a:pt x="0" y="93233"/>
                </a:cubicBezTo>
                <a:lnTo>
                  <a:pt x="0" y="110106"/>
                </a:lnTo>
                <a:cubicBezTo>
                  <a:pt x="0" y="121371"/>
                  <a:pt x="25564" y="130495"/>
                  <a:pt x="57092" y="130495"/>
                </a:cubicBezTo>
                <a:cubicBezTo>
                  <a:pt x="88620" y="130495"/>
                  <a:pt x="114183" y="121371"/>
                  <a:pt x="114183" y="110106"/>
                </a:cubicBezTo>
                <a:lnTo>
                  <a:pt x="114183" y="93233"/>
                </a:lnTo>
                <a:cubicBezTo>
                  <a:pt x="110411" y="95731"/>
                  <a:pt x="106078" y="97744"/>
                  <a:pt x="101567" y="99350"/>
                </a:cubicBezTo>
                <a:close/>
              </a:path>
            </a:pathLst>
          </a:custGeom>
          <a:solidFill>
            <a:srgbClr val="1A1D23"/>
          </a:solidFill>
          <a:ln/>
        </p:spPr>
      </p:sp>
      <p:sp>
        <p:nvSpPr>
          <p:cNvPr id="19" name="Text 16"/>
          <p:cNvSpPr/>
          <p:nvPr/>
        </p:nvSpPr>
        <p:spPr>
          <a:xfrm>
            <a:off x="978716" y="6175229"/>
            <a:ext cx="3840294" cy="2609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21" b="1" dirty="0">
                <a:solidFill>
                  <a:srgbClr val="E0E2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Grandes Volúmenes de Datos</a:t>
            </a:r>
            <a:endParaRPr lang="en-US" sz="1600" dirty="0"/>
          </a:p>
        </p:txBody>
      </p:sp>
      <p:sp>
        <p:nvSpPr>
          <p:cNvPr id="20" name="Text 17"/>
          <p:cNvSpPr/>
          <p:nvPr/>
        </p:nvSpPr>
        <p:spPr>
          <a:xfrm>
            <a:off x="978716" y="6436220"/>
            <a:ext cx="3830972" cy="2237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74" dirty="0">
                <a:solidFill>
                  <a:srgbClr val="788A9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Necesita datasets masivos para un rendimiento óptimo</a:t>
            </a:r>
            <a:endParaRPr lang="en-US" sz="1600" dirty="0"/>
          </a:p>
        </p:txBody>
      </p:sp>
      <p:sp>
        <p:nvSpPr>
          <p:cNvPr id="21" name="Shape 18"/>
          <p:cNvSpPr/>
          <p:nvPr/>
        </p:nvSpPr>
        <p:spPr>
          <a:xfrm>
            <a:off x="5653248" y="377505"/>
            <a:ext cx="6161248" cy="2059963"/>
          </a:xfrm>
          <a:custGeom>
            <a:avLst/>
            <a:gdLst/>
            <a:ahLst/>
            <a:cxnLst/>
            <a:rect l="l" t="t" r="r" b="b"/>
            <a:pathLst>
              <a:path w="6161248" h="2059963">
                <a:moveTo>
                  <a:pt x="111856" y="0"/>
                </a:moveTo>
                <a:lnTo>
                  <a:pt x="6049392" y="0"/>
                </a:lnTo>
                <a:cubicBezTo>
                  <a:pt x="6111168" y="0"/>
                  <a:pt x="6161248" y="50080"/>
                  <a:pt x="6161248" y="111856"/>
                </a:cubicBezTo>
                <a:lnTo>
                  <a:pt x="6161248" y="1948107"/>
                </a:lnTo>
                <a:cubicBezTo>
                  <a:pt x="6161248" y="2009884"/>
                  <a:pt x="6111168" y="2059963"/>
                  <a:pt x="6049392" y="2059963"/>
                </a:cubicBezTo>
                <a:lnTo>
                  <a:pt x="111856" y="2059963"/>
                </a:lnTo>
                <a:cubicBezTo>
                  <a:pt x="50121" y="2059963"/>
                  <a:pt x="0" y="2009842"/>
                  <a:pt x="0" y="1948107"/>
                </a:cubicBezTo>
                <a:lnTo>
                  <a:pt x="0" y="111856"/>
                </a:lnTo>
                <a:cubicBezTo>
                  <a:pt x="0" y="50121"/>
                  <a:pt x="50121" y="0"/>
                  <a:pt x="111856" y="0"/>
                </a:cubicBezTo>
                <a:close/>
              </a:path>
            </a:pathLst>
          </a:custGeom>
          <a:solidFill>
            <a:srgbClr val="4A6D8C">
              <a:alpha val="10196"/>
            </a:srgbClr>
          </a:solidFill>
          <a:ln w="12700">
            <a:solidFill>
              <a:srgbClr val="4A6D8C">
                <a:alpha val="30196"/>
              </a:srgbClr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5844330" y="568587"/>
            <a:ext cx="372844" cy="372844"/>
          </a:xfrm>
          <a:custGeom>
            <a:avLst/>
            <a:gdLst/>
            <a:ahLst/>
            <a:cxnLst/>
            <a:rect l="l" t="t" r="r" b="b"/>
            <a:pathLst>
              <a:path w="372844" h="372844">
                <a:moveTo>
                  <a:pt x="74569" y="0"/>
                </a:moveTo>
                <a:lnTo>
                  <a:pt x="298275" y="0"/>
                </a:lnTo>
                <a:cubicBezTo>
                  <a:pt x="339458" y="0"/>
                  <a:pt x="372844" y="33386"/>
                  <a:pt x="372844" y="74569"/>
                </a:cubicBezTo>
                <a:lnTo>
                  <a:pt x="372844" y="298275"/>
                </a:lnTo>
                <a:cubicBezTo>
                  <a:pt x="372844" y="339458"/>
                  <a:pt x="339458" y="372844"/>
                  <a:pt x="298275" y="372844"/>
                </a:cubicBezTo>
                <a:lnTo>
                  <a:pt x="74569" y="372844"/>
                </a:lnTo>
                <a:cubicBezTo>
                  <a:pt x="33386" y="372844"/>
                  <a:pt x="0" y="339458"/>
                  <a:pt x="0" y="298275"/>
                </a:cubicBezTo>
                <a:lnTo>
                  <a:pt x="0" y="74569"/>
                </a:lnTo>
                <a:cubicBezTo>
                  <a:pt x="0" y="33386"/>
                  <a:pt x="33386" y="0"/>
                  <a:pt x="74569" y="0"/>
                </a:cubicBezTo>
                <a:close/>
              </a:path>
            </a:pathLst>
          </a:custGeom>
          <a:solidFill>
            <a:srgbClr val="C8A265"/>
          </a:solidFill>
          <a:ln/>
        </p:spPr>
      </p:sp>
      <p:sp>
        <p:nvSpPr>
          <p:cNvPr id="23" name="Shape 20"/>
          <p:cNvSpPr/>
          <p:nvPr/>
        </p:nvSpPr>
        <p:spPr>
          <a:xfrm>
            <a:off x="5959679" y="671119"/>
            <a:ext cx="146807" cy="167780"/>
          </a:xfrm>
          <a:custGeom>
            <a:avLst/>
            <a:gdLst/>
            <a:ahLst/>
            <a:cxnLst/>
            <a:rect l="l" t="t" r="r" b="b"/>
            <a:pathLst>
              <a:path w="146807" h="167780">
                <a:moveTo>
                  <a:pt x="20972" y="10486"/>
                </a:moveTo>
                <a:cubicBezTo>
                  <a:pt x="9405" y="10486"/>
                  <a:pt x="0" y="19891"/>
                  <a:pt x="0" y="31459"/>
                </a:cubicBezTo>
                <a:lnTo>
                  <a:pt x="0" y="136321"/>
                </a:lnTo>
                <a:cubicBezTo>
                  <a:pt x="0" y="147889"/>
                  <a:pt x="9405" y="157294"/>
                  <a:pt x="20972" y="157294"/>
                </a:cubicBezTo>
                <a:lnTo>
                  <a:pt x="125835" y="157294"/>
                </a:lnTo>
                <a:cubicBezTo>
                  <a:pt x="137402" y="157294"/>
                  <a:pt x="146807" y="147889"/>
                  <a:pt x="146807" y="136321"/>
                </a:cubicBezTo>
                <a:lnTo>
                  <a:pt x="146807" y="31459"/>
                </a:lnTo>
                <a:cubicBezTo>
                  <a:pt x="146807" y="19891"/>
                  <a:pt x="137402" y="10486"/>
                  <a:pt x="125835" y="10486"/>
                </a:cubicBezTo>
                <a:lnTo>
                  <a:pt x="20972" y="10486"/>
                </a:lnTo>
                <a:close/>
                <a:moveTo>
                  <a:pt x="41945" y="36702"/>
                </a:moveTo>
                <a:cubicBezTo>
                  <a:pt x="50626" y="36702"/>
                  <a:pt x="57674" y="43750"/>
                  <a:pt x="57674" y="52431"/>
                </a:cubicBezTo>
                <a:cubicBezTo>
                  <a:pt x="57674" y="61112"/>
                  <a:pt x="50626" y="68161"/>
                  <a:pt x="41945" y="68161"/>
                </a:cubicBezTo>
                <a:cubicBezTo>
                  <a:pt x="33264" y="68161"/>
                  <a:pt x="26216" y="61112"/>
                  <a:pt x="26216" y="52431"/>
                </a:cubicBezTo>
                <a:cubicBezTo>
                  <a:pt x="26216" y="43750"/>
                  <a:pt x="33264" y="36702"/>
                  <a:pt x="41945" y="36702"/>
                </a:cubicBezTo>
                <a:close/>
                <a:moveTo>
                  <a:pt x="89133" y="73404"/>
                </a:moveTo>
                <a:cubicBezTo>
                  <a:pt x="91886" y="73404"/>
                  <a:pt x="94409" y="74846"/>
                  <a:pt x="95851" y="77172"/>
                </a:cubicBezTo>
                <a:lnTo>
                  <a:pt x="124688" y="124360"/>
                </a:lnTo>
                <a:cubicBezTo>
                  <a:pt x="126163" y="126785"/>
                  <a:pt x="126228" y="129833"/>
                  <a:pt x="124852" y="132323"/>
                </a:cubicBezTo>
                <a:cubicBezTo>
                  <a:pt x="123475" y="134814"/>
                  <a:pt x="120821" y="136321"/>
                  <a:pt x="117970" y="136321"/>
                </a:cubicBezTo>
                <a:lnTo>
                  <a:pt x="28837" y="136321"/>
                </a:lnTo>
                <a:cubicBezTo>
                  <a:pt x="25921" y="136321"/>
                  <a:pt x="23201" y="134683"/>
                  <a:pt x="21857" y="132094"/>
                </a:cubicBezTo>
                <a:cubicBezTo>
                  <a:pt x="20514" y="129505"/>
                  <a:pt x="20710" y="126359"/>
                  <a:pt x="22382" y="123967"/>
                </a:cubicBezTo>
                <a:lnTo>
                  <a:pt x="40732" y="97751"/>
                </a:lnTo>
                <a:cubicBezTo>
                  <a:pt x="42207" y="95654"/>
                  <a:pt x="44599" y="94409"/>
                  <a:pt x="47188" y="94409"/>
                </a:cubicBezTo>
                <a:cubicBezTo>
                  <a:pt x="49777" y="94409"/>
                  <a:pt x="52169" y="95654"/>
                  <a:pt x="53644" y="97751"/>
                </a:cubicBezTo>
                <a:lnTo>
                  <a:pt x="62295" y="110138"/>
                </a:lnTo>
                <a:lnTo>
                  <a:pt x="82415" y="77205"/>
                </a:lnTo>
                <a:cubicBezTo>
                  <a:pt x="83857" y="74878"/>
                  <a:pt x="86380" y="73436"/>
                  <a:pt x="89133" y="73436"/>
                </a:cubicBezTo>
                <a:close/>
              </a:path>
            </a:pathLst>
          </a:custGeom>
          <a:solidFill>
            <a:srgbClr val="1A1D23"/>
          </a:solidFill>
          <a:ln/>
        </p:spPr>
      </p:sp>
      <p:sp>
        <p:nvSpPr>
          <p:cNvPr id="24" name="Text 21"/>
          <p:cNvSpPr/>
          <p:nvPr/>
        </p:nvSpPr>
        <p:spPr>
          <a:xfrm>
            <a:off x="6329028" y="605872"/>
            <a:ext cx="699083" cy="2982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761" b="1" dirty="0">
                <a:solidFill>
                  <a:srgbClr val="E0E2E6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CNNs</a:t>
            </a:r>
            <a:endParaRPr lang="en-US" sz="1600" dirty="0"/>
          </a:p>
        </p:txBody>
      </p:sp>
      <p:sp>
        <p:nvSpPr>
          <p:cNvPr id="25" name="Text 22"/>
          <p:cNvSpPr/>
          <p:nvPr/>
        </p:nvSpPr>
        <p:spPr>
          <a:xfrm>
            <a:off x="5844330" y="1053284"/>
            <a:ext cx="5862972" cy="2609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21" b="1" dirty="0">
                <a:solidFill>
                  <a:srgbClr val="C8A26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Redes Neuronales Convolucionales</a:t>
            </a:r>
            <a:endParaRPr lang="en-US" sz="1600" dirty="0"/>
          </a:p>
        </p:txBody>
      </p:sp>
      <p:sp>
        <p:nvSpPr>
          <p:cNvPr id="26" name="Text 23"/>
          <p:cNvSpPr/>
          <p:nvPr/>
        </p:nvSpPr>
        <p:spPr>
          <a:xfrm>
            <a:off x="5844330" y="1388844"/>
            <a:ext cx="5853651" cy="4846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74" dirty="0">
                <a:solidFill>
                  <a:srgbClr val="788A9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Diseñadas para procesar datos con estructura de cuadrícula como imágenes. Utilizan capas convolucionales para detectar características locales.</a:t>
            </a:r>
            <a:endParaRPr lang="en-US" sz="1600" dirty="0"/>
          </a:p>
        </p:txBody>
      </p:sp>
      <p:sp>
        <p:nvSpPr>
          <p:cNvPr id="27" name="Shape 24"/>
          <p:cNvSpPr/>
          <p:nvPr/>
        </p:nvSpPr>
        <p:spPr>
          <a:xfrm>
            <a:off x="5844330" y="1985394"/>
            <a:ext cx="1677798" cy="260991"/>
          </a:xfrm>
          <a:custGeom>
            <a:avLst/>
            <a:gdLst/>
            <a:ahLst/>
            <a:cxnLst/>
            <a:rect l="l" t="t" r="r" b="b"/>
            <a:pathLst>
              <a:path w="1677798" h="260991">
                <a:moveTo>
                  <a:pt x="130495" y="0"/>
                </a:moveTo>
                <a:lnTo>
                  <a:pt x="1547303" y="0"/>
                </a:lnTo>
                <a:cubicBezTo>
                  <a:pt x="1619373" y="0"/>
                  <a:pt x="1677798" y="58425"/>
                  <a:pt x="1677798" y="130495"/>
                </a:cubicBezTo>
                <a:lnTo>
                  <a:pt x="1677798" y="130495"/>
                </a:lnTo>
                <a:cubicBezTo>
                  <a:pt x="1677798" y="202566"/>
                  <a:pt x="1619373" y="260991"/>
                  <a:pt x="1547303" y="260991"/>
                </a:cubicBezTo>
                <a:lnTo>
                  <a:pt x="130495" y="260991"/>
                </a:lnTo>
                <a:cubicBezTo>
                  <a:pt x="58473" y="260991"/>
                  <a:pt x="0" y="202518"/>
                  <a:pt x="0" y="130495"/>
                </a:cubicBezTo>
                <a:lnTo>
                  <a:pt x="0" y="130495"/>
                </a:lnTo>
                <a:cubicBezTo>
                  <a:pt x="0" y="58473"/>
                  <a:pt x="58473" y="0"/>
                  <a:pt x="130495" y="0"/>
                </a:cubicBezTo>
                <a:close/>
              </a:path>
            </a:pathLst>
          </a:custGeom>
          <a:solidFill>
            <a:srgbClr val="4A6D8C">
              <a:alpha val="30196"/>
            </a:srgbClr>
          </a:solidFill>
          <a:ln/>
        </p:spPr>
      </p:sp>
      <p:sp>
        <p:nvSpPr>
          <p:cNvPr id="28" name="Text 25"/>
          <p:cNvSpPr/>
          <p:nvPr/>
        </p:nvSpPr>
        <p:spPr>
          <a:xfrm>
            <a:off x="5844330" y="1985394"/>
            <a:ext cx="1743046" cy="260991"/>
          </a:xfrm>
          <a:prstGeom prst="rect">
            <a:avLst/>
          </a:prstGeom>
          <a:noFill/>
          <a:ln/>
        </p:spPr>
        <p:txBody>
          <a:bodyPr wrap="square" lIns="111853" tIns="37284" rIns="111853" bIns="37284" rtlCol="0" anchor="ctr"/>
          <a:lstStyle/>
          <a:p>
            <a:pPr>
              <a:lnSpc>
                <a:spcPct val="120000"/>
              </a:lnSpc>
            </a:pPr>
            <a:r>
              <a:rPr lang="en-US" sz="1028" dirty="0">
                <a:solidFill>
                  <a:srgbClr val="E0E2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Visión por Computadora</a:t>
            </a:r>
            <a:endParaRPr lang="en-US" sz="1600" dirty="0"/>
          </a:p>
        </p:txBody>
      </p:sp>
      <p:sp>
        <p:nvSpPr>
          <p:cNvPr id="29" name="Shape 26"/>
          <p:cNvSpPr/>
          <p:nvPr/>
        </p:nvSpPr>
        <p:spPr>
          <a:xfrm>
            <a:off x="7600775" y="1985394"/>
            <a:ext cx="1519339" cy="260991"/>
          </a:xfrm>
          <a:custGeom>
            <a:avLst/>
            <a:gdLst/>
            <a:ahLst/>
            <a:cxnLst/>
            <a:rect l="l" t="t" r="r" b="b"/>
            <a:pathLst>
              <a:path w="1519339" h="260991">
                <a:moveTo>
                  <a:pt x="130495" y="0"/>
                </a:moveTo>
                <a:lnTo>
                  <a:pt x="1388844" y="0"/>
                </a:lnTo>
                <a:cubicBezTo>
                  <a:pt x="1460915" y="0"/>
                  <a:pt x="1519339" y="58425"/>
                  <a:pt x="1519339" y="130495"/>
                </a:cubicBezTo>
                <a:lnTo>
                  <a:pt x="1519339" y="130495"/>
                </a:lnTo>
                <a:cubicBezTo>
                  <a:pt x="1519339" y="202566"/>
                  <a:pt x="1460915" y="260991"/>
                  <a:pt x="1388844" y="260991"/>
                </a:cubicBezTo>
                <a:lnTo>
                  <a:pt x="130495" y="260991"/>
                </a:lnTo>
                <a:cubicBezTo>
                  <a:pt x="58473" y="260991"/>
                  <a:pt x="0" y="202518"/>
                  <a:pt x="0" y="130495"/>
                </a:cubicBezTo>
                <a:lnTo>
                  <a:pt x="0" y="130495"/>
                </a:lnTo>
                <a:cubicBezTo>
                  <a:pt x="0" y="58473"/>
                  <a:pt x="58473" y="0"/>
                  <a:pt x="130495" y="0"/>
                </a:cubicBezTo>
                <a:close/>
              </a:path>
            </a:pathLst>
          </a:custGeom>
          <a:solidFill>
            <a:srgbClr val="4A6D8C">
              <a:alpha val="30196"/>
            </a:srgbClr>
          </a:solidFill>
          <a:ln/>
        </p:spPr>
      </p:sp>
      <p:sp>
        <p:nvSpPr>
          <p:cNvPr id="30" name="Text 27"/>
          <p:cNvSpPr/>
          <p:nvPr/>
        </p:nvSpPr>
        <p:spPr>
          <a:xfrm>
            <a:off x="7600775" y="1985394"/>
            <a:ext cx="1584587" cy="260991"/>
          </a:xfrm>
          <a:prstGeom prst="rect">
            <a:avLst/>
          </a:prstGeom>
          <a:noFill/>
          <a:ln/>
        </p:spPr>
        <p:txBody>
          <a:bodyPr wrap="square" lIns="111853" tIns="37284" rIns="111853" bIns="37284" rtlCol="0" anchor="ctr"/>
          <a:lstStyle/>
          <a:p>
            <a:pPr>
              <a:lnSpc>
                <a:spcPct val="120000"/>
              </a:lnSpc>
            </a:pPr>
            <a:r>
              <a:rPr lang="en-US" sz="1028" dirty="0">
                <a:solidFill>
                  <a:srgbClr val="E0E2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Detección de Objetos</a:t>
            </a:r>
            <a:endParaRPr lang="en-US" sz="1600" dirty="0"/>
          </a:p>
        </p:txBody>
      </p:sp>
      <p:sp>
        <p:nvSpPr>
          <p:cNvPr id="31" name="Shape 28"/>
          <p:cNvSpPr/>
          <p:nvPr/>
        </p:nvSpPr>
        <p:spPr>
          <a:xfrm>
            <a:off x="9199053" y="1985394"/>
            <a:ext cx="1780330" cy="260991"/>
          </a:xfrm>
          <a:custGeom>
            <a:avLst/>
            <a:gdLst/>
            <a:ahLst/>
            <a:cxnLst/>
            <a:rect l="l" t="t" r="r" b="b"/>
            <a:pathLst>
              <a:path w="1780330" h="260991">
                <a:moveTo>
                  <a:pt x="130495" y="0"/>
                </a:moveTo>
                <a:lnTo>
                  <a:pt x="1649835" y="0"/>
                </a:lnTo>
                <a:cubicBezTo>
                  <a:pt x="1721905" y="0"/>
                  <a:pt x="1780330" y="58425"/>
                  <a:pt x="1780330" y="130495"/>
                </a:cubicBezTo>
                <a:lnTo>
                  <a:pt x="1780330" y="130495"/>
                </a:lnTo>
                <a:cubicBezTo>
                  <a:pt x="1780330" y="202566"/>
                  <a:pt x="1721905" y="260991"/>
                  <a:pt x="1649835" y="260991"/>
                </a:cubicBezTo>
                <a:lnTo>
                  <a:pt x="130495" y="260991"/>
                </a:lnTo>
                <a:cubicBezTo>
                  <a:pt x="58473" y="260991"/>
                  <a:pt x="0" y="202518"/>
                  <a:pt x="0" y="130495"/>
                </a:cubicBezTo>
                <a:lnTo>
                  <a:pt x="0" y="130495"/>
                </a:lnTo>
                <a:cubicBezTo>
                  <a:pt x="0" y="58473"/>
                  <a:pt x="58473" y="0"/>
                  <a:pt x="130495" y="0"/>
                </a:cubicBezTo>
                <a:close/>
              </a:path>
            </a:pathLst>
          </a:custGeom>
          <a:solidFill>
            <a:srgbClr val="4A6D8C">
              <a:alpha val="30196"/>
            </a:srgbClr>
          </a:solidFill>
          <a:ln/>
        </p:spPr>
      </p:sp>
      <p:sp>
        <p:nvSpPr>
          <p:cNvPr id="32" name="Text 29"/>
          <p:cNvSpPr/>
          <p:nvPr/>
        </p:nvSpPr>
        <p:spPr>
          <a:xfrm>
            <a:off x="9199053" y="1985394"/>
            <a:ext cx="1845578" cy="260991"/>
          </a:xfrm>
          <a:prstGeom prst="rect">
            <a:avLst/>
          </a:prstGeom>
          <a:noFill/>
          <a:ln/>
        </p:spPr>
        <p:txBody>
          <a:bodyPr wrap="square" lIns="111853" tIns="37284" rIns="111853" bIns="37284" rtlCol="0" anchor="ctr"/>
          <a:lstStyle/>
          <a:p>
            <a:pPr>
              <a:lnSpc>
                <a:spcPct val="120000"/>
              </a:lnSpc>
            </a:pPr>
            <a:r>
              <a:rPr lang="en-US" sz="1028" dirty="0">
                <a:solidFill>
                  <a:srgbClr val="E0E2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Clasificación de Imágenes</a:t>
            </a:r>
            <a:endParaRPr lang="en-US" sz="1600" dirty="0"/>
          </a:p>
        </p:txBody>
      </p:sp>
      <p:sp>
        <p:nvSpPr>
          <p:cNvPr id="33" name="Shape 30"/>
          <p:cNvSpPr/>
          <p:nvPr/>
        </p:nvSpPr>
        <p:spPr>
          <a:xfrm>
            <a:off x="5653248" y="2595927"/>
            <a:ext cx="6161248" cy="2059963"/>
          </a:xfrm>
          <a:custGeom>
            <a:avLst/>
            <a:gdLst/>
            <a:ahLst/>
            <a:cxnLst/>
            <a:rect l="l" t="t" r="r" b="b"/>
            <a:pathLst>
              <a:path w="6161248" h="2059963">
                <a:moveTo>
                  <a:pt x="111856" y="0"/>
                </a:moveTo>
                <a:lnTo>
                  <a:pt x="6049392" y="0"/>
                </a:lnTo>
                <a:cubicBezTo>
                  <a:pt x="6111168" y="0"/>
                  <a:pt x="6161248" y="50080"/>
                  <a:pt x="6161248" y="111856"/>
                </a:cubicBezTo>
                <a:lnTo>
                  <a:pt x="6161248" y="1948107"/>
                </a:lnTo>
                <a:cubicBezTo>
                  <a:pt x="6161248" y="2009884"/>
                  <a:pt x="6111168" y="2059963"/>
                  <a:pt x="6049392" y="2059963"/>
                </a:cubicBezTo>
                <a:lnTo>
                  <a:pt x="111856" y="2059963"/>
                </a:lnTo>
                <a:cubicBezTo>
                  <a:pt x="50121" y="2059963"/>
                  <a:pt x="0" y="2009842"/>
                  <a:pt x="0" y="1948107"/>
                </a:cubicBezTo>
                <a:lnTo>
                  <a:pt x="0" y="111856"/>
                </a:lnTo>
                <a:cubicBezTo>
                  <a:pt x="0" y="50121"/>
                  <a:pt x="50121" y="0"/>
                  <a:pt x="111856" y="0"/>
                </a:cubicBezTo>
                <a:close/>
              </a:path>
            </a:pathLst>
          </a:custGeom>
          <a:solidFill>
            <a:srgbClr val="4A6D8C">
              <a:alpha val="10196"/>
            </a:srgbClr>
          </a:solidFill>
          <a:ln w="12700">
            <a:solidFill>
              <a:srgbClr val="4A6D8C">
                <a:alpha val="30196"/>
              </a:srgbClr>
            </a:solidFill>
            <a:prstDash val="solid"/>
          </a:ln>
        </p:spPr>
      </p:sp>
      <p:sp>
        <p:nvSpPr>
          <p:cNvPr id="34" name="Shape 31"/>
          <p:cNvSpPr/>
          <p:nvPr/>
        </p:nvSpPr>
        <p:spPr>
          <a:xfrm>
            <a:off x="5844330" y="2787009"/>
            <a:ext cx="372844" cy="372844"/>
          </a:xfrm>
          <a:custGeom>
            <a:avLst/>
            <a:gdLst/>
            <a:ahLst/>
            <a:cxnLst/>
            <a:rect l="l" t="t" r="r" b="b"/>
            <a:pathLst>
              <a:path w="372844" h="372844">
                <a:moveTo>
                  <a:pt x="74569" y="0"/>
                </a:moveTo>
                <a:lnTo>
                  <a:pt x="298275" y="0"/>
                </a:lnTo>
                <a:cubicBezTo>
                  <a:pt x="339458" y="0"/>
                  <a:pt x="372844" y="33386"/>
                  <a:pt x="372844" y="74569"/>
                </a:cubicBezTo>
                <a:lnTo>
                  <a:pt x="372844" y="298275"/>
                </a:lnTo>
                <a:cubicBezTo>
                  <a:pt x="372844" y="339458"/>
                  <a:pt x="339458" y="372844"/>
                  <a:pt x="298275" y="372844"/>
                </a:cubicBezTo>
                <a:lnTo>
                  <a:pt x="74569" y="372844"/>
                </a:lnTo>
                <a:cubicBezTo>
                  <a:pt x="33386" y="372844"/>
                  <a:pt x="0" y="339458"/>
                  <a:pt x="0" y="298275"/>
                </a:cubicBezTo>
                <a:lnTo>
                  <a:pt x="0" y="74569"/>
                </a:lnTo>
                <a:cubicBezTo>
                  <a:pt x="0" y="33386"/>
                  <a:pt x="33386" y="0"/>
                  <a:pt x="74569" y="0"/>
                </a:cubicBezTo>
                <a:close/>
              </a:path>
            </a:pathLst>
          </a:custGeom>
          <a:solidFill>
            <a:srgbClr val="C8A265"/>
          </a:solidFill>
          <a:ln/>
        </p:spPr>
      </p:sp>
      <p:sp>
        <p:nvSpPr>
          <p:cNvPr id="35" name="Shape 32"/>
          <p:cNvSpPr/>
          <p:nvPr/>
        </p:nvSpPr>
        <p:spPr>
          <a:xfrm>
            <a:off x="5949193" y="2889541"/>
            <a:ext cx="167780" cy="167780"/>
          </a:xfrm>
          <a:custGeom>
            <a:avLst/>
            <a:gdLst/>
            <a:ahLst/>
            <a:cxnLst/>
            <a:rect l="l" t="t" r="r" b="b"/>
            <a:pathLst>
              <a:path w="167780" h="167780">
                <a:moveTo>
                  <a:pt x="143104" y="24479"/>
                </a:moveTo>
                <a:lnTo>
                  <a:pt x="146807" y="27985"/>
                </a:lnTo>
                <a:lnTo>
                  <a:pt x="146807" y="10486"/>
                </a:lnTo>
                <a:cubicBezTo>
                  <a:pt x="146807" y="4686"/>
                  <a:pt x="151493" y="0"/>
                  <a:pt x="157294" y="0"/>
                </a:cubicBezTo>
                <a:cubicBezTo>
                  <a:pt x="163094" y="0"/>
                  <a:pt x="167780" y="4686"/>
                  <a:pt x="167780" y="10486"/>
                </a:cubicBezTo>
                <a:lnTo>
                  <a:pt x="167780" y="52431"/>
                </a:lnTo>
                <a:cubicBezTo>
                  <a:pt x="167780" y="58231"/>
                  <a:pt x="163094" y="62917"/>
                  <a:pt x="157294" y="62917"/>
                </a:cubicBezTo>
                <a:lnTo>
                  <a:pt x="115349" y="62917"/>
                </a:lnTo>
                <a:cubicBezTo>
                  <a:pt x="109548" y="62917"/>
                  <a:pt x="104862" y="58231"/>
                  <a:pt x="104862" y="52431"/>
                </a:cubicBezTo>
                <a:cubicBezTo>
                  <a:pt x="104862" y="46631"/>
                  <a:pt x="109548" y="41945"/>
                  <a:pt x="115349" y="41945"/>
                </a:cubicBezTo>
                <a:lnTo>
                  <a:pt x="131045" y="41945"/>
                </a:lnTo>
                <a:lnTo>
                  <a:pt x="128555" y="39586"/>
                </a:lnTo>
                <a:cubicBezTo>
                  <a:pt x="128489" y="39520"/>
                  <a:pt x="128424" y="39454"/>
                  <a:pt x="128358" y="39389"/>
                </a:cubicBezTo>
                <a:cubicBezTo>
                  <a:pt x="103781" y="14812"/>
                  <a:pt x="63966" y="14812"/>
                  <a:pt x="39389" y="39389"/>
                </a:cubicBezTo>
                <a:cubicBezTo>
                  <a:pt x="14812" y="63966"/>
                  <a:pt x="14812" y="103781"/>
                  <a:pt x="39389" y="128358"/>
                </a:cubicBezTo>
                <a:cubicBezTo>
                  <a:pt x="63966" y="152935"/>
                  <a:pt x="103781" y="152935"/>
                  <a:pt x="128358" y="128358"/>
                </a:cubicBezTo>
                <a:cubicBezTo>
                  <a:pt x="131045" y="125671"/>
                  <a:pt x="133437" y="122820"/>
                  <a:pt x="135535" y="119805"/>
                </a:cubicBezTo>
                <a:cubicBezTo>
                  <a:pt x="138844" y="115054"/>
                  <a:pt x="145398" y="113907"/>
                  <a:pt x="150150" y="117216"/>
                </a:cubicBezTo>
                <a:cubicBezTo>
                  <a:pt x="154901" y="120526"/>
                  <a:pt x="156048" y="127080"/>
                  <a:pt x="152739" y="131832"/>
                </a:cubicBezTo>
                <a:cubicBezTo>
                  <a:pt x="149953" y="135830"/>
                  <a:pt x="146775" y="139631"/>
                  <a:pt x="143203" y="143203"/>
                </a:cubicBezTo>
                <a:cubicBezTo>
                  <a:pt x="110433" y="175972"/>
                  <a:pt x="57314" y="175972"/>
                  <a:pt x="24577" y="143203"/>
                </a:cubicBezTo>
                <a:cubicBezTo>
                  <a:pt x="-8160" y="110433"/>
                  <a:pt x="-8192" y="57347"/>
                  <a:pt x="24577" y="24577"/>
                </a:cubicBezTo>
                <a:cubicBezTo>
                  <a:pt x="57314" y="-8160"/>
                  <a:pt x="110335" y="-8192"/>
                  <a:pt x="143104" y="24479"/>
                </a:cubicBezTo>
                <a:close/>
              </a:path>
            </a:pathLst>
          </a:custGeom>
          <a:solidFill>
            <a:srgbClr val="1A1D23"/>
          </a:solidFill>
          <a:ln/>
        </p:spPr>
      </p:sp>
      <p:sp>
        <p:nvSpPr>
          <p:cNvPr id="36" name="Text 33"/>
          <p:cNvSpPr/>
          <p:nvPr/>
        </p:nvSpPr>
        <p:spPr>
          <a:xfrm>
            <a:off x="6329028" y="2824294"/>
            <a:ext cx="689761" cy="2982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761" b="1" dirty="0">
                <a:solidFill>
                  <a:srgbClr val="E0E2E6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RNNs</a:t>
            </a:r>
            <a:endParaRPr lang="en-US" sz="1600" dirty="0"/>
          </a:p>
        </p:txBody>
      </p:sp>
      <p:sp>
        <p:nvSpPr>
          <p:cNvPr id="37" name="Text 34"/>
          <p:cNvSpPr/>
          <p:nvPr/>
        </p:nvSpPr>
        <p:spPr>
          <a:xfrm>
            <a:off x="5844330" y="3271706"/>
            <a:ext cx="5862972" cy="2609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21" b="1" dirty="0">
                <a:solidFill>
                  <a:srgbClr val="C8A26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Redes Neuronales Recurrentes</a:t>
            </a:r>
            <a:endParaRPr lang="en-US" sz="1600" dirty="0"/>
          </a:p>
        </p:txBody>
      </p:sp>
      <p:sp>
        <p:nvSpPr>
          <p:cNvPr id="38" name="Text 35"/>
          <p:cNvSpPr/>
          <p:nvPr/>
        </p:nvSpPr>
        <p:spPr>
          <a:xfrm>
            <a:off x="5844330" y="3607266"/>
            <a:ext cx="5853651" cy="4846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74" dirty="0">
                <a:solidFill>
                  <a:srgbClr val="788A9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Ideales para datos secuenciales. Poseen memoria interna que les permite procesar series temporales y texto.</a:t>
            </a:r>
            <a:endParaRPr lang="en-US" sz="1600" dirty="0"/>
          </a:p>
        </p:txBody>
      </p:sp>
      <p:sp>
        <p:nvSpPr>
          <p:cNvPr id="39" name="Shape 36"/>
          <p:cNvSpPr/>
          <p:nvPr/>
        </p:nvSpPr>
        <p:spPr>
          <a:xfrm>
            <a:off x="5844330" y="4203817"/>
            <a:ext cx="475376" cy="260991"/>
          </a:xfrm>
          <a:custGeom>
            <a:avLst/>
            <a:gdLst/>
            <a:ahLst/>
            <a:cxnLst/>
            <a:rect l="l" t="t" r="r" b="b"/>
            <a:pathLst>
              <a:path w="475376" h="260991">
                <a:moveTo>
                  <a:pt x="130495" y="0"/>
                </a:moveTo>
                <a:lnTo>
                  <a:pt x="344881" y="0"/>
                </a:lnTo>
                <a:cubicBezTo>
                  <a:pt x="416951" y="0"/>
                  <a:pt x="475376" y="58425"/>
                  <a:pt x="475376" y="130495"/>
                </a:cubicBezTo>
                <a:lnTo>
                  <a:pt x="475376" y="130495"/>
                </a:lnTo>
                <a:cubicBezTo>
                  <a:pt x="475376" y="202566"/>
                  <a:pt x="416951" y="260991"/>
                  <a:pt x="344881" y="260991"/>
                </a:cubicBezTo>
                <a:lnTo>
                  <a:pt x="130495" y="260991"/>
                </a:lnTo>
                <a:cubicBezTo>
                  <a:pt x="58473" y="260991"/>
                  <a:pt x="0" y="202518"/>
                  <a:pt x="0" y="130495"/>
                </a:cubicBezTo>
                <a:lnTo>
                  <a:pt x="0" y="130495"/>
                </a:lnTo>
                <a:cubicBezTo>
                  <a:pt x="0" y="58473"/>
                  <a:pt x="58473" y="0"/>
                  <a:pt x="130495" y="0"/>
                </a:cubicBezTo>
                <a:close/>
              </a:path>
            </a:pathLst>
          </a:custGeom>
          <a:solidFill>
            <a:srgbClr val="4A6D8C">
              <a:alpha val="30196"/>
            </a:srgbClr>
          </a:solidFill>
          <a:ln/>
        </p:spPr>
      </p:sp>
      <p:sp>
        <p:nvSpPr>
          <p:cNvPr id="40" name="Text 37"/>
          <p:cNvSpPr/>
          <p:nvPr/>
        </p:nvSpPr>
        <p:spPr>
          <a:xfrm>
            <a:off x="5844330" y="4203817"/>
            <a:ext cx="540624" cy="260991"/>
          </a:xfrm>
          <a:prstGeom prst="rect">
            <a:avLst/>
          </a:prstGeom>
          <a:noFill/>
          <a:ln/>
        </p:spPr>
        <p:txBody>
          <a:bodyPr wrap="square" lIns="111853" tIns="37284" rIns="111853" bIns="37284" rtlCol="0" anchor="ctr"/>
          <a:lstStyle/>
          <a:p>
            <a:pPr>
              <a:lnSpc>
                <a:spcPct val="120000"/>
              </a:lnSpc>
            </a:pPr>
            <a:r>
              <a:rPr lang="en-US" sz="1028" dirty="0">
                <a:solidFill>
                  <a:srgbClr val="E0E2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NLP</a:t>
            </a:r>
            <a:endParaRPr lang="en-US" sz="1600" dirty="0"/>
          </a:p>
        </p:txBody>
      </p:sp>
      <p:sp>
        <p:nvSpPr>
          <p:cNvPr id="41" name="Shape 38"/>
          <p:cNvSpPr/>
          <p:nvPr/>
        </p:nvSpPr>
        <p:spPr>
          <a:xfrm>
            <a:off x="6391508" y="4203817"/>
            <a:ext cx="1332917" cy="260991"/>
          </a:xfrm>
          <a:custGeom>
            <a:avLst/>
            <a:gdLst/>
            <a:ahLst/>
            <a:cxnLst/>
            <a:rect l="l" t="t" r="r" b="b"/>
            <a:pathLst>
              <a:path w="1332917" h="260991">
                <a:moveTo>
                  <a:pt x="130495" y="0"/>
                </a:moveTo>
                <a:lnTo>
                  <a:pt x="1202422" y="0"/>
                </a:lnTo>
                <a:cubicBezTo>
                  <a:pt x="1274493" y="0"/>
                  <a:pt x="1332917" y="58425"/>
                  <a:pt x="1332917" y="130495"/>
                </a:cubicBezTo>
                <a:lnTo>
                  <a:pt x="1332917" y="130495"/>
                </a:lnTo>
                <a:cubicBezTo>
                  <a:pt x="1332917" y="202566"/>
                  <a:pt x="1274493" y="260991"/>
                  <a:pt x="1202422" y="260991"/>
                </a:cubicBezTo>
                <a:lnTo>
                  <a:pt x="130495" y="260991"/>
                </a:lnTo>
                <a:cubicBezTo>
                  <a:pt x="58473" y="260991"/>
                  <a:pt x="0" y="202518"/>
                  <a:pt x="0" y="130495"/>
                </a:cubicBezTo>
                <a:lnTo>
                  <a:pt x="0" y="130495"/>
                </a:lnTo>
                <a:cubicBezTo>
                  <a:pt x="0" y="58473"/>
                  <a:pt x="58473" y="0"/>
                  <a:pt x="130495" y="0"/>
                </a:cubicBezTo>
                <a:close/>
              </a:path>
            </a:pathLst>
          </a:custGeom>
          <a:solidFill>
            <a:srgbClr val="4A6D8C">
              <a:alpha val="30196"/>
            </a:srgbClr>
          </a:solidFill>
          <a:ln/>
        </p:spPr>
      </p:sp>
      <p:sp>
        <p:nvSpPr>
          <p:cNvPr id="42" name="Text 39"/>
          <p:cNvSpPr/>
          <p:nvPr/>
        </p:nvSpPr>
        <p:spPr>
          <a:xfrm>
            <a:off x="6391508" y="4203817"/>
            <a:ext cx="1398165" cy="260991"/>
          </a:xfrm>
          <a:prstGeom prst="rect">
            <a:avLst/>
          </a:prstGeom>
          <a:noFill/>
          <a:ln/>
        </p:spPr>
        <p:txBody>
          <a:bodyPr wrap="square" lIns="111853" tIns="37284" rIns="111853" bIns="37284" rtlCol="0" anchor="ctr"/>
          <a:lstStyle/>
          <a:p>
            <a:pPr>
              <a:lnSpc>
                <a:spcPct val="120000"/>
              </a:lnSpc>
            </a:pPr>
            <a:r>
              <a:rPr lang="en-US" sz="1028" dirty="0">
                <a:solidFill>
                  <a:srgbClr val="E0E2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Series Temporales</a:t>
            </a:r>
            <a:endParaRPr lang="en-US" sz="1600" dirty="0"/>
          </a:p>
        </p:txBody>
      </p:sp>
      <p:sp>
        <p:nvSpPr>
          <p:cNvPr id="43" name="Shape 40"/>
          <p:cNvSpPr/>
          <p:nvPr/>
        </p:nvSpPr>
        <p:spPr>
          <a:xfrm>
            <a:off x="7796664" y="4203817"/>
            <a:ext cx="894826" cy="260991"/>
          </a:xfrm>
          <a:custGeom>
            <a:avLst/>
            <a:gdLst/>
            <a:ahLst/>
            <a:cxnLst/>
            <a:rect l="l" t="t" r="r" b="b"/>
            <a:pathLst>
              <a:path w="894826" h="260991">
                <a:moveTo>
                  <a:pt x="130495" y="0"/>
                </a:moveTo>
                <a:lnTo>
                  <a:pt x="764330" y="0"/>
                </a:lnTo>
                <a:cubicBezTo>
                  <a:pt x="836401" y="0"/>
                  <a:pt x="894826" y="58425"/>
                  <a:pt x="894826" y="130495"/>
                </a:cubicBezTo>
                <a:lnTo>
                  <a:pt x="894826" y="130495"/>
                </a:lnTo>
                <a:cubicBezTo>
                  <a:pt x="894826" y="202566"/>
                  <a:pt x="836401" y="260991"/>
                  <a:pt x="764330" y="260991"/>
                </a:cubicBezTo>
                <a:lnTo>
                  <a:pt x="130495" y="260991"/>
                </a:lnTo>
                <a:cubicBezTo>
                  <a:pt x="58473" y="260991"/>
                  <a:pt x="0" y="202518"/>
                  <a:pt x="0" y="130495"/>
                </a:cubicBezTo>
                <a:lnTo>
                  <a:pt x="0" y="130495"/>
                </a:lnTo>
                <a:cubicBezTo>
                  <a:pt x="0" y="58473"/>
                  <a:pt x="58473" y="0"/>
                  <a:pt x="130495" y="0"/>
                </a:cubicBezTo>
                <a:close/>
              </a:path>
            </a:pathLst>
          </a:custGeom>
          <a:solidFill>
            <a:srgbClr val="4A6D8C">
              <a:alpha val="30196"/>
            </a:srgbClr>
          </a:solidFill>
          <a:ln/>
        </p:spPr>
      </p:sp>
      <p:sp>
        <p:nvSpPr>
          <p:cNvPr id="44" name="Text 41"/>
          <p:cNvSpPr/>
          <p:nvPr/>
        </p:nvSpPr>
        <p:spPr>
          <a:xfrm>
            <a:off x="7796664" y="4203817"/>
            <a:ext cx="960073" cy="260991"/>
          </a:xfrm>
          <a:prstGeom prst="rect">
            <a:avLst/>
          </a:prstGeom>
          <a:noFill/>
          <a:ln/>
        </p:spPr>
        <p:txBody>
          <a:bodyPr wrap="square" lIns="111853" tIns="37284" rIns="111853" bIns="37284" rtlCol="0" anchor="ctr"/>
          <a:lstStyle/>
          <a:p>
            <a:pPr>
              <a:lnSpc>
                <a:spcPct val="120000"/>
              </a:lnSpc>
            </a:pPr>
            <a:r>
              <a:rPr lang="en-US" sz="1028" dirty="0">
                <a:solidFill>
                  <a:srgbClr val="E0E2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Traducción</a:t>
            </a:r>
            <a:endParaRPr lang="en-US" sz="1600" dirty="0"/>
          </a:p>
        </p:txBody>
      </p:sp>
      <p:sp>
        <p:nvSpPr>
          <p:cNvPr id="45" name="Shape 42"/>
          <p:cNvSpPr/>
          <p:nvPr/>
        </p:nvSpPr>
        <p:spPr>
          <a:xfrm>
            <a:off x="5653248" y="4814349"/>
            <a:ext cx="3001394" cy="1258349"/>
          </a:xfrm>
          <a:custGeom>
            <a:avLst/>
            <a:gdLst/>
            <a:ahLst/>
            <a:cxnLst/>
            <a:rect l="l" t="t" r="r" b="b"/>
            <a:pathLst>
              <a:path w="3001394" h="1258349">
                <a:moveTo>
                  <a:pt x="111855" y="0"/>
                </a:moveTo>
                <a:lnTo>
                  <a:pt x="2889540" y="0"/>
                </a:lnTo>
                <a:cubicBezTo>
                  <a:pt x="2951315" y="0"/>
                  <a:pt x="3001394" y="50079"/>
                  <a:pt x="3001394" y="111855"/>
                </a:cubicBezTo>
                <a:lnTo>
                  <a:pt x="3001394" y="1146494"/>
                </a:lnTo>
                <a:cubicBezTo>
                  <a:pt x="3001394" y="1208270"/>
                  <a:pt x="2951315" y="1258349"/>
                  <a:pt x="2889540" y="1258349"/>
                </a:cubicBezTo>
                <a:lnTo>
                  <a:pt x="111855" y="1258349"/>
                </a:lnTo>
                <a:cubicBezTo>
                  <a:pt x="50079" y="1258349"/>
                  <a:pt x="0" y="1208270"/>
                  <a:pt x="0" y="1146494"/>
                </a:cubicBezTo>
                <a:lnTo>
                  <a:pt x="0" y="111855"/>
                </a:lnTo>
                <a:cubicBezTo>
                  <a:pt x="0" y="50120"/>
                  <a:pt x="50120" y="0"/>
                  <a:pt x="111855" y="0"/>
                </a:cubicBezTo>
                <a:close/>
              </a:path>
            </a:pathLst>
          </a:custGeom>
          <a:solidFill>
            <a:srgbClr val="4A6D8C">
              <a:alpha val="10196"/>
            </a:srgbClr>
          </a:solidFill>
          <a:ln w="12700">
            <a:solidFill>
              <a:srgbClr val="4A6D8C">
                <a:alpha val="30196"/>
              </a:srgbClr>
            </a:solidFill>
            <a:prstDash val="solid"/>
          </a:ln>
        </p:spPr>
      </p:sp>
      <p:sp>
        <p:nvSpPr>
          <p:cNvPr id="46" name="Shape 43"/>
          <p:cNvSpPr/>
          <p:nvPr/>
        </p:nvSpPr>
        <p:spPr>
          <a:xfrm>
            <a:off x="5830349" y="5014752"/>
            <a:ext cx="167780" cy="167780"/>
          </a:xfrm>
          <a:custGeom>
            <a:avLst/>
            <a:gdLst/>
            <a:ahLst/>
            <a:cxnLst/>
            <a:rect l="l" t="t" r="r" b="b"/>
            <a:pathLst>
              <a:path w="167780" h="167780">
                <a:moveTo>
                  <a:pt x="164699" y="49351"/>
                </a:moveTo>
                <a:lnTo>
                  <a:pt x="133241" y="80810"/>
                </a:lnTo>
                <a:cubicBezTo>
                  <a:pt x="130226" y="83824"/>
                  <a:pt x="125737" y="84709"/>
                  <a:pt x="121804" y="83071"/>
                </a:cubicBezTo>
                <a:cubicBezTo>
                  <a:pt x="117872" y="81432"/>
                  <a:pt x="115349" y="77631"/>
                  <a:pt x="115349" y="73404"/>
                </a:cubicBezTo>
                <a:lnTo>
                  <a:pt x="115349" y="52431"/>
                </a:lnTo>
                <a:lnTo>
                  <a:pt x="10486" y="52431"/>
                </a:lnTo>
                <a:cubicBezTo>
                  <a:pt x="4686" y="52431"/>
                  <a:pt x="0" y="47745"/>
                  <a:pt x="0" y="41945"/>
                </a:cubicBezTo>
                <a:cubicBezTo>
                  <a:pt x="0" y="36145"/>
                  <a:pt x="4686" y="31459"/>
                  <a:pt x="10486" y="31459"/>
                </a:cubicBezTo>
                <a:lnTo>
                  <a:pt x="115349" y="31459"/>
                </a:lnTo>
                <a:lnTo>
                  <a:pt x="115349" y="10486"/>
                </a:lnTo>
                <a:cubicBezTo>
                  <a:pt x="115349" y="6259"/>
                  <a:pt x="117905" y="2425"/>
                  <a:pt x="121837" y="786"/>
                </a:cubicBezTo>
                <a:cubicBezTo>
                  <a:pt x="125769" y="-852"/>
                  <a:pt x="130259" y="66"/>
                  <a:pt x="133274" y="3048"/>
                </a:cubicBezTo>
                <a:lnTo>
                  <a:pt x="164732" y="34506"/>
                </a:lnTo>
                <a:cubicBezTo>
                  <a:pt x="168828" y="38602"/>
                  <a:pt x="168828" y="45255"/>
                  <a:pt x="164732" y="49351"/>
                </a:cubicBezTo>
                <a:close/>
                <a:moveTo>
                  <a:pt x="34506" y="164699"/>
                </a:moveTo>
                <a:lnTo>
                  <a:pt x="3048" y="133241"/>
                </a:lnTo>
                <a:cubicBezTo>
                  <a:pt x="-1049" y="129145"/>
                  <a:pt x="-1049" y="122492"/>
                  <a:pt x="3048" y="118396"/>
                </a:cubicBezTo>
                <a:lnTo>
                  <a:pt x="34506" y="86937"/>
                </a:lnTo>
                <a:cubicBezTo>
                  <a:pt x="37521" y="83923"/>
                  <a:pt x="42010" y="83038"/>
                  <a:pt x="45943" y="84676"/>
                </a:cubicBezTo>
                <a:cubicBezTo>
                  <a:pt x="49875" y="86315"/>
                  <a:pt x="52431" y="90149"/>
                  <a:pt x="52431" y="94376"/>
                </a:cubicBezTo>
                <a:lnTo>
                  <a:pt x="52431" y="115349"/>
                </a:lnTo>
                <a:lnTo>
                  <a:pt x="157294" y="115349"/>
                </a:lnTo>
                <a:cubicBezTo>
                  <a:pt x="163094" y="115349"/>
                  <a:pt x="167780" y="120035"/>
                  <a:pt x="167780" y="125835"/>
                </a:cubicBezTo>
                <a:cubicBezTo>
                  <a:pt x="167780" y="131635"/>
                  <a:pt x="163094" y="136321"/>
                  <a:pt x="157294" y="136321"/>
                </a:cubicBezTo>
                <a:lnTo>
                  <a:pt x="52431" y="136321"/>
                </a:lnTo>
                <a:lnTo>
                  <a:pt x="52431" y="157294"/>
                </a:lnTo>
                <a:cubicBezTo>
                  <a:pt x="52431" y="161521"/>
                  <a:pt x="49875" y="165355"/>
                  <a:pt x="45943" y="166993"/>
                </a:cubicBezTo>
                <a:cubicBezTo>
                  <a:pt x="42010" y="168632"/>
                  <a:pt x="37521" y="167714"/>
                  <a:pt x="34506" y="164732"/>
                </a:cubicBezTo>
                <a:close/>
              </a:path>
            </a:pathLst>
          </a:custGeom>
          <a:solidFill>
            <a:srgbClr val="C8A265"/>
          </a:solidFill>
          <a:ln/>
        </p:spPr>
      </p:sp>
      <p:sp>
        <p:nvSpPr>
          <p:cNvPr id="47" name="Text 44"/>
          <p:cNvSpPr/>
          <p:nvPr/>
        </p:nvSpPr>
        <p:spPr>
          <a:xfrm>
            <a:off x="6091339" y="4968147"/>
            <a:ext cx="1174459" cy="2609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21" b="1" dirty="0">
                <a:solidFill>
                  <a:srgbClr val="E0E2E6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Transformers</a:t>
            </a:r>
            <a:endParaRPr lang="en-US" sz="1600" dirty="0"/>
          </a:p>
        </p:txBody>
      </p:sp>
      <p:sp>
        <p:nvSpPr>
          <p:cNvPr id="48" name="Text 45"/>
          <p:cNvSpPr/>
          <p:nvPr/>
        </p:nvSpPr>
        <p:spPr>
          <a:xfrm>
            <a:off x="5807046" y="5303706"/>
            <a:ext cx="2768367" cy="6151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174" dirty="0">
                <a:solidFill>
                  <a:srgbClr val="788A9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Base de GPT y BERT. Mecanismo de atención para procesar secuencias en paralelo.</a:t>
            </a:r>
            <a:endParaRPr lang="en-US" sz="1600" dirty="0"/>
          </a:p>
        </p:txBody>
      </p:sp>
      <p:sp>
        <p:nvSpPr>
          <p:cNvPr id="49" name="Shape 46"/>
          <p:cNvSpPr/>
          <p:nvPr/>
        </p:nvSpPr>
        <p:spPr>
          <a:xfrm>
            <a:off x="8815140" y="4814349"/>
            <a:ext cx="3001394" cy="1258349"/>
          </a:xfrm>
          <a:custGeom>
            <a:avLst/>
            <a:gdLst/>
            <a:ahLst/>
            <a:cxnLst/>
            <a:rect l="l" t="t" r="r" b="b"/>
            <a:pathLst>
              <a:path w="3001394" h="1258349">
                <a:moveTo>
                  <a:pt x="111855" y="0"/>
                </a:moveTo>
                <a:lnTo>
                  <a:pt x="2889540" y="0"/>
                </a:lnTo>
                <a:cubicBezTo>
                  <a:pt x="2951315" y="0"/>
                  <a:pt x="3001394" y="50079"/>
                  <a:pt x="3001394" y="111855"/>
                </a:cubicBezTo>
                <a:lnTo>
                  <a:pt x="3001394" y="1146494"/>
                </a:lnTo>
                <a:cubicBezTo>
                  <a:pt x="3001394" y="1208270"/>
                  <a:pt x="2951315" y="1258349"/>
                  <a:pt x="2889540" y="1258349"/>
                </a:cubicBezTo>
                <a:lnTo>
                  <a:pt x="111855" y="1258349"/>
                </a:lnTo>
                <a:cubicBezTo>
                  <a:pt x="50079" y="1258349"/>
                  <a:pt x="0" y="1208270"/>
                  <a:pt x="0" y="1146494"/>
                </a:cubicBezTo>
                <a:lnTo>
                  <a:pt x="0" y="111855"/>
                </a:lnTo>
                <a:cubicBezTo>
                  <a:pt x="0" y="50120"/>
                  <a:pt x="50120" y="0"/>
                  <a:pt x="111855" y="0"/>
                </a:cubicBezTo>
                <a:close/>
              </a:path>
            </a:pathLst>
          </a:custGeom>
          <a:solidFill>
            <a:srgbClr val="4A6D8C">
              <a:alpha val="10196"/>
            </a:srgbClr>
          </a:solidFill>
          <a:ln w="12700">
            <a:solidFill>
              <a:srgbClr val="4A6D8C">
                <a:alpha val="30196"/>
              </a:srgbClr>
            </a:solidFill>
            <a:prstDash val="solid"/>
          </a:ln>
        </p:spPr>
      </p:sp>
      <p:sp>
        <p:nvSpPr>
          <p:cNvPr id="50" name="Shape 47"/>
          <p:cNvSpPr/>
          <p:nvPr/>
        </p:nvSpPr>
        <p:spPr>
          <a:xfrm>
            <a:off x="8992241" y="5014752"/>
            <a:ext cx="167780" cy="167780"/>
          </a:xfrm>
          <a:custGeom>
            <a:avLst/>
            <a:gdLst/>
            <a:ahLst/>
            <a:cxnLst/>
            <a:rect l="l" t="t" r="r" b="b"/>
            <a:pathLst>
              <a:path w="167780" h="167780">
                <a:moveTo>
                  <a:pt x="149429" y="73404"/>
                </a:moveTo>
                <a:lnTo>
                  <a:pt x="102241" y="73404"/>
                </a:lnTo>
                <a:cubicBezTo>
                  <a:pt x="97882" y="73404"/>
                  <a:pt x="94376" y="69897"/>
                  <a:pt x="94376" y="65539"/>
                </a:cubicBezTo>
                <a:lnTo>
                  <a:pt x="94376" y="18351"/>
                </a:lnTo>
                <a:cubicBezTo>
                  <a:pt x="94376" y="15172"/>
                  <a:pt x="96277" y="12289"/>
                  <a:pt x="99226" y="11076"/>
                </a:cubicBezTo>
                <a:cubicBezTo>
                  <a:pt x="102175" y="9864"/>
                  <a:pt x="105551" y="10552"/>
                  <a:pt x="107812" y="12780"/>
                </a:cubicBezTo>
                <a:lnTo>
                  <a:pt x="120919" y="25888"/>
                </a:lnTo>
                <a:lnTo>
                  <a:pt x="144972" y="1835"/>
                </a:lnTo>
                <a:cubicBezTo>
                  <a:pt x="146152" y="655"/>
                  <a:pt x="147758" y="0"/>
                  <a:pt x="149429" y="0"/>
                </a:cubicBezTo>
                <a:cubicBezTo>
                  <a:pt x="151100" y="0"/>
                  <a:pt x="152706" y="655"/>
                  <a:pt x="153918" y="1868"/>
                </a:cubicBezTo>
                <a:lnTo>
                  <a:pt x="165945" y="13894"/>
                </a:lnTo>
                <a:cubicBezTo>
                  <a:pt x="167124" y="15074"/>
                  <a:pt x="167780" y="16680"/>
                  <a:pt x="167780" y="18351"/>
                </a:cubicBezTo>
                <a:cubicBezTo>
                  <a:pt x="167780" y="20022"/>
                  <a:pt x="167124" y="21628"/>
                  <a:pt x="165912" y="22840"/>
                </a:cubicBezTo>
                <a:lnTo>
                  <a:pt x="141892" y="46860"/>
                </a:lnTo>
                <a:lnTo>
                  <a:pt x="155000" y="59968"/>
                </a:lnTo>
                <a:cubicBezTo>
                  <a:pt x="157261" y="62229"/>
                  <a:pt x="157916" y="65605"/>
                  <a:pt x="156704" y="68554"/>
                </a:cubicBezTo>
                <a:cubicBezTo>
                  <a:pt x="155491" y="71503"/>
                  <a:pt x="152608" y="73404"/>
                  <a:pt x="149429" y="73404"/>
                </a:cubicBezTo>
                <a:close/>
                <a:moveTo>
                  <a:pt x="149429" y="94376"/>
                </a:moveTo>
                <a:cubicBezTo>
                  <a:pt x="152608" y="94376"/>
                  <a:pt x="155491" y="96277"/>
                  <a:pt x="156704" y="99226"/>
                </a:cubicBezTo>
                <a:cubicBezTo>
                  <a:pt x="157916" y="102175"/>
                  <a:pt x="157261" y="105551"/>
                  <a:pt x="155000" y="107812"/>
                </a:cubicBezTo>
                <a:lnTo>
                  <a:pt x="141892" y="120919"/>
                </a:lnTo>
                <a:lnTo>
                  <a:pt x="165945" y="144972"/>
                </a:lnTo>
                <a:cubicBezTo>
                  <a:pt x="167124" y="146152"/>
                  <a:pt x="167813" y="147758"/>
                  <a:pt x="167813" y="149462"/>
                </a:cubicBezTo>
                <a:cubicBezTo>
                  <a:pt x="167813" y="151166"/>
                  <a:pt x="167157" y="152739"/>
                  <a:pt x="165945" y="153951"/>
                </a:cubicBezTo>
                <a:lnTo>
                  <a:pt x="153918" y="165977"/>
                </a:lnTo>
                <a:cubicBezTo>
                  <a:pt x="152706" y="167124"/>
                  <a:pt x="151100" y="167780"/>
                  <a:pt x="149429" y="167780"/>
                </a:cubicBezTo>
                <a:cubicBezTo>
                  <a:pt x="147758" y="167780"/>
                  <a:pt x="146152" y="167124"/>
                  <a:pt x="144939" y="165912"/>
                </a:cubicBezTo>
                <a:lnTo>
                  <a:pt x="120919" y="141892"/>
                </a:lnTo>
                <a:lnTo>
                  <a:pt x="107812" y="155000"/>
                </a:lnTo>
                <a:cubicBezTo>
                  <a:pt x="105551" y="157261"/>
                  <a:pt x="102175" y="157916"/>
                  <a:pt x="99226" y="156704"/>
                </a:cubicBezTo>
                <a:cubicBezTo>
                  <a:pt x="96277" y="155491"/>
                  <a:pt x="94376" y="152608"/>
                  <a:pt x="94376" y="149429"/>
                </a:cubicBezTo>
                <a:lnTo>
                  <a:pt x="94376" y="102241"/>
                </a:lnTo>
                <a:cubicBezTo>
                  <a:pt x="94376" y="97882"/>
                  <a:pt x="97882" y="94376"/>
                  <a:pt x="102241" y="94376"/>
                </a:cubicBezTo>
                <a:lnTo>
                  <a:pt x="149429" y="94376"/>
                </a:lnTo>
                <a:close/>
                <a:moveTo>
                  <a:pt x="65539" y="94376"/>
                </a:moveTo>
                <a:cubicBezTo>
                  <a:pt x="69897" y="94376"/>
                  <a:pt x="73404" y="97882"/>
                  <a:pt x="73404" y="102241"/>
                </a:cubicBezTo>
                <a:lnTo>
                  <a:pt x="73404" y="149429"/>
                </a:lnTo>
                <a:cubicBezTo>
                  <a:pt x="73404" y="152608"/>
                  <a:pt x="71503" y="155491"/>
                  <a:pt x="68554" y="156704"/>
                </a:cubicBezTo>
                <a:cubicBezTo>
                  <a:pt x="65605" y="157916"/>
                  <a:pt x="62229" y="157261"/>
                  <a:pt x="59968" y="155000"/>
                </a:cubicBezTo>
                <a:lnTo>
                  <a:pt x="46860" y="141892"/>
                </a:lnTo>
                <a:lnTo>
                  <a:pt x="22808" y="165945"/>
                </a:lnTo>
                <a:cubicBezTo>
                  <a:pt x="21628" y="167124"/>
                  <a:pt x="20022" y="167780"/>
                  <a:pt x="18351" y="167780"/>
                </a:cubicBezTo>
                <a:cubicBezTo>
                  <a:pt x="16680" y="167780"/>
                  <a:pt x="15074" y="167124"/>
                  <a:pt x="13861" y="165912"/>
                </a:cubicBezTo>
                <a:lnTo>
                  <a:pt x="1868" y="153918"/>
                </a:lnTo>
                <a:cubicBezTo>
                  <a:pt x="655" y="152706"/>
                  <a:pt x="0" y="151100"/>
                  <a:pt x="0" y="149429"/>
                </a:cubicBezTo>
                <a:cubicBezTo>
                  <a:pt x="0" y="147758"/>
                  <a:pt x="655" y="146152"/>
                  <a:pt x="1868" y="144939"/>
                </a:cubicBezTo>
                <a:lnTo>
                  <a:pt x="25888" y="120919"/>
                </a:lnTo>
                <a:lnTo>
                  <a:pt x="12780" y="107812"/>
                </a:lnTo>
                <a:cubicBezTo>
                  <a:pt x="10519" y="105551"/>
                  <a:pt x="9864" y="102175"/>
                  <a:pt x="11076" y="99226"/>
                </a:cubicBezTo>
                <a:cubicBezTo>
                  <a:pt x="12289" y="96277"/>
                  <a:pt x="15172" y="94376"/>
                  <a:pt x="18351" y="94376"/>
                </a:cubicBezTo>
                <a:lnTo>
                  <a:pt x="65539" y="94376"/>
                </a:lnTo>
                <a:close/>
                <a:moveTo>
                  <a:pt x="18351" y="73404"/>
                </a:moveTo>
                <a:cubicBezTo>
                  <a:pt x="15172" y="73404"/>
                  <a:pt x="12289" y="71503"/>
                  <a:pt x="11076" y="68554"/>
                </a:cubicBezTo>
                <a:cubicBezTo>
                  <a:pt x="9864" y="65605"/>
                  <a:pt x="10552" y="62229"/>
                  <a:pt x="12780" y="59968"/>
                </a:cubicBezTo>
                <a:lnTo>
                  <a:pt x="25888" y="46860"/>
                </a:lnTo>
                <a:lnTo>
                  <a:pt x="1868" y="22840"/>
                </a:lnTo>
                <a:cubicBezTo>
                  <a:pt x="655" y="21628"/>
                  <a:pt x="0" y="20022"/>
                  <a:pt x="0" y="18351"/>
                </a:cubicBezTo>
                <a:cubicBezTo>
                  <a:pt x="0" y="16680"/>
                  <a:pt x="655" y="15074"/>
                  <a:pt x="1868" y="13861"/>
                </a:cubicBezTo>
                <a:lnTo>
                  <a:pt x="13861" y="1868"/>
                </a:lnTo>
                <a:cubicBezTo>
                  <a:pt x="15074" y="655"/>
                  <a:pt x="16680" y="0"/>
                  <a:pt x="18351" y="0"/>
                </a:cubicBezTo>
                <a:cubicBezTo>
                  <a:pt x="20022" y="0"/>
                  <a:pt x="21628" y="655"/>
                  <a:pt x="22840" y="1868"/>
                </a:cubicBezTo>
                <a:lnTo>
                  <a:pt x="46860" y="25888"/>
                </a:lnTo>
                <a:lnTo>
                  <a:pt x="59968" y="12780"/>
                </a:lnTo>
                <a:cubicBezTo>
                  <a:pt x="62229" y="10519"/>
                  <a:pt x="65605" y="9864"/>
                  <a:pt x="68554" y="11076"/>
                </a:cubicBezTo>
                <a:cubicBezTo>
                  <a:pt x="71503" y="12289"/>
                  <a:pt x="73404" y="15172"/>
                  <a:pt x="73404" y="18351"/>
                </a:cubicBezTo>
                <a:lnTo>
                  <a:pt x="73404" y="65539"/>
                </a:lnTo>
                <a:cubicBezTo>
                  <a:pt x="73404" y="69897"/>
                  <a:pt x="69897" y="73404"/>
                  <a:pt x="65539" y="73404"/>
                </a:cubicBezTo>
                <a:lnTo>
                  <a:pt x="18351" y="73404"/>
                </a:lnTo>
                <a:close/>
              </a:path>
            </a:pathLst>
          </a:custGeom>
          <a:solidFill>
            <a:srgbClr val="C8A265"/>
          </a:solidFill>
          <a:ln/>
        </p:spPr>
      </p:sp>
      <p:sp>
        <p:nvSpPr>
          <p:cNvPr id="51" name="Text 48"/>
          <p:cNvSpPr/>
          <p:nvPr/>
        </p:nvSpPr>
        <p:spPr>
          <a:xfrm>
            <a:off x="9253232" y="4968147"/>
            <a:ext cx="1230385" cy="2609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21" b="1" dirty="0">
                <a:solidFill>
                  <a:srgbClr val="E0E2E6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Autoencoders</a:t>
            </a:r>
            <a:endParaRPr lang="en-US" sz="1600" dirty="0"/>
          </a:p>
        </p:txBody>
      </p:sp>
      <p:sp>
        <p:nvSpPr>
          <p:cNvPr id="52" name="Text 49"/>
          <p:cNvSpPr/>
          <p:nvPr/>
        </p:nvSpPr>
        <p:spPr>
          <a:xfrm>
            <a:off x="8968938" y="5303706"/>
            <a:ext cx="2768367" cy="6151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174" dirty="0">
                <a:solidFill>
                  <a:srgbClr val="788A9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Redes para reducción de dimensionalidad y generación de datos sintéticos.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A1D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56095" y="339138"/>
            <a:ext cx="3103110" cy="339138"/>
          </a:xfrm>
          <a:custGeom>
            <a:avLst/>
            <a:gdLst/>
            <a:ahLst/>
            <a:cxnLst/>
            <a:rect l="l" t="t" r="r" b="b"/>
            <a:pathLst>
              <a:path w="3103110" h="339138">
                <a:moveTo>
                  <a:pt x="0" y="0"/>
                </a:moveTo>
                <a:lnTo>
                  <a:pt x="3103110" y="0"/>
                </a:lnTo>
                <a:lnTo>
                  <a:pt x="3103110" y="339138"/>
                </a:lnTo>
                <a:lnTo>
                  <a:pt x="0" y="339138"/>
                </a:lnTo>
                <a:lnTo>
                  <a:pt x="0" y="0"/>
                </a:lnTo>
                <a:close/>
              </a:path>
            </a:pathLst>
          </a:custGeom>
          <a:solidFill>
            <a:srgbClr val="4A6D8C">
              <a:alpha val="2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356095" y="339138"/>
            <a:ext cx="33914" cy="339138"/>
          </a:xfrm>
          <a:custGeom>
            <a:avLst/>
            <a:gdLst/>
            <a:ahLst/>
            <a:cxnLst/>
            <a:rect l="l" t="t" r="r" b="b"/>
            <a:pathLst>
              <a:path w="33914" h="339138">
                <a:moveTo>
                  <a:pt x="0" y="0"/>
                </a:moveTo>
                <a:lnTo>
                  <a:pt x="33914" y="0"/>
                </a:lnTo>
                <a:lnTo>
                  <a:pt x="33914" y="339138"/>
                </a:lnTo>
                <a:lnTo>
                  <a:pt x="0" y="339138"/>
                </a:lnTo>
                <a:lnTo>
                  <a:pt x="0" y="0"/>
                </a:lnTo>
                <a:close/>
              </a:path>
            </a:pathLst>
          </a:custGeom>
          <a:solidFill>
            <a:srgbClr val="C8A265"/>
          </a:solidFill>
          <a:ln/>
        </p:spPr>
      </p:sp>
      <p:sp>
        <p:nvSpPr>
          <p:cNvPr id="4" name="Text 2"/>
          <p:cNvSpPr/>
          <p:nvPr/>
        </p:nvSpPr>
        <p:spPr>
          <a:xfrm>
            <a:off x="542620" y="415444"/>
            <a:ext cx="2812591" cy="1865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68" b="1" spc="53" kern="0" dirty="0">
                <a:solidFill>
                  <a:srgbClr val="C8A26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03 • PROCESAMIENTO DEL LENGUAJE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339138" y="813930"/>
            <a:ext cx="11717207" cy="4069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204" b="1" dirty="0">
                <a:solidFill>
                  <a:srgbClr val="E0E2E6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Natural Language Processing (NLP)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339138" y="1322637"/>
            <a:ext cx="11598509" cy="2797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35" dirty="0">
                <a:solidFill>
                  <a:srgbClr val="788A9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El NLP permite a las computadoras </a:t>
            </a:r>
            <a:pPr>
              <a:lnSpc>
                <a:spcPct val="140000"/>
              </a:lnSpc>
            </a:pPr>
            <a:r>
              <a:rPr lang="en-US" sz="1335" b="1" dirty="0">
                <a:solidFill>
                  <a:srgbClr val="C8A26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comprender, interpretar y generar lenguaje humano</a:t>
            </a:r>
            <a:pPr>
              <a:lnSpc>
                <a:spcPct val="140000"/>
              </a:lnSpc>
            </a:pPr>
            <a:r>
              <a:rPr lang="en-US" sz="1335" dirty="0">
                <a:solidFill>
                  <a:srgbClr val="788A9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, cerrando la brecha entre humanos y máquinas.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343377" y="1771994"/>
            <a:ext cx="4739449" cy="3959433"/>
          </a:xfrm>
          <a:custGeom>
            <a:avLst/>
            <a:gdLst/>
            <a:ahLst/>
            <a:cxnLst/>
            <a:rect l="l" t="t" r="r" b="b"/>
            <a:pathLst>
              <a:path w="4739449" h="3959433">
                <a:moveTo>
                  <a:pt x="101757" y="0"/>
                </a:moveTo>
                <a:lnTo>
                  <a:pt x="4637692" y="0"/>
                </a:lnTo>
                <a:cubicBezTo>
                  <a:pt x="4693891" y="0"/>
                  <a:pt x="4739449" y="45558"/>
                  <a:pt x="4739449" y="101757"/>
                </a:cubicBezTo>
                <a:lnTo>
                  <a:pt x="4739449" y="3857675"/>
                </a:lnTo>
                <a:cubicBezTo>
                  <a:pt x="4739449" y="3913874"/>
                  <a:pt x="4693891" y="3959433"/>
                  <a:pt x="4637692" y="3959433"/>
                </a:cubicBezTo>
                <a:lnTo>
                  <a:pt x="101757" y="3959433"/>
                </a:lnTo>
                <a:cubicBezTo>
                  <a:pt x="45558" y="3959433"/>
                  <a:pt x="0" y="3913874"/>
                  <a:pt x="0" y="3857675"/>
                </a:cubicBezTo>
                <a:lnTo>
                  <a:pt x="0" y="101757"/>
                </a:lnTo>
                <a:cubicBezTo>
                  <a:pt x="0" y="45596"/>
                  <a:pt x="45596" y="0"/>
                  <a:pt x="101757" y="0"/>
                </a:cubicBezTo>
                <a:close/>
              </a:path>
            </a:pathLst>
          </a:custGeom>
          <a:solidFill>
            <a:srgbClr val="4A6D8C">
              <a:alpha val="10196"/>
            </a:srgbClr>
          </a:solidFill>
          <a:ln w="12700">
            <a:solidFill>
              <a:srgbClr val="4A6D8C">
                <a:alpha val="30196"/>
              </a:srgbClr>
            </a:solidFill>
            <a:prstDash val="solid"/>
          </a:ln>
        </p:spPr>
      </p:sp>
      <p:pic>
        <p:nvPicPr>
          <p:cNvPr id="8" name="Image 0" descr="https://kimi-web-img.moonshot.cn/img/media.geeksforgeeks.org/4b5592918e32a39ab8a0fb43c4db803447a95005.webp">    </p:cNvPr>
          <p:cNvPicPr>
            <a:picLocks noChangeAspect="1"/>
          </p:cNvPicPr>
          <p:nvPr/>
        </p:nvPicPr>
        <p:blipFill>
          <a:blip r:embed="rId1"/>
          <a:srcRect l="0" r="0" t="28407" b="28407"/>
          <a:stretch/>
        </p:blipFill>
        <p:spPr>
          <a:xfrm>
            <a:off x="517185" y="1945803"/>
            <a:ext cx="4391833" cy="1356551"/>
          </a:xfrm>
          <a:prstGeom prst="roundRect">
            <a:avLst>
              <a:gd name="adj" fmla="val 5000"/>
            </a:avLst>
          </a:prstGeom>
        </p:spPr>
      </p:pic>
      <p:sp>
        <p:nvSpPr>
          <p:cNvPr id="9" name="Shape 6"/>
          <p:cNvSpPr/>
          <p:nvPr/>
        </p:nvSpPr>
        <p:spPr>
          <a:xfrm>
            <a:off x="517185" y="3438008"/>
            <a:ext cx="271310" cy="271310"/>
          </a:xfrm>
          <a:custGeom>
            <a:avLst/>
            <a:gdLst/>
            <a:ahLst/>
            <a:cxnLst/>
            <a:rect l="l" t="t" r="r" b="b"/>
            <a:pathLst>
              <a:path w="271310" h="271310">
                <a:moveTo>
                  <a:pt x="135655" y="0"/>
                </a:moveTo>
                <a:lnTo>
                  <a:pt x="135655" y="0"/>
                </a:lnTo>
                <a:cubicBezTo>
                  <a:pt x="210575" y="0"/>
                  <a:pt x="271310" y="60735"/>
                  <a:pt x="271310" y="135655"/>
                </a:cubicBezTo>
                <a:lnTo>
                  <a:pt x="271310" y="135655"/>
                </a:lnTo>
                <a:cubicBezTo>
                  <a:pt x="271310" y="210575"/>
                  <a:pt x="210575" y="271310"/>
                  <a:pt x="135655" y="271310"/>
                </a:cubicBezTo>
                <a:lnTo>
                  <a:pt x="135655" y="271310"/>
                </a:lnTo>
                <a:cubicBezTo>
                  <a:pt x="60735" y="271310"/>
                  <a:pt x="0" y="210575"/>
                  <a:pt x="0" y="135655"/>
                </a:cubicBezTo>
                <a:lnTo>
                  <a:pt x="0" y="135655"/>
                </a:lnTo>
                <a:cubicBezTo>
                  <a:pt x="0" y="60735"/>
                  <a:pt x="60735" y="0"/>
                  <a:pt x="135655" y="0"/>
                </a:cubicBezTo>
                <a:close/>
              </a:path>
            </a:pathLst>
          </a:custGeom>
          <a:solidFill>
            <a:srgbClr val="C8A265"/>
          </a:solidFill>
          <a:ln/>
        </p:spPr>
      </p:sp>
      <p:sp>
        <p:nvSpPr>
          <p:cNvPr id="10" name="Shape 7"/>
          <p:cNvSpPr/>
          <p:nvPr/>
        </p:nvSpPr>
        <p:spPr>
          <a:xfrm>
            <a:off x="588192" y="3514314"/>
            <a:ext cx="133535" cy="118698"/>
          </a:xfrm>
          <a:custGeom>
            <a:avLst/>
            <a:gdLst/>
            <a:ahLst/>
            <a:cxnLst/>
            <a:rect l="l" t="t" r="r" b="b"/>
            <a:pathLst>
              <a:path w="133535" h="118698">
                <a:moveTo>
                  <a:pt x="89024" y="33384"/>
                </a:moveTo>
                <a:cubicBezTo>
                  <a:pt x="89024" y="55918"/>
                  <a:pt x="69086" y="74186"/>
                  <a:pt x="44512" y="74186"/>
                </a:cubicBezTo>
                <a:cubicBezTo>
                  <a:pt x="38322" y="74186"/>
                  <a:pt x="32433" y="73027"/>
                  <a:pt x="27078" y="70941"/>
                </a:cubicBezTo>
                <a:lnTo>
                  <a:pt x="8161" y="80956"/>
                </a:lnTo>
                <a:cubicBezTo>
                  <a:pt x="6004" y="82092"/>
                  <a:pt x="3362" y="81698"/>
                  <a:pt x="1623" y="79982"/>
                </a:cubicBezTo>
                <a:cubicBezTo>
                  <a:pt x="-116" y="78267"/>
                  <a:pt x="-510" y="75601"/>
                  <a:pt x="649" y="73445"/>
                </a:cubicBezTo>
                <a:lnTo>
                  <a:pt x="8902" y="57865"/>
                </a:lnTo>
                <a:cubicBezTo>
                  <a:pt x="3315" y="51049"/>
                  <a:pt x="0" y="42564"/>
                  <a:pt x="0" y="33384"/>
                </a:cubicBezTo>
                <a:cubicBezTo>
                  <a:pt x="0" y="10850"/>
                  <a:pt x="19938" y="-7419"/>
                  <a:pt x="44512" y="-7419"/>
                </a:cubicBezTo>
                <a:cubicBezTo>
                  <a:pt x="69086" y="-7419"/>
                  <a:pt x="89024" y="10850"/>
                  <a:pt x="89024" y="33384"/>
                </a:cubicBezTo>
                <a:close/>
                <a:moveTo>
                  <a:pt x="89024" y="118698"/>
                </a:moveTo>
                <a:cubicBezTo>
                  <a:pt x="67208" y="118698"/>
                  <a:pt x="49056" y="104301"/>
                  <a:pt x="45254" y="85314"/>
                </a:cubicBezTo>
                <a:cubicBezTo>
                  <a:pt x="73074" y="84967"/>
                  <a:pt x="97254" y="65168"/>
                  <a:pt x="99920" y="38322"/>
                </a:cubicBezTo>
                <a:cubicBezTo>
                  <a:pt x="119231" y="42773"/>
                  <a:pt x="133535" y="58793"/>
                  <a:pt x="133535" y="77896"/>
                </a:cubicBezTo>
                <a:cubicBezTo>
                  <a:pt x="133535" y="87076"/>
                  <a:pt x="130220" y="95561"/>
                  <a:pt x="124633" y="102377"/>
                </a:cubicBezTo>
                <a:lnTo>
                  <a:pt x="132886" y="117956"/>
                </a:lnTo>
                <a:cubicBezTo>
                  <a:pt x="134022" y="120112"/>
                  <a:pt x="133628" y="122755"/>
                  <a:pt x="131913" y="124494"/>
                </a:cubicBezTo>
                <a:cubicBezTo>
                  <a:pt x="130197" y="126233"/>
                  <a:pt x="127531" y="126627"/>
                  <a:pt x="125375" y="125468"/>
                </a:cubicBezTo>
                <a:lnTo>
                  <a:pt x="106457" y="115453"/>
                </a:lnTo>
                <a:cubicBezTo>
                  <a:pt x="101102" y="117539"/>
                  <a:pt x="95214" y="118698"/>
                  <a:pt x="89024" y="118698"/>
                </a:cubicBezTo>
                <a:close/>
              </a:path>
            </a:pathLst>
          </a:custGeom>
          <a:solidFill>
            <a:srgbClr val="1A1D23"/>
          </a:solidFill>
          <a:ln/>
        </p:spPr>
      </p:sp>
      <p:sp>
        <p:nvSpPr>
          <p:cNvPr id="11" name="Text 8"/>
          <p:cNvSpPr/>
          <p:nvPr/>
        </p:nvSpPr>
        <p:spPr>
          <a:xfrm>
            <a:off x="890236" y="3438008"/>
            <a:ext cx="2458748" cy="2034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68" b="1" dirty="0">
                <a:solidFill>
                  <a:srgbClr val="E0E2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Comunicación Natural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890236" y="3641491"/>
            <a:ext cx="2450270" cy="1695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35" dirty="0">
                <a:solidFill>
                  <a:srgbClr val="788A9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Interacción fluida entre humanos y sistemas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517185" y="3912801"/>
            <a:ext cx="271310" cy="271310"/>
          </a:xfrm>
          <a:custGeom>
            <a:avLst/>
            <a:gdLst/>
            <a:ahLst/>
            <a:cxnLst/>
            <a:rect l="l" t="t" r="r" b="b"/>
            <a:pathLst>
              <a:path w="271310" h="271310">
                <a:moveTo>
                  <a:pt x="135655" y="0"/>
                </a:moveTo>
                <a:lnTo>
                  <a:pt x="135655" y="0"/>
                </a:lnTo>
                <a:cubicBezTo>
                  <a:pt x="210575" y="0"/>
                  <a:pt x="271310" y="60735"/>
                  <a:pt x="271310" y="135655"/>
                </a:cubicBezTo>
                <a:lnTo>
                  <a:pt x="271310" y="135655"/>
                </a:lnTo>
                <a:cubicBezTo>
                  <a:pt x="271310" y="210575"/>
                  <a:pt x="210575" y="271310"/>
                  <a:pt x="135655" y="271310"/>
                </a:cubicBezTo>
                <a:lnTo>
                  <a:pt x="135655" y="271310"/>
                </a:lnTo>
                <a:cubicBezTo>
                  <a:pt x="60735" y="271310"/>
                  <a:pt x="0" y="210575"/>
                  <a:pt x="0" y="135655"/>
                </a:cubicBezTo>
                <a:lnTo>
                  <a:pt x="0" y="135655"/>
                </a:lnTo>
                <a:cubicBezTo>
                  <a:pt x="0" y="60735"/>
                  <a:pt x="60735" y="0"/>
                  <a:pt x="135655" y="0"/>
                </a:cubicBezTo>
                <a:close/>
              </a:path>
            </a:pathLst>
          </a:custGeom>
          <a:solidFill>
            <a:srgbClr val="C8A265"/>
          </a:solidFill>
          <a:ln/>
        </p:spPr>
      </p:sp>
      <p:sp>
        <p:nvSpPr>
          <p:cNvPr id="14" name="Shape 11"/>
          <p:cNvSpPr/>
          <p:nvPr/>
        </p:nvSpPr>
        <p:spPr>
          <a:xfrm>
            <a:off x="588192" y="3989107"/>
            <a:ext cx="133535" cy="118698"/>
          </a:xfrm>
          <a:custGeom>
            <a:avLst/>
            <a:gdLst/>
            <a:ahLst/>
            <a:cxnLst/>
            <a:rect l="l" t="t" r="r" b="b"/>
            <a:pathLst>
              <a:path w="133535" h="118698">
                <a:moveTo>
                  <a:pt x="37093" y="0"/>
                </a:moveTo>
                <a:cubicBezTo>
                  <a:pt x="41197" y="0"/>
                  <a:pt x="44512" y="3315"/>
                  <a:pt x="44512" y="7419"/>
                </a:cubicBezTo>
                <a:lnTo>
                  <a:pt x="44512" y="14837"/>
                </a:lnTo>
                <a:lnTo>
                  <a:pt x="74186" y="14837"/>
                </a:lnTo>
                <a:cubicBezTo>
                  <a:pt x="78290" y="14837"/>
                  <a:pt x="81605" y="18152"/>
                  <a:pt x="81605" y="22256"/>
                </a:cubicBezTo>
                <a:cubicBezTo>
                  <a:pt x="81605" y="26359"/>
                  <a:pt x="78290" y="29675"/>
                  <a:pt x="74186" y="29675"/>
                </a:cubicBezTo>
                <a:lnTo>
                  <a:pt x="71961" y="29675"/>
                </a:lnTo>
                <a:lnTo>
                  <a:pt x="70013" y="35030"/>
                </a:lnTo>
                <a:cubicBezTo>
                  <a:pt x="66211" y="45509"/>
                  <a:pt x="60485" y="55083"/>
                  <a:pt x="53275" y="63313"/>
                </a:cubicBezTo>
                <a:cubicBezTo>
                  <a:pt x="56567" y="65354"/>
                  <a:pt x="59998" y="67162"/>
                  <a:pt x="63568" y="68761"/>
                </a:cubicBezTo>
                <a:lnTo>
                  <a:pt x="75253" y="73955"/>
                </a:lnTo>
                <a:lnTo>
                  <a:pt x="89673" y="41498"/>
                </a:lnTo>
                <a:cubicBezTo>
                  <a:pt x="90855" y="38809"/>
                  <a:pt x="93521" y="37093"/>
                  <a:pt x="96442" y="37093"/>
                </a:cubicBezTo>
                <a:cubicBezTo>
                  <a:pt x="99363" y="37093"/>
                  <a:pt x="102029" y="38809"/>
                  <a:pt x="103212" y="41498"/>
                </a:cubicBezTo>
                <a:lnTo>
                  <a:pt x="132886" y="108266"/>
                </a:lnTo>
                <a:cubicBezTo>
                  <a:pt x="134556" y="112021"/>
                  <a:pt x="132863" y="116403"/>
                  <a:pt x="129131" y="118049"/>
                </a:cubicBezTo>
                <a:cubicBezTo>
                  <a:pt x="125398" y="119695"/>
                  <a:pt x="120993" y="118026"/>
                  <a:pt x="119347" y="114293"/>
                </a:cubicBezTo>
                <a:lnTo>
                  <a:pt x="114711" y="103861"/>
                </a:lnTo>
                <a:lnTo>
                  <a:pt x="78197" y="103861"/>
                </a:lnTo>
                <a:lnTo>
                  <a:pt x="73560" y="114293"/>
                </a:lnTo>
                <a:cubicBezTo>
                  <a:pt x="71891" y="118049"/>
                  <a:pt x="67510" y="119718"/>
                  <a:pt x="63777" y="118049"/>
                </a:cubicBezTo>
                <a:cubicBezTo>
                  <a:pt x="60045" y="116380"/>
                  <a:pt x="58352" y="111998"/>
                  <a:pt x="60021" y="108266"/>
                </a:cubicBezTo>
                <a:lnTo>
                  <a:pt x="69248" y="87517"/>
                </a:lnTo>
                <a:lnTo>
                  <a:pt x="57564" y="82324"/>
                </a:lnTo>
                <a:cubicBezTo>
                  <a:pt x="52232" y="79959"/>
                  <a:pt x="47132" y="77131"/>
                  <a:pt x="42309" y="73885"/>
                </a:cubicBezTo>
                <a:cubicBezTo>
                  <a:pt x="37371" y="77873"/>
                  <a:pt x="31970" y="81350"/>
                  <a:pt x="26197" y="84248"/>
                </a:cubicBezTo>
                <a:lnTo>
                  <a:pt x="18152" y="88235"/>
                </a:lnTo>
                <a:cubicBezTo>
                  <a:pt x="14490" y="90067"/>
                  <a:pt x="10038" y="88583"/>
                  <a:pt x="8207" y="84920"/>
                </a:cubicBezTo>
                <a:cubicBezTo>
                  <a:pt x="6375" y="81257"/>
                  <a:pt x="7859" y="76806"/>
                  <a:pt x="11522" y="74975"/>
                </a:cubicBezTo>
                <a:lnTo>
                  <a:pt x="19520" y="70964"/>
                </a:lnTo>
                <a:cubicBezTo>
                  <a:pt x="23299" y="69063"/>
                  <a:pt x="26893" y="66860"/>
                  <a:pt x="30277" y="64403"/>
                </a:cubicBezTo>
                <a:cubicBezTo>
                  <a:pt x="27078" y="61459"/>
                  <a:pt x="24064" y="58283"/>
                  <a:pt x="21259" y="54921"/>
                </a:cubicBezTo>
                <a:lnTo>
                  <a:pt x="18918" y="52093"/>
                </a:lnTo>
                <a:cubicBezTo>
                  <a:pt x="16298" y="48940"/>
                  <a:pt x="16715" y="44257"/>
                  <a:pt x="19868" y="41637"/>
                </a:cubicBezTo>
                <a:cubicBezTo>
                  <a:pt x="23021" y="39017"/>
                  <a:pt x="27704" y="39435"/>
                  <a:pt x="30324" y="42588"/>
                </a:cubicBezTo>
                <a:lnTo>
                  <a:pt x="32688" y="45416"/>
                </a:lnTo>
                <a:cubicBezTo>
                  <a:pt x="35354" y="48638"/>
                  <a:pt x="38276" y="51629"/>
                  <a:pt x="41359" y="54388"/>
                </a:cubicBezTo>
                <a:cubicBezTo>
                  <a:pt x="47734" y="47340"/>
                  <a:pt x="52765" y="39064"/>
                  <a:pt x="56080" y="29953"/>
                </a:cubicBezTo>
                <a:lnTo>
                  <a:pt x="56196" y="29675"/>
                </a:lnTo>
                <a:lnTo>
                  <a:pt x="7442" y="29675"/>
                </a:lnTo>
                <a:cubicBezTo>
                  <a:pt x="3315" y="29675"/>
                  <a:pt x="0" y="26359"/>
                  <a:pt x="0" y="22256"/>
                </a:cubicBezTo>
                <a:cubicBezTo>
                  <a:pt x="0" y="18152"/>
                  <a:pt x="3315" y="14837"/>
                  <a:pt x="7419" y="14837"/>
                </a:cubicBezTo>
                <a:lnTo>
                  <a:pt x="29675" y="14837"/>
                </a:lnTo>
                <a:lnTo>
                  <a:pt x="29675" y="7419"/>
                </a:lnTo>
                <a:cubicBezTo>
                  <a:pt x="29675" y="3315"/>
                  <a:pt x="32990" y="0"/>
                  <a:pt x="37093" y="0"/>
                </a:cubicBezTo>
                <a:close/>
                <a:moveTo>
                  <a:pt x="96442" y="62780"/>
                </a:moveTo>
                <a:lnTo>
                  <a:pt x="84781" y="89024"/>
                </a:lnTo>
                <a:lnTo>
                  <a:pt x="108103" y="89024"/>
                </a:lnTo>
                <a:lnTo>
                  <a:pt x="96442" y="62780"/>
                </a:lnTo>
                <a:close/>
              </a:path>
            </a:pathLst>
          </a:custGeom>
          <a:solidFill>
            <a:srgbClr val="1A1D23"/>
          </a:solidFill>
          <a:ln/>
        </p:spPr>
      </p:sp>
      <p:sp>
        <p:nvSpPr>
          <p:cNvPr id="15" name="Text 12"/>
          <p:cNvSpPr/>
          <p:nvPr/>
        </p:nvSpPr>
        <p:spPr>
          <a:xfrm>
            <a:off x="890236" y="3912801"/>
            <a:ext cx="2373964" cy="2034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68" b="1" dirty="0">
                <a:solidFill>
                  <a:srgbClr val="E0E2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Multilingüe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890236" y="4116284"/>
            <a:ext cx="2365485" cy="1695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35" dirty="0">
                <a:solidFill>
                  <a:srgbClr val="788A9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Soporte para múltiples idiomas y dialectos</a:t>
            </a:r>
            <a:endParaRPr lang="en-US" sz="1600" dirty="0"/>
          </a:p>
        </p:txBody>
      </p:sp>
      <p:sp>
        <p:nvSpPr>
          <p:cNvPr id="17" name="Shape 14"/>
          <p:cNvSpPr/>
          <p:nvPr/>
        </p:nvSpPr>
        <p:spPr>
          <a:xfrm>
            <a:off x="517185" y="4387594"/>
            <a:ext cx="271310" cy="271310"/>
          </a:xfrm>
          <a:custGeom>
            <a:avLst/>
            <a:gdLst/>
            <a:ahLst/>
            <a:cxnLst/>
            <a:rect l="l" t="t" r="r" b="b"/>
            <a:pathLst>
              <a:path w="271310" h="271310">
                <a:moveTo>
                  <a:pt x="135655" y="0"/>
                </a:moveTo>
                <a:lnTo>
                  <a:pt x="135655" y="0"/>
                </a:lnTo>
                <a:cubicBezTo>
                  <a:pt x="210575" y="0"/>
                  <a:pt x="271310" y="60735"/>
                  <a:pt x="271310" y="135655"/>
                </a:cubicBezTo>
                <a:lnTo>
                  <a:pt x="271310" y="135655"/>
                </a:lnTo>
                <a:cubicBezTo>
                  <a:pt x="271310" y="210575"/>
                  <a:pt x="210575" y="271310"/>
                  <a:pt x="135655" y="271310"/>
                </a:cubicBezTo>
                <a:lnTo>
                  <a:pt x="135655" y="271310"/>
                </a:lnTo>
                <a:cubicBezTo>
                  <a:pt x="60735" y="271310"/>
                  <a:pt x="0" y="210575"/>
                  <a:pt x="0" y="135655"/>
                </a:cubicBezTo>
                <a:lnTo>
                  <a:pt x="0" y="135655"/>
                </a:lnTo>
                <a:cubicBezTo>
                  <a:pt x="0" y="60735"/>
                  <a:pt x="60735" y="0"/>
                  <a:pt x="135655" y="0"/>
                </a:cubicBezTo>
                <a:close/>
              </a:path>
            </a:pathLst>
          </a:custGeom>
          <a:solidFill>
            <a:srgbClr val="C8A265"/>
          </a:solidFill>
          <a:ln/>
        </p:spPr>
      </p:sp>
      <p:sp>
        <p:nvSpPr>
          <p:cNvPr id="18" name="Shape 15"/>
          <p:cNvSpPr/>
          <p:nvPr/>
        </p:nvSpPr>
        <p:spPr>
          <a:xfrm>
            <a:off x="595611" y="4463900"/>
            <a:ext cx="118698" cy="118698"/>
          </a:xfrm>
          <a:custGeom>
            <a:avLst/>
            <a:gdLst/>
            <a:ahLst/>
            <a:cxnLst/>
            <a:rect l="l" t="t" r="r" b="b"/>
            <a:pathLst>
              <a:path w="118698" h="118698">
                <a:moveTo>
                  <a:pt x="27820" y="12983"/>
                </a:moveTo>
                <a:cubicBezTo>
                  <a:pt x="27820" y="5819"/>
                  <a:pt x="33639" y="0"/>
                  <a:pt x="40803" y="0"/>
                </a:cubicBezTo>
                <a:lnTo>
                  <a:pt x="46366" y="0"/>
                </a:lnTo>
                <a:cubicBezTo>
                  <a:pt x="50470" y="0"/>
                  <a:pt x="53785" y="3315"/>
                  <a:pt x="53785" y="7419"/>
                </a:cubicBezTo>
                <a:lnTo>
                  <a:pt x="53785" y="111280"/>
                </a:lnTo>
                <a:cubicBezTo>
                  <a:pt x="53785" y="115383"/>
                  <a:pt x="50470" y="118698"/>
                  <a:pt x="46366" y="118698"/>
                </a:cubicBezTo>
                <a:lnTo>
                  <a:pt x="38948" y="118698"/>
                </a:lnTo>
                <a:cubicBezTo>
                  <a:pt x="32039" y="118698"/>
                  <a:pt x="26220" y="113969"/>
                  <a:pt x="24574" y="107570"/>
                </a:cubicBezTo>
                <a:cubicBezTo>
                  <a:pt x="24412" y="107570"/>
                  <a:pt x="24273" y="107570"/>
                  <a:pt x="24111" y="107570"/>
                </a:cubicBezTo>
                <a:cubicBezTo>
                  <a:pt x="13864" y="107570"/>
                  <a:pt x="5564" y="99271"/>
                  <a:pt x="5564" y="89024"/>
                </a:cubicBezTo>
                <a:cubicBezTo>
                  <a:pt x="5564" y="84851"/>
                  <a:pt x="6955" y="81002"/>
                  <a:pt x="9273" y="77896"/>
                </a:cubicBezTo>
                <a:cubicBezTo>
                  <a:pt x="4776" y="74511"/>
                  <a:pt x="1855" y="69132"/>
                  <a:pt x="1855" y="63058"/>
                </a:cubicBezTo>
                <a:cubicBezTo>
                  <a:pt x="1855" y="55895"/>
                  <a:pt x="5935" y="49659"/>
                  <a:pt x="11870" y="46575"/>
                </a:cubicBezTo>
                <a:cubicBezTo>
                  <a:pt x="10224" y="43793"/>
                  <a:pt x="9273" y="40547"/>
                  <a:pt x="9273" y="37093"/>
                </a:cubicBezTo>
                <a:cubicBezTo>
                  <a:pt x="9273" y="26846"/>
                  <a:pt x="17573" y="18547"/>
                  <a:pt x="27820" y="18547"/>
                </a:cubicBezTo>
                <a:lnTo>
                  <a:pt x="27820" y="12983"/>
                </a:lnTo>
                <a:close/>
                <a:moveTo>
                  <a:pt x="90878" y="12983"/>
                </a:moveTo>
                <a:lnTo>
                  <a:pt x="90878" y="18547"/>
                </a:lnTo>
                <a:cubicBezTo>
                  <a:pt x="101125" y="18547"/>
                  <a:pt x="109425" y="26846"/>
                  <a:pt x="109425" y="37093"/>
                </a:cubicBezTo>
                <a:cubicBezTo>
                  <a:pt x="109425" y="40571"/>
                  <a:pt x="108474" y="43816"/>
                  <a:pt x="106828" y="46575"/>
                </a:cubicBezTo>
                <a:cubicBezTo>
                  <a:pt x="112786" y="49659"/>
                  <a:pt x="116844" y="55872"/>
                  <a:pt x="116844" y="63058"/>
                </a:cubicBezTo>
                <a:cubicBezTo>
                  <a:pt x="116844" y="69132"/>
                  <a:pt x="113922" y="74511"/>
                  <a:pt x="109425" y="77896"/>
                </a:cubicBezTo>
                <a:cubicBezTo>
                  <a:pt x="111743" y="81002"/>
                  <a:pt x="113134" y="84851"/>
                  <a:pt x="113134" y="89024"/>
                </a:cubicBezTo>
                <a:cubicBezTo>
                  <a:pt x="113134" y="99271"/>
                  <a:pt x="104835" y="107570"/>
                  <a:pt x="94588" y="107570"/>
                </a:cubicBezTo>
                <a:cubicBezTo>
                  <a:pt x="94425" y="107570"/>
                  <a:pt x="94286" y="107570"/>
                  <a:pt x="94124" y="107570"/>
                </a:cubicBezTo>
                <a:cubicBezTo>
                  <a:pt x="92478" y="113969"/>
                  <a:pt x="86659" y="118698"/>
                  <a:pt x="79750" y="118698"/>
                </a:cubicBezTo>
                <a:lnTo>
                  <a:pt x="72332" y="118698"/>
                </a:lnTo>
                <a:cubicBezTo>
                  <a:pt x="68228" y="118698"/>
                  <a:pt x="64913" y="115383"/>
                  <a:pt x="64913" y="111280"/>
                </a:cubicBezTo>
                <a:lnTo>
                  <a:pt x="64913" y="7419"/>
                </a:lnTo>
                <a:cubicBezTo>
                  <a:pt x="64913" y="3315"/>
                  <a:pt x="68228" y="0"/>
                  <a:pt x="72332" y="0"/>
                </a:cubicBezTo>
                <a:lnTo>
                  <a:pt x="77896" y="0"/>
                </a:lnTo>
                <a:cubicBezTo>
                  <a:pt x="85059" y="0"/>
                  <a:pt x="90878" y="5819"/>
                  <a:pt x="90878" y="12983"/>
                </a:cubicBezTo>
                <a:close/>
              </a:path>
            </a:pathLst>
          </a:custGeom>
          <a:solidFill>
            <a:srgbClr val="1A1D23"/>
          </a:solidFill>
          <a:ln/>
        </p:spPr>
      </p:sp>
      <p:sp>
        <p:nvSpPr>
          <p:cNvPr id="19" name="Text 16"/>
          <p:cNvSpPr/>
          <p:nvPr/>
        </p:nvSpPr>
        <p:spPr>
          <a:xfrm>
            <a:off x="890236" y="4387594"/>
            <a:ext cx="2323093" cy="2034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68" b="1" dirty="0">
                <a:solidFill>
                  <a:srgbClr val="E0E2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Comprensión Contextual</a:t>
            </a:r>
            <a:endParaRPr lang="en-US" sz="1600" dirty="0"/>
          </a:p>
        </p:txBody>
      </p:sp>
      <p:sp>
        <p:nvSpPr>
          <p:cNvPr id="20" name="Text 17"/>
          <p:cNvSpPr/>
          <p:nvPr/>
        </p:nvSpPr>
        <p:spPr>
          <a:xfrm>
            <a:off x="890236" y="4591076"/>
            <a:ext cx="2314615" cy="1695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35" dirty="0">
                <a:solidFill>
                  <a:srgbClr val="788A9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Análisis semántico y pragmático del texto</a:t>
            </a:r>
            <a:endParaRPr lang="en-US" sz="1600" dirty="0"/>
          </a:p>
        </p:txBody>
      </p:sp>
      <p:sp>
        <p:nvSpPr>
          <p:cNvPr id="21" name="Shape 18"/>
          <p:cNvSpPr/>
          <p:nvPr/>
        </p:nvSpPr>
        <p:spPr>
          <a:xfrm>
            <a:off x="5264980" y="1771994"/>
            <a:ext cx="3221808" cy="1907650"/>
          </a:xfrm>
          <a:custGeom>
            <a:avLst/>
            <a:gdLst/>
            <a:ahLst/>
            <a:cxnLst/>
            <a:rect l="l" t="t" r="r" b="b"/>
            <a:pathLst>
              <a:path w="3221808" h="1907650">
                <a:moveTo>
                  <a:pt x="101735" y="0"/>
                </a:moveTo>
                <a:lnTo>
                  <a:pt x="3120073" y="0"/>
                </a:lnTo>
                <a:cubicBezTo>
                  <a:pt x="3176260" y="0"/>
                  <a:pt x="3221808" y="45548"/>
                  <a:pt x="3221808" y="101735"/>
                </a:cubicBezTo>
                <a:lnTo>
                  <a:pt x="3221808" y="1805915"/>
                </a:lnTo>
                <a:cubicBezTo>
                  <a:pt x="3221808" y="1862101"/>
                  <a:pt x="3176260" y="1907650"/>
                  <a:pt x="3120073" y="1907650"/>
                </a:cubicBezTo>
                <a:lnTo>
                  <a:pt x="101735" y="1907650"/>
                </a:lnTo>
                <a:cubicBezTo>
                  <a:pt x="45548" y="1907650"/>
                  <a:pt x="0" y="1862101"/>
                  <a:pt x="0" y="1805915"/>
                </a:cubicBezTo>
                <a:lnTo>
                  <a:pt x="0" y="101735"/>
                </a:lnTo>
                <a:cubicBezTo>
                  <a:pt x="0" y="45586"/>
                  <a:pt x="45586" y="0"/>
                  <a:pt x="101735" y="0"/>
                </a:cubicBezTo>
                <a:close/>
              </a:path>
            </a:pathLst>
          </a:custGeom>
          <a:solidFill>
            <a:srgbClr val="4A6D8C">
              <a:alpha val="10196"/>
            </a:srgbClr>
          </a:solidFill>
          <a:ln w="12700">
            <a:solidFill>
              <a:srgbClr val="4A6D8C">
                <a:alpha val="30196"/>
              </a:srgbClr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5404874" y="1911889"/>
            <a:ext cx="339138" cy="339138"/>
          </a:xfrm>
          <a:custGeom>
            <a:avLst/>
            <a:gdLst/>
            <a:ahLst/>
            <a:cxnLst/>
            <a:rect l="l" t="t" r="r" b="b"/>
            <a:pathLst>
              <a:path w="339138" h="339138">
                <a:moveTo>
                  <a:pt x="67828" y="0"/>
                </a:moveTo>
                <a:lnTo>
                  <a:pt x="271310" y="0"/>
                </a:lnTo>
                <a:cubicBezTo>
                  <a:pt x="308770" y="0"/>
                  <a:pt x="339138" y="30367"/>
                  <a:pt x="339138" y="67828"/>
                </a:cubicBezTo>
                <a:lnTo>
                  <a:pt x="339138" y="271310"/>
                </a:lnTo>
                <a:cubicBezTo>
                  <a:pt x="339138" y="308770"/>
                  <a:pt x="308770" y="339138"/>
                  <a:pt x="271310" y="339138"/>
                </a:cubicBezTo>
                <a:lnTo>
                  <a:pt x="67828" y="339138"/>
                </a:lnTo>
                <a:cubicBezTo>
                  <a:pt x="30367" y="339138"/>
                  <a:pt x="0" y="308770"/>
                  <a:pt x="0" y="271310"/>
                </a:cubicBezTo>
                <a:lnTo>
                  <a:pt x="0" y="67828"/>
                </a:lnTo>
                <a:cubicBezTo>
                  <a:pt x="0" y="30393"/>
                  <a:pt x="30393" y="0"/>
                  <a:pt x="67828" y="0"/>
                </a:cubicBezTo>
                <a:close/>
              </a:path>
            </a:pathLst>
          </a:custGeom>
          <a:solidFill>
            <a:srgbClr val="C8A265"/>
          </a:solidFill>
          <a:ln/>
        </p:spPr>
      </p:sp>
      <p:sp>
        <p:nvSpPr>
          <p:cNvPr id="23" name="Shape 20"/>
          <p:cNvSpPr/>
          <p:nvPr/>
        </p:nvSpPr>
        <p:spPr>
          <a:xfrm>
            <a:off x="5506616" y="2013630"/>
            <a:ext cx="135655" cy="135655"/>
          </a:xfrm>
          <a:custGeom>
            <a:avLst/>
            <a:gdLst/>
            <a:ahLst/>
            <a:cxnLst/>
            <a:rect l="l" t="t" r="r" b="b"/>
            <a:pathLst>
              <a:path w="135655" h="135655">
                <a:moveTo>
                  <a:pt x="67828" y="135655"/>
                </a:moveTo>
                <a:cubicBezTo>
                  <a:pt x="105263" y="135655"/>
                  <a:pt x="135655" y="105263"/>
                  <a:pt x="135655" y="67828"/>
                </a:cubicBezTo>
                <a:cubicBezTo>
                  <a:pt x="135655" y="30393"/>
                  <a:pt x="105263" y="0"/>
                  <a:pt x="67828" y="0"/>
                </a:cubicBezTo>
                <a:cubicBezTo>
                  <a:pt x="30393" y="0"/>
                  <a:pt x="0" y="30393"/>
                  <a:pt x="0" y="67828"/>
                </a:cubicBezTo>
                <a:cubicBezTo>
                  <a:pt x="0" y="105263"/>
                  <a:pt x="30393" y="135655"/>
                  <a:pt x="67828" y="135655"/>
                </a:cubicBezTo>
                <a:close/>
                <a:moveTo>
                  <a:pt x="43823" y="85288"/>
                </a:moveTo>
                <a:cubicBezTo>
                  <a:pt x="49228" y="92706"/>
                  <a:pt x="57971" y="97502"/>
                  <a:pt x="67828" y="97502"/>
                </a:cubicBezTo>
                <a:cubicBezTo>
                  <a:pt x="77684" y="97502"/>
                  <a:pt x="86427" y="92706"/>
                  <a:pt x="91832" y="85288"/>
                </a:cubicBezTo>
                <a:cubicBezTo>
                  <a:pt x="93899" y="82453"/>
                  <a:pt x="97873" y="81817"/>
                  <a:pt x="100708" y="83884"/>
                </a:cubicBezTo>
                <a:cubicBezTo>
                  <a:pt x="103543" y="85950"/>
                  <a:pt x="104179" y="89924"/>
                  <a:pt x="102112" y="92759"/>
                </a:cubicBezTo>
                <a:cubicBezTo>
                  <a:pt x="94402" y="103331"/>
                  <a:pt x="81923" y="110220"/>
                  <a:pt x="67828" y="110220"/>
                </a:cubicBezTo>
                <a:cubicBezTo>
                  <a:pt x="53732" y="110220"/>
                  <a:pt x="41253" y="103331"/>
                  <a:pt x="33543" y="92759"/>
                </a:cubicBezTo>
                <a:cubicBezTo>
                  <a:pt x="31476" y="89924"/>
                  <a:pt x="32112" y="85950"/>
                  <a:pt x="34947" y="83884"/>
                </a:cubicBezTo>
                <a:cubicBezTo>
                  <a:pt x="37782" y="81817"/>
                  <a:pt x="41756" y="82453"/>
                  <a:pt x="43823" y="85288"/>
                </a:cubicBezTo>
                <a:close/>
                <a:moveTo>
                  <a:pt x="38153" y="55110"/>
                </a:moveTo>
                <a:cubicBezTo>
                  <a:pt x="38153" y="50430"/>
                  <a:pt x="41952" y="46631"/>
                  <a:pt x="46631" y="46631"/>
                </a:cubicBezTo>
                <a:cubicBezTo>
                  <a:pt x="51311" y="46631"/>
                  <a:pt x="55110" y="50430"/>
                  <a:pt x="55110" y="55110"/>
                </a:cubicBezTo>
                <a:cubicBezTo>
                  <a:pt x="55110" y="59789"/>
                  <a:pt x="51311" y="63588"/>
                  <a:pt x="46631" y="63588"/>
                </a:cubicBezTo>
                <a:cubicBezTo>
                  <a:pt x="41952" y="63588"/>
                  <a:pt x="38153" y="59789"/>
                  <a:pt x="38153" y="55110"/>
                </a:cubicBezTo>
                <a:close/>
                <a:moveTo>
                  <a:pt x="89024" y="46631"/>
                </a:moveTo>
                <a:cubicBezTo>
                  <a:pt x="93703" y="46631"/>
                  <a:pt x="97502" y="50430"/>
                  <a:pt x="97502" y="55110"/>
                </a:cubicBezTo>
                <a:cubicBezTo>
                  <a:pt x="97502" y="59789"/>
                  <a:pt x="93703" y="63588"/>
                  <a:pt x="89024" y="63588"/>
                </a:cubicBezTo>
                <a:cubicBezTo>
                  <a:pt x="84344" y="63588"/>
                  <a:pt x="80545" y="59789"/>
                  <a:pt x="80545" y="55110"/>
                </a:cubicBezTo>
                <a:cubicBezTo>
                  <a:pt x="80545" y="50430"/>
                  <a:pt x="84344" y="46631"/>
                  <a:pt x="89024" y="46631"/>
                </a:cubicBezTo>
                <a:close/>
              </a:path>
            </a:pathLst>
          </a:custGeom>
          <a:solidFill>
            <a:srgbClr val="1A1D23"/>
          </a:solidFill>
          <a:ln/>
        </p:spPr>
      </p:sp>
      <p:sp>
        <p:nvSpPr>
          <p:cNvPr id="24" name="Text 21"/>
          <p:cNvSpPr/>
          <p:nvPr/>
        </p:nvSpPr>
        <p:spPr>
          <a:xfrm>
            <a:off x="5811840" y="1962759"/>
            <a:ext cx="1983955" cy="2373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35" b="1" dirty="0">
                <a:solidFill>
                  <a:srgbClr val="E0E2E6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Análisis de Sentimiento</a:t>
            </a:r>
            <a:endParaRPr lang="en-US" sz="1600" dirty="0"/>
          </a:p>
        </p:txBody>
      </p:sp>
      <p:sp>
        <p:nvSpPr>
          <p:cNvPr id="25" name="Text 22"/>
          <p:cNvSpPr/>
          <p:nvPr/>
        </p:nvSpPr>
        <p:spPr>
          <a:xfrm>
            <a:off x="5404874" y="2352768"/>
            <a:ext cx="3009847" cy="4408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68" dirty="0">
                <a:solidFill>
                  <a:srgbClr val="788A9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Identificación de emociones, opiniones y actitudes en textos.</a:t>
            </a:r>
            <a:endParaRPr lang="en-US" sz="1600" dirty="0"/>
          </a:p>
        </p:txBody>
      </p:sp>
      <p:sp>
        <p:nvSpPr>
          <p:cNvPr id="26" name="Shape 23"/>
          <p:cNvSpPr/>
          <p:nvPr/>
        </p:nvSpPr>
        <p:spPr>
          <a:xfrm>
            <a:off x="5421831" y="2920823"/>
            <a:ext cx="118698" cy="118698"/>
          </a:xfrm>
          <a:custGeom>
            <a:avLst/>
            <a:gdLst/>
            <a:ahLst/>
            <a:cxnLst/>
            <a:rect l="l" t="t" r="r" b="b"/>
            <a:pathLst>
              <a:path w="118698" h="118698">
                <a:moveTo>
                  <a:pt x="59349" y="118698"/>
                </a:moveTo>
                <a:cubicBezTo>
                  <a:pt x="92105" y="118698"/>
                  <a:pt x="118698" y="92105"/>
                  <a:pt x="118698" y="59349"/>
                </a:cubicBezTo>
                <a:cubicBezTo>
                  <a:pt x="118698" y="26593"/>
                  <a:pt x="92105" y="0"/>
                  <a:pt x="59349" y="0"/>
                </a:cubicBezTo>
                <a:cubicBezTo>
                  <a:pt x="26593" y="0"/>
                  <a:pt x="0" y="26593"/>
                  <a:pt x="0" y="59349"/>
                </a:cubicBezTo>
                <a:cubicBezTo>
                  <a:pt x="0" y="92105"/>
                  <a:pt x="26593" y="118698"/>
                  <a:pt x="59349" y="118698"/>
                </a:cubicBezTo>
                <a:close/>
                <a:moveTo>
                  <a:pt x="78916" y="49311"/>
                </a:moveTo>
                <a:lnTo>
                  <a:pt x="60369" y="78985"/>
                </a:lnTo>
                <a:cubicBezTo>
                  <a:pt x="59395" y="80539"/>
                  <a:pt x="57726" y="81512"/>
                  <a:pt x="55895" y="81605"/>
                </a:cubicBezTo>
                <a:cubicBezTo>
                  <a:pt x="54063" y="81698"/>
                  <a:pt x="52301" y="80863"/>
                  <a:pt x="51212" y="79379"/>
                </a:cubicBezTo>
                <a:lnTo>
                  <a:pt x="40084" y="64542"/>
                </a:lnTo>
                <a:cubicBezTo>
                  <a:pt x="38229" y="62085"/>
                  <a:pt x="38739" y="58607"/>
                  <a:pt x="41197" y="56753"/>
                </a:cubicBezTo>
                <a:cubicBezTo>
                  <a:pt x="43654" y="54898"/>
                  <a:pt x="47132" y="55408"/>
                  <a:pt x="48986" y="57865"/>
                </a:cubicBezTo>
                <a:lnTo>
                  <a:pt x="55246" y="66211"/>
                </a:lnTo>
                <a:lnTo>
                  <a:pt x="69480" y="43422"/>
                </a:lnTo>
                <a:cubicBezTo>
                  <a:pt x="71103" y="40826"/>
                  <a:pt x="74534" y="40014"/>
                  <a:pt x="77154" y="41660"/>
                </a:cubicBezTo>
                <a:cubicBezTo>
                  <a:pt x="79774" y="43306"/>
                  <a:pt x="80562" y="46714"/>
                  <a:pt x="78916" y="49334"/>
                </a:cubicBezTo>
                <a:close/>
              </a:path>
            </a:pathLst>
          </a:custGeom>
          <a:solidFill>
            <a:srgbClr val="C8A265"/>
          </a:solidFill>
          <a:ln/>
        </p:spPr>
      </p:sp>
      <p:sp>
        <p:nvSpPr>
          <p:cNvPr id="27" name="Text 24"/>
          <p:cNvSpPr/>
          <p:nvPr/>
        </p:nvSpPr>
        <p:spPr>
          <a:xfrm>
            <a:off x="5621075" y="2895388"/>
            <a:ext cx="720668" cy="1695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35" dirty="0">
                <a:solidFill>
                  <a:srgbClr val="E0E2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Naïve Bayes</a:t>
            </a:r>
            <a:endParaRPr lang="en-US" sz="1600" dirty="0"/>
          </a:p>
        </p:txBody>
      </p:sp>
      <p:sp>
        <p:nvSpPr>
          <p:cNvPr id="28" name="Shape 25"/>
          <p:cNvSpPr/>
          <p:nvPr/>
        </p:nvSpPr>
        <p:spPr>
          <a:xfrm>
            <a:off x="5421831" y="3158220"/>
            <a:ext cx="118698" cy="118698"/>
          </a:xfrm>
          <a:custGeom>
            <a:avLst/>
            <a:gdLst/>
            <a:ahLst/>
            <a:cxnLst/>
            <a:rect l="l" t="t" r="r" b="b"/>
            <a:pathLst>
              <a:path w="118698" h="118698">
                <a:moveTo>
                  <a:pt x="59349" y="118698"/>
                </a:moveTo>
                <a:cubicBezTo>
                  <a:pt x="92105" y="118698"/>
                  <a:pt x="118698" y="92105"/>
                  <a:pt x="118698" y="59349"/>
                </a:cubicBezTo>
                <a:cubicBezTo>
                  <a:pt x="118698" y="26593"/>
                  <a:pt x="92105" y="0"/>
                  <a:pt x="59349" y="0"/>
                </a:cubicBezTo>
                <a:cubicBezTo>
                  <a:pt x="26593" y="0"/>
                  <a:pt x="0" y="26593"/>
                  <a:pt x="0" y="59349"/>
                </a:cubicBezTo>
                <a:cubicBezTo>
                  <a:pt x="0" y="92105"/>
                  <a:pt x="26593" y="118698"/>
                  <a:pt x="59349" y="118698"/>
                </a:cubicBezTo>
                <a:close/>
                <a:moveTo>
                  <a:pt x="78916" y="49311"/>
                </a:moveTo>
                <a:lnTo>
                  <a:pt x="60369" y="78985"/>
                </a:lnTo>
                <a:cubicBezTo>
                  <a:pt x="59395" y="80539"/>
                  <a:pt x="57726" y="81512"/>
                  <a:pt x="55895" y="81605"/>
                </a:cubicBezTo>
                <a:cubicBezTo>
                  <a:pt x="54063" y="81698"/>
                  <a:pt x="52301" y="80863"/>
                  <a:pt x="51212" y="79379"/>
                </a:cubicBezTo>
                <a:lnTo>
                  <a:pt x="40084" y="64542"/>
                </a:lnTo>
                <a:cubicBezTo>
                  <a:pt x="38229" y="62085"/>
                  <a:pt x="38739" y="58607"/>
                  <a:pt x="41197" y="56753"/>
                </a:cubicBezTo>
                <a:cubicBezTo>
                  <a:pt x="43654" y="54898"/>
                  <a:pt x="47132" y="55408"/>
                  <a:pt x="48986" y="57865"/>
                </a:cubicBezTo>
                <a:lnTo>
                  <a:pt x="55246" y="66211"/>
                </a:lnTo>
                <a:lnTo>
                  <a:pt x="69480" y="43422"/>
                </a:lnTo>
                <a:cubicBezTo>
                  <a:pt x="71103" y="40826"/>
                  <a:pt x="74534" y="40014"/>
                  <a:pt x="77154" y="41660"/>
                </a:cubicBezTo>
                <a:cubicBezTo>
                  <a:pt x="79774" y="43306"/>
                  <a:pt x="80562" y="46714"/>
                  <a:pt x="78916" y="49334"/>
                </a:cubicBezTo>
                <a:close/>
              </a:path>
            </a:pathLst>
          </a:custGeom>
          <a:solidFill>
            <a:srgbClr val="C8A265"/>
          </a:solidFill>
          <a:ln/>
        </p:spPr>
      </p:sp>
      <p:sp>
        <p:nvSpPr>
          <p:cNvPr id="29" name="Text 26"/>
          <p:cNvSpPr/>
          <p:nvPr/>
        </p:nvSpPr>
        <p:spPr>
          <a:xfrm>
            <a:off x="5621075" y="3132784"/>
            <a:ext cx="373051" cy="1695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35" dirty="0">
                <a:solidFill>
                  <a:srgbClr val="E0E2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LSTM</a:t>
            </a:r>
            <a:endParaRPr lang="en-US" sz="1600" dirty="0"/>
          </a:p>
        </p:txBody>
      </p:sp>
      <p:sp>
        <p:nvSpPr>
          <p:cNvPr id="30" name="Shape 27"/>
          <p:cNvSpPr/>
          <p:nvPr/>
        </p:nvSpPr>
        <p:spPr>
          <a:xfrm>
            <a:off x="5421831" y="3395616"/>
            <a:ext cx="118698" cy="118698"/>
          </a:xfrm>
          <a:custGeom>
            <a:avLst/>
            <a:gdLst/>
            <a:ahLst/>
            <a:cxnLst/>
            <a:rect l="l" t="t" r="r" b="b"/>
            <a:pathLst>
              <a:path w="118698" h="118698">
                <a:moveTo>
                  <a:pt x="59349" y="118698"/>
                </a:moveTo>
                <a:cubicBezTo>
                  <a:pt x="92105" y="118698"/>
                  <a:pt x="118698" y="92105"/>
                  <a:pt x="118698" y="59349"/>
                </a:cubicBezTo>
                <a:cubicBezTo>
                  <a:pt x="118698" y="26593"/>
                  <a:pt x="92105" y="0"/>
                  <a:pt x="59349" y="0"/>
                </a:cubicBezTo>
                <a:cubicBezTo>
                  <a:pt x="26593" y="0"/>
                  <a:pt x="0" y="26593"/>
                  <a:pt x="0" y="59349"/>
                </a:cubicBezTo>
                <a:cubicBezTo>
                  <a:pt x="0" y="92105"/>
                  <a:pt x="26593" y="118698"/>
                  <a:pt x="59349" y="118698"/>
                </a:cubicBezTo>
                <a:close/>
                <a:moveTo>
                  <a:pt x="78916" y="49311"/>
                </a:moveTo>
                <a:lnTo>
                  <a:pt x="60369" y="78985"/>
                </a:lnTo>
                <a:cubicBezTo>
                  <a:pt x="59395" y="80539"/>
                  <a:pt x="57726" y="81512"/>
                  <a:pt x="55895" y="81605"/>
                </a:cubicBezTo>
                <a:cubicBezTo>
                  <a:pt x="54063" y="81698"/>
                  <a:pt x="52301" y="80863"/>
                  <a:pt x="51212" y="79379"/>
                </a:cubicBezTo>
                <a:lnTo>
                  <a:pt x="40084" y="64542"/>
                </a:lnTo>
                <a:cubicBezTo>
                  <a:pt x="38229" y="62085"/>
                  <a:pt x="38739" y="58607"/>
                  <a:pt x="41197" y="56753"/>
                </a:cubicBezTo>
                <a:cubicBezTo>
                  <a:pt x="43654" y="54898"/>
                  <a:pt x="47132" y="55408"/>
                  <a:pt x="48986" y="57865"/>
                </a:cubicBezTo>
                <a:lnTo>
                  <a:pt x="55246" y="66211"/>
                </a:lnTo>
                <a:lnTo>
                  <a:pt x="69480" y="43422"/>
                </a:lnTo>
                <a:cubicBezTo>
                  <a:pt x="71103" y="40826"/>
                  <a:pt x="74534" y="40014"/>
                  <a:pt x="77154" y="41660"/>
                </a:cubicBezTo>
                <a:cubicBezTo>
                  <a:pt x="79774" y="43306"/>
                  <a:pt x="80562" y="46714"/>
                  <a:pt x="78916" y="49334"/>
                </a:cubicBezTo>
                <a:close/>
              </a:path>
            </a:pathLst>
          </a:custGeom>
          <a:solidFill>
            <a:srgbClr val="C8A265"/>
          </a:solidFill>
          <a:ln/>
        </p:spPr>
      </p:sp>
      <p:sp>
        <p:nvSpPr>
          <p:cNvPr id="31" name="Text 28"/>
          <p:cNvSpPr/>
          <p:nvPr/>
        </p:nvSpPr>
        <p:spPr>
          <a:xfrm>
            <a:off x="5621075" y="3370181"/>
            <a:ext cx="356095" cy="1695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35" dirty="0">
                <a:solidFill>
                  <a:srgbClr val="E0E2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BERT</a:t>
            </a:r>
            <a:endParaRPr lang="en-US" sz="1600" dirty="0"/>
          </a:p>
        </p:txBody>
      </p:sp>
      <p:sp>
        <p:nvSpPr>
          <p:cNvPr id="32" name="Shape 29"/>
          <p:cNvSpPr/>
          <p:nvPr/>
        </p:nvSpPr>
        <p:spPr>
          <a:xfrm>
            <a:off x="8629729" y="1771994"/>
            <a:ext cx="3221808" cy="1907650"/>
          </a:xfrm>
          <a:custGeom>
            <a:avLst/>
            <a:gdLst/>
            <a:ahLst/>
            <a:cxnLst/>
            <a:rect l="l" t="t" r="r" b="b"/>
            <a:pathLst>
              <a:path w="3221808" h="1907650">
                <a:moveTo>
                  <a:pt x="101735" y="0"/>
                </a:moveTo>
                <a:lnTo>
                  <a:pt x="3120073" y="0"/>
                </a:lnTo>
                <a:cubicBezTo>
                  <a:pt x="3176260" y="0"/>
                  <a:pt x="3221808" y="45548"/>
                  <a:pt x="3221808" y="101735"/>
                </a:cubicBezTo>
                <a:lnTo>
                  <a:pt x="3221808" y="1805915"/>
                </a:lnTo>
                <a:cubicBezTo>
                  <a:pt x="3221808" y="1862101"/>
                  <a:pt x="3176260" y="1907650"/>
                  <a:pt x="3120073" y="1907650"/>
                </a:cubicBezTo>
                <a:lnTo>
                  <a:pt x="101735" y="1907650"/>
                </a:lnTo>
                <a:cubicBezTo>
                  <a:pt x="45548" y="1907650"/>
                  <a:pt x="0" y="1862101"/>
                  <a:pt x="0" y="1805915"/>
                </a:cubicBezTo>
                <a:lnTo>
                  <a:pt x="0" y="101735"/>
                </a:lnTo>
                <a:cubicBezTo>
                  <a:pt x="0" y="45586"/>
                  <a:pt x="45586" y="0"/>
                  <a:pt x="101735" y="0"/>
                </a:cubicBezTo>
                <a:close/>
              </a:path>
            </a:pathLst>
          </a:custGeom>
          <a:solidFill>
            <a:srgbClr val="4A6D8C">
              <a:alpha val="10196"/>
            </a:srgbClr>
          </a:solidFill>
          <a:ln w="12700">
            <a:solidFill>
              <a:srgbClr val="4A6D8C">
                <a:alpha val="30196"/>
              </a:srgbClr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8769624" y="1911889"/>
            <a:ext cx="339138" cy="339138"/>
          </a:xfrm>
          <a:custGeom>
            <a:avLst/>
            <a:gdLst/>
            <a:ahLst/>
            <a:cxnLst/>
            <a:rect l="l" t="t" r="r" b="b"/>
            <a:pathLst>
              <a:path w="339138" h="339138">
                <a:moveTo>
                  <a:pt x="67828" y="0"/>
                </a:moveTo>
                <a:lnTo>
                  <a:pt x="271310" y="0"/>
                </a:lnTo>
                <a:cubicBezTo>
                  <a:pt x="308770" y="0"/>
                  <a:pt x="339138" y="30367"/>
                  <a:pt x="339138" y="67828"/>
                </a:cubicBezTo>
                <a:lnTo>
                  <a:pt x="339138" y="271310"/>
                </a:lnTo>
                <a:cubicBezTo>
                  <a:pt x="339138" y="308770"/>
                  <a:pt x="308770" y="339138"/>
                  <a:pt x="271310" y="339138"/>
                </a:cubicBezTo>
                <a:lnTo>
                  <a:pt x="67828" y="339138"/>
                </a:lnTo>
                <a:cubicBezTo>
                  <a:pt x="30367" y="339138"/>
                  <a:pt x="0" y="308770"/>
                  <a:pt x="0" y="271310"/>
                </a:cubicBezTo>
                <a:lnTo>
                  <a:pt x="0" y="67828"/>
                </a:lnTo>
                <a:cubicBezTo>
                  <a:pt x="0" y="30393"/>
                  <a:pt x="30393" y="0"/>
                  <a:pt x="67828" y="0"/>
                </a:cubicBezTo>
                <a:close/>
              </a:path>
            </a:pathLst>
          </a:custGeom>
          <a:solidFill>
            <a:srgbClr val="C8A265"/>
          </a:solidFill>
          <a:ln/>
        </p:spPr>
      </p:sp>
      <p:sp>
        <p:nvSpPr>
          <p:cNvPr id="34" name="Shape 31"/>
          <p:cNvSpPr/>
          <p:nvPr/>
        </p:nvSpPr>
        <p:spPr>
          <a:xfrm>
            <a:off x="8854408" y="2013630"/>
            <a:ext cx="169569" cy="135655"/>
          </a:xfrm>
          <a:custGeom>
            <a:avLst/>
            <a:gdLst/>
            <a:ahLst/>
            <a:cxnLst/>
            <a:rect l="l" t="t" r="r" b="b"/>
            <a:pathLst>
              <a:path w="169569" h="135655">
                <a:moveTo>
                  <a:pt x="93263" y="0"/>
                </a:moveTo>
                <a:cubicBezTo>
                  <a:pt x="93263" y="-4690"/>
                  <a:pt x="89474" y="-8478"/>
                  <a:pt x="84784" y="-8478"/>
                </a:cubicBezTo>
                <a:cubicBezTo>
                  <a:pt x="80095" y="-8478"/>
                  <a:pt x="76306" y="-4690"/>
                  <a:pt x="76306" y="0"/>
                </a:cubicBezTo>
                <a:lnTo>
                  <a:pt x="76306" y="16957"/>
                </a:lnTo>
                <a:lnTo>
                  <a:pt x="50871" y="16957"/>
                </a:lnTo>
                <a:cubicBezTo>
                  <a:pt x="36828" y="16957"/>
                  <a:pt x="25435" y="28350"/>
                  <a:pt x="25435" y="42392"/>
                </a:cubicBezTo>
                <a:lnTo>
                  <a:pt x="25435" y="101741"/>
                </a:lnTo>
                <a:cubicBezTo>
                  <a:pt x="25435" y="115784"/>
                  <a:pt x="36828" y="127177"/>
                  <a:pt x="50871" y="127177"/>
                </a:cubicBezTo>
                <a:lnTo>
                  <a:pt x="118698" y="127177"/>
                </a:lnTo>
                <a:cubicBezTo>
                  <a:pt x="132741" y="127177"/>
                  <a:pt x="144134" y="115784"/>
                  <a:pt x="144134" y="101741"/>
                </a:cubicBezTo>
                <a:lnTo>
                  <a:pt x="144134" y="42392"/>
                </a:lnTo>
                <a:cubicBezTo>
                  <a:pt x="144134" y="28350"/>
                  <a:pt x="132741" y="16957"/>
                  <a:pt x="118698" y="16957"/>
                </a:cubicBezTo>
                <a:lnTo>
                  <a:pt x="93263" y="16957"/>
                </a:lnTo>
                <a:lnTo>
                  <a:pt x="93263" y="0"/>
                </a:lnTo>
                <a:close/>
                <a:moveTo>
                  <a:pt x="42392" y="97502"/>
                </a:moveTo>
                <a:cubicBezTo>
                  <a:pt x="42392" y="93978"/>
                  <a:pt x="45227" y="91143"/>
                  <a:pt x="48751" y="91143"/>
                </a:cubicBezTo>
                <a:lnTo>
                  <a:pt x="57229" y="91143"/>
                </a:lnTo>
                <a:cubicBezTo>
                  <a:pt x="60753" y="91143"/>
                  <a:pt x="63588" y="93978"/>
                  <a:pt x="63588" y="97502"/>
                </a:cubicBezTo>
                <a:cubicBezTo>
                  <a:pt x="63588" y="101026"/>
                  <a:pt x="60753" y="103861"/>
                  <a:pt x="57229" y="103861"/>
                </a:cubicBezTo>
                <a:lnTo>
                  <a:pt x="48751" y="103861"/>
                </a:lnTo>
                <a:cubicBezTo>
                  <a:pt x="45227" y="103861"/>
                  <a:pt x="42392" y="101026"/>
                  <a:pt x="42392" y="97502"/>
                </a:cubicBezTo>
                <a:close/>
                <a:moveTo>
                  <a:pt x="74186" y="97502"/>
                </a:moveTo>
                <a:cubicBezTo>
                  <a:pt x="74186" y="93978"/>
                  <a:pt x="77021" y="91143"/>
                  <a:pt x="80545" y="91143"/>
                </a:cubicBezTo>
                <a:lnTo>
                  <a:pt x="89024" y="91143"/>
                </a:lnTo>
                <a:cubicBezTo>
                  <a:pt x="92547" y="91143"/>
                  <a:pt x="95382" y="93978"/>
                  <a:pt x="95382" y="97502"/>
                </a:cubicBezTo>
                <a:cubicBezTo>
                  <a:pt x="95382" y="101026"/>
                  <a:pt x="92547" y="103861"/>
                  <a:pt x="89024" y="103861"/>
                </a:cubicBezTo>
                <a:lnTo>
                  <a:pt x="80545" y="103861"/>
                </a:lnTo>
                <a:cubicBezTo>
                  <a:pt x="77021" y="103861"/>
                  <a:pt x="74186" y="101026"/>
                  <a:pt x="74186" y="97502"/>
                </a:cubicBezTo>
                <a:close/>
                <a:moveTo>
                  <a:pt x="105981" y="97502"/>
                </a:moveTo>
                <a:cubicBezTo>
                  <a:pt x="105981" y="93978"/>
                  <a:pt x="108816" y="91143"/>
                  <a:pt x="112339" y="91143"/>
                </a:cubicBezTo>
                <a:lnTo>
                  <a:pt x="120818" y="91143"/>
                </a:lnTo>
                <a:cubicBezTo>
                  <a:pt x="124342" y="91143"/>
                  <a:pt x="127177" y="93978"/>
                  <a:pt x="127177" y="97502"/>
                </a:cubicBezTo>
                <a:cubicBezTo>
                  <a:pt x="127177" y="101026"/>
                  <a:pt x="124342" y="103861"/>
                  <a:pt x="120818" y="103861"/>
                </a:cubicBezTo>
                <a:lnTo>
                  <a:pt x="112339" y="103861"/>
                </a:lnTo>
                <a:cubicBezTo>
                  <a:pt x="108816" y="103861"/>
                  <a:pt x="105981" y="101026"/>
                  <a:pt x="105981" y="97502"/>
                </a:cubicBezTo>
                <a:close/>
                <a:moveTo>
                  <a:pt x="59349" y="46631"/>
                </a:moveTo>
                <a:cubicBezTo>
                  <a:pt x="66368" y="46631"/>
                  <a:pt x="72067" y="52330"/>
                  <a:pt x="72067" y="59349"/>
                </a:cubicBezTo>
                <a:cubicBezTo>
                  <a:pt x="72067" y="66368"/>
                  <a:pt x="66368" y="72067"/>
                  <a:pt x="59349" y="72067"/>
                </a:cubicBezTo>
                <a:cubicBezTo>
                  <a:pt x="52330" y="72067"/>
                  <a:pt x="46631" y="66368"/>
                  <a:pt x="46631" y="59349"/>
                </a:cubicBezTo>
                <a:cubicBezTo>
                  <a:pt x="46631" y="52330"/>
                  <a:pt x="52330" y="46631"/>
                  <a:pt x="59349" y="46631"/>
                </a:cubicBezTo>
                <a:close/>
                <a:moveTo>
                  <a:pt x="97502" y="59349"/>
                </a:moveTo>
                <a:cubicBezTo>
                  <a:pt x="97502" y="52330"/>
                  <a:pt x="103201" y="46631"/>
                  <a:pt x="110220" y="46631"/>
                </a:cubicBezTo>
                <a:cubicBezTo>
                  <a:pt x="117239" y="46631"/>
                  <a:pt x="122937" y="52330"/>
                  <a:pt x="122937" y="59349"/>
                </a:cubicBezTo>
                <a:cubicBezTo>
                  <a:pt x="122937" y="66368"/>
                  <a:pt x="117239" y="72067"/>
                  <a:pt x="110220" y="72067"/>
                </a:cubicBezTo>
                <a:cubicBezTo>
                  <a:pt x="103201" y="72067"/>
                  <a:pt x="97502" y="66368"/>
                  <a:pt x="97502" y="59349"/>
                </a:cubicBezTo>
                <a:close/>
                <a:moveTo>
                  <a:pt x="16957" y="59349"/>
                </a:moveTo>
                <a:cubicBezTo>
                  <a:pt x="16957" y="54659"/>
                  <a:pt x="13168" y="50871"/>
                  <a:pt x="8478" y="50871"/>
                </a:cubicBezTo>
                <a:cubicBezTo>
                  <a:pt x="3789" y="50871"/>
                  <a:pt x="0" y="54659"/>
                  <a:pt x="0" y="59349"/>
                </a:cubicBezTo>
                <a:lnTo>
                  <a:pt x="0" y="84784"/>
                </a:lnTo>
                <a:cubicBezTo>
                  <a:pt x="0" y="89474"/>
                  <a:pt x="3789" y="93263"/>
                  <a:pt x="8478" y="93263"/>
                </a:cubicBezTo>
                <a:cubicBezTo>
                  <a:pt x="13168" y="93263"/>
                  <a:pt x="16957" y="89474"/>
                  <a:pt x="16957" y="84784"/>
                </a:cubicBezTo>
                <a:lnTo>
                  <a:pt x="16957" y="59349"/>
                </a:lnTo>
                <a:close/>
                <a:moveTo>
                  <a:pt x="161090" y="50871"/>
                </a:moveTo>
                <a:cubicBezTo>
                  <a:pt x="156401" y="50871"/>
                  <a:pt x="152612" y="54659"/>
                  <a:pt x="152612" y="59349"/>
                </a:cubicBezTo>
                <a:lnTo>
                  <a:pt x="152612" y="84784"/>
                </a:lnTo>
                <a:cubicBezTo>
                  <a:pt x="152612" y="89474"/>
                  <a:pt x="156401" y="93263"/>
                  <a:pt x="161090" y="93263"/>
                </a:cubicBezTo>
                <a:cubicBezTo>
                  <a:pt x="165780" y="93263"/>
                  <a:pt x="169569" y="89474"/>
                  <a:pt x="169569" y="84784"/>
                </a:cubicBezTo>
                <a:lnTo>
                  <a:pt x="169569" y="59349"/>
                </a:lnTo>
                <a:cubicBezTo>
                  <a:pt x="169569" y="54659"/>
                  <a:pt x="165780" y="50871"/>
                  <a:pt x="161090" y="50871"/>
                </a:cubicBezTo>
                <a:close/>
              </a:path>
            </a:pathLst>
          </a:custGeom>
          <a:solidFill>
            <a:srgbClr val="1A1D23"/>
          </a:solidFill>
          <a:ln/>
        </p:spPr>
      </p:sp>
      <p:sp>
        <p:nvSpPr>
          <p:cNvPr id="35" name="Text 32"/>
          <p:cNvSpPr/>
          <p:nvPr/>
        </p:nvSpPr>
        <p:spPr>
          <a:xfrm>
            <a:off x="9176589" y="1962759"/>
            <a:ext cx="1186982" cy="2373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35" b="1" dirty="0">
                <a:solidFill>
                  <a:srgbClr val="E0E2E6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Transformers</a:t>
            </a:r>
            <a:endParaRPr lang="en-US" sz="1600" dirty="0"/>
          </a:p>
        </p:txBody>
      </p:sp>
      <p:sp>
        <p:nvSpPr>
          <p:cNvPr id="36" name="Text 33"/>
          <p:cNvSpPr/>
          <p:nvPr/>
        </p:nvSpPr>
        <p:spPr>
          <a:xfrm>
            <a:off x="8769624" y="2352768"/>
            <a:ext cx="3009847" cy="4408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68" dirty="0">
                <a:solidFill>
                  <a:srgbClr val="788A9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Modelos de vanguardia que revolucionaron el NLP.</a:t>
            </a:r>
            <a:endParaRPr lang="en-US" sz="1600" dirty="0"/>
          </a:p>
        </p:txBody>
      </p:sp>
      <p:sp>
        <p:nvSpPr>
          <p:cNvPr id="37" name="Shape 34"/>
          <p:cNvSpPr/>
          <p:nvPr/>
        </p:nvSpPr>
        <p:spPr>
          <a:xfrm>
            <a:off x="8779162" y="2920823"/>
            <a:ext cx="133535" cy="118698"/>
          </a:xfrm>
          <a:custGeom>
            <a:avLst/>
            <a:gdLst/>
            <a:ahLst/>
            <a:cxnLst/>
            <a:rect l="l" t="t" r="r" b="b"/>
            <a:pathLst>
              <a:path w="133535" h="118698">
                <a:moveTo>
                  <a:pt x="71752" y="-4382"/>
                </a:moveTo>
                <a:cubicBezTo>
                  <a:pt x="70802" y="-6236"/>
                  <a:pt x="68877" y="-7419"/>
                  <a:pt x="66791" y="-7419"/>
                </a:cubicBezTo>
                <a:cubicBezTo>
                  <a:pt x="64704" y="-7419"/>
                  <a:pt x="62780" y="-6236"/>
                  <a:pt x="61830" y="-4382"/>
                </a:cubicBezTo>
                <a:lnTo>
                  <a:pt x="44767" y="29049"/>
                </a:lnTo>
                <a:lnTo>
                  <a:pt x="7697" y="34937"/>
                </a:lnTo>
                <a:cubicBezTo>
                  <a:pt x="5634" y="35262"/>
                  <a:pt x="3918" y="36722"/>
                  <a:pt x="3269" y="38716"/>
                </a:cubicBezTo>
                <a:cubicBezTo>
                  <a:pt x="2620" y="40710"/>
                  <a:pt x="3153" y="42889"/>
                  <a:pt x="4613" y="44373"/>
                </a:cubicBezTo>
                <a:lnTo>
                  <a:pt x="31135" y="70918"/>
                </a:lnTo>
                <a:lnTo>
                  <a:pt x="25293" y="107988"/>
                </a:lnTo>
                <a:cubicBezTo>
                  <a:pt x="24968" y="110051"/>
                  <a:pt x="25826" y="112137"/>
                  <a:pt x="27519" y="113366"/>
                </a:cubicBezTo>
                <a:cubicBezTo>
                  <a:pt x="29211" y="114595"/>
                  <a:pt x="31436" y="114780"/>
                  <a:pt x="33314" y="113830"/>
                </a:cubicBezTo>
                <a:lnTo>
                  <a:pt x="66791" y="96813"/>
                </a:lnTo>
                <a:lnTo>
                  <a:pt x="100244" y="113830"/>
                </a:lnTo>
                <a:cubicBezTo>
                  <a:pt x="102099" y="114780"/>
                  <a:pt x="104348" y="114595"/>
                  <a:pt x="106040" y="113366"/>
                </a:cubicBezTo>
                <a:cubicBezTo>
                  <a:pt x="107733" y="112137"/>
                  <a:pt x="108590" y="110074"/>
                  <a:pt x="108266" y="107988"/>
                </a:cubicBezTo>
                <a:lnTo>
                  <a:pt x="102400" y="70918"/>
                </a:lnTo>
                <a:lnTo>
                  <a:pt x="128922" y="44373"/>
                </a:lnTo>
                <a:cubicBezTo>
                  <a:pt x="130406" y="42889"/>
                  <a:pt x="130916" y="40710"/>
                  <a:pt x="130267" y="38716"/>
                </a:cubicBezTo>
                <a:cubicBezTo>
                  <a:pt x="129617" y="36722"/>
                  <a:pt x="127925" y="35262"/>
                  <a:pt x="125839" y="34937"/>
                </a:cubicBezTo>
                <a:lnTo>
                  <a:pt x="88792" y="29049"/>
                </a:lnTo>
                <a:lnTo>
                  <a:pt x="71752" y="-4382"/>
                </a:lnTo>
                <a:close/>
              </a:path>
            </a:pathLst>
          </a:custGeom>
          <a:solidFill>
            <a:srgbClr val="C8A265"/>
          </a:solidFill>
          <a:ln/>
        </p:spPr>
      </p:sp>
      <p:sp>
        <p:nvSpPr>
          <p:cNvPr id="38" name="Text 35"/>
          <p:cNvSpPr/>
          <p:nvPr/>
        </p:nvSpPr>
        <p:spPr>
          <a:xfrm>
            <a:off x="8985824" y="2895388"/>
            <a:ext cx="415444" cy="1695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35" dirty="0">
                <a:solidFill>
                  <a:srgbClr val="E0E2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GPT-4</a:t>
            </a:r>
            <a:endParaRPr lang="en-US" sz="1600" dirty="0"/>
          </a:p>
        </p:txBody>
      </p:sp>
      <p:sp>
        <p:nvSpPr>
          <p:cNvPr id="39" name="Shape 36"/>
          <p:cNvSpPr/>
          <p:nvPr/>
        </p:nvSpPr>
        <p:spPr>
          <a:xfrm>
            <a:off x="8779162" y="3158220"/>
            <a:ext cx="133535" cy="118698"/>
          </a:xfrm>
          <a:custGeom>
            <a:avLst/>
            <a:gdLst/>
            <a:ahLst/>
            <a:cxnLst/>
            <a:rect l="l" t="t" r="r" b="b"/>
            <a:pathLst>
              <a:path w="133535" h="118698">
                <a:moveTo>
                  <a:pt x="71752" y="-4382"/>
                </a:moveTo>
                <a:cubicBezTo>
                  <a:pt x="70802" y="-6236"/>
                  <a:pt x="68877" y="-7419"/>
                  <a:pt x="66791" y="-7419"/>
                </a:cubicBezTo>
                <a:cubicBezTo>
                  <a:pt x="64704" y="-7419"/>
                  <a:pt x="62780" y="-6236"/>
                  <a:pt x="61830" y="-4382"/>
                </a:cubicBezTo>
                <a:lnTo>
                  <a:pt x="44767" y="29049"/>
                </a:lnTo>
                <a:lnTo>
                  <a:pt x="7697" y="34937"/>
                </a:lnTo>
                <a:cubicBezTo>
                  <a:pt x="5634" y="35262"/>
                  <a:pt x="3918" y="36722"/>
                  <a:pt x="3269" y="38716"/>
                </a:cubicBezTo>
                <a:cubicBezTo>
                  <a:pt x="2620" y="40710"/>
                  <a:pt x="3153" y="42889"/>
                  <a:pt x="4613" y="44373"/>
                </a:cubicBezTo>
                <a:lnTo>
                  <a:pt x="31135" y="70918"/>
                </a:lnTo>
                <a:lnTo>
                  <a:pt x="25293" y="107988"/>
                </a:lnTo>
                <a:cubicBezTo>
                  <a:pt x="24968" y="110051"/>
                  <a:pt x="25826" y="112137"/>
                  <a:pt x="27519" y="113366"/>
                </a:cubicBezTo>
                <a:cubicBezTo>
                  <a:pt x="29211" y="114595"/>
                  <a:pt x="31436" y="114780"/>
                  <a:pt x="33314" y="113830"/>
                </a:cubicBezTo>
                <a:lnTo>
                  <a:pt x="66791" y="96813"/>
                </a:lnTo>
                <a:lnTo>
                  <a:pt x="100244" y="113830"/>
                </a:lnTo>
                <a:cubicBezTo>
                  <a:pt x="102099" y="114780"/>
                  <a:pt x="104348" y="114595"/>
                  <a:pt x="106040" y="113366"/>
                </a:cubicBezTo>
                <a:cubicBezTo>
                  <a:pt x="107733" y="112137"/>
                  <a:pt x="108590" y="110074"/>
                  <a:pt x="108266" y="107988"/>
                </a:cubicBezTo>
                <a:lnTo>
                  <a:pt x="102400" y="70918"/>
                </a:lnTo>
                <a:lnTo>
                  <a:pt x="128922" y="44373"/>
                </a:lnTo>
                <a:cubicBezTo>
                  <a:pt x="130406" y="42889"/>
                  <a:pt x="130916" y="40710"/>
                  <a:pt x="130267" y="38716"/>
                </a:cubicBezTo>
                <a:cubicBezTo>
                  <a:pt x="129617" y="36722"/>
                  <a:pt x="127925" y="35262"/>
                  <a:pt x="125839" y="34937"/>
                </a:cubicBezTo>
                <a:lnTo>
                  <a:pt x="88792" y="29049"/>
                </a:lnTo>
                <a:lnTo>
                  <a:pt x="71752" y="-4382"/>
                </a:lnTo>
                <a:close/>
              </a:path>
            </a:pathLst>
          </a:custGeom>
          <a:solidFill>
            <a:srgbClr val="C8A265"/>
          </a:solidFill>
          <a:ln/>
        </p:spPr>
      </p:sp>
      <p:sp>
        <p:nvSpPr>
          <p:cNvPr id="40" name="Text 37"/>
          <p:cNvSpPr/>
          <p:nvPr/>
        </p:nvSpPr>
        <p:spPr>
          <a:xfrm>
            <a:off x="8985824" y="3132784"/>
            <a:ext cx="356095" cy="1695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35" dirty="0">
                <a:solidFill>
                  <a:srgbClr val="E0E2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BERT</a:t>
            </a:r>
            <a:endParaRPr lang="en-US" sz="1600" dirty="0"/>
          </a:p>
        </p:txBody>
      </p:sp>
      <p:sp>
        <p:nvSpPr>
          <p:cNvPr id="41" name="Shape 38"/>
          <p:cNvSpPr/>
          <p:nvPr/>
        </p:nvSpPr>
        <p:spPr>
          <a:xfrm>
            <a:off x="8779162" y="3395616"/>
            <a:ext cx="133535" cy="118698"/>
          </a:xfrm>
          <a:custGeom>
            <a:avLst/>
            <a:gdLst/>
            <a:ahLst/>
            <a:cxnLst/>
            <a:rect l="l" t="t" r="r" b="b"/>
            <a:pathLst>
              <a:path w="133535" h="118698">
                <a:moveTo>
                  <a:pt x="71752" y="-4382"/>
                </a:moveTo>
                <a:cubicBezTo>
                  <a:pt x="70802" y="-6236"/>
                  <a:pt x="68877" y="-7419"/>
                  <a:pt x="66791" y="-7419"/>
                </a:cubicBezTo>
                <a:cubicBezTo>
                  <a:pt x="64704" y="-7419"/>
                  <a:pt x="62780" y="-6236"/>
                  <a:pt x="61830" y="-4382"/>
                </a:cubicBezTo>
                <a:lnTo>
                  <a:pt x="44767" y="29049"/>
                </a:lnTo>
                <a:lnTo>
                  <a:pt x="7697" y="34937"/>
                </a:lnTo>
                <a:cubicBezTo>
                  <a:pt x="5634" y="35262"/>
                  <a:pt x="3918" y="36722"/>
                  <a:pt x="3269" y="38716"/>
                </a:cubicBezTo>
                <a:cubicBezTo>
                  <a:pt x="2620" y="40710"/>
                  <a:pt x="3153" y="42889"/>
                  <a:pt x="4613" y="44373"/>
                </a:cubicBezTo>
                <a:lnTo>
                  <a:pt x="31135" y="70918"/>
                </a:lnTo>
                <a:lnTo>
                  <a:pt x="25293" y="107988"/>
                </a:lnTo>
                <a:cubicBezTo>
                  <a:pt x="24968" y="110051"/>
                  <a:pt x="25826" y="112137"/>
                  <a:pt x="27519" y="113366"/>
                </a:cubicBezTo>
                <a:cubicBezTo>
                  <a:pt x="29211" y="114595"/>
                  <a:pt x="31436" y="114780"/>
                  <a:pt x="33314" y="113830"/>
                </a:cubicBezTo>
                <a:lnTo>
                  <a:pt x="66791" y="96813"/>
                </a:lnTo>
                <a:lnTo>
                  <a:pt x="100244" y="113830"/>
                </a:lnTo>
                <a:cubicBezTo>
                  <a:pt x="102099" y="114780"/>
                  <a:pt x="104348" y="114595"/>
                  <a:pt x="106040" y="113366"/>
                </a:cubicBezTo>
                <a:cubicBezTo>
                  <a:pt x="107733" y="112137"/>
                  <a:pt x="108590" y="110074"/>
                  <a:pt x="108266" y="107988"/>
                </a:cubicBezTo>
                <a:lnTo>
                  <a:pt x="102400" y="70918"/>
                </a:lnTo>
                <a:lnTo>
                  <a:pt x="128922" y="44373"/>
                </a:lnTo>
                <a:cubicBezTo>
                  <a:pt x="130406" y="42889"/>
                  <a:pt x="130916" y="40710"/>
                  <a:pt x="130267" y="38716"/>
                </a:cubicBezTo>
                <a:cubicBezTo>
                  <a:pt x="129617" y="36722"/>
                  <a:pt x="127925" y="35262"/>
                  <a:pt x="125839" y="34937"/>
                </a:cubicBezTo>
                <a:lnTo>
                  <a:pt x="88792" y="29049"/>
                </a:lnTo>
                <a:lnTo>
                  <a:pt x="71752" y="-4382"/>
                </a:lnTo>
                <a:close/>
              </a:path>
            </a:pathLst>
          </a:custGeom>
          <a:solidFill>
            <a:srgbClr val="C8A265"/>
          </a:solidFill>
          <a:ln/>
        </p:spPr>
      </p:sp>
      <p:sp>
        <p:nvSpPr>
          <p:cNvPr id="42" name="Text 39"/>
          <p:cNvSpPr/>
          <p:nvPr/>
        </p:nvSpPr>
        <p:spPr>
          <a:xfrm>
            <a:off x="8985824" y="3370181"/>
            <a:ext cx="644362" cy="1695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35" dirty="0">
                <a:solidFill>
                  <a:srgbClr val="E0E2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T5, LLaMA</a:t>
            </a:r>
            <a:endParaRPr lang="en-US" sz="1600" dirty="0"/>
          </a:p>
        </p:txBody>
      </p:sp>
      <p:sp>
        <p:nvSpPr>
          <p:cNvPr id="43" name="Shape 40"/>
          <p:cNvSpPr/>
          <p:nvPr/>
        </p:nvSpPr>
        <p:spPr>
          <a:xfrm>
            <a:off x="5264980" y="3823777"/>
            <a:ext cx="3221808" cy="1907650"/>
          </a:xfrm>
          <a:custGeom>
            <a:avLst/>
            <a:gdLst/>
            <a:ahLst/>
            <a:cxnLst/>
            <a:rect l="l" t="t" r="r" b="b"/>
            <a:pathLst>
              <a:path w="3221808" h="1907650">
                <a:moveTo>
                  <a:pt x="101735" y="0"/>
                </a:moveTo>
                <a:lnTo>
                  <a:pt x="3120073" y="0"/>
                </a:lnTo>
                <a:cubicBezTo>
                  <a:pt x="3176260" y="0"/>
                  <a:pt x="3221808" y="45548"/>
                  <a:pt x="3221808" y="101735"/>
                </a:cubicBezTo>
                <a:lnTo>
                  <a:pt x="3221808" y="1805915"/>
                </a:lnTo>
                <a:cubicBezTo>
                  <a:pt x="3221808" y="1862101"/>
                  <a:pt x="3176260" y="1907650"/>
                  <a:pt x="3120073" y="1907650"/>
                </a:cubicBezTo>
                <a:lnTo>
                  <a:pt x="101735" y="1907650"/>
                </a:lnTo>
                <a:cubicBezTo>
                  <a:pt x="45548" y="1907650"/>
                  <a:pt x="0" y="1862101"/>
                  <a:pt x="0" y="1805915"/>
                </a:cubicBezTo>
                <a:lnTo>
                  <a:pt x="0" y="101735"/>
                </a:lnTo>
                <a:cubicBezTo>
                  <a:pt x="0" y="45586"/>
                  <a:pt x="45586" y="0"/>
                  <a:pt x="101735" y="0"/>
                </a:cubicBezTo>
                <a:close/>
              </a:path>
            </a:pathLst>
          </a:custGeom>
          <a:solidFill>
            <a:srgbClr val="4A6D8C">
              <a:alpha val="10196"/>
            </a:srgbClr>
          </a:solidFill>
          <a:ln w="12700">
            <a:solidFill>
              <a:srgbClr val="4A6D8C">
                <a:alpha val="30196"/>
              </a:srgbClr>
            </a:solidFill>
            <a:prstDash val="solid"/>
          </a:ln>
        </p:spPr>
      </p:sp>
      <p:sp>
        <p:nvSpPr>
          <p:cNvPr id="44" name="Shape 41"/>
          <p:cNvSpPr/>
          <p:nvPr/>
        </p:nvSpPr>
        <p:spPr>
          <a:xfrm>
            <a:off x="5404874" y="3963672"/>
            <a:ext cx="339138" cy="339138"/>
          </a:xfrm>
          <a:custGeom>
            <a:avLst/>
            <a:gdLst/>
            <a:ahLst/>
            <a:cxnLst/>
            <a:rect l="l" t="t" r="r" b="b"/>
            <a:pathLst>
              <a:path w="339138" h="339138">
                <a:moveTo>
                  <a:pt x="67828" y="0"/>
                </a:moveTo>
                <a:lnTo>
                  <a:pt x="271310" y="0"/>
                </a:lnTo>
                <a:cubicBezTo>
                  <a:pt x="308770" y="0"/>
                  <a:pt x="339138" y="30367"/>
                  <a:pt x="339138" y="67828"/>
                </a:cubicBezTo>
                <a:lnTo>
                  <a:pt x="339138" y="271310"/>
                </a:lnTo>
                <a:cubicBezTo>
                  <a:pt x="339138" y="308770"/>
                  <a:pt x="308770" y="339138"/>
                  <a:pt x="271310" y="339138"/>
                </a:cubicBezTo>
                <a:lnTo>
                  <a:pt x="67828" y="339138"/>
                </a:lnTo>
                <a:cubicBezTo>
                  <a:pt x="30367" y="339138"/>
                  <a:pt x="0" y="308770"/>
                  <a:pt x="0" y="271310"/>
                </a:cubicBezTo>
                <a:lnTo>
                  <a:pt x="0" y="67828"/>
                </a:lnTo>
                <a:cubicBezTo>
                  <a:pt x="0" y="30393"/>
                  <a:pt x="30393" y="0"/>
                  <a:pt x="67828" y="0"/>
                </a:cubicBezTo>
                <a:close/>
              </a:path>
            </a:pathLst>
          </a:custGeom>
          <a:solidFill>
            <a:srgbClr val="C8A265"/>
          </a:solidFill>
          <a:ln/>
        </p:spPr>
      </p:sp>
      <p:sp>
        <p:nvSpPr>
          <p:cNvPr id="45" name="Shape 42"/>
          <p:cNvSpPr/>
          <p:nvPr/>
        </p:nvSpPr>
        <p:spPr>
          <a:xfrm>
            <a:off x="5506616" y="4065413"/>
            <a:ext cx="135655" cy="135655"/>
          </a:xfrm>
          <a:custGeom>
            <a:avLst/>
            <a:gdLst/>
            <a:ahLst/>
            <a:cxnLst/>
            <a:rect l="l" t="t" r="r" b="b"/>
            <a:pathLst>
              <a:path w="135655" h="135655">
                <a:moveTo>
                  <a:pt x="17460" y="60541"/>
                </a:moveTo>
                <a:cubicBezTo>
                  <a:pt x="20984" y="35901"/>
                  <a:pt x="42207" y="16957"/>
                  <a:pt x="67828" y="16957"/>
                </a:cubicBezTo>
                <a:cubicBezTo>
                  <a:pt x="81870" y="16957"/>
                  <a:pt x="94588" y="22653"/>
                  <a:pt x="103808" y="31847"/>
                </a:cubicBezTo>
                <a:cubicBezTo>
                  <a:pt x="103861" y="31900"/>
                  <a:pt x="103914" y="31953"/>
                  <a:pt x="103967" y="32006"/>
                </a:cubicBezTo>
                <a:lnTo>
                  <a:pt x="105981" y="33914"/>
                </a:lnTo>
                <a:lnTo>
                  <a:pt x="93289" y="33914"/>
                </a:lnTo>
                <a:cubicBezTo>
                  <a:pt x="88600" y="33914"/>
                  <a:pt x="84811" y="37703"/>
                  <a:pt x="84811" y="42392"/>
                </a:cubicBezTo>
                <a:cubicBezTo>
                  <a:pt x="84811" y="47082"/>
                  <a:pt x="88600" y="50871"/>
                  <a:pt x="93289" y="50871"/>
                </a:cubicBezTo>
                <a:lnTo>
                  <a:pt x="127203" y="50871"/>
                </a:lnTo>
                <a:cubicBezTo>
                  <a:pt x="131893" y="50871"/>
                  <a:pt x="135682" y="47082"/>
                  <a:pt x="135682" y="42392"/>
                </a:cubicBezTo>
                <a:lnTo>
                  <a:pt x="135682" y="8478"/>
                </a:lnTo>
                <a:cubicBezTo>
                  <a:pt x="135682" y="3789"/>
                  <a:pt x="131893" y="0"/>
                  <a:pt x="127203" y="0"/>
                </a:cubicBezTo>
                <a:cubicBezTo>
                  <a:pt x="122513" y="0"/>
                  <a:pt x="118725" y="3789"/>
                  <a:pt x="118725" y="8478"/>
                </a:cubicBezTo>
                <a:lnTo>
                  <a:pt x="118725" y="22627"/>
                </a:lnTo>
                <a:lnTo>
                  <a:pt x="115731" y="19792"/>
                </a:lnTo>
                <a:cubicBezTo>
                  <a:pt x="103463" y="7578"/>
                  <a:pt x="86507" y="0"/>
                  <a:pt x="67828" y="0"/>
                </a:cubicBezTo>
                <a:cubicBezTo>
                  <a:pt x="33649" y="0"/>
                  <a:pt x="5379" y="25276"/>
                  <a:pt x="689" y="58157"/>
                </a:cubicBezTo>
                <a:cubicBezTo>
                  <a:pt x="26" y="62793"/>
                  <a:pt x="3232" y="67086"/>
                  <a:pt x="7869" y="67748"/>
                </a:cubicBezTo>
                <a:cubicBezTo>
                  <a:pt x="12506" y="68410"/>
                  <a:pt x="16798" y="65178"/>
                  <a:pt x="17460" y="60568"/>
                </a:cubicBezTo>
                <a:close/>
                <a:moveTo>
                  <a:pt x="134966" y="77498"/>
                </a:moveTo>
                <a:cubicBezTo>
                  <a:pt x="135629" y="72862"/>
                  <a:pt x="132396" y="68569"/>
                  <a:pt x="127786" y="67907"/>
                </a:cubicBezTo>
                <a:cubicBezTo>
                  <a:pt x="123176" y="67245"/>
                  <a:pt x="118857" y="70477"/>
                  <a:pt x="118195" y="75087"/>
                </a:cubicBezTo>
                <a:cubicBezTo>
                  <a:pt x="114671" y="99728"/>
                  <a:pt x="93448" y="118672"/>
                  <a:pt x="67828" y="118672"/>
                </a:cubicBezTo>
                <a:cubicBezTo>
                  <a:pt x="53785" y="118672"/>
                  <a:pt x="41067" y="112975"/>
                  <a:pt x="31847" y="103781"/>
                </a:cubicBezTo>
                <a:cubicBezTo>
                  <a:pt x="31794" y="103728"/>
                  <a:pt x="31741" y="103675"/>
                  <a:pt x="31688" y="103622"/>
                </a:cubicBezTo>
                <a:lnTo>
                  <a:pt x="29675" y="101715"/>
                </a:lnTo>
                <a:lnTo>
                  <a:pt x="42366" y="101715"/>
                </a:lnTo>
                <a:cubicBezTo>
                  <a:pt x="47055" y="101715"/>
                  <a:pt x="50844" y="97926"/>
                  <a:pt x="50844" y="93236"/>
                </a:cubicBezTo>
                <a:cubicBezTo>
                  <a:pt x="50844" y="88547"/>
                  <a:pt x="47055" y="84758"/>
                  <a:pt x="42366" y="84758"/>
                </a:cubicBezTo>
                <a:lnTo>
                  <a:pt x="8478" y="84784"/>
                </a:lnTo>
                <a:cubicBezTo>
                  <a:pt x="6226" y="84784"/>
                  <a:pt x="4054" y="85685"/>
                  <a:pt x="2464" y="87301"/>
                </a:cubicBezTo>
                <a:cubicBezTo>
                  <a:pt x="874" y="88918"/>
                  <a:pt x="-26" y="91064"/>
                  <a:pt x="0" y="93342"/>
                </a:cubicBezTo>
                <a:lnTo>
                  <a:pt x="265" y="126991"/>
                </a:lnTo>
                <a:cubicBezTo>
                  <a:pt x="291" y="131681"/>
                  <a:pt x="4133" y="135443"/>
                  <a:pt x="8823" y="135390"/>
                </a:cubicBezTo>
                <a:cubicBezTo>
                  <a:pt x="13513" y="135337"/>
                  <a:pt x="17275" y="131522"/>
                  <a:pt x="17222" y="126832"/>
                </a:cubicBezTo>
                <a:lnTo>
                  <a:pt x="17116" y="113187"/>
                </a:lnTo>
                <a:lnTo>
                  <a:pt x="19951" y="115863"/>
                </a:lnTo>
                <a:cubicBezTo>
                  <a:pt x="32218" y="128077"/>
                  <a:pt x="49148" y="135655"/>
                  <a:pt x="67828" y="135655"/>
                </a:cubicBezTo>
                <a:cubicBezTo>
                  <a:pt x="102006" y="135655"/>
                  <a:pt x="130277" y="110379"/>
                  <a:pt x="134966" y="77498"/>
                </a:cubicBezTo>
                <a:close/>
              </a:path>
            </a:pathLst>
          </a:custGeom>
          <a:solidFill>
            <a:srgbClr val="1A1D23"/>
          </a:solidFill>
          <a:ln/>
        </p:spPr>
      </p:sp>
      <p:sp>
        <p:nvSpPr>
          <p:cNvPr id="46" name="Text 43"/>
          <p:cNvSpPr/>
          <p:nvPr/>
        </p:nvSpPr>
        <p:spPr>
          <a:xfrm>
            <a:off x="5811840" y="4014542"/>
            <a:ext cx="1568512" cy="2373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35" b="1" dirty="0">
                <a:solidFill>
                  <a:srgbClr val="E0E2E6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Word Embeddings</a:t>
            </a:r>
            <a:endParaRPr lang="en-US" sz="1600" dirty="0"/>
          </a:p>
        </p:txBody>
      </p:sp>
      <p:sp>
        <p:nvSpPr>
          <p:cNvPr id="47" name="Text 44"/>
          <p:cNvSpPr/>
          <p:nvPr/>
        </p:nvSpPr>
        <p:spPr>
          <a:xfrm>
            <a:off x="5404874" y="4404551"/>
            <a:ext cx="3009847" cy="4408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68" dirty="0">
                <a:solidFill>
                  <a:srgbClr val="788A9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Representación vectorial de palabras en espacios multidimensionales.</a:t>
            </a:r>
            <a:endParaRPr lang="en-US" sz="1600" dirty="0"/>
          </a:p>
        </p:txBody>
      </p:sp>
      <p:sp>
        <p:nvSpPr>
          <p:cNvPr id="48" name="Shape 45"/>
          <p:cNvSpPr/>
          <p:nvPr/>
        </p:nvSpPr>
        <p:spPr>
          <a:xfrm>
            <a:off x="5421831" y="4972606"/>
            <a:ext cx="118698" cy="118698"/>
          </a:xfrm>
          <a:custGeom>
            <a:avLst/>
            <a:gdLst/>
            <a:ahLst/>
            <a:cxnLst/>
            <a:rect l="l" t="t" r="r" b="b"/>
            <a:pathLst>
              <a:path w="118698" h="118698">
                <a:moveTo>
                  <a:pt x="116519" y="64589"/>
                </a:moveTo>
                <a:cubicBezTo>
                  <a:pt x="119417" y="61691"/>
                  <a:pt x="119417" y="56984"/>
                  <a:pt x="116519" y="54087"/>
                </a:cubicBezTo>
                <a:lnTo>
                  <a:pt x="79426" y="16993"/>
                </a:lnTo>
                <a:cubicBezTo>
                  <a:pt x="76528" y="14095"/>
                  <a:pt x="71822" y="14095"/>
                  <a:pt x="68924" y="16993"/>
                </a:cubicBezTo>
                <a:cubicBezTo>
                  <a:pt x="66026" y="19891"/>
                  <a:pt x="66026" y="24597"/>
                  <a:pt x="68924" y="27495"/>
                </a:cubicBezTo>
                <a:lnTo>
                  <a:pt x="93359" y="51930"/>
                </a:lnTo>
                <a:lnTo>
                  <a:pt x="7419" y="51930"/>
                </a:lnTo>
                <a:cubicBezTo>
                  <a:pt x="3315" y="51930"/>
                  <a:pt x="0" y="55246"/>
                  <a:pt x="0" y="59349"/>
                </a:cubicBezTo>
                <a:cubicBezTo>
                  <a:pt x="0" y="63453"/>
                  <a:pt x="3315" y="66768"/>
                  <a:pt x="7419" y="66768"/>
                </a:cubicBezTo>
                <a:lnTo>
                  <a:pt x="93359" y="66768"/>
                </a:lnTo>
                <a:lnTo>
                  <a:pt x="68924" y="91203"/>
                </a:lnTo>
                <a:cubicBezTo>
                  <a:pt x="66026" y="94101"/>
                  <a:pt x="66026" y="98807"/>
                  <a:pt x="68924" y="101705"/>
                </a:cubicBezTo>
                <a:cubicBezTo>
                  <a:pt x="71822" y="104603"/>
                  <a:pt x="76528" y="104603"/>
                  <a:pt x="79426" y="101705"/>
                </a:cubicBezTo>
                <a:lnTo>
                  <a:pt x="116519" y="64612"/>
                </a:lnTo>
                <a:close/>
              </a:path>
            </a:pathLst>
          </a:custGeom>
          <a:solidFill>
            <a:srgbClr val="C8A265"/>
          </a:solidFill>
          <a:ln/>
        </p:spPr>
      </p:sp>
      <p:sp>
        <p:nvSpPr>
          <p:cNvPr id="49" name="Text 46"/>
          <p:cNvSpPr/>
          <p:nvPr/>
        </p:nvSpPr>
        <p:spPr>
          <a:xfrm>
            <a:off x="5621075" y="4947171"/>
            <a:ext cx="627405" cy="1695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35" dirty="0">
                <a:solidFill>
                  <a:srgbClr val="E0E2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Word2Vec</a:t>
            </a:r>
            <a:endParaRPr lang="en-US" sz="1600" dirty="0"/>
          </a:p>
        </p:txBody>
      </p:sp>
      <p:sp>
        <p:nvSpPr>
          <p:cNvPr id="50" name="Shape 47"/>
          <p:cNvSpPr/>
          <p:nvPr/>
        </p:nvSpPr>
        <p:spPr>
          <a:xfrm>
            <a:off x="5421831" y="5210003"/>
            <a:ext cx="118698" cy="118698"/>
          </a:xfrm>
          <a:custGeom>
            <a:avLst/>
            <a:gdLst/>
            <a:ahLst/>
            <a:cxnLst/>
            <a:rect l="l" t="t" r="r" b="b"/>
            <a:pathLst>
              <a:path w="118698" h="118698">
                <a:moveTo>
                  <a:pt x="116519" y="64589"/>
                </a:moveTo>
                <a:cubicBezTo>
                  <a:pt x="119417" y="61691"/>
                  <a:pt x="119417" y="56984"/>
                  <a:pt x="116519" y="54087"/>
                </a:cubicBezTo>
                <a:lnTo>
                  <a:pt x="79426" y="16993"/>
                </a:lnTo>
                <a:cubicBezTo>
                  <a:pt x="76528" y="14095"/>
                  <a:pt x="71822" y="14095"/>
                  <a:pt x="68924" y="16993"/>
                </a:cubicBezTo>
                <a:cubicBezTo>
                  <a:pt x="66026" y="19891"/>
                  <a:pt x="66026" y="24597"/>
                  <a:pt x="68924" y="27495"/>
                </a:cubicBezTo>
                <a:lnTo>
                  <a:pt x="93359" y="51930"/>
                </a:lnTo>
                <a:lnTo>
                  <a:pt x="7419" y="51930"/>
                </a:lnTo>
                <a:cubicBezTo>
                  <a:pt x="3315" y="51930"/>
                  <a:pt x="0" y="55246"/>
                  <a:pt x="0" y="59349"/>
                </a:cubicBezTo>
                <a:cubicBezTo>
                  <a:pt x="0" y="63453"/>
                  <a:pt x="3315" y="66768"/>
                  <a:pt x="7419" y="66768"/>
                </a:cubicBezTo>
                <a:lnTo>
                  <a:pt x="93359" y="66768"/>
                </a:lnTo>
                <a:lnTo>
                  <a:pt x="68924" y="91203"/>
                </a:lnTo>
                <a:cubicBezTo>
                  <a:pt x="66026" y="94101"/>
                  <a:pt x="66026" y="98807"/>
                  <a:pt x="68924" y="101705"/>
                </a:cubicBezTo>
                <a:cubicBezTo>
                  <a:pt x="71822" y="104603"/>
                  <a:pt x="76528" y="104603"/>
                  <a:pt x="79426" y="101705"/>
                </a:cubicBezTo>
                <a:lnTo>
                  <a:pt x="116519" y="64612"/>
                </a:lnTo>
                <a:close/>
              </a:path>
            </a:pathLst>
          </a:custGeom>
          <a:solidFill>
            <a:srgbClr val="C8A265"/>
          </a:solidFill>
          <a:ln/>
        </p:spPr>
      </p:sp>
      <p:sp>
        <p:nvSpPr>
          <p:cNvPr id="51" name="Text 48"/>
          <p:cNvSpPr/>
          <p:nvPr/>
        </p:nvSpPr>
        <p:spPr>
          <a:xfrm>
            <a:off x="5621075" y="5184567"/>
            <a:ext cx="390008" cy="1695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35" dirty="0">
                <a:solidFill>
                  <a:srgbClr val="E0E2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GloVe</a:t>
            </a:r>
            <a:endParaRPr lang="en-US" sz="1600" dirty="0"/>
          </a:p>
        </p:txBody>
      </p:sp>
      <p:sp>
        <p:nvSpPr>
          <p:cNvPr id="52" name="Shape 49"/>
          <p:cNvSpPr/>
          <p:nvPr/>
        </p:nvSpPr>
        <p:spPr>
          <a:xfrm>
            <a:off x="5421831" y="5447399"/>
            <a:ext cx="118698" cy="118698"/>
          </a:xfrm>
          <a:custGeom>
            <a:avLst/>
            <a:gdLst/>
            <a:ahLst/>
            <a:cxnLst/>
            <a:rect l="l" t="t" r="r" b="b"/>
            <a:pathLst>
              <a:path w="118698" h="118698">
                <a:moveTo>
                  <a:pt x="116519" y="64589"/>
                </a:moveTo>
                <a:cubicBezTo>
                  <a:pt x="119417" y="61691"/>
                  <a:pt x="119417" y="56984"/>
                  <a:pt x="116519" y="54087"/>
                </a:cubicBezTo>
                <a:lnTo>
                  <a:pt x="79426" y="16993"/>
                </a:lnTo>
                <a:cubicBezTo>
                  <a:pt x="76528" y="14095"/>
                  <a:pt x="71822" y="14095"/>
                  <a:pt x="68924" y="16993"/>
                </a:cubicBezTo>
                <a:cubicBezTo>
                  <a:pt x="66026" y="19891"/>
                  <a:pt x="66026" y="24597"/>
                  <a:pt x="68924" y="27495"/>
                </a:cubicBezTo>
                <a:lnTo>
                  <a:pt x="93359" y="51930"/>
                </a:lnTo>
                <a:lnTo>
                  <a:pt x="7419" y="51930"/>
                </a:lnTo>
                <a:cubicBezTo>
                  <a:pt x="3315" y="51930"/>
                  <a:pt x="0" y="55246"/>
                  <a:pt x="0" y="59349"/>
                </a:cubicBezTo>
                <a:cubicBezTo>
                  <a:pt x="0" y="63453"/>
                  <a:pt x="3315" y="66768"/>
                  <a:pt x="7419" y="66768"/>
                </a:cubicBezTo>
                <a:lnTo>
                  <a:pt x="93359" y="66768"/>
                </a:lnTo>
                <a:lnTo>
                  <a:pt x="68924" y="91203"/>
                </a:lnTo>
                <a:cubicBezTo>
                  <a:pt x="66026" y="94101"/>
                  <a:pt x="66026" y="98807"/>
                  <a:pt x="68924" y="101705"/>
                </a:cubicBezTo>
                <a:cubicBezTo>
                  <a:pt x="71822" y="104603"/>
                  <a:pt x="76528" y="104603"/>
                  <a:pt x="79426" y="101705"/>
                </a:cubicBezTo>
                <a:lnTo>
                  <a:pt x="116519" y="64612"/>
                </a:lnTo>
                <a:close/>
              </a:path>
            </a:pathLst>
          </a:custGeom>
          <a:solidFill>
            <a:srgbClr val="C8A265"/>
          </a:solidFill>
          <a:ln/>
        </p:spPr>
      </p:sp>
      <p:sp>
        <p:nvSpPr>
          <p:cNvPr id="53" name="Text 50"/>
          <p:cNvSpPr/>
          <p:nvPr/>
        </p:nvSpPr>
        <p:spPr>
          <a:xfrm>
            <a:off x="5621075" y="5421964"/>
            <a:ext cx="525663" cy="1695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35" dirty="0">
                <a:solidFill>
                  <a:srgbClr val="E0E2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FastText</a:t>
            </a:r>
            <a:endParaRPr lang="en-US" sz="1600" dirty="0"/>
          </a:p>
        </p:txBody>
      </p:sp>
      <p:sp>
        <p:nvSpPr>
          <p:cNvPr id="54" name="Shape 51"/>
          <p:cNvSpPr/>
          <p:nvPr/>
        </p:nvSpPr>
        <p:spPr>
          <a:xfrm>
            <a:off x="8629729" y="3823777"/>
            <a:ext cx="3221808" cy="1907650"/>
          </a:xfrm>
          <a:custGeom>
            <a:avLst/>
            <a:gdLst/>
            <a:ahLst/>
            <a:cxnLst/>
            <a:rect l="l" t="t" r="r" b="b"/>
            <a:pathLst>
              <a:path w="3221808" h="1907650">
                <a:moveTo>
                  <a:pt x="101735" y="0"/>
                </a:moveTo>
                <a:lnTo>
                  <a:pt x="3120073" y="0"/>
                </a:lnTo>
                <a:cubicBezTo>
                  <a:pt x="3176260" y="0"/>
                  <a:pt x="3221808" y="45548"/>
                  <a:pt x="3221808" y="101735"/>
                </a:cubicBezTo>
                <a:lnTo>
                  <a:pt x="3221808" y="1805915"/>
                </a:lnTo>
                <a:cubicBezTo>
                  <a:pt x="3221808" y="1862101"/>
                  <a:pt x="3176260" y="1907650"/>
                  <a:pt x="3120073" y="1907650"/>
                </a:cubicBezTo>
                <a:lnTo>
                  <a:pt x="101735" y="1907650"/>
                </a:lnTo>
                <a:cubicBezTo>
                  <a:pt x="45548" y="1907650"/>
                  <a:pt x="0" y="1862101"/>
                  <a:pt x="0" y="1805915"/>
                </a:cubicBezTo>
                <a:lnTo>
                  <a:pt x="0" y="101735"/>
                </a:lnTo>
                <a:cubicBezTo>
                  <a:pt x="0" y="45586"/>
                  <a:pt x="45586" y="0"/>
                  <a:pt x="101735" y="0"/>
                </a:cubicBezTo>
                <a:close/>
              </a:path>
            </a:pathLst>
          </a:custGeom>
          <a:solidFill>
            <a:srgbClr val="4A6D8C">
              <a:alpha val="10196"/>
            </a:srgbClr>
          </a:solidFill>
          <a:ln w="12700">
            <a:solidFill>
              <a:srgbClr val="4A6D8C">
                <a:alpha val="30196"/>
              </a:srgbClr>
            </a:solidFill>
            <a:prstDash val="solid"/>
          </a:ln>
        </p:spPr>
      </p:sp>
      <p:sp>
        <p:nvSpPr>
          <p:cNvPr id="55" name="Shape 52"/>
          <p:cNvSpPr/>
          <p:nvPr/>
        </p:nvSpPr>
        <p:spPr>
          <a:xfrm>
            <a:off x="8769624" y="3963672"/>
            <a:ext cx="339138" cy="339138"/>
          </a:xfrm>
          <a:custGeom>
            <a:avLst/>
            <a:gdLst/>
            <a:ahLst/>
            <a:cxnLst/>
            <a:rect l="l" t="t" r="r" b="b"/>
            <a:pathLst>
              <a:path w="339138" h="339138">
                <a:moveTo>
                  <a:pt x="67828" y="0"/>
                </a:moveTo>
                <a:lnTo>
                  <a:pt x="271310" y="0"/>
                </a:lnTo>
                <a:cubicBezTo>
                  <a:pt x="308770" y="0"/>
                  <a:pt x="339138" y="30367"/>
                  <a:pt x="339138" y="67828"/>
                </a:cubicBezTo>
                <a:lnTo>
                  <a:pt x="339138" y="271310"/>
                </a:lnTo>
                <a:cubicBezTo>
                  <a:pt x="339138" y="308770"/>
                  <a:pt x="308770" y="339138"/>
                  <a:pt x="271310" y="339138"/>
                </a:cubicBezTo>
                <a:lnTo>
                  <a:pt x="67828" y="339138"/>
                </a:lnTo>
                <a:cubicBezTo>
                  <a:pt x="30367" y="339138"/>
                  <a:pt x="0" y="308770"/>
                  <a:pt x="0" y="271310"/>
                </a:cubicBezTo>
                <a:lnTo>
                  <a:pt x="0" y="67828"/>
                </a:lnTo>
                <a:cubicBezTo>
                  <a:pt x="0" y="30393"/>
                  <a:pt x="30393" y="0"/>
                  <a:pt x="67828" y="0"/>
                </a:cubicBezTo>
                <a:close/>
              </a:path>
            </a:pathLst>
          </a:custGeom>
          <a:solidFill>
            <a:srgbClr val="C8A265"/>
          </a:solidFill>
          <a:ln/>
        </p:spPr>
      </p:sp>
      <p:sp>
        <p:nvSpPr>
          <p:cNvPr id="56" name="Shape 53"/>
          <p:cNvSpPr/>
          <p:nvPr/>
        </p:nvSpPr>
        <p:spPr>
          <a:xfrm>
            <a:off x="8879844" y="4065413"/>
            <a:ext cx="118698" cy="135655"/>
          </a:xfrm>
          <a:custGeom>
            <a:avLst/>
            <a:gdLst/>
            <a:ahLst/>
            <a:cxnLst/>
            <a:rect l="l" t="t" r="r" b="b"/>
            <a:pathLst>
              <a:path w="118698" h="135655">
                <a:moveTo>
                  <a:pt x="59349" y="16957"/>
                </a:moveTo>
                <a:cubicBezTo>
                  <a:pt x="38418" y="16957"/>
                  <a:pt x="21011" y="32139"/>
                  <a:pt x="17566" y="52116"/>
                </a:cubicBezTo>
                <a:cubicBezTo>
                  <a:pt x="20030" y="51321"/>
                  <a:pt x="22680" y="50871"/>
                  <a:pt x="25435" y="50871"/>
                </a:cubicBezTo>
                <a:lnTo>
                  <a:pt x="29675" y="50871"/>
                </a:lnTo>
                <a:cubicBezTo>
                  <a:pt x="36696" y="50871"/>
                  <a:pt x="42392" y="56567"/>
                  <a:pt x="42392" y="63588"/>
                </a:cubicBezTo>
                <a:lnTo>
                  <a:pt x="42392" y="89024"/>
                </a:lnTo>
                <a:cubicBezTo>
                  <a:pt x="42392" y="96045"/>
                  <a:pt x="36696" y="101741"/>
                  <a:pt x="29675" y="101741"/>
                </a:cubicBezTo>
                <a:lnTo>
                  <a:pt x="25435" y="101741"/>
                </a:lnTo>
                <a:cubicBezTo>
                  <a:pt x="11393" y="101741"/>
                  <a:pt x="0" y="90348"/>
                  <a:pt x="0" y="76306"/>
                </a:cubicBezTo>
                <a:lnTo>
                  <a:pt x="0" y="59349"/>
                </a:lnTo>
                <a:cubicBezTo>
                  <a:pt x="0" y="26575"/>
                  <a:pt x="26575" y="0"/>
                  <a:pt x="59349" y="0"/>
                </a:cubicBezTo>
                <a:cubicBezTo>
                  <a:pt x="92124" y="0"/>
                  <a:pt x="118698" y="26575"/>
                  <a:pt x="118698" y="59349"/>
                </a:cubicBezTo>
                <a:lnTo>
                  <a:pt x="118698" y="103887"/>
                </a:lnTo>
                <a:cubicBezTo>
                  <a:pt x="118698" y="121454"/>
                  <a:pt x="104444" y="135682"/>
                  <a:pt x="86878" y="135682"/>
                </a:cubicBezTo>
                <a:lnTo>
                  <a:pt x="63588" y="135655"/>
                </a:lnTo>
                <a:lnTo>
                  <a:pt x="55110" y="135655"/>
                </a:lnTo>
                <a:cubicBezTo>
                  <a:pt x="48089" y="135655"/>
                  <a:pt x="42392" y="129959"/>
                  <a:pt x="42392" y="122937"/>
                </a:cubicBezTo>
                <a:cubicBezTo>
                  <a:pt x="42392" y="115916"/>
                  <a:pt x="48089" y="110220"/>
                  <a:pt x="55110" y="110220"/>
                </a:cubicBezTo>
                <a:lnTo>
                  <a:pt x="63588" y="110220"/>
                </a:lnTo>
                <a:cubicBezTo>
                  <a:pt x="70610" y="110220"/>
                  <a:pt x="76306" y="115916"/>
                  <a:pt x="76306" y="122937"/>
                </a:cubicBezTo>
                <a:lnTo>
                  <a:pt x="76306" y="122937"/>
                </a:lnTo>
                <a:lnTo>
                  <a:pt x="86904" y="122937"/>
                </a:lnTo>
                <a:cubicBezTo>
                  <a:pt x="97449" y="122937"/>
                  <a:pt x="105981" y="114406"/>
                  <a:pt x="105981" y="103861"/>
                </a:cubicBezTo>
                <a:lnTo>
                  <a:pt x="105981" y="98323"/>
                </a:lnTo>
                <a:cubicBezTo>
                  <a:pt x="102245" y="100496"/>
                  <a:pt x="97900" y="101715"/>
                  <a:pt x="93263" y="101715"/>
                </a:cubicBezTo>
                <a:lnTo>
                  <a:pt x="89024" y="101715"/>
                </a:lnTo>
                <a:cubicBezTo>
                  <a:pt x="82002" y="101715"/>
                  <a:pt x="76306" y="96018"/>
                  <a:pt x="76306" y="88997"/>
                </a:cubicBezTo>
                <a:lnTo>
                  <a:pt x="76306" y="63562"/>
                </a:lnTo>
                <a:cubicBezTo>
                  <a:pt x="76306" y="56541"/>
                  <a:pt x="82002" y="50844"/>
                  <a:pt x="89024" y="50844"/>
                </a:cubicBezTo>
                <a:lnTo>
                  <a:pt x="93263" y="50844"/>
                </a:lnTo>
                <a:cubicBezTo>
                  <a:pt x="96018" y="50844"/>
                  <a:pt x="98641" y="51268"/>
                  <a:pt x="101132" y="52089"/>
                </a:cubicBezTo>
                <a:cubicBezTo>
                  <a:pt x="97688" y="32139"/>
                  <a:pt x="80307" y="16930"/>
                  <a:pt x="59349" y="16930"/>
                </a:cubicBezTo>
                <a:close/>
              </a:path>
            </a:pathLst>
          </a:custGeom>
          <a:solidFill>
            <a:srgbClr val="1A1D23"/>
          </a:solidFill>
          <a:ln/>
        </p:spPr>
      </p:sp>
      <p:sp>
        <p:nvSpPr>
          <p:cNvPr id="57" name="Text 54"/>
          <p:cNvSpPr/>
          <p:nvPr/>
        </p:nvSpPr>
        <p:spPr>
          <a:xfrm>
            <a:off x="9176589" y="4014542"/>
            <a:ext cx="822409" cy="2373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35" b="1" dirty="0">
                <a:solidFill>
                  <a:srgbClr val="E0E2E6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Chatbots</a:t>
            </a:r>
            <a:endParaRPr lang="en-US" sz="1600" dirty="0"/>
          </a:p>
        </p:txBody>
      </p:sp>
      <p:sp>
        <p:nvSpPr>
          <p:cNvPr id="58" name="Text 55"/>
          <p:cNvSpPr/>
          <p:nvPr/>
        </p:nvSpPr>
        <p:spPr>
          <a:xfrm>
            <a:off x="8769624" y="4404551"/>
            <a:ext cx="3009847" cy="4408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68" dirty="0">
                <a:solidFill>
                  <a:srgbClr val="788A9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Asistentes virtuales con respuestas automáticas inteligentes.</a:t>
            </a:r>
            <a:endParaRPr lang="en-US" sz="1600" dirty="0"/>
          </a:p>
        </p:txBody>
      </p:sp>
      <p:sp>
        <p:nvSpPr>
          <p:cNvPr id="59" name="Shape 56"/>
          <p:cNvSpPr/>
          <p:nvPr/>
        </p:nvSpPr>
        <p:spPr>
          <a:xfrm>
            <a:off x="8782341" y="4981085"/>
            <a:ext cx="101741" cy="101741"/>
          </a:xfrm>
          <a:custGeom>
            <a:avLst/>
            <a:gdLst/>
            <a:ahLst/>
            <a:cxnLst/>
            <a:rect l="l" t="t" r="r" b="b"/>
            <a:pathLst>
              <a:path w="101741" h="101741">
                <a:moveTo>
                  <a:pt x="0" y="50871"/>
                </a:moveTo>
                <a:cubicBezTo>
                  <a:pt x="0" y="22794"/>
                  <a:pt x="22794" y="0"/>
                  <a:pt x="50871" y="0"/>
                </a:cubicBezTo>
                <a:cubicBezTo>
                  <a:pt x="78947" y="0"/>
                  <a:pt x="101741" y="22794"/>
                  <a:pt x="101741" y="50871"/>
                </a:cubicBezTo>
                <a:cubicBezTo>
                  <a:pt x="101741" y="78947"/>
                  <a:pt x="78947" y="101741"/>
                  <a:pt x="50871" y="101741"/>
                </a:cubicBezTo>
                <a:cubicBezTo>
                  <a:pt x="22794" y="101741"/>
                  <a:pt x="0" y="78947"/>
                  <a:pt x="0" y="50871"/>
                </a:cubicBezTo>
                <a:close/>
              </a:path>
            </a:pathLst>
          </a:custGeom>
          <a:solidFill>
            <a:srgbClr val="C8A265"/>
          </a:solidFill>
          <a:ln/>
        </p:spPr>
      </p:sp>
      <p:sp>
        <p:nvSpPr>
          <p:cNvPr id="60" name="Text 57"/>
          <p:cNvSpPr/>
          <p:nvPr/>
        </p:nvSpPr>
        <p:spPr>
          <a:xfrm>
            <a:off x="8964628" y="4947171"/>
            <a:ext cx="1203939" cy="1695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35" dirty="0">
                <a:solidFill>
                  <a:srgbClr val="E0E2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Modelos Generativos</a:t>
            </a:r>
            <a:endParaRPr lang="en-US" sz="1600" dirty="0"/>
          </a:p>
        </p:txBody>
      </p:sp>
      <p:sp>
        <p:nvSpPr>
          <p:cNvPr id="61" name="Shape 58"/>
          <p:cNvSpPr/>
          <p:nvPr/>
        </p:nvSpPr>
        <p:spPr>
          <a:xfrm>
            <a:off x="8782341" y="5218481"/>
            <a:ext cx="101741" cy="101741"/>
          </a:xfrm>
          <a:custGeom>
            <a:avLst/>
            <a:gdLst/>
            <a:ahLst/>
            <a:cxnLst/>
            <a:rect l="l" t="t" r="r" b="b"/>
            <a:pathLst>
              <a:path w="101741" h="101741">
                <a:moveTo>
                  <a:pt x="0" y="50871"/>
                </a:moveTo>
                <a:cubicBezTo>
                  <a:pt x="0" y="22794"/>
                  <a:pt x="22794" y="0"/>
                  <a:pt x="50871" y="0"/>
                </a:cubicBezTo>
                <a:cubicBezTo>
                  <a:pt x="78947" y="0"/>
                  <a:pt x="101741" y="22794"/>
                  <a:pt x="101741" y="50871"/>
                </a:cubicBezTo>
                <a:cubicBezTo>
                  <a:pt x="101741" y="78947"/>
                  <a:pt x="78947" y="101741"/>
                  <a:pt x="50871" y="101741"/>
                </a:cubicBezTo>
                <a:cubicBezTo>
                  <a:pt x="22794" y="101741"/>
                  <a:pt x="0" y="78947"/>
                  <a:pt x="0" y="50871"/>
                </a:cubicBezTo>
                <a:close/>
              </a:path>
            </a:pathLst>
          </a:custGeom>
          <a:solidFill>
            <a:srgbClr val="C8A265"/>
          </a:solidFill>
          <a:ln/>
        </p:spPr>
      </p:sp>
      <p:sp>
        <p:nvSpPr>
          <p:cNvPr id="62" name="Text 59"/>
          <p:cNvSpPr/>
          <p:nvPr/>
        </p:nvSpPr>
        <p:spPr>
          <a:xfrm>
            <a:off x="8964628" y="5184567"/>
            <a:ext cx="1492206" cy="1695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35" dirty="0">
                <a:solidFill>
                  <a:srgbClr val="E0E2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Procesamiento de Diálogo</a:t>
            </a:r>
            <a:endParaRPr lang="en-US" sz="1600" dirty="0"/>
          </a:p>
        </p:txBody>
      </p:sp>
      <p:sp>
        <p:nvSpPr>
          <p:cNvPr id="63" name="Shape 60"/>
          <p:cNvSpPr/>
          <p:nvPr/>
        </p:nvSpPr>
        <p:spPr>
          <a:xfrm>
            <a:off x="8782341" y="5455878"/>
            <a:ext cx="101741" cy="101741"/>
          </a:xfrm>
          <a:custGeom>
            <a:avLst/>
            <a:gdLst/>
            <a:ahLst/>
            <a:cxnLst/>
            <a:rect l="l" t="t" r="r" b="b"/>
            <a:pathLst>
              <a:path w="101741" h="101741">
                <a:moveTo>
                  <a:pt x="0" y="50871"/>
                </a:moveTo>
                <a:cubicBezTo>
                  <a:pt x="0" y="22794"/>
                  <a:pt x="22794" y="0"/>
                  <a:pt x="50871" y="0"/>
                </a:cubicBezTo>
                <a:cubicBezTo>
                  <a:pt x="78947" y="0"/>
                  <a:pt x="101741" y="22794"/>
                  <a:pt x="101741" y="50871"/>
                </a:cubicBezTo>
                <a:cubicBezTo>
                  <a:pt x="101741" y="78947"/>
                  <a:pt x="78947" y="101741"/>
                  <a:pt x="50871" y="101741"/>
                </a:cubicBezTo>
                <a:cubicBezTo>
                  <a:pt x="22794" y="101741"/>
                  <a:pt x="0" y="78947"/>
                  <a:pt x="0" y="50871"/>
                </a:cubicBezTo>
                <a:close/>
              </a:path>
            </a:pathLst>
          </a:custGeom>
          <a:solidFill>
            <a:srgbClr val="C8A265"/>
          </a:solidFill>
          <a:ln/>
        </p:spPr>
      </p:sp>
      <p:sp>
        <p:nvSpPr>
          <p:cNvPr id="64" name="Text 61"/>
          <p:cNvSpPr/>
          <p:nvPr/>
        </p:nvSpPr>
        <p:spPr>
          <a:xfrm>
            <a:off x="8964628" y="5421964"/>
            <a:ext cx="1415900" cy="1695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35" dirty="0">
                <a:solidFill>
                  <a:srgbClr val="E0E2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Contexto Conversacional</a:t>
            </a:r>
            <a:endParaRPr lang="en-US" sz="1600" dirty="0"/>
          </a:p>
        </p:txBody>
      </p:sp>
      <p:sp>
        <p:nvSpPr>
          <p:cNvPr id="65" name="Shape 62"/>
          <p:cNvSpPr/>
          <p:nvPr/>
        </p:nvSpPr>
        <p:spPr>
          <a:xfrm>
            <a:off x="356095" y="5871321"/>
            <a:ext cx="11496768" cy="712189"/>
          </a:xfrm>
          <a:custGeom>
            <a:avLst/>
            <a:gdLst/>
            <a:ahLst/>
            <a:cxnLst/>
            <a:rect l="l" t="t" r="r" b="b"/>
            <a:pathLst>
              <a:path w="11496768" h="712189">
                <a:moveTo>
                  <a:pt x="33914" y="0"/>
                </a:moveTo>
                <a:lnTo>
                  <a:pt x="11428939" y="0"/>
                </a:lnTo>
                <a:cubicBezTo>
                  <a:pt x="11466400" y="0"/>
                  <a:pt x="11496768" y="30368"/>
                  <a:pt x="11496768" y="67829"/>
                </a:cubicBezTo>
                <a:lnTo>
                  <a:pt x="11496768" y="644360"/>
                </a:lnTo>
                <a:cubicBezTo>
                  <a:pt x="11496768" y="681821"/>
                  <a:pt x="11466400" y="712189"/>
                  <a:pt x="11428939" y="712189"/>
                </a:cubicBezTo>
                <a:lnTo>
                  <a:pt x="33914" y="712189"/>
                </a:lnTo>
                <a:cubicBezTo>
                  <a:pt x="15184" y="712189"/>
                  <a:pt x="0" y="697005"/>
                  <a:pt x="0" y="678275"/>
                </a:cubicBezTo>
                <a:lnTo>
                  <a:pt x="0" y="33914"/>
                </a:lnTo>
                <a:cubicBezTo>
                  <a:pt x="0" y="15196"/>
                  <a:pt x="15196" y="0"/>
                  <a:pt x="33914" y="0"/>
                </a:cubicBezTo>
                <a:close/>
              </a:path>
            </a:pathLst>
          </a:custGeom>
          <a:solidFill>
            <a:srgbClr val="C8A265">
              <a:alpha val="10196"/>
            </a:srgbClr>
          </a:solidFill>
          <a:ln/>
        </p:spPr>
      </p:sp>
      <p:sp>
        <p:nvSpPr>
          <p:cNvPr id="66" name="Shape 63"/>
          <p:cNvSpPr/>
          <p:nvPr/>
        </p:nvSpPr>
        <p:spPr>
          <a:xfrm>
            <a:off x="356095" y="5871321"/>
            <a:ext cx="33914" cy="712189"/>
          </a:xfrm>
          <a:custGeom>
            <a:avLst/>
            <a:gdLst/>
            <a:ahLst/>
            <a:cxnLst/>
            <a:rect l="l" t="t" r="r" b="b"/>
            <a:pathLst>
              <a:path w="33914" h="712189">
                <a:moveTo>
                  <a:pt x="33914" y="0"/>
                </a:moveTo>
                <a:lnTo>
                  <a:pt x="33914" y="0"/>
                </a:lnTo>
                <a:lnTo>
                  <a:pt x="33914" y="712189"/>
                </a:lnTo>
                <a:lnTo>
                  <a:pt x="33914" y="712189"/>
                </a:lnTo>
                <a:cubicBezTo>
                  <a:pt x="15184" y="712189"/>
                  <a:pt x="0" y="697005"/>
                  <a:pt x="0" y="678275"/>
                </a:cubicBezTo>
                <a:lnTo>
                  <a:pt x="0" y="33914"/>
                </a:lnTo>
                <a:cubicBezTo>
                  <a:pt x="0" y="15184"/>
                  <a:pt x="15184" y="0"/>
                  <a:pt x="33914" y="0"/>
                </a:cubicBezTo>
                <a:close/>
              </a:path>
            </a:pathLst>
          </a:custGeom>
          <a:solidFill>
            <a:srgbClr val="C8A265"/>
          </a:solidFill>
          <a:ln/>
        </p:spPr>
      </p:sp>
      <p:sp>
        <p:nvSpPr>
          <p:cNvPr id="67" name="Shape 64"/>
          <p:cNvSpPr/>
          <p:nvPr/>
        </p:nvSpPr>
        <p:spPr>
          <a:xfrm>
            <a:off x="559577" y="6125675"/>
            <a:ext cx="152612" cy="203483"/>
          </a:xfrm>
          <a:custGeom>
            <a:avLst/>
            <a:gdLst/>
            <a:ahLst/>
            <a:cxnLst/>
            <a:rect l="l" t="t" r="r" b="b"/>
            <a:pathLst>
              <a:path w="152612" h="203483">
                <a:moveTo>
                  <a:pt x="116406" y="152612"/>
                </a:moveTo>
                <a:cubicBezTo>
                  <a:pt x="119308" y="143749"/>
                  <a:pt x="125110" y="135721"/>
                  <a:pt x="131668" y="128806"/>
                </a:cubicBezTo>
                <a:cubicBezTo>
                  <a:pt x="144663" y="115135"/>
                  <a:pt x="152612" y="96654"/>
                  <a:pt x="152612" y="76306"/>
                </a:cubicBezTo>
                <a:cubicBezTo>
                  <a:pt x="152612" y="34179"/>
                  <a:pt x="118433" y="0"/>
                  <a:pt x="76306" y="0"/>
                </a:cubicBezTo>
                <a:cubicBezTo>
                  <a:pt x="34179" y="0"/>
                  <a:pt x="0" y="34179"/>
                  <a:pt x="0" y="76306"/>
                </a:cubicBezTo>
                <a:cubicBezTo>
                  <a:pt x="0" y="96654"/>
                  <a:pt x="7949" y="115135"/>
                  <a:pt x="20944" y="128806"/>
                </a:cubicBezTo>
                <a:cubicBezTo>
                  <a:pt x="27502" y="135721"/>
                  <a:pt x="33344" y="143749"/>
                  <a:pt x="36206" y="152612"/>
                </a:cubicBezTo>
                <a:lnTo>
                  <a:pt x="116367" y="152612"/>
                </a:lnTo>
                <a:close/>
                <a:moveTo>
                  <a:pt x="114459" y="171688"/>
                </a:moveTo>
                <a:lnTo>
                  <a:pt x="38153" y="171688"/>
                </a:lnTo>
                <a:lnTo>
                  <a:pt x="38153" y="178047"/>
                </a:lnTo>
                <a:cubicBezTo>
                  <a:pt x="38153" y="195614"/>
                  <a:pt x="52381" y="209841"/>
                  <a:pt x="69947" y="209841"/>
                </a:cubicBezTo>
                <a:lnTo>
                  <a:pt x="82665" y="209841"/>
                </a:lnTo>
                <a:cubicBezTo>
                  <a:pt x="100231" y="209841"/>
                  <a:pt x="114459" y="195614"/>
                  <a:pt x="114459" y="178047"/>
                </a:cubicBezTo>
                <a:lnTo>
                  <a:pt x="114459" y="171688"/>
                </a:lnTo>
                <a:close/>
                <a:moveTo>
                  <a:pt x="73127" y="44512"/>
                </a:moveTo>
                <a:cubicBezTo>
                  <a:pt x="57309" y="44512"/>
                  <a:pt x="44512" y="57309"/>
                  <a:pt x="44512" y="73127"/>
                </a:cubicBezTo>
                <a:cubicBezTo>
                  <a:pt x="44512" y="78412"/>
                  <a:pt x="40259" y="82665"/>
                  <a:pt x="34974" y="82665"/>
                </a:cubicBezTo>
                <a:cubicBezTo>
                  <a:pt x="29688" y="82665"/>
                  <a:pt x="25435" y="78412"/>
                  <a:pt x="25435" y="73127"/>
                </a:cubicBezTo>
                <a:cubicBezTo>
                  <a:pt x="25435" y="46777"/>
                  <a:pt x="46777" y="25435"/>
                  <a:pt x="73127" y="25435"/>
                </a:cubicBezTo>
                <a:cubicBezTo>
                  <a:pt x="78412" y="25435"/>
                  <a:pt x="82665" y="29688"/>
                  <a:pt x="82665" y="34974"/>
                </a:cubicBezTo>
                <a:cubicBezTo>
                  <a:pt x="82665" y="40259"/>
                  <a:pt x="78412" y="44512"/>
                  <a:pt x="73127" y="44512"/>
                </a:cubicBezTo>
                <a:close/>
              </a:path>
            </a:pathLst>
          </a:custGeom>
          <a:solidFill>
            <a:srgbClr val="C8A265"/>
          </a:solidFill>
          <a:ln/>
        </p:spPr>
      </p:sp>
      <p:sp>
        <p:nvSpPr>
          <p:cNvPr id="68" name="Text 65"/>
          <p:cNvSpPr/>
          <p:nvPr/>
        </p:nvSpPr>
        <p:spPr>
          <a:xfrm>
            <a:off x="864801" y="6125675"/>
            <a:ext cx="5790776" cy="2034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68" b="1" dirty="0">
                <a:solidFill>
                  <a:srgbClr val="C8A26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Impacto:</a:t>
            </a:r>
            <a:pPr>
              <a:lnSpc>
                <a:spcPct val="130000"/>
              </a:lnSpc>
            </a:pPr>
            <a:r>
              <a:rPr lang="en-US" sz="1068" dirty="0">
                <a:solidFill>
                  <a:srgbClr val="E0E2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Traducción automática, análisis de reseñas, asistentes virtuales, resumen de textos</a:t>
            </a:r>
            <a:endParaRPr lang="en-US" sz="1600" dirty="0"/>
          </a:p>
        </p:txBody>
      </p:sp>
      <p:sp>
        <p:nvSpPr>
          <p:cNvPr id="69" name="Text 66"/>
          <p:cNvSpPr/>
          <p:nvPr/>
        </p:nvSpPr>
        <p:spPr>
          <a:xfrm>
            <a:off x="10606001" y="6006976"/>
            <a:ext cx="1110676" cy="1695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935" dirty="0">
                <a:solidFill>
                  <a:srgbClr val="788A9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Mercado NLP 2026</a:t>
            </a:r>
            <a:endParaRPr lang="en-US" sz="1600" dirty="0"/>
          </a:p>
        </p:txBody>
      </p:sp>
      <p:sp>
        <p:nvSpPr>
          <p:cNvPr id="70" name="Text 67"/>
          <p:cNvSpPr/>
          <p:nvPr/>
        </p:nvSpPr>
        <p:spPr>
          <a:xfrm>
            <a:off x="10563609" y="6176545"/>
            <a:ext cx="1153068" cy="2713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10000"/>
              </a:lnSpc>
            </a:pPr>
            <a:r>
              <a:rPr lang="en-US" sz="1602" b="1" dirty="0">
                <a:solidFill>
                  <a:srgbClr val="C8A26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$127B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A1D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8811" y="370296"/>
            <a:ext cx="3017913" cy="370296"/>
          </a:xfrm>
          <a:custGeom>
            <a:avLst/>
            <a:gdLst/>
            <a:ahLst/>
            <a:cxnLst/>
            <a:rect l="l" t="t" r="r" b="b"/>
            <a:pathLst>
              <a:path w="3017913" h="370296">
                <a:moveTo>
                  <a:pt x="0" y="0"/>
                </a:moveTo>
                <a:lnTo>
                  <a:pt x="3017913" y="0"/>
                </a:lnTo>
                <a:lnTo>
                  <a:pt x="3017913" y="370296"/>
                </a:lnTo>
                <a:lnTo>
                  <a:pt x="0" y="370296"/>
                </a:lnTo>
                <a:lnTo>
                  <a:pt x="0" y="0"/>
                </a:lnTo>
                <a:close/>
              </a:path>
            </a:pathLst>
          </a:custGeom>
          <a:solidFill>
            <a:srgbClr val="4A6D8C">
              <a:alpha val="2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388811" y="370296"/>
            <a:ext cx="37030" cy="370296"/>
          </a:xfrm>
          <a:custGeom>
            <a:avLst/>
            <a:gdLst/>
            <a:ahLst/>
            <a:cxnLst/>
            <a:rect l="l" t="t" r="r" b="b"/>
            <a:pathLst>
              <a:path w="37030" h="370296">
                <a:moveTo>
                  <a:pt x="0" y="0"/>
                </a:moveTo>
                <a:lnTo>
                  <a:pt x="37030" y="0"/>
                </a:lnTo>
                <a:lnTo>
                  <a:pt x="37030" y="370296"/>
                </a:lnTo>
                <a:lnTo>
                  <a:pt x="0" y="370296"/>
                </a:lnTo>
                <a:lnTo>
                  <a:pt x="0" y="0"/>
                </a:lnTo>
                <a:close/>
              </a:path>
            </a:pathLst>
          </a:custGeom>
          <a:solidFill>
            <a:srgbClr val="C8A265"/>
          </a:solidFill>
          <a:ln/>
        </p:spPr>
      </p:sp>
      <p:sp>
        <p:nvSpPr>
          <p:cNvPr id="4" name="Text 2"/>
          <p:cNvSpPr/>
          <p:nvPr/>
        </p:nvSpPr>
        <p:spPr>
          <a:xfrm>
            <a:off x="592474" y="453613"/>
            <a:ext cx="2698967" cy="2036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66" b="1" spc="58" kern="0" dirty="0">
                <a:solidFill>
                  <a:srgbClr val="C8A26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04 • VISIÓN POR COMPUTADORA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370296" y="888711"/>
            <a:ext cx="11673585" cy="4443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499" b="1" dirty="0">
                <a:solidFill>
                  <a:srgbClr val="E0E2E6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Computer Vision (CV)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370296" y="1444155"/>
            <a:ext cx="11543982" cy="6017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458" dirty="0">
                <a:solidFill>
                  <a:srgbClr val="788A9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La visión por computadora se enfoca en la </a:t>
            </a:r>
            <a:pPr>
              <a:lnSpc>
                <a:spcPct val="140000"/>
              </a:lnSpc>
            </a:pPr>
            <a:r>
              <a:rPr lang="en-US" sz="1458" b="1" dirty="0">
                <a:solidFill>
                  <a:srgbClr val="C8A26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interpretación de imágenes y videos</a:t>
            </a:r>
            <a:pPr>
              <a:lnSpc>
                <a:spcPct val="140000"/>
              </a:lnSpc>
            </a:pPr>
            <a:r>
              <a:rPr lang="en-US" sz="1458" dirty="0">
                <a:solidFill>
                  <a:srgbClr val="788A9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por parte de las máquinas, permitiéndoles "ver" y comprender el mundo visual.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374925" y="2235663"/>
            <a:ext cx="3702961" cy="2675390"/>
          </a:xfrm>
          <a:custGeom>
            <a:avLst/>
            <a:gdLst/>
            <a:ahLst/>
            <a:cxnLst/>
            <a:rect l="l" t="t" r="r" b="b"/>
            <a:pathLst>
              <a:path w="3702961" h="2675390">
                <a:moveTo>
                  <a:pt x="111082" y="0"/>
                </a:moveTo>
                <a:lnTo>
                  <a:pt x="3591879" y="0"/>
                </a:lnTo>
                <a:cubicBezTo>
                  <a:pt x="3653228" y="0"/>
                  <a:pt x="3702961" y="49733"/>
                  <a:pt x="3702961" y="111082"/>
                </a:cubicBezTo>
                <a:lnTo>
                  <a:pt x="3702961" y="2564307"/>
                </a:lnTo>
                <a:cubicBezTo>
                  <a:pt x="3702961" y="2625656"/>
                  <a:pt x="3653228" y="2675390"/>
                  <a:pt x="3591879" y="2675390"/>
                </a:cubicBezTo>
                <a:lnTo>
                  <a:pt x="111082" y="2675390"/>
                </a:lnTo>
                <a:cubicBezTo>
                  <a:pt x="49733" y="2675390"/>
                  <a:pt x="0" y="2625656"/>
                  <a:pt x="0" y="2564307"/>
                </a:cubicBezTo>
                <a:lnTo>
                  <a:pt x="0" y="111082"/>
                </a:lnTo>
                <a:cubicBezTo>
                  <a:pt x="0" y="49733"/>
                  <a:pt x="49733" y="0"/>
                  <a:pt x="111082" y="0"/>
                </a:cubicBezTo>
                <a:close/>
              </a:path>
            </a:pathLst>
          </a:custGeom>
          <a:solidFill>
            <a:srgbClr val="4A6D8C">
              <a:alpha val="10196"/>
            </a:srgbClr>
          </a:solidFill>
          <a:ln w="12700">
            <a:solidFill>
              <a:srgbClr val="4A6D8C">
                <a:alpha val="30196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64702" y="2425440"/>
            <a:ext cx="444355" cy="444355"/>
          </a:xfrm>
          <a:custGeom>
            <a:avLst/>
            <a:gdLst/>
            <a:ahLst/>
            <a:cxnLst/>
            <a:rect l="l" t="t" r="r" b="b"/>
            <a:pathLst>
              <a:path w="444355" h="444355">
                <a:moveTo>
                  <a:pt x="74061" y="0"/>
                </a:moveTo>
                <a:lnTo>
                  <a:pt x="370295" y="0"/>
                </a:lnTo>
                <a:cubicBezTo>
                  <a:pt x="411197" y="0"/>
                  <a:pt x="444355" y="33158"/>
                  <a:pt x="444355" y="74061"/>
                </a:cubicBezTo>
                <a:lnTo>
                  <a:pt x="444355" y="370295"/>
                </a:lnTo>
                <a:cubicBezTo>
                  <a:pt x="444355" y="411197"/>
                  <a:pt x="411197" y="444355"/>
                  <a:pt x="370295" y="444355"/>
                </a:cubicBezTo>
                <a:lnTo>
                  <a:pt x="74061" y="444355"/>
                </a:lnTo>
                <a:cubicBezTo>
                  <a:pt x="33158" y="444355"/>
                  <a:pt x="0" y="411197"/>
                  <a:pt x="0" y="370295"/>
                </a:cubicBezTo>
                <a:lnTo>
                  <a:pt x="0" y="74061"/>
                </a:lnTo>
                <a:cubicBezTo>
                  <a:pt x="0" y="33158"/>
                  <a:pt x="33158" y="0"/>
                  <a:pt x="74061" y="0"/>
                </a:cubicBezTo>
                <a:close/>
              </a:path>
            </a:pathLst>
          </a:custGeom>
          <a:solidFill>
            <a:srgbClr val="C8A265"/>
          </a:solidFill>
          <a:ln/>
        </p:spPr>
      </p:sp>
      <p:sp>
        <p:nvSpPr>
          <p:cNvPr id="9" name="Shape 7"/>
          <p:cNvSpPr/>
          <p:nvPr/>
        </p:nvSpPr>
        <p:spPr>
          <a:xfrm>
            <a:off x="682733" y="2555043"/>
            <a:ext cx="208292" cy="185148"/>
          </a:xfrm>
          <a:custGeom>
            <a:avLst/>
            <a:gdLst/>
            <a:ahLst/>
            <a:cxnLst/>
            <a:rect l="l" t="t" r="r" b="b"/>
            <a:pathLst>
              <a:path w="208292" h="185148">
                <a:moveTo>
                  <a:pt x="89681" y="31822"/>
                </a:moveTo>
                <a:lnTo>
                  <a:pt x="118610" y="31822"/>
                </a:lnTo>
                <a:lnTo>
                  <a:pt x="118610" y="49180"/>
                </a:lnTo>
                <a:lnTo>
                  <a:pt x="89681" y="49180"/>
                </a:lnTo>
                <a:lnTo>
                  <a:pt x="89681" y="31822"/>
                </a:lnTo>
                <a:close/>
                <a:moveTo>
                  <a:pt x="86788" y="11572"/>
                </a:moveTo>
                <a:cubicBezTo>
                  <a:pt x="77205" y="11572"/>
                  <a:pt x="69431" y="19347"/>
                  <a:pt x="69431" y="28929"/>
                </a:cubicBezTo>
                <a:lnTo>
                  <a:pt x="69431" y="52073"/>
                </a:lnTo>
                <a:cubicBezTo>
                  <a:pt x="69431" y="61656"/>
                  <a:pt x="77205" y="69431"/>
                  <a:pt x="86788" y="69431"/>
                </a:cubicBezTo>
                <a:lnTo>
                  <a:pt x="92574" y="69431"/>
                </a:lnTo>
                <a:lnTo>
                  <a:pt x="92574" y="81002"/>
                </a:lnTo>
                <a:lnTo>
                  <a:pt x="11572" y="81002"/>
                </a:lnTo>
                <a:cubicBezTo>
                  <a:pt x="5171" y="81002"/>
                  <a:pt x="0" y="86173"/>
                  <a:pt x="0" y="92574"/>
                </a:cubicBezTo>
                <a:cubicBezTo>
                  <a:pt x="0" y="98975"/>
                  <a:pt x="5171" y="104146"/>
                  <a:pt x="11572" y="104146"/>
                </a:cubicBezTo>
                <a:lnTo>
                  <a:pt x="46287" y="104146"/>
                </a:lnTo>
                <a:lnTo>
                  <a:pt x="46287" y="115718"/>
                </a:lnTo>
                <a:lnTo>
                  <a:pt x="40501" y="115718"/>
                </a:lnTo>
                <a:cubicBezTo>
                  <a:pt x="30918" y="115718"/>
                  <a:pt x="23144" y="123492"/>
                  <a:pt x="23144" y="133075"/>
                </a:cubicBezTo>
                <a:lnTo>
                  <a:pt x="23144" y="156219"/>
                </a:lnTo>
                <a:cubicBezTo>
                  <a:pt x="23144" y="165802"/>
                  <a:pt x="30918" y="173576"/>
                  <a:pt x="40501" y="173576"/>
                </a:cubicBezTo>
                <a:lnTo>
                  <a:pt x="75216" y="173576"/>
                </a:lnTo>
                <a:cubicBezTo>
                  <a:pt x="84799" y="173576"/>
                  <a:pt x="92574" y="165802"/>
                  <a:pt x="92574" y="156219"/>
                </a:cubicBezTo>
                <a:lnTo>
                  <a:pt x="92574" y="133075"/>
                </a:lnTo>
                <a:cubicBezTo>
                  <a:pt x="92574" y="123492"/>
                  <a:pt x="84799" y="115718"/>
                  <a:pt x="75216" y="115718"/>
                </a:cubicBezTo>
                <a:lnTo>
                  <a:pt x="69431" y="115718"/>
                </a:lnTo>
                <a:lnTo>
                  <a:pt x="69431" y="104146"/>
                </a:lnTo>
                <a:lnTo>
                  <a:pt x="138861" y="104146"/>
                </a:lnTo>
                <a:lnTo>
                  <a:pt x="138861" y="115718"/>
                </a:lnTo>
                <a:lnTo>
                  <a:pt x="133075" y="115718"/>
                </a:lnTo>
                <a:cubicBezTo>
                  <a:pt x="123492" y="115718"/>
                  <a:pt x="115718" y="123492"/>
                  <a:pt x="115718" y="133075"/>
                </a:cubicBezTo>
                <a:lnTo>
                  <a:pt x="115718" y="156219"/>
                </a:lnTo>
                <a:cubicBezTo>
                  <a:pt x="115718" y="165802"/>
                  <a:pt x="123492" y="173576"/>
                  <a:pt x="133075" y="173576"/>
                </a:cubicBezTo>
                <a:lnTo>
                  <a:pt x="167790" y="173576"/>
                </a:lnTo>
                <a:cubicBezTo>
                  <a:pt x="177373" y="173576"/>
                  <a:pt x="185148" y="165802"/>
                  <a:pt x="185148" y="156219"/>
                </a:cubicBezTo>
                <a:lnTo>
                  <a:pt x="185148" y="133075"/>
                </a:lnTo>
                <a:cubicBezTo>
                  <a:pt x="185148" y="123492"/>
                  <a:pt x="177373" y="115718"/>
                  <a:pt x="167790" y="115718"/>
                </a:cubicBezTo>
                <a:lnTo>
                  <a:pt x="162005" y="115718"/>
                </a:lnTo>
                <a:lnTo>
                  <a:pt x="162005" y="104146"/>
                </a:lnTo>
                <a:lnTo>
                  <a:pt x="196720" y="104146"/>
                </a:lnTo>
                <a:cubicBezTo>
                  <a:pt x="203120" y="104146"/>
                  <a:pt x="208292" y="98975"/>
                  <a:pt x="208292" y="92574"/>
                </a:cubicBezTo>
                <a:cubicBezTo>
                  <a:pt x="208292" y="86173"/>
                  <a:pt x="203120" y="81002"/>
                  <a:pt x="196720" y="81002"/>
                </a:cubicBezTo>
                <a:lnTo>
                  <a:pt x="115718" y="81002"/>
                </a:lnTo>
                <a:lnTo>
                  <a:pt x="115718" y="69431"/>
                </a:lnTo>
                <a:lnTo>
                  <a:pt x="121503" y="69431"/>
                </a:lnTo>
                <a:cubicBezTo>
                  <a:pt x="131086" y="69431"/>
                  <a:pt x="138861" y="61656"/>
                  <a:pt x="138861" y="52073"/>
                </a:cubicBezTo>
                <a:lnTo>
                  <a:pt x="138861" y="28929"/>
                </a:lnTo>
                <a:cubicBezTo>
                  <a:pt x="138861" y="19347"/>
                  <a:pt x="131086" y="11572"/>
                  <a:pt x="121503" y="11572"/>
                </a:cubicBezTo>
                <a:lnTo>
                  <a:pt x="86788" y="11572"/>
                </a:lnTo>
                <a:close/>
                <a:moveTo>
                  <a:pt x="162005" y="135968"/>
                </a:moveTo>
                <a:lnTo>
                  <a:pt x="164897" y="135968"/>
                </a:lnTo>
                <a:lnTo>
                  <a:pt x="164897" y="153326"/>
                </a:lnTo>
                <a:lnTo>
                  <a:pt x="135968" y="153326"/>
                </a:lnTo>
                <a:lnTo>
                  <a:pt x="135968" y="135968"/>
                </a:lnTo>
                <a:lnTo>
                  <a:pt x="162005" y="135968"/>
                </a:lnTo>
                <a:close/>
                <a:moveTo>
                  <a:pt x="69431" y="135968"/>
                </a:moveTo>
                <a:lnTo>
                  <a:pt x="72323" y="135968"/>
                </a:lnTo>
                <a:lnTo>
                  <a:pt x="72323" y="153326"/>
                </a:lnTo>
                <a:lnTo>
                  <a:pt x="43394" y="153326"/>
                </a:lnTo>
                <a:lnTo>
                  <a:pt x="43394" y="135968"/>
                </a:lnTo>
                <a:lnTo>
                  <a:pt x="69431" y="135968"/>
                </a:lnTo>
                <a:close/>
              </a:path>
            </a:pathLst>
          </a:custGeom>
          <a:solidFill>
            <a:srgbClr val="1A1D23"/>
          </a:solidFill>
          <a:ln/>
        </p:spPr>
      </p:sp>
      <p:sp>
        <p:nvSpPr>
          <p:cNvPr id="10" name="Text 8"/>
          <p:cNvSpPr/>
          <p:nvPr/>
        </p:nvSpPr>
        <p:spPr>
          <a:xfrm>
            <a:off x="1120146" y="2499499"/>
            <a:ext cx="1953312" cy="2962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749" b="1" dirty="0">
                <a:solidFill>
                  <a:srgbClr val="E0E2E6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CNNs Avanzadas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564702" y="2980884"/>
            <a:ext cx="3397467" cy="4813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66" dirty="0">
                <a:solidFill>
                  <a:srgbClr val="788A9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Arquitecturas especializadas para detección y clasificación de objetos en tiempo real.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64702" y="3573358"/>
            <a:ext cx="3323408" cy="333267"/>
          </a:xfrm>
          <a:custGeom>
            <a:avLst/>
            <a:gdLst/>
            <a:ahLst/>
            <a:cxnLst/>
            <a:rect l="l" t="t" r="r" b="b"/>
            <a:pathLst>
              <a:path w="3323408" h="333267">
                <a:moveTo>
                  <a:pt x="37029" y="0"/>
                </a:moveTo>
                <a:lnTo>
                  <a:pt x="3286379" y="0"/>
                </a:lnTo>
                <a:cubicBezTo>
                  <a:pt x="3306829" y="0"/>
                  <a:pt x="3323408" y="16579"/>
                  <a:pt x="3323408" y="37029"/>
                </a:cubicBezTo>
                <a:lnTo>
                  <a:pt x="3323408" y="296237"/>
                </a:lnTo>
                <a:cubicBezTo>
                  <a:pt x="3323408" y="316688"/>
                  <a:pt x="3306829" y="333267"/>
                  <a:pt x="3286379" y="333267"/>
                </a:cubicBezTo>
                <a:lnTo>
                  <a:pt x="37029" y="333267"/>
                </a:lnTo>
                <a:cubicBezTo>
                  <a:pt x="16579" y="333267"/>
                  <a:pt x="0" y="316688"/>
                  <a:pt x="0" y="296237"/>
                </a:cubicBezTo>
                <a:lnTo>
                  <a:pt x="0" y="37029"/>
                </a:lnTo>
                <a:cubicBezTo>
                  <a:pt x="0" y="16579"/>
                  <a:pt x="16579" y="0"/>
                  <a:pt x="37029" y="0"/>
                </a:cubicBezTo>
                <a:close/>
              </a:path>
            </a:pathLst>
          </a:custGeom>
          <a:solidFill>
            <a:srgbClr val="4A6D8C">
              <a:alpha val="20000"/>
            </a:srgbClr>
          </a:solidFill>
          <a:ln/>
        </p:spPr>
      </p:sp>
      <p:sp>
        <p:nvSpPr>
          <p:cNvPr id="13" name="Text 11"/>
          <p:cNvSpPr/>
          <p:nvPr/>
        </p:nvSpPr>
        <p:spPr>
          <a:xfrm>
            <a:off x="638761" y="3647417"/>
            <a:ext cx="490642" cy="1851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21" b="1" dirty="0">
                <a:solidFill>
                  <a:srgbClr val="E0E2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ResNet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3314150" y="3665932"/>
            <a:ext cx="555444" cy="1481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875" dirty="0">
                <a:solidFill>
                  <a:srgbClr val="C8A26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152 capas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564702" y="3980683"/>
            <a:ext cx="3323408" cy="333267"/>
          </a:xfrm>
          <a:custGeom>
            <a:avLst/>
            <a:gdLst/>
            <a:ahLst/>
            <a:cxnLst/>
            <a:rect l="l" t="t" r="r" b="b"/>
            <a:pathLst>
              <a:path w="3323408" h="333267">
                <a:moveTo>
                  <a:pt x="37029" y="0"/>
                </a:moveTo>
                <a:lnTo>
                  <a:pt x="3286379" y="0"/>
                </a:lnTo>
                <a:cubicBezTo>
                  <a:pt x="3306829" y="0"/>
                  <a:pt x="3323408" y="16579"/>
                  <a:pt x="3323408" y="37029"/>
                </a:cubicBezTo>
                <a:lnTo>
                  <a:pt x="3323408" y="296237"/>
                </a:lnTo>
                <a:cubicBezTo>
                  <a:pt x="3323408" y="316688"/>
                  <a:pt x="3306829" y="333267"/>
                  <a:pt x="3286379" y="333267"/>
                </a:cubicBezTo>
                <a:lnTo>
                  <a:pt x="37029" y="333267"/>
                </a:lnTo>
                <a:cubicBezTo>
                  <a:pt x="16579" y="333267"/>
                  <a:pt x="0" y="316688"/>
                  <a:pt x="0" y="296237"/>
                </a:cubicBezTo>
                <a:lnTo>
                  <a:pt x="0" y="37029"/>
                </a:lnTo>
                <a:cubicBezTo>
                  <a:pt x="0" y="16579"/>
                  <a:pt x="16579" y="0"/>
                  <a:pt x="37029" y="0"/>
                </a:cubicBezTo>
                <a:close/>
              </a:path>
            </a:pathLst>
          </a:custGeom>
          <a:solidFill>
            <a:srgbClr val="4A6D8C">
              <a:alpha val="20000"/>
            </a:srgbClr>
          </a:solidFill>
          <a:ln/>
        </p:spPr>
      </p:sp>
      <p:sp>
        <p:nvSpPr>
          <p:cNvPr id="16" name="Text 14"/>
          <p:cNvSpPr/>
          <p:nvPr/>
        </p:nvSpPr>
        <p:spPr>
          <a:xfrm>
            <a:off x="638761" y="4054743"/>
            <a:ext cx="342524" cy="1851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21" b="1" dirty="0">
                <a:solidFill>
                  <a:srgbClr val="E0E2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VGG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3216514" y="4073257"/>
            <a:ext cx="657276" cy="1481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875" dirty="0">
                <a:solidFill>
                  <a:srgbClr val="C8A26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16-19 capas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564702" y="4388009"/>
            <a:ext cx="3323408" cy="333267"/>
          </a:xfrm>
          <a:custGeom>
            <a:avLst/>
            <a:gdLst/>
            <a:ahLst/>
            <a:cxnLst/>
            <a:rect l="l" t="t" r="r" b="b"/>
            <a:pathLst>
              <a:path w="3323408" h="333267">
                <a:moveTo>
                  <a:pt x="37029" y="0"/>
                </a:moveTo>
                <a:lnTo>
                  <a:pt x="3286379" y="0"/>
                </a:lnTo>
                <a:cubicBezTo>
                  <a:pt x="3306829" y="0"/>
                  <a:pt x="3323408" y="16579"/>
                  <a:pt x="3323408" y="37029"/>
                </a:cubicBezTo>
                <a:lnTo>
                  <a:pt x="3323408" y="296237"/>
                </a:lnTo>
                <a:cubicBezTo>
                  <a:pt x="3323408" y="316688"/>
                  <a:pt x="3306829" y="333267"/>
                  <a:pt x="3286379" y="333267"/>
                </a:cubicBezTo>
                <a:lnTo>
                  <a:pt x="37029" y="333267"/>
                </a:lnTo>
                <a:cubicBezTo>
                  <a:pt x="16579" y="333267"/>
                  <a:pt x="0" y="316688"/>
                  <a:pt x="0" y="296237"/>
                </a:cubicBezTo>
                <a:lnTo>
                  <a:pt x="0" y="37029"/>
                </a:lnTo>
                <a:cubicBezTo>
                  <a:pt x="0" y="16579"/>
                  <a:pt x="16579" y="0"/>
                  <a:pt x="37029" y="0"/>
                </a:cubicBezTo>
                <a:close/>
              </a:path>
            </a:pathLst>
          </a:custGeom>
          <a:solidFill>
            <a:srgbClr val="4A6D8C">
              <a:alpha val="20000"/>
            </a:srgbClr>
          </a:solidFill>
          <a:ln/>
        </p:spPr>
      </p:sp>
      <p:sp>
        <p:nvSpPr>
          <p:cNvPr id="19" name="Text 17"/>
          <p:cNvSpPr/>
          <p:nvPr/>
        </p:nvSpPr>
        <p:spPr>
          <a:xfrm>
            <a:off x="638761" y="4462068"/>
            <a:ext cx="416583" cy="1851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21" b="1" dirty="0">
                <a:solidFill>
                  <a:srgbClr val="E0E2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YOLO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2529441" y="4480583"/>
            <a:ext cx="1342323" cy="1481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875" dirty="0">
                <a:solidFill>
                  <a:srgbClr val="C8A26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Detección en tiempo real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4236274" y="2235663"/>
            <a:ext cx="3702961" cy="2675390"/>
          </a:xfrm>
          <a:custGeom>
            <a:avLst/>
            <a:gdLst/>
            <a:ahLst/>
            <a:cxnLst/>
            <a:rect l="l" t="t" r="r" b="b"/>
            <a:pathLst>
              <a:path w="3702961" h="2675390">
                <a:moveTo>
                  <a:pt x="111082" y="0"/>
                </a:moveTo>
                <a:lnTo>
                  <a:pt x="3591879" y="0"/>
                </a:lnTo>
                <a:cubicBezTo>
                  <a:pt x="3653228" y="0"/>
                  <a:pt x="3702961" y="49733"/>
                  <a:pt x="3702961" y="111082"/>
                </a:cubicBezTo>
                <a:lnTo>
                  <a:pt x="3702961" y="2564307"/>
                </a:lnTo>
                <a:cubicBezTo>
                  <a:pt x="3702961" y="2625656"/>
                  <a:pt x="3653228" y="2675390"/>
                  <a:pt x="3591879" y="2675390"/>
                </a:cubicBezTo>
                <a:lnTo>
                  <a:pt x="111082" y="2675390"/>
                </a:lnTo>
                <a:cubicBezTo>
                  <a:pt x="49733" y="2675390"/>
                  <a:pt x="0" y="2625656"/>
                  <a:pt x="0" y="2564307"/>
                </a:cubicBezTo>
                <a:lnTo>
                  <a:pt x="0" y="111082"/>
                </a:lnTo>
                <a:cubicBezTo>
                  <a:pt x="0" y="49733"/>
                  <a:pt x="49733" y="0"/>
                  <a:pt x="111082" y="0"/>
                </a:cubicBezTo>
                <a:close/>
              </a:path>
            </a:pathLst>
          </a:custGeom>
          <a:solidFill>
            <a:srgbClr val="4A6D8C">
              <a:alpha val="10196"/>
            </a:srgbClr>
          </a:solidFill>
          <a:ln w="12700">
            <a:solidFill>
              <a:srgbClr val="4A6D8C">
                <a:alpha val="30196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426051" y="2425440"/>
            <a:ext cx="444355" cy="444355"/>
          </a:xfrm>
          <a:custGeom>
            <a:avLst/>
            <a:gdLst/>
            <a:ahLst/>
            <a:cxnLst/>
            <a:rect l="l" t="t" r="r" b="b"/>
            <a:pathLst>
              <a:path w="444355" h="444355">
                <a:moveTo>
                  <a:pt x="74061" y="0"/>
                </a:moveTo>
                <a:lnTo>
                  <a:pt x="370295" y="0"/>
                </a:lnTo>
                <a:cubicBezTo>
                  <a:pt x="411197" y="0"/>
                  <a:pt x="444355" y="33158"/>
                  <a:pt x="444355" y="74061"/>
                </a:cubicBezTo>
                <a:lnTo>
                  <a:pt x="444355" y="370295"/>
                </a:lnTo>
                <a:cubicBezTo>
                  <a:pt x="444355" y="411197"/>
                  <a:pt x="411197" y="444355"/>
                  <a:pt x="370295" y="444355"/>
                </a:cubicBezTo>
                <a:lnTo>
                  <a:pt x="74061" y="444355"/>
                </a:lnTo>
                <a:cubicBezTo>
                  <a:pt x="33158" y="444355"/>
                  <a:pt x="0" y="411197"/>
                  <a:pt x="0" y="370295"/>
                </a:cubicBezTo>
                <a:lnTo>
                  <a:pt x="0" y="74061"/>
                </a:lnTo>
                <a:cubicBezTo>
                  <a:pt x="0" y="33158"/>
                  <a:pt x="33158" y="0"/>
                  <a:pt x="74061" y="0"/>
                </a:cubicBezTo>
                <a:close/>
              </a:path>
            </a:pathLst>
          </a:custGeom>
          <a:solidFill>
            <a:srgbClr val="C8A265"/>
          </a:solidFill>
          <a:ln/>
        </p:spPr>
      </p:sp>
      <p:sp>
        <p:nvSpPr>
          <p:cNvPr id="23" name="Shape 21"/>
          <p:cNvSpPr/>
          <p:nvPr/>
        </p:nvSpPr>
        <p:spPr>
          <a:xfrm>
            <a:off x="4544083" y="2555043"/>
            <a:ext cx="208292" cy="185148"/>
          </a:xfrm>
          <a:custGeom>
            <a:avLst/>
            <a:gdLst/>
            <a:ahLst/>
            <a:cxnLst/>
            <a:rect l="l" t="t" r="r" b="b"/>
            <a:pathLst>
              <a:path w="208292" h="185148">
                <a:moveTo>
                  <a:pt x="11572" y="43177"/>
                </a:moveTo>
                <a:cubicBezTo>
                  <a:pt x="4665" y="39199"/>
                  <a:pt x="0" y="31714"/>
                  <a:pt x="0" y="23144"/>
                </a:cubicBezTo>
                <a:cubicBezTo>
                  <a:pt x="0" y="10378"/>
                  <a:pt x="10378" y="0"/>
                  <a:pt x="23144" y="0"/>
                </a:cubicBezTo>
                <a:cubicBezTo>
                  <a:pt x="31714" y="0"/>
                  <a:pt x="39199" y="4665"/>
                  <a:pt x="43177" y="11572"/>
                </a:cubicBezTo>
                <a:lnTo>
                  <a:pt x="165078" y="11572"/>
                </a:lnTo>
                <a:cubicBezTo>
                  <a:pt x="169092" y="4665"/>
                  <a:pt x="176542" y="0"/>
                  <a:pt x="185112" y="0"/>
                </a:cubicBezTo>
                <a:cubicBezTo>
                  <a:pt x="197877" y="0"/>
                  <a:pt x="208255" y="10378"/>
                  <a:pt x="208255" y="23144"/>
                </a:cubicBezTo>
                <a:cubicBezTo>
                  <a:pt x="208255" y="31714"/>
                  <a:pt x="203591" y="39199"/>
                  <a:pt x="196684" y="43177"/>
                </a:cubicBezTo>
                <a:lnTo>
                  <a:pt x="196684" y="141935"/>
                </a:lnTo>
                <a:cubicBezTo>
                  <a:pt x="203591" y="145949"/>
                  <a:pt x="208255" y="153398"/>
                  <a:pt x="208255" y="161968"/>
                </a:cubicBezTo>
                <a:cubicBezTo>
                  <a:pt x="208255" y="174733"/>
                  <a:pt x="197877" y="185112"/>
                  <a:pt x="185112" y="185112"/>
                </a:cubicBezTo>
                <a:cubicBezTo>
                  <a:pt x="176542" y="185112"/>
                  <a:pt x="169056" y="180447"/>
                  <a:pt x="165078" y="173540"/>
                </a:cubicBezTo>
                <a:lnTo>
                  <a:pt x="43177" y="173540"/>
                </a:lnTo>
                <a:cubicBezTo>
                  <a:pt x="39163" y="180447"/>
                  <a:pt x="31714" y="185112"/>
                  <a:pt x="23144" y="185112"/>
                </a:cubicBezTo>
                <a:cubicBezTo>
                  <a:pt x="10378" y="185112"/>
                  <a:pt x="0" y="174733"/>
                  <a:pt x="0" y="161968"/>
                </a:cubicBezTo>
                <a:cubicBezTo>
                  <a:pt x="0" y="153398"/>
                  <a:pt x="4665" y="145913"/>
                  <a:pt x="11572" y="141935"/>
                </a:cubicBezTo>
                <a:lnTo>
                  <a:pt x="11572" y="43177"/>
                </a:lnTo>
                <a:close/>
                <a:moveTo>
                  <a:pt x="173576" y="43177"/>
                </a:moveTo>
                <a:cubicBezTo>
                  <a:pt x="170069" y="41152"/>
                  <a:pt x="167140" y="38223"/>
                  <a:pt x="165114" y="34715"/>
                </a:cubicBezTo>
                <a:lnTo>
                  <a:pt x="43177" y="34715"/>
                </a:lnTo>
                <a:cubicBezTo>
                  <a:pt x="41152" y="38223"/>
                  <a:pt x="38223" y="41152"/>
                  <a:pt x="34715" y="43177"/>
                </a:cubicBezTo>
                <a:lnTo>
                  <a:pt x="34715" y="141935"/>
                </a:lnTo>
                <a:cubicBezTo>
                  <a:pt x="38223" y="143960"/>
                  <a:pt x="41152" y="146889"/>
                  <a:pt x="43177" y="150397"/>
                </a:cubicBezTo>
                <a:lnTo>
                  <a:pt x="165078" y="150397"/>
                </a:lnTo>
                <a:cubicBezTo>
                  <a:pt x="167103" y="146889"/>
                  <a:pt x="170032" y="143960"/>
                  <a:pt x="173540" y="141935"/>
                </a:cubicBezTo>
                <a:lnTo>
                  <a:pt x="173540" y="43177"/>
                </a:lnTo>
                <a:close/>
                <a:moveTo>
                  <a:pt x="52073" y="63645"/>
                </a:moveTo>
                <a:cubicBezTo>
                  <a:pt x="52073" y="57244"/>
                  <a:pt x="57244" y="52073"/>
                  <a:pt x="63645" y="52073"/>
                </a:cubicBezTo>
                <a:lnTo>
                  <a:pt x="104146" y="52073"/>
                </a:lnTo>
                <a:cubicBezTo>
                  <a:pt x="110546" y="52073"/>
                  <a:pt x="115718" y="57244"/>
                  <a:pt x="115718" y="63645"/>
                </a:cubicBezTo>
                <a:lnTo>
                  <a:pt x="115718" y="86788"/>
                </a:lnTo>
                <a:cubicBezTo>
                  <a:pt x="115718" y="93189"/>
                  <a:pt x="110546" y="98360"/>
                  <a:pt x="104146" y="98360"/>
                </a:cubicBezTo>
                <a:lnTo>
                  <a:pt x="63645" y="98360"/>
                </a:lnTo>
                <a:cubicBezTo>
                  <a:pt x="57244" y="98360"/>
                  <a:pt x="52073" y="93189"/>
                  <a:pt x="52073" y="86788"/>
                </a:cubicBezTo>
                <a:lnTo>
                  <a:pt x="52073" y="63645"/>
                </a:lnTo>
                <a:close/>
                <a:moveTo>
                  <a:pt x="92574" y="115718"/>
                </a:moveTo>
                <a:lnTo>
                  <a:pt x="104146" y="115718"/>
                </a:lnTo>
                <a:cubicBezTo>
                  <a:pt x="120129" y="115718"/>
                  <a:pt x="133075" y="102772"/>
                  <a:pt x="133075" y="86788"/>
                </a:cubicBezTo>
                <a:lnTo>
                  <a:pt x="144647" y="86788"/>
                </a:lnTo>
                <a:cubicBezTo>
                  <a:pt x="151048" y="86788"/>
                  <a:pt x="156219" y="91959"/>
                  <a:pt x="156219" y="98360"/>
                </a:cubicBezTo>
                <a:lnTo>
                  <a:pt x="156219" y="121503"/>
                </a:lnTo>
                <a:cubicBezTo>
                  <a:pt x="156219" y="127904"/>
                  <a:pt x="151048" y="133075"/>
                  <a:pt x="144647" y="133075"/>
                </a:cubicBezTo>
                <a:lnTo>
                  <a:pt x="104146" y="133075"/>
                </a:lnTo>
                <a:cubicBezTo>
                  <a:pt x="97745" y="133075"/>
                  <a:pt x="92574" y="127904"/>
                  <a:pt x="92574" y="121503"/>
                </a:cubicBezTo>
                <a:lnTo>
                  <a:pt x="92574" y="115718"/>
                </a:lnTo>
                <a:close/>
              </a:path>
            </a:pathLst>
          </a:custGeom>
          <a:solidFill>
            <a:srgbClr val="1A1D23"/>
          </a:solidFill>
          <a:ln/>
        </p:spPr>
      </p:sp>
      <p:sp>
        <p:nvSpPr>
          <p:cNvPr id="24" name="Text 22"/>
          <p:cNvSpPr/>
          <p:nvPr/>
        </p:nvSpPr>
        <p:spPr>
          <a:xfrm>
            <a:off x="4981495" y="2499499"/>
            <a:ext cx="1610788" cy="2962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749" b="1" dirty="0">
                <a:solidFill>
                  <a:srgbClr val="E0E2E6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Segmentación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4426051" y="2980884"/>
            <a:ext cx="3397467" cy="4813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66" dirty="0">
                <a:solidFill>
                  <a:srgbClr val="788A9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Clasificación de cada píxel en la imagen para identificación precisa de objetos.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4426051" y="3573358"/>
            <a:ext cx="3323408" cy="333267"/>
          </a:xfrm>
          <a:custGeom>
            <a:avLst/>
            <a:gdLst/>
            <a:ahLst/>
            <a:cxnLst/>
            <a:rect l="l" t="t" r="r" b="b"/>
            <a:pathLst>
              <a:path w="3323408" h="333267">
                <a:moveTo>
                  <a:pt x="37029" y="0"/>
                </a:moveTo>
                <a:lnTo>
                  <a:pt x="3286379" y="0"/>
                </a:lnTo>
                <a:cubicBezTo>
                  <a:pt x="3306829" y="0"/>
                  <a:pt x="3323408" y="16579"/>
                  <a:pt x="3323408" y="37029"/>
                </a:cubicBezTo>
                <a:lnTo>
                  <a:pt x="3323408" y="296237"/>
                </a:lnTo>
                <a:cubicBezTo>
                  <a:pt x="3323408" y="316688"/>
                  <a:pt x="3306829" y="333267"/>
                  <a:pt x="3286379" y="333267"/>
                </a:cubicBezTo>
                <a:lnTo>
                  <a:pt x="37029" y="333267"/>
                </a:lnTo>
                <a:cubicBezTo>
                  <a:pt x="16579" y="333267"/>
                  <a:pt x="0" y="316688"/>
                  <a:pt x="0" y="296237"/>
                </a:cubicBezTo>
                <a:lnTo>
                  <a:pt x="0" y="37029"/>
                </a:lnTo>
                <a:cubicBezTo>
                  <a:pt x="0" y="16579"/>
                  <a:pt x="16579" y="0"/>
                  <a:pt x="37029" y="0"/>
                </a:cubicBezTo>
                <a:close/>
              </a:path>
            </a:pathLst>
          </a:custGeom>
          <a:solidFill>
            <a:srgbClr val="4A6D8C">
              <a:alpha val="20000"/>
            </a:srgbClr>
          </a:solidFill>
          <a:ln/>
        </p:spPr>
      </p:sp>
      <p:sp>
        <p:nvSpPr>
          <p:cNvPr id="27" name="Shape 25"/>
          <p:cNvSpPr/>
          <p:nvPr/>
        </p:nvSpPr>
        <p:spPr>
          <a:xfrm>
            <a:off x="4526726" y="3675189"/>
            <a:ext cx="113403" cy="129604"/>
          </a:xfrm>
          <a:custGeom>
            <a:avLst/>
            <a:gdLst/>
            <a:ahLst/>
            <a:cxnLst/>
            <a:rect l="l" t="t" r="r" b="b"/>
            <a:pathLst>
              <a:path w="113403" h="129604">
                <a:moveTo>
                  <a:pt x="97203" y="24301"/>
                </a:moveTo>
                <a:lnTo>
                  <a:pt x="97203" y="40501"/>
                </a:lnTo>
                <a:lnTo>
                  <a:pt x="81002" y="40501"/>
                </a:lnTo>
                <a:lnTo>
                  <a:pt x="81002" y="24301"/>
                </a:lnTo>
                <a:lnTo>
                  <a:pt x="97203" y="24301"/>
                </a:lnTo>
                <a:close/>
                <a:moveTo>
                  <a:pt x="97203" y="56702"/>
                </a:moveTo>
                <a:lnTo>
                  <a:pt x="97203" y="72902"/>
                </a:lnTo>
                <a:lnTo>
                  <a:pt x="81002" y="72902"/>
                </a:lnTo>
                <a:lnTo>
                  <a:pt x="81002" y="56702"/>
                </a:lnTo>
                <a:lnTo>
                  <a:pt x="97203" y="56702"/>
                </a:lnTo>
                <a:close/>
                <a:moveTo>
                  <a:pt x="97203" y="89103"/>
                </a:moveTo>
                <a:lnTo>
                  <a:pt x="97203" y="105303"/>
                </a:lnTo>
                <a:lnTo>
                  <a:pt x="81002" y="105303"/>
                </a:lnTo>
                <a:lnTo>
                  <a:pt x="81002" y="89103"/>
                </a:lnTo>
                <a:lnTo>
                  <a:pt x="97203" y="89103"/>
                </a:lnTo>
                <a:close/>
                <a:moveTo>
                  <a:pt x="64802" y="72902"/>
                </a:moveTo>
                <a:lnTo>
                  <a:pt x="48601" y="72902"/>
                </a:lnTo>
                <a:lnTo>
                  <a:pt x="48601" y="56702"/>
                </a:lnTo>
                <a:lnTo>
                  <a:pt x="64802" y="56702"/>
                </a:lnTo>
                <a:lnTo>
                  <a:pt x="64802" y="72902"/>
                </a:lnTo>
                <a:close/>
                <a:moveTo>
                  <a:pt x="48601" y="89103"/>
                </a:moveTo>
                <a:lnTo>
                  <a:pt x="64802" y="89103"/>
                </a:lnTo>
                <a:lnTo>
                  <a:pt x="64802" y="105303"/>
                </a:lnTo>
                <a:lnTo>
                  <a:pt x="48601" y="105303"/>
                </a:lnTo>
                <a:lnTo>
                  <a:pt x="48601" y="89103"/>
                </a:lnTo>
                <a:close/>
                <a:moveTo>
                  <a:pt x="32401" y="72902"/>
                </a:moveTo>
                <a:lnTo>
                  <a:pt x="16200" y="72902"/>
                </a:lnTo>
                <a:lnTo>
                  <a:pt x="16200" y="56702"/>
                </a:lnTo>
                <a:lnTo>
                  <a:pt x="32401" y="56702"/>
                </a:lnTo>
                <a:lnTo>
                  <a:pt x="32401" y="72902"/>
                </a:lnTo>
                <a:close/>
                <a:moveTo>
                  <a:pt x="16200" y="89103"/>
                </a:moveTo>
                <a:lnTo>
                  <a:pt x="32401" y="89103"/>
                </a:lnTo>
                <a:lnTo>
                  <a:pt x="32401" y="105303"/>
                </a:lnTo>
                <a:lnTo>
                  <a:pt x="16200" y="105303"/>
                </a:lnTo>
                <a:lnTo>
                  <a:pt x="16200" y="89103"/>
                </a:lnTo>
                <a:close/>
                <a:moveTo>
                  <a:pt x="16200" y="40501"/>
                </a:moveTo>
                <a:lnTo>
                  <a:pt x="16200" y="24301"/>
                </a:lnTo>
                <a:lnTo>
                  <a:pt x="32401" y="24301"/>
                </a:lnTo>
                <a:lnTo>
                  <a:pt x="32401" y="40501"/>
                </a:lnTo>
                <a:lnTo>
                  <a:pt x="16200" y="40501"/>
                </a:lnTo>
                <a:close/>
                <a:moveTo>
                  <a:pt x="48601" y="40501"/>
                </a:moveTo>
                <a:lnTo>
                  <a:pt x="48601" y="24301"/>
                </a:lnTo>
                <a:lnTo>
                  <a:pt x="64802" y="24301"/>
                </a:lnTo>
                <a:lnTo>
                  <a:pt x="64802" y="40501"/>
                </a:lnTo>
                <a:lnTo>
                  <a:pt x="48601" y="40501"/>
                </a:lnTo>
                <a:close/>
                <a:moveTo>
                  <a:pt x="16200" y="8100"/>
                </a:moveTo>
                <a:cubicBezTo>
                  <a:pt x="7265" y="8100"/>
                  <a:pt x="0" y="15365"/>
                  <a:pt x="0" y="24301"/>
                </a:cubicBezTo>
                <a:lnTo>
                  <a:pt x="0" y="105303"/>
                </a:lnTo>
                <a:cubicBezTo>
                  <a:pt x="0" y="114239"/>
                  <a:pt x="7265" y="121503"/>
                  <a:pt x="16200" y="121503"/>
                </a:cubicBezTo>
                <a:lnTo>
                  <a:pt x="97203" y="121503"/>
                </a:lnTo>
                <a:cubicBezTo>
                  <a:pt x="106138" y="121503"/>
                  <a:pt x="113403" y="114239"/>
                  <a:pt x="113403" y="105303"/>
                </a:cubicBezTo>
                <a:lnTo>
                  <a:pt x="113403" y="24301"/>
                </a:lnTo>
                <a:cubicBezTo>
                  <a:pt x="113403" y="15365"/>
                  <a:pt x="106138" y="8100"/>
                  <a:pt x="97203" y="8100"/>
                </a:cubicBezTo>
                <a:lnTo>
                  <a:pt x="16200" y="8100"/>
                </a:lnTo>
                <a:close/>
              </a:path>
            </a:pathLst>
          </a:custGeom>
          <a:solidFill>
            <a:srgbClr val="C8A265"/>
          </a:solidFill>
          <a:ln/>
        </p:spPr>
      </p:sp>
      <p:sp>
        <p:nvSpPr>
          <p:cNvPr id="28" name="Text 26"/>
          <p:cNvSpPr/>
          <p:nvPr/>
        </p:nvSpPr>
        <p:spPr>
          <a:xfrm>
            <a:off x="4736174" y="3647417"/>
            <a:ext cx="425841" cy="1851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21" dirty="0">
                <a:solidFill>
                  <a:srgbClr val="E0E2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U-Net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4426051" y="3980683"/>
            <a:ext cx="3323408" cy="333267"/>
          </a:xfrm>
          <a:custGeom>
            <a:avLst/>
            <a:gdLst/>
            <a:ahLst/>
            <a:cxnLst/>
            <a:rect l="l" t="t" r="r" b="b"/>
            <a:pathLst>
              <a:path w="3323408" h="333267">
                <a:moveTo>
                  <a:pt x="37029" y="0"/>
                </a:moveTo>
                <a:lnTo>
                  <a:pt x="3286379" y="0"/>
                </a:lnTo>
                <a:cubicBezTo>
                  <a:pt x="3306829" y="0"/>
                  <a:pt x="3323408" y="16579"/>
                  <a:pt x="3323408" y="37029"/>
                </a:cubicBezTo>
                <a:lnTo>
                  <a:pt x="3323408" y="296237"/>
                </a:lnTo>
                <a:cubicBezTo>
                  <a:pt x="3323408" y="316688"/>
                  <a:pt x="3306829" y="333267"/>
                  <a:pt x="3286379" y="333267"/>
                </a:cubicBezTo>
                <a:lnTo>
                  <a:pt x="37029" y="333267"/>
                </a:lnTo>
                <a:cubicBezTo>
                  <a:pt x="16579" y="333267"/>
                  <a:pt x="0" y="316688"/>
                  <a:pt x="0" y="296237"/>
                </a:cubicBezTo>
                <a:lnTo>
                  <a:pt x="0" y="37029"/>
                </a:lnTo>
                <a:cubicBezTo>
                  <a:pt x="0" y="16579"/>
                  <a:pt x="16579" y="0"/>
                  <a:pt x="37029" y="0"/>
                </a:cubicBezTo>
                <a:close/>
              </a:path>
            </a:pathLst>
          </a:custGeom>
          <a:solidFill>
            <a:srgbClr val="4A6D8C">
              <a:alpha val="20000"/>
            </a:srgbClr>
          </a:solidFill>
          <a:ln/>
        </p:spPr>
      </p:sp>
      <p:sp>
        <p:nvSpPr>
          <p:cNvPr id="30" name="Shape 28"/>
          <p:cNvSpPr/>
          <p:nvPr/>
        </p:nvSpPr>
        <p:spPr>
          <a:xfrm>
            <a:off x="4526726" y="4082515"/>
            <a:ext cx="113403" cy="129604"/>
          </a:xfrm>
          <a:custGeom>
            <a:avLst/>
            <a:gdLst/>
            <a:ahLst/>
            <a:cxnLst/>
            <a:rect l="l" t="t" r="r" b="b"/>
            <a:pathLst>
              <a:path w="113403" h="129604">
                <a:moveTo>
                  <a:pt x="97203" y="24301"/>
                </a:moveTo>
                <a:lnTo>
                  <a:pt x="97203" y="40501"/>
                </a:lnTo>
                <a:lnTo>
                  <a:pt x="81002" y="40501"/>
                </a:lnTo>
                <a:lnTo>
                  <a:pt x="81002" y="24301"/>
                </a:lnTo>
                <a:lnTo>
                  <a:pt x="97203" y="24301"/>
                </a:lnTo>
                <a:close/>
                <a:moveTo>
                  <a:pt x="97203" y="56702"/>
                </a:moveTo>
                <a:lnTo>
                  <a:pt x="97203" y="72902"/>
                </a:lnTo>
                <a:lnTo>
                  <a:pt x="81002" y="72902"/>
                </a:lnTo>
                <a:lnTo>
                  <a:pt x="81002" y="56702"/>
                </a:lnTo>
                <a:lnTo>
                  <a:pt x="97203" y="56702"/>
                </a:lnTo>
                <a:close/>
                <a:moveTo>
                  <a:pt x="97203" y="89103"/>
                </a:moveTo>
                <a:lnTo>
                  <a:pt x="97203" y="105303"/>
                </a:lnTo>
                <a:lnTo>
                  <a:pt x="81002" y="105303"/>
                </a:lnTo>
                <a:lnTo>
                  <a:pt x="81002" y="89103"/>
                </a:lnTo>
                <a:lnTo>
                  <a:pt x="97203" y="89103"/>
                </a:lnTo>
                <a:close/>
                <a:moveTo>
                  <a:pt x="64802" y="72902"/>
                </a:moveTo>
                <a:lnTo>
                  <a:pt x="48601" y="72902"/>
                </a:lnTo>
                <a:lnTo>
                  <a:pt x="48601" y="56702"/>
                </a:lnTo>
                <a:lnTo>
                  <a:pt x="64802" y="56702"/>
                </a:lnTo>
                <a:lnTo>
                  <a:pt x="64802" y="72902"/>
                </a:lnTo>
                <a:close/>
                <a:moveTo>
                  <a:pt x="48601" y="89103"/>
                </a:moveTo>
                <a:lnTo>
                  <a:pt x="64802" y="89103"/>
                </a:lnTo>
                <a:lnTo>
                  <a:pt x="64802" y="105303"/>
                </a:lnTo>
                <a:lnTo>
                  <a:pt x="48601" y="105303"/>
                </a:lnTo>
                <a:lnTo>
                  <a:pt x="48601" y="89103"/>
                </a:lnTo>
                <a:close/>
                <a:moveTo>
                  <a:pt x="32401" y="72902"/>
                </a:moveTo>
                <a:lnTo>
                  <a:pt x="16200" y="72902"/>
                </a:lnTo>
                <a:lnTo>
                  <a:pt x="16200" y="56702"/>
                </a:lnTo>
                <a:lnTo>
                  <a:pt x="32401" y="56702"/>
                </a:lnTo>
                <a:lnTo>
                  <a:pt x="32401" y="72902"/>
                </a:lnTo>
                <a:close/>
                <a:moveTo>
                  <a:pt x="16200" y="89103"/>
                </a:moveTo>
                <a:lnTo>
                  <a:pt x="32401" y="89103"/>
                </a:lnTo>
                <a:lnTo>
                  <a:pt x="32401" y="105303"/>
                </a:lnTo>
                <a:lnTo>
                  <a:pt x="16200" y="105303"/>
                </a:lnTo>
                <a:lnTo>
                  <a:pt x="16200" y="89103"/>
                </a:lnTo>
                <a:close/>
                <a:moveTo>
                  <a:pt x="16200" y="40501"/>
                </a:moveTo>
                <a:lnTo>
                  <a:pt x="16200" y="24301"/>
                </a:lnTo>
                <a:lnTo>
                  <a:pt x="32401" y="24301"/>
                </a:lnTo>
                <a:lnTo>
                  <a:pt x="32401" y="40501"/>
                </a:lnTo>
                <a:lnTo>
                  <a:pt x="16200" y="40501"/>
                </a:lnTo>
                <a:close/>
                <a:moveTo>
                  <a:pt x="48601" y="40501"/>
                </a:moveTo>
                <a:lnTo>
                  <a:pt x="48601" y="24301"/>
                </a:lnTo>
                <a:lnTo>
                  <a:pt x="64802" y="24301"/>
                </a:lnTo>
                <a:lnTo>
                  <a:pt x="64802" y="40501"/>
                </a:lnTo>
                <a:lnTo>
                  <a:pt x="48601" y="40501"/>
                </a:lnTo>
                <a:close/>
                <a:moveTo>
                  <a:pt x="16200" y="8100"/>
                </a:moveTo>
                <a:cubicBezTo>
                  <a:pt x="7265" y="8100"/>
                  <a:pt x="0" y="15365"/>
                  <a:pt x="0" y="24301"/>
                </a:cubicBezTo>
                <a:lnTo>
                  <a:pt x="0" y="105303"/>
                </a:lnTo>
                <a:cubicBezTo>
                  <a:pt x="0" y="114239"/>
                  <a:pt x="7265" y="121503"/>
                  <a:pt x="16200" y="121503"/>
                </a:cubicBezTo>
                <a:lnTo>
                  <a:pt x="97203" y="121503"/>
                </a:lnTo>
                <a:cubicBezTo>
                  <a:pt x="106138" y="121503"/>
                  <a:pt x="113403" y="114239"/>
                  <a:pt x="113403" y="105303"/>
                </a:cubicBezTo>
                <a:lnTo>
                  <a:pt x="113403" y="24301"/>
                </a:lnTo>
                <a:cubicBezTo>
                  <a:pt x="113403" y="15365"/>
                  <a:pt x="106138" y="8100"/>
                  <a:pt x="97203" y="8100"/>
                </a:cubicBezTo>
                <a:lnTo>
                  <a:pt x="16200" y="8100"/>
                </a:lnTo>
                <a:close/>
              </a:path>
            </a:pathLst>
          </a:custGeom>
          <a:solidFill>
            <a:srgbClr val="C8A265"/>
          </a:solidFill>
          <a:ln/>
        </p:spPr>
      </p:sp>
      <p:sp>
        <p:nvSpPr>
          <p:cNvPr id="31" name="Text 29"/>
          <p:cNvSpPr/>
          <p:nvPr/>
        </p:nvSpPr>
        <p:spPr>
          <a:xfrm>
            <a:off x="4736174" y="4054743"/>
            <a:ext cx="833166" cy="1851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21" dirty="0">
                <a:solidFill>
                  <a:srgbClr val="E0E2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Mask R-CNN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4426051" y="4388009"/>
            <a:ext cx="3323408" cy="333267"/>
          </a:xfrm>
          <a:custGeom>
            <a:avLst/>
            <a:gdLst/>
            <a:ahLst/>
            <a:cxnLst/>
            <a:rect l="l" t="t" r="r" b="b"/>
            <a:pathLst>
              <a:path w="3323408" h="333267">
                <a:moveTo>
                  <a:pt x="37029" y="0"/>
                </a:moveTo>
                <a:lnTo>
                  <a:pt x="3286379" y="0"/>
                </a:lnTo>
                <a:cubicBezTo>
                  <a:pt x="3306829" y="0"/>
                  <a:pt x="3323408" y="16579"/>
                  <a:pt x="3323408" y="37029"/>
                </a:cubicBezTo>
                <a:lnTo>
                  <a:pt x="3323408" y="296237"/>
                </a:lnTo>
                <a:cubicBezTo>
                  <a:pt x="3323408" y="316688"/>
                  <a:pt x="3306829" y="333267"/>
                  <a:pt x="3286379" y="333267"/>
                </a:cubicBezTo>
                <a:lnTo>
                  <a:pt x="37029" y="333267"/>
                </a:lnTo>
                <a:cubicBezTo>
                  <a:pt x="16579" y="333267"/>
                  <a:pt x="0" y="316688"/>
                  <a:pt x="0" y="296237"/>
                </a:cubicBezTo>
                <a:lnTo>
                  <a:pt x="0" y="37029"/>
                </a:lnTo>
                <a:cubicBezTo>
                  <a:pt x="0" y="16579"/>
                  <a:pt x="16579" y="0"/>
                  <a:pt x="37029" y="0"/>
                </a:cubicBezTo>
                <a:close/>
              </a:path>
            </a:pathLst>
          </a:custGeom>
          <a:solidFill>
            <a:srgbClr val="4A6D8C">
              <a:alpha val="20000"/>
            </a:srgbClr>
          </a:solidFill>
          <a:ln/>
        </p:spPr>
      </p:sp>
      <p:sp>
        <p:nvSpPr>
          <p:cNvPr id="33" name="Shape 31"/>
          <p:cNvSpPr/>
          <p:nvPr/>
        </p:nvSpPr>
        <p:spPr>
          <a:xfrm>
            <a:off x="4526726" y="4489841"/>
            <a:ext cx="113403" cy="129604"/>
          </a:xfrm>
          <a:custGeom>
            <a:avLst/>
            <a:gdLst/>
            <a:ahLst/>
            <a:cxnLst/>
            <a:rect l="l" t="t" r="r" b="b"/>
            <a:pathLst>
              <a:path w="113403" h="129604">
                <a:moveTo>
                  <a:pt x="97203" y="24301"/>
                </a:moveTo>
                <a:lnTo>
                  <a:pt x="97203" y="40501"/>
                </a:lnTo>
                <a:lnTo>
                  <a:pt x="81002" y="40501"/>
                </a:lnTo>
                <a:lnTo>
                  <a:pt x="81002" y="24301"/>
                </a:lnTo>
                <a:lnTo>
                  <a:pt x="97203" y="24301"/>
                </a:lnTo>
                <a:close/>
                <a:moveTo>
                  <a:pt x="97203" y="56702"/>
                </a:moveTo>
                <a:lnTo>
                  <a:pt x="97203" y="72902"/>
                </a:lnTo>
                <a:lnTo>
                  <a:pt x="81002" y="72902"/>
                </a:lnTo>
                <a:lnTo>
                  <a:pt x="81002" y="56702"/>
                </a:lnTo>
                <a:lnTo>
                  <a:pt x="97203" y="56702"/>
                </a:lnTo>
                <a:close/>
                <a:moveTo>
                  <a:pt x="97203" y="89103"/>
                </a:moveTo>
                <a:lnTo>
                  <a:pt x="97203" y="105303"/>
                </a:lnTo>
                <a:lnTo>
                  <a:pt x="81002" y="105303"/>
                </a:lnTo>
                <a:lnTo>
                  <a:pt x="81002" y="89103"/>
                </a:lnTo>
                <a:lnTo>
                  <a:pt x="97203" y="89103"/>
                </a:lnTo>
                <a:close/>
                <a:moveTo>
                  <a:pt x="64802" y="72902"/>
                </a:moveTo>
                <a:lnTo>
                  <a:pt x="48601" y="72902"/>
                </a:lnTo>
                <a:lnTo>
                  <a:pt x="48601" y="56702"/>
                </a:lnTo>
                <a:lnTo>
                  <a:pt x="64802" y="56702"/>
                </a:lnTo>
                <a:lnTo>
                  <a:pt x="64802" y="72902"/>
                </a:lnTo>
                <a:close/>
                <a:moveTo>
                  <a:pt x="48601" y="89103"/>
                </a:moveTo>
                <a:lnTo>
                  <a:pt x="64802" y="89103"/>
                </a:lnTo>
                <a:lnTo>
                  <a:pt x="64802" y="105303"/>
                </a:lnTo>
                <a:lnTo>
                  <a:pt x="48601" y="105303"/>
                </a:lnTo>
                <a:lnTo>
                  <a:pt x="48601" y="89103"/>
                </a:lnTo>
                <a:close/>
                <a:moveTo>
                  <a:pt x="32401" y="72902"/>
                </a:moveTo>
                <a:lnTo>
                  <a:pt x="16200" y="72902"/>
                </a:lnTo>
                <a:lnTo>
                  <a:pt x="16200" y="56702"/>
                </a:lnTo>
                <a:lnTo>
                  <a:pt x="32401" y="56702"/>
                </a:lnTo>
                <a:lnTo>
                  <a:pt x="32401" y="72902"/>
                </a:lnTo>
                <a:close/>
                <a:moveTo>
                  <a:pt x="16200" y="89103"/>
                </a:moveTo>
                <a:lnTo>
                  <a:pt x="32401" y="89103"/>
                </a:lnTo>
                <a:lnTo>
                  <a:pt x="32401" y="105303"/>
                </a:lnTo>
                <a:lnTo>
                  <a:pt x="16200" y="105303"/>
                </a:lnTo>
                <a:lnTo>
                  <a:pt x="16200" y="89103"/>
                </a:lnTo>
                <a:close/>
                <a:moveTo>
                  <a:pt x="16200" y="40501"/>
                </a:moveTo>
                <a:lnTo>
                  <a:pt x="16200" y="24301"/>
                </a:lnTo>
                <a:lnTo>
                  <a:pt x="32401" y="24301"/>
                </a:lnTo>
                <a:lnTo>
                  <a:pt x="32401" y="40501"/>
                </a:lnTo>
                <a:lnTo>
                  <a:pt x="16200" y="40501"/>
                </a:lnTo>
                <a:close/>
                <a:moveTo>
                  <a:pt x="48601" y="40501"/>
                </a:moveTo>
                <a:lnTo>
                  <a:pt x="48601" y="24301"/>
                </a:lnTo>
                <a:lnTo>
                  <a:pt x="64802" y="24301"/>
                </a:lnTo>
                <a:lnTo>
                  <a:pt x="64802" y="40501"/>
                </a:lnTo>
                <a:lnTo>
                  <a:pt x="48601" y="40501"/>
                </a:lnTo>
                <a:close/>
                <a:moveTo>
                  <a:pt x="16200" y="8100"/>
                </a:moveTo>
                <a:cubicBezTo>
                  <a:pt x="7265" y="8100"/>
                  <a:pt x="0" y="15365"/>
                  <a:pt x="0" y="24301"/>
                </a:cubicBezTo>
                <a:lnTo>
                  <a:pt x="0" y="105303"/>
                </a:lnTo>
                <a:cubicBezTo>
                  <a:pt x="0" y="114239"/>
                  <a:pt x="7265" y="121503"/>
                  <a:pt x="16200" y="121503"/>
                </a:cubicBezTo>
                <a:lnTo>
                  <a:pt x="97203" y="121503"/>
                </a:lnTo>
                <a:cubicBezTo>
                  <a:pt x="106138" y="121503"/>
                  <a:pt x="113403" y="114239"/>
                  <a:pt x="113403" y="105303"/>
                </a:cubicBezTo>
                <a:lnTo>
                  <a:pt x="113403" y="24301"/>
                </a:lnTo>
                <a:cubicBezTo>
                  <a:pt x="113403" y="15365"/>
                  <a:pt x="106138" y="8100"/>
                  <a:pt x="97203" y="8100"/>
                </a:cubicBezTo>
                <a:lnTo>
                  <a:pt x="16200" y="8100"/>
                </a:lnTo>
                <a:close/>
              </a:path>
            </a:pathLst>
          </a:custGeom>
          <a:solidFill>
            <a:srgbClr val="C8A265"/>
          </a:solidFill>
          <a:ln/>
        </p:spPr>
      </p:sp>
      <p:sp>
        <p:nvSpPr>
          <p:cNvPr id="34" name="Text 32"/>
          <p:cNvSpPr/>
          <p:nvPr/>
        </p:nvSpPr>
        <p:spPr>
          <a:xfrm>
            <a:off x="4736174" y="4462068"/>
            <a:ext cx="601731" cy="1851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21" dirty="0">
                <a:solidFill>
                  <a:srgbClr val="E0E2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DeepLab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374925" y="5068428"/>
            <a:ext cx="3702961" cy="1786679"/>
          </a:xfrm>
          <a:custGeom>
            <a:avLst/>
            <a:gdLst/>
            <a:ahLst/>
            <a:cxnLst/>
            <a:rect l="l" t="t" r="r" b="b"/>
            <a:pathLst>
              <a:path w="3702961" h="1786679">
                <a:moveTo>
                  <a:pt x="111096" y="0"/>
                </a:moveTo>
                <a:lnTo>
                  <a:pt x="3591866" y="0"/>
                </a:lnTo>
                <a:cubicBezTo>
                  <a:pt x="3653222" y="0"/>
                  <a:pt x="3702961" y="49739"/>
                  <a:pt x="3702961" y="111096"/>
                </a:cubicBezTo>
                <a:lnTo>
                  <a:pt x="3702961" y="1675583"/>
                </a:lnTo>
                <a:cubicBezTo>
                  <a:pt x="3702961" y="1736940"/>
                  <a:pt x="3653222" y="1786679"/>
                  <a:pt x="3591866" y="1786679"/>
                </a:cubicBezTo>
                <a:lnTo>
                  <a:pt x="111096" y="1786679"/>
                </a:lnTo>
                <a:cubicBezTo>
                  <a:pt x="49739" y="1786679"/>
                  <a:pt x="0" y="1736940"/>
                  <a:pt x="0" y="1675583"/>
                </a:cubicBezTo>
                <a:lnTo>
                  <a:pt x="0" y="111096"/>
                </a:lnTo>
                <a:cubicBezTo>
                  <a:pt x="0" y="49780"/>
                  <a:pt x="49780" y="0"/>
                  <a:pt x="111096" y="0"/>
                </a:cubicBezTo>
                <a:close/>
              </a:path>
            </a:pathLst>
          </a:custGeom>
          <a:solidFill>
            <a:srgbClr val="4A6D8C">
              <a:alpha val="10196"/>
            </a:srgbClr>
          </a:solidFill>
          <a:ln w="12700">
            <a:solidFill>
              <a:srgbClr val="4A6D8C">
                <a:alpha val="30196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564702" y="5258205"/>
            <a:ext cx="444355" cy="444355"/>
          </a:xfrm>
          <a:custGeom>
            <a:avLst/>
            <a:gdLst/>
            <a:ahLst/>
            <a:cxnLst/>
            <a:rect l="l" t="t" r="r" b="b"/>
            <a:pathLst>
              <a:path w="444355" h="444355">
                <a:moveTo>
                  <a:pt x="74061" y="0"/>
                </a:moveTo>
                <a:lnTo>
                  <a:pt x="370295" y="0"/>
                </a:lnTo>
                <a:cubicBezTo>
                  <a:pt x="411197" y="0"/>
                  <a:pt x="444355" y="33158"/>
                  <a:pt x="444355" y="74061"/>
                </a:cubicBezTo>
                <a:lnTo>
                  <a:pt x="444355" y="370295"/>
                </a:lnTo>
                <a:cubicBezTo>
                  <a:pt x="444355" y="411197"/>
                  <a:pt x="411197" y="444355"/>
                  <a:pt x="370295" y="444355"/>
                </a:cubicBezTo>
                <a:lnTo>
                  <a:pt x="74061" y="444355"/>
                </a:lnTo>
                <a:cubicBezTo>
                  <a:pt x="33158" y="444355"/>
                  <a:pt x="0" y="411197"/>
                  <a:pt x="0" y="370295"/>
                </a:cubicBezTo>
                <a:lnTo>
                  <a:pt x="0" y="74061"/>
                </a:lnTo>
                <a:cubicBezTo>
                  <a:pt x="0" y="33158"/>
                  <a:pt x="33158" y="0"/>
                  <a:pt x="74061" y="0"/>
                </a:cubicBezTo>
                <a:close/>
              </a:path>
            </a:pathLst>
          </a:custGeom>
          <a:solidFill>
            <a:srgbClr val="C8A265"/>
          </a:solidFill>
          <a:ln/>
        </p:spPr>
      </p:sp>
      <p:sp>
        <p:nvSpPr>
          <p:cNvPr id="37" name="Shape 35"/>
          <p:cNvSpPr/>
          <p:nvPr/>
        </p:nvSpPr>
        <p:spPr>
          <a:xfrm>
            <a:off x="694305" y="5387809"/>
            <a:ext cx="185148" cy="185148"/>
          </a:xfrm>
          <a:custGeom>
            <a:avLst/>
            <a:gdLst/>
            <a:ahLst/>
            <a:cxnLst/>
            <a:rect l="l" t="t" r="r" b="b"/>
            <a:pathLst>
              <a:path w="185148" h="185148">
                <a:moveTo>
                  <a:pt x="144285" y="138933"/>
                </a:moveTo>
                <a:cubicBezTo>
                  <a:pt x="136294" y="125047"/>
                  <a:pt x="121286" y="115718"/>
                  <a:pt x="104146" y="115718"/>
                </a:cubicBezTo>
                <a:lnTo>
                  <a:pt x="81002" y="115718"/>
                </a:lnTo>
                <a:cubicBezTo>
                  <a:pt x="63862" y="115718"/>
                  <a:pt x="48854" y="125047"/>
                  <a:pt x="40863" y="138933"/>
                </a:cubicBezTo>
                <a:cubicBezTo>
                  <a:pt x="53592" y="153109"/>
                  <a:pt x="72034" y="162005"/>
                  <a:pt x="92574" y="162005"/>
                </a:cubicBezTo>
                <a:cubicBezTo>
                  <a:pt x="113114" y="162005"/>
                  <a:pt x="131556" y="153073"/>
                  <a:pt x="144285" y="138933"/>
                </a:cubicBezTo>
                <a:close/>
                <a:moveTo>
                  <a:pt x="0" y="92574"/>
                </a:moveTo>
                <a:cubicBezTo>
                  <a:pt x="0" y="41481"/>
                  <a:pt x="41481" y="0"/>
                  <a:pt x="92574" y="0"/>
                </a:cubicBezTo>
                <a:cubicBezTo>
                  <a:pt x="143667" y="0"/>
                  <a:pt x="185148" y="41481"/>
                  <a:pt x="185148" y="92574"/>
                </a:cubicBezTo>
                <a:cubicBezTo>
                  <a:pt x="185148" y="143667"/>
                  <a:pt x="143667" y="185148"/>
                  <a:pt x="92574" y="185148"/>
                </a:cubicBezTo>
                <a:cubicBezTo>
                  <a:pt x="41481" y="185148"/>
                  <a:pt x="0" y="143667"/>
                  <a:pt x="0" y="92574"/>
                </a:cubicBezTo>
                <a:close/>
                <a:moveTo>
                  <a:pt x="92574" y="98360"/>
                </a:moveTo>
                <a:cubicBezTo>
                  <a:pt x="106944" y="98360"/>
                  <a:pt x="118610" y="86693"/>
                  <a:pt x="118610" y="72323"/>
                </a:cubicBezTo>
                <a:cubicBezTo>
                  <a:pt x="118610" y="57954"/>
                  <a:pt x="106944" y="46287"/>
                  <a:pt x="92574" y="46287"/>
                </a:cubicBezTo>
                <a:cubicBezTo>
                  <a:pt x="78204" y="46287"/>
                  <a:pt x="66538" y="57954"/>
                  <a:pt x="66538" y="72323"/>
                </a:cubicBezTo>
                <a:cubicBezTo>
                  <a:pt x="66538" y="86693"/>
                  <a:pt x="78204" y="98360"/>
                  <a:pt x="92574" y="98360"/>
                </a:cubicBezTo>
                <a:close/>
              </a:path>
            </a:pathLst>
          </a:custGeom>
          <a:solidFill>
            <a:srgbClr val="1A1D23"/>
          </a:solidFill>
          <a:ln/>
        </p:spPr>
      </p:sp>
      <p:sp>
        <p:nvSpPr>
          <p:cNvPr id="38" name="Text 36"/>
          <p:cNvSpPr/>
          <p:nvPr/>
        </p:nvSpPr>
        <p:spPr>
          <a:xfrm>
            <a:off x="1120146" y="5332264"/>
            <a:ext cx="2564301" cy="2962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749" b="1" dirty="0">
                <a:solidFill>
                  <a:srgbClr val="E0E2E6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Reconocimiento Facial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564702" y="5813649"/>
            <a:ext cx="3397467" cy="4813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66" dirty="0">
                <a:solidFill>
                  <a:srgbClr val="788A9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Identificación y verificación de identidades mediante características faciales únicas.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564702" y="6406123"/>
            <a:ext cx="722077" cy="259207"/>
          </a:xfrm>
          <a:custGeom>
            <a:avLst/>
            <a:gdLst/>
            <a:ahLst/>
            <a:cxnLst/>
            <a:rect l="l" t="t" r="r" b="b"/>
            <a:pathLst>
              <a:path w="722077" h="259207">
                <a:moveTo>
                  <a:pt x="129604" y="0"/>
                </a:moveTo>
                <a:lnTo>
                  <a:pt x="592474" y="0"/>
                </a:lnTo>
                <a:cubicBezTo>
                  <a:pt x="664052" y="0"/>
                  <a:pt x="722077" y="58026"/>
                  <a:pt x="722077" y="129604"/>
                </a:cubicBezTo>
                <a:lnTo>
                  <a:pt x="722077" y="129604"/>
                </a:lnTo>
                <a:cubicBezTo>
                  <a:pt x="722077" y="201182"/>
                  <a:pt x="664052" y="259207"/>
                  <a:pt x="592474" y="259207"/>
                </a:cubicBezTo>
                <a:lnTo>
                  <a:pt x="129604" y="259207"/>
                </a:lnTo>
                <a:cubicBezTo>
                  <a:pt x="58073" y="259207"/>
                  <a:pt x="0" y="201134"/>
                  <a:pt x="0" y="129604"/>
                </a:cubicBezTo>
                <a:lnTo>
                  <a:pt x="0" y="129604"/>
                </a:lnTo>
                <a:cubicBezTo>
                  <a:pt x="0" y="58073"/>
                  <a:pt x="58073" y="0"/>
                  <a:pt x="129604" y="0"/>
                </a:cubicBezTo>
                <a:close/>
              </a:path>
            </a:pathLst>
          </a:custGeom>
          <a:solidFill>
            <a:srgbClr val="4A6D8C">
              <a:alpha val="30196"/>
            </a:srgbClr>
          </a:solidFill>
          <a:ln/>
        </p:spPr>
      </p:sp>
      <p:sp>
        <p:nvSpPr>
          <p:cNvPr id="41" name="Text 39"/>
          <p:cNvSpPr/>
          <p:nvPr/>
        </p:nvSpPr>
        <p:spPr>
          <a:xfrm>
            <a:off x="564702" y="6406123"/>
            <a:ext cx="786879" cy="259207"/>
          </a:xfrm>
          <a:prstGeom prst="rect">
            <a:avLst/>
          </a:prstGeom>
          <a:noFill/>
          <a:ln/>
        </p:spPr>
        <p:txBody>
          <a:bodyPr wrap="square" lIns="111089" tIns="37030" rIns="111089" bIns="37030" rtlCol="0" anchor="ctr"/>
          <a:lstStyle/>
          <a:p>
            <a:pPr>
              <a:lnSpc>
                <a:spcPct val="120000"/>
              </a:lnSpc>
            </a:pPr>
            <a:r>
              <a:rPr lang="en-US" sz="1021" dirty="0">
                <a:solidFill>
                  <a:srgbClr val="E0E2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FaceNet</a:t>
            </a:r>
            <a:endParaRPr lang="en-US" sz="1600" dirty="0"/>
          </a:p>
        </p:txBody>
      </p:sp>
      <p:sp>
        <p:nvSpPr>
          <p:cNvPr id="42" name="Shape 40"/>
          <p:cNvSpPr/>
          <p:nvPr/>
        </p:nvSpPr>
        <p:spPr>
          <a:xfrm>
            <a:off x="1357367" y="6406123"/>
            <a:ext cx="823909" cy="259207"/>
          </a:xfrm>
          <a:custGeom>
            <a:avLst/>
            <a:gdLst/>
            <a:ahLst/>
            <a:cxnLst/>
            <a:rect l="l" t="t" r="r" b="b"/>
            <a:pathLst>
              <a:path w="823909" h="259207">
                <a:moveTo>
                  <a:pt x="129604" y="0"/>
                </a:moveTo>
                <a:lnTo>
                  <a:pt x="694305" y="0"/>
                </a:lnTo>
                <a:cubicBezTo>
                  <a:pt x="765883" y="0"/>
                  <a:pt x="823909" y="58026"/>
                  <a:pt x="823909" y="129604"/>
                </a:cubicBezTo>
                <a:lnTo>
                  <a:pt x="823909" y="129604"/>
                </a:lnTo>
                <a:cubicBezTo>
                  <a:pt x="823909" y="201182"/>
                  <a:pt x="765883" y="259207"/>
                  <a:pt x="694305" y="259207"/>
                </a:cubicBezTo>
                <a:lnTo>
                  <a:pt x="129604" y="259207"/>
                </a:lnTo>
                <a:cubicBezTo>
                  <a:pt x="58073" y="259207"/>
                  <a:pt x="0" y="201134"/>
                  <a:pt x="0" y="129604"/>
                </a:cubicBezTo>
                <a:lnTo>
                  <a:pt x="0" y="129604"/>
                </a:lnTo>
                <a:cubicBezTo>
                  <a:pt x="0" y="58073"/>
                  <a:pt x="58073" y="0"/>
                  <a:pt x="129604" y="0"/>
                </a:cubicBezTo>
                <a:close/>
              </a:path>
            </a:pathLst>
          </a:custGeom>
          <a:solidFill>
            <a:srgbClr val="4A6D8C">
              <a:alpha val="30196"/>
            </a:srgbClr>
          </a:solidFill>
          <a:ln/>
        </p:spPr>
      </p:sp>
      <p:sp>
        <p:nvSpPr>
          <p:cNvPr id="43" name="Text 41"/>
          <p:cNvSpPr/>
          <p:nvPr/>
        </p:nvSpPr>
        <p:spPr>
          <a:xfrm>
            <a:off x="1357367" y="6406123"/>
            <a:ext cx="888711" cy="259207"/>
          </a:xfrm>
          <a:prstGeom prst="rect">
            <a:avLst/>
          </a:prstGeom>
          <a:noFill/>
          <a:ln/>
        </p:spPr>
        <p:txBody>
          <a:bodyPr wrap="square" lIns="111089" tIns="37030" rIns="111089" bIns="37030" rtlCol="0" anchor="ctr"/>
          <a:lstStyle/>
          <a:p>
            <a:pPr>
              <a:lnSpc>
                <a:spcPct val="120000"/>
              </a:lnSpc>
            </a:pPr>
            <a:r>
              <a:rPr lang="en-US" sz="1021" dirty="0">
                <a:solidFill>
                  <a:srgbClr val="E0E2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DeepFace</a:t>
            </a:r>
            <a:endParaRPr lang="en-US" sz="1600" dirty="0"/>
          </a:p>
        </p:txBody>
      </p:sp>
      <p:sp>
        <p:nvSpPr>
          <p:cNvPr id="44" name="Shape 42"/>
          <p:cNvSpPr/>
          <p:nvPr/>
        </p:nvSpPr>
        <p:spPr>
          <a:xfrm>
            <a:off x="2255913" y="6406123"/>
            <a:ext cx="722077" cy="259207"/>
          </a:xfrm>
          <a:custGeom>
            <a:avLst/>
            <a:gdLst/>
            <a:ahLst/>
            <a:cxnLst/>
            <a:rect l="l" t="t" r="r" b="b"/>
            <a:pathLst>
              <a:path w="722077" h="259207">
                <a:moveTo>
                  <a:pt x="129604" y="0"/>
                </a:moveTo>
                <a:lnTo>
                  <a:pt x="592474" y="0"/>
                </a:lnTo>
                <a:cubicBezTo>
                  <a:pt x="664052" y="0"/>
                  <a:pt x="722077" y="58026"/>
                  <a:pt x="722077" y="129604"/>
                </a:cubicBezTo>
                <a:lnTo>
                  <a:pt x="722077" y="129604"/>
                </a:lnTo>
                <a:cubicBezTo>
                  <a:pt x="722077" y="201182"/>
                  <a:pt x="664052" y="259207"/>
                  <a:pt x="592474" y="259207"/>
                </a:cubicBezTo>
                <a:lnTo>
                  <a:pt x="129604" y="259207"/>
                </a:lnTo>
                <a:cubicBezTo>
                  <a:pt x="58073" y="259207"/>
                  <a:pt x="0" y="201134"/>
                  <a:pt x="0" y="129604"/>
                </a:cubicBezTo>
                <a:lnTo>
                  <a:pt x="0" y="129604"/>
                </a:lnTo>
                <a:cubicBezTo>
                  <a:pt x="0" y="58073"/>
                  <a:pt x="58073" y="0"/>
                  <a:pt x="129604" y="0"/>
                </a:cubicBezTo>
                <a:close/>
              </a:path>
            </a:pathLst>
          </a:custGeom>
          <a:solidFill>
            <a:srgbClr val="4A6D8C">
              <a:alpha val="30196"/>
            </a:srgbClr>
          </a:solidFill>
          <a:ln/>
        </p:spPr>
      </p:sp>
      <p:sp>
        <p:nvSpPr>
          <p:cNvPr id="45" name="Text 43"/>
          <p:cNvSpPr/>
          <p:nvPr/>
        </p:nvSpPr>
        <p:spPr>
          <a:xfrm>
            <a:off x="2255913" y="6406123"/>
            <a:ext cx="786879" cy="259207"/>
          </a:xfrm>
          <a:prstGeom prst="rect">
            <a:avLst/>
          </a:prstGeom>
          <a:noFill/>
          <a:ln/>
        </p:spPr>
        <p:txBody>
          <a:bodyPr wrap="square" lIns="111089" tIns="37030" rIns="111089" bIns="37030" rtlCol="0" anchor="ctr"/>
          <a:lstStyle/>
          <a:p>
            <a:pPr>
              <a:lnSpc>
                <a:spcPct val="120000"/>
              </a:lnSpc>
            </a:pPr>
            <a:r>
              <a:rPr lang="en-US" sz="1021" dirty="0">
                <a:solidFill>
                  <a:srgbClr val="E0E2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OpenCV</a:t>
            </a:r>
            <a:endParaRPr lang="en-US" sz="1600" dirty="0"/>
          </a:p>
        </p:txBody>
      </p:sp>
      <p:sp>
        <p:nvSpPr>
          <p:cNvPr id="46" name="Shape 44"/>
          <p:cNvSpPr/>
          <p:nvPr/>
        </p:nvSpPr>
        <p:spPr>
          <a:xfrm>
            <a:off x="4236274" y="5068428"/>
            <a:ext cx="3702961" cy="1786679"/>
          </a:xfrm>
          <a:custGeom>
            <a:avLst/>
            <a:gdLst/>
            <a:ahLst/>
            <a:cxnLst/>
            <a:rect l="l" t="t" r="r" b="b"/>
            <a:pathLst>
              <a:path w="3702961" h="1786679">
                <a:moveTo>
                  <a:pt x="111096" y="0"/>
                </a:moveTo>
                <a:lnTo>
                  <a:pt x="3591866" y="0"/>
                </a:lnTo>
                <a:cubicBezTo>
                  <a:pt x="3653222" y="0"/>
                  <a:pt x="3702961" y="49739"/>
                  <a:pt x="3702961" y="111096"/>
                </a:cubicBezTo>
                <a:lnTo>
                  <a:pt x="3702961" y="1675583"/>
                </a:lnTo>
                <a:cubicBezTo>
                  <a:pt x="3702961" y="1736940"/>
                  <a:pt x="3653222" y="1786679"/>
                  <a:pt x="3591866" y="1786679"/>
                </a:cubicBezTo>
                <a:lnTo>
                  <a:pt x="111096" y="1786679"/>
                </a:lnTo>
                <a:cubicBezTo>
                  <a:pt x="49739" y="1786679"/>
                  <a:pt x="0" y="1736940"/>
                  <a:pt x="0" y="1675583"/>
                </a:cubicBezTo>
                <a:lnTo>
                  <a:pt x="0" y="111096"/>
                </a:lnTo>
                <a:cubicBezTo>
                  <a:pt x="0" y="49780"/>
                  <a:pt x="49780" y="0"/>
                  <a:pt x="111096" y="0"/>
                </a:cubicBezTo>
                <a:close/>
              </a:path>
            </a:pathLst>
          </a:custGeom>
          <a:solidFill>
            <a:srgbClr val="4A6D8C">
              <a:alpha val="10196"/>
            </a:srgbClr>
          </a:solidFill>
          <a:ln w="12700">
            <a:solidFill>
              <a:srgbClr val="4A6D8C">
                <a:alpha val="30196"/>
              </a:srgbClr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4426051" y="5258205"/>
            <a:ext cx="444355" cy="444355"/>
          </a:xfrm>
          <a:custGeom>
            <a:avLst/>
            <a:gdLst/>
            <a:ahLst/>
            <a:cxnLst/>
            <a:rect l="l" t="t" r="r" b="b"/>
            <a:pathLst>
              <a:path w="444355" h="444355">
                <a:moveTo>
                  <a:pt x="74061" y="0"/>
                </a:moveTo>
                <a:lnTo>
                  <a:pt x="370295" y="0"/>
                </a:lnTo>
                <a:cubicBezTo>
                  <a:pt x="411197" y="0"/>
                  <a:pt x="444355" y="33158"/>
                  <a:pt x="444355" y="74061"/>
                </a:cubicBezTo>
                <a:lnTo>
                  <a:pt x="444355" y="370295"/>
                </a:lnTo>
                <a:cubicBezTo>
                  <a:pt x="444355" y="411197"/>
                  <a:pt x="411197" y="444355"/>
                  <a:pt x="370295" y="444355"/>
                </a:cubicBezTo>
                <a:lnTo>
                  <a:pt x="74061" y="444355"/>
                </a:lnTo>
                <a:cubicBezTo>
                  <a:pt x="33158" y="444355"/>
                  <a:pt x="0" y="411197"/>
                  <a:pt x="0" y="370295"/>
                </a:cubicBezTo>
                <a:lnTo>
                  <a:pt x="0" y="74061"/>
                </a:lnTo>
                <a:cubicBezTo>
                  <a:pt x="0" y="33158"/>
                  <a:pt x="33158" y="0"/>
                  <a:pt x="74061" y="0"/>
                </a:cubicBezTo>
                <a:close/>
              </a:path>
            </a:pathLst>
          </a:custGeom>
          <a:solidFill>
            <a:srgbClr val="C8A265"/>
          </a:solidFill>
          <a:ln/>
        </p:spPr>
      </p:sp>
      <p:sp>
        <p:nvSpPr>
          <p:cNvPr id="48" name="Shape 46"/>
          <p:cNvSpPr/>
          <p:nvPr/>
        </p:nvSpPr>
        <p:spPr>
          <a:xfrm>
            <a:off x="4555655" y="5387809"/>
            <a:ext cx="185148" cy="185148"/>
          </a:xfrm>
          <a:custGeom>
            <a:avLst/>
            <a:gdLst/>
            <a:ahLst/>
            <a:cxnLst/>
            <a:rect l="l" t="t" r="r" b="b"/>
            <a:pathLst>
              <a:path w="185148" h="185148">
                <a:moveTo>
                  <a:pt x="103097" y="18334"/>
                </a:moveTo>
                <a:cubicBezTo>
                  <a:pt x="101217" y="14212"/>
                  <a:pt x="97094" y="11572"/>
                  <a:pt x="92574" y="11572"/>
                </a:cubicBezTo>
                <a:cubicBezTo>
                  <a:pt x="88054" y="11572"/>
                  <a:pt x="83931" y="14212"/>
                  <a:pt x="82051" y="18334"/>
                </a:cubicBezTo>
                <a:lnTo>
                  <a:pt x="21516" y="150433"/>
                </a:lnTo>
                <a:lnTo>
                  <a:pt x="17358" y="150433"/>
                </a:lnTo>
                <a:cubicBezTo>
                  <a:pt x="10957" y="150433"/>
                  <a:pt x="5786" y="155604"/>
                  <a:pt x="5786" y="162005"/>
                </a:cubicBezTo>
                <a:cubicBezTo>
                  <a:pt x="5786" y="168405"/>
                  <a:pt x="10957" y="173576"/>
                  <a:pt x="17358" y="173576"/>
                </a:cubicBezTo>
                <a:lnTo>
                  <a:pt x="49180" y="173576"/>
                </a:lnTo>
                <a:cubicBezTo>
                  <a:pt x="55581" y="173576"/>
                  <a:pt x="60752" y="168405"/>
                  <a:pt x="60752" y="162005"/>
                </a:cubicBezTo>
                <a:cubicBezTo>
                  <a:pt x="60752" y="155604"/>
                  <a:pt x="55581" y="150433"/>
                  <a:pt x="49180" y="150433"/>
                </a:cubicBezTo>
                <a:lnTo>
                  <a:pt x="46974" y="150433"/>
                </a:lnTo>
                <a:lnTo>
                  <a:pt x="54930" y="133075"/>
                </a:lnTo>
                <a:lnTo>
                  <a:pt x="130255" y="133075"/>
                </a:lnTo>
                <a:lnTo>
                  <a:pt x="138210" y="150433"/>
                </a:lnTo>
                <a:lnTo>
                  <a:pt x="136004" y="150433"/>
                </a:lnTo>
                <a:cubicBezTo>
                  <a:pt x="129604" y="150433"/>
                  <a:pt x="124433" y="155604"/>
                  <a:pt x="124433" y="162005"/>
                </a:cubicBezTo>
                <a:cubicBezTo>
                  <a:pt x="124433" y="168405"/>
                  <a:pt x="129604" y="173576"/>
                  <a:pt x="136004" y="173576"/>
                </a:cubicBezTo>
                <a:lnTo>
                  <a:pt x="167827" y="173576"/>
                </a:lnTo>
                <a:cubicBezTo>
                  <a:pt x="174227" y="173576"/>
                  <a:pt x="179398" y="168405"/>
                  <a:pt x="179398" y="162005"/>
                </a:cubicBezTo>
                <a:cubicBezTo>
                  <a:pt x="179398" y="155604"/>
                  <a:pt x="174227" y="150433"/>
                  <a:pt x="167827" y="150433"/>
                </a:cubicBezTo>
                <a:lnTo>
                  <a:pt x="163668" y="150433"/>
                </a:lnTo>
                <a:lnTo>
                  <a:pt x="103133" y="18334"/>
                </a:lnTo>
                <a:close/>
                <a:moveTo>
                  <a:pt x="119623" y="109932"/>
                </a:moveTo>
                <a:lnTo>
                  <a:pt x="65525" y="109932"/>
                </a:lnTo>
                <a:lnTo>
                  <a:pt x="92574" y="50916"/>
                </a:lnTo>
                <a:lnTo>
                  <a:pt x="119623" y="109932"/>
                </a:lnTo>
                <a:close/>
              </a:path>
            </a:pathLst>
          </a:custGeom>
          <a:solidFill>
            <a:srgbClr val="1A1D23"/>
          </a:solidFill>
          <a:ln/>
        </p:spPr>
      </p:sp>
      <p:sp>
        <p:nvSpPr>
          <p:cNvPr id="49" name="Text 47"/>
          <p:cNvSpPr/>
          <p:nvPr/>
        </p:nvSpPr>
        <p:spPr>
          <a:xfrm>
            <a:off x="4981495" y="5332264"/>
            <a:ext cx="583216" cy="2962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749" b="1" dirty="0">
                <a:solidFill>
                  <a:srgbClr val="E0E2E6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OCR</a:t>
            </a:r>
            <a:endParaRPr lang="en-US" sz="1600" dirty="0"/>
          </a:p>
        </p:txBody>
      </p:sp>
      <p:sp>
        <p:nvSpPr>
          <p:cNvPr id="50" name="Text 48"/>
          <p:cNvSpPr/>
          <p:nvPr/>
        </p:nvSpPr>
        <p:spPr>
          <a:xfrm>
            <a:off x="4426051" y="5813649"/>
            <a:ext cx="3397467" cy="4813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66" dirty="0">
                <a:solidFill>
                  <a:srgbClr val="788A9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Reconocimiento óptico de caracteres para extraer texto de imágenes y documentos.</a:t>
            </a:r>
            <a:endParaRPr lang="en-US" sz="1600" dirty="0"/>
          </a:p>
        </p:txBody>
      </p:sp>
      <p:sp>
        <p:nvSpPr>
          <p:cNvPr id="51" name="Shape 49"/>
          <p:cNvSpPr/>
          <p:nvPr/>
        </p:nvSpPr>
        <p:spPr>
          <a:xfrm>
            <a:off x="4426051" y="6406123"/>
            <a:ext cx="796137" cy="259207"/>
          </a:xfrm>
          <a:custGeom>
            <a:avLst/>
            <a:gdLst/>
            <a:ahLst/>
            <a:cxnLst/>
            <a:rect l="l" t="t" r="r" b="b"/>
            <a:pathLst>
              <a:path w="796137" h="259207">
                <a:moveTo>
                  <a:pt x="129604" y="0"/>
                </a:moveTo>
                <a:lnTo>
                  <a:pt x="666533" y="0"/>
                </a:lnTo>
                <a:cubicBezTo>
                  <a:pt x="738111" y="0"/>
                  <a:pt x="796137" y="58026"/>
                  <a:pt x="796137" y="129604"/>
                </a:cubicBezTo>
                <a:lnTo>
                  <a:pt x="796137" y="129604"/>
                </a:lnTo>
                <a:cubicBezTo>
                  <a:pt x="796137" y="201182"/>
                  <a:pt x="738111" y="259207"/>
                  <a:pt x="666533" y="259207"/>
                </a:cubicBezTo>
                <a:lnTo>
                  <a:pt x="129604" y="259207"/>
                </a:lnTo>
                <a:cubicBezTo>
                  <a:pt x="58073" y="259207"/>
                  <a:pt x="0" y="201134"/>
                  <a:pt x="0" y="129604"/>
                </a:cubicBezTo>
                <a:lnTo>
                  <a:pt x="0" y="129604"/>
                </a:lnTo>
                <a:cubicBezTo>
                  <a:pt x="0" y="58073"/>
                  <a:pt x="58073" y="0"/>
                  <a:pt x="129604" y="0"/>
                </a:cubicBezTo>
                <a:close/>
              </a:path>
            </a:pathLst>
          </a:custGeom>
          <a:solidFill>
            <a:srgbClr val="4A6D8C">
              <a:alpha val="30196"/>
            </a:srgbClr>
          </a:solidFill>
          <a:ln/>
        </p:spPr>
      </p:sp>
      <p:sp>
        <p:nvSpPr>
          <p:cNvPr id="52" name="Text 50"/>
          <p:cNvSpPr/>
          <p:nvPr/>
        </p:nvSpPr>
        <p:spPr>
          <a:xfrm>
            <a:off x="4426051" y="6406123"/>
            <a:ext cx="860938" cy="259207"/>
          </a:xfrm>
          <a:prstGeom prst="rect">
            <a:avLst/>
          </a:prstGeom>
          <a:noFill/>
          <a:ln/>
        </p:spPr>
        <p:txBody>
          <a:bodyPr wrap="square" lIns="111089" tIns="37030" rIns="111089" bIns="37030" rtlCol="0" anchor="ctr"/>
          <a:lstStyle/>
          <a:p>
            <a:pPr>
              <a:lnSpc>
                <a:spcPct val="120000"/>
              </a:lnSpc>
            </a:pPr>
            <a:r>
              <a:rPr lang="en-US" sz="1021" dirty="0">
                <a:solidFill>
                  <a:srgbClr val="E0E2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Tesseract</a:t>
            </a:r>
            <a:endParaRPr lang="en-US" sz="1600" dirty="0"/>
          </a:p>
        </p:txBody>
      </p:sp>
      <p:sp>
        <p:nvSpPr>
          <p:cNvPr id="53" name="Shape 51"/>
          <p:cNvSpPr/>
          <p:nvPr/>
        </p:nvSpPr>
        <p:spPr>
          <a:xfrm>
            <a:off x="5298128" y="6406123"/>
            <a:ext cx="768364" cy="259207"/>
          </a:xfrm>
          <a:custGeom>
            <a:avLst/>
            <a:gdLst/>
            <a:ahLst/>
            <a:cxnLst/>
            <a:rect l="l" t="t" r="r" b="b"/>
            <a:pathLst>
              <a:path w="768364" h="259207">
                <a:moveTo>
                  <a:pt x="129604" y="0"/>
                </a:moveTo>
                <a:lnTo>
                  <a:pt x="638761" y="0"/>
                </a:lnTo>
                <a:cubicBezTo>
                  <a:pt x="710339" y="0"/>
                  <a:pt x="768364" y="58026"/>
                  <a:pt x="768364" y="129604"/>
                </a:cubicBezTo>
                <a:lnTo>
                  <a:pt x="768364" y="129604"/>
                </a:lnTo>
                <a:cubicBezTo>
                  <a:pt x="768364" y="201182"/>
                  <a:pt x="710339" y="259207"/>
                  <a:pt x="638761" y="259207"/>
                </a:cubicBezTo>
                <a:lnTo>
                  <a:pt x="129604" y="259207"/>
                </a:lnTo>
                <a:cubicBezTo>
                  <a:pt x="58073" y="259207"/>
                  <a:pt x="0" y="201134"/>
                  <a:pt x="0" y="129604"/>
                </a:cubicBezTo>
                <a:lnTo>
                  <a:pt x="0" y="129604"/>
                </a:lnTo>
                <a:cubicBezTo>
                  <a:pt x="0" y="58073"/>
                  <a:pt x="58073" y="0"/>
                  <a:pt x="129604" y="0"/>
                </a:cubicBezTo>
                <a:close/>
              </a:path>
            </a:pathLst>
          </a:custGeom>
          <a:solidFill>
            <a:srgbClr val="4A6D8C">
              <a:alpha val="30196"/>
            </a:srgbClr>
          </a:solidFill>
          <a:ln/>
        </p:spPr>
      </p:sp>
      <p:sp>
        <p:nvSpPr>
          <p:cNvPr id="54" name="Text 52"/>
          <p:cNvSpPr/>
          <p:nvPr/>
        </p:nvSpPr>
        <p:spPr>
          <a:xfrm>
            <a:off x="5298128" y="6406123"/>
            <a:ext cx="833166" cy="259207"/>
          </a:xfrm>
          <a:prstGeom prst="rect">
            <a:avLst/>
          </a:prstGeom>
          <a:noFill/>
          <a:ln/>
        </p:spPr>
        <p:txBody>
          <a:bodyPr wrap="square" lIns="111089" tIns="37030" rIns="111089" bIns="37030" rtlCol="0" anchor="ctr"/>
          <a:lstStyle/>
          <a:p>
            <a:pPr>
              <a:lnSpc>
                <a:spcPct val="120000"/>
              </a:lnSpc>
            </a:pPr>
            <a:r>
              <a:rPr lang="en-US" sz="1021" dirty="0">
                <a:solidFill>
                  <a:srgbClr val="E0E2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EasyOCR</a:t>
            </a:r>
            <a:endParaRPr lang="en-US" sz="1600" dirty="0"/>
          </a:p>
        </p:txBody>
      </p:sp>
      <p:sp>
        <p:nvSpPr>
          <p:cNvPr id="55" name="Shape 53"/>
          <p:cNvSpPr/>
          <p:nvPr/>
        </p:nvSpPr>
        <p:spPr>
          <a:xfrm>
            <a:off x="6140262" y="6406123"/>
            <a:ext cx="907226" cy="259207"/>
          </a:xfrm>
          <a:custGeom>
            <a:avLst/>
            <a:gdLst/>
            <a:ahLst/>
            <a:cxnLst/>
            <a:rect l="l" t="t" r="r" b="b"/>
            <a:pathLst>
              <a:path w="907226" h="259207">
                <a:moveTo>
                  <a:pt x="129604" y="0"/>
                </a:moveTo>
                <a:lnTo>
                  <a:pt x="777622" y="0"/>
                </a:lnTo>
                <a:cubicBezTo>
                  <a:pt x="849200" y="0"/>
                  <a:pt x="907226" y="58026"/>
                  <a:pt x="907226" y="129604"/>
                </a:cubicBezTo>
                <a:lnTo>
                  <a:pt x="907226" y="129604"/>
                </a:lnTo>
                <a:cubicBezTo>
                  <a:pt x="907226" y="201182"/>
                  <a:pt x="849200" y="259207"/>
                  <a:pt x="777622" y="259207"/>
                </a:cubicBezTo>
                <a:lnTo>
                  <a:pt x="129604" y="259207"/>
                </a:lnTo>
                <a:cubicBezTo>
                  <a:pt x="58073" y="259207"/>
                  <a:pt x="0" y="201134"/>
                  <a:pt x="0" y="129604"/>
                </a:cubicBezTo>
                <a:lnTo>
                  <a:pt x="0" y="129604"/>
                </a:lnTo>
                <a:cubicBezTo>
                  <a:pt x="0" y="58073"/>
                  <a:pt x="58073" y="0"/>
                  <a:pt x="129604" y="0"/>
                </a:cubicBezTo>
                <a:close/>
              </a:path>
            </a:pathLst>
          </a:custGeom>
          <a:solidFill>
            <a:srgbClr val="4A6D8C">
              <a:alpha val="30196"/>
            </a:srgbClr>
          </a:solidFill>
          <a:ln/>
        </p:spPr>
      </p:sp>
      <p:sp>
        <p:nvSpPr>
          <p:cNvPr id="56" name="Text 54"/>
          <p:cNvSpPr/>
          <p:nvPr/>
        </p:nvSpPr>
        <p:spPr>
          <a:xfrm>
            <a:off x="6140262" y="6406123"/>
            <a:ext cx="972027" cy="259207"/>
          </a:xfrm>
          <a:prstGeom prst="rect">
            <a:avLst/>
          </a:prstGeom>
          <a:noFill/>
          <a:ln/>
        </p:spPr>
        <p:txBody>
          <a:bodyPr wrap="square" lIns="111089" tIns="37030" rIns="111089" bIns="37030" rtlCol="0" anchor="ctr"/>
          <a:lstStyle/>
          <a:p>
            <a:pPr>
              <a:lnSpc>
                <a:spcPct val="120000"/>
              </a:lnSpc>
            </a:pPr>
            <a:r>
              <a:rPr lang="en-US" sz="1021" dirty="0">
                <a:solidFill>
                  <a:srgbClr val="E0E2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PaddleOCR</a:t>
            </a:r>
            <a:endParaRPr lang="en-US" sz="1600" dirty="0"/>
          </a:p>
        </p:txBody>
      </p:sp>
      <p:sp>
        <p:nvSpPr>
          <p:cNvPr id="57" name="Shape 55"/>
          <p:cNvSpPr/>
          <p:nvPr/>
        </p:nvSpPr>
        <p:spPr>
          <a:xfrm>
            <a:off x="8134654" y="2235663"/>
            <a:ext cx="3684446" cy="4619444"/>
          </a:xfrm>
          <a:custGeom>
            <a:avLst/>
            <a:gdLst/>
            <a:ahLst/>
            <a:cxnLst/>
            <a:rect l="l" t="t" r="r" b="b"/>
            <a:pathLst>
              <a:path w="3684446" h="4619444">
                <a:moveTo>
                  <a:pt x="111086" y="0"/>
                </a:moveTo>
                <a:lnTo>
                  <a:pt x="3573360" y="0"/>
                </a:lnTo>
                <a:cubicBezTo>
                  <a:pt x="3634712" y="0"/>
                  <a:pt x="3684446" y="49735"/>
                  <a:pt x="3684446" y="111086"/>
                </a:cubicBezTo>
                <a:lnTo>
                  <a:pt x="3684446" y="4508358"/>
                </a:lnTo>
                <a:cubicBezTo>
                  <a:pt x="3684446" y="4569709"/>
                  <a:pt x="3634712" y="4619444"/>
                  <a:pt x="3573360" y="4619444"/>
                </a:cubicBezTo>
                <a:lnTo>
                  <a:pt x="111086" y="4619444"/>
                </a:lnTo>
                <a:cubicBezTo>
                  <a:pt x="49735" y="4619444"/>
                  <a:pt x="0" y="4569709"/>
                  <a:pt x="0" y="4508358"/>
                </a:cubicBezTo>
                <a:lnTo>
                  <a:pt x="0" y="111086"/>
                </a:lnTo>
                <a:cubicBezTo>
                  <a:pt x="0" y="49735"/>
                  <a:pt x="49735" y="0"/>
                  <a:pt x="111086" y="0"/>
                </a:cubicBezTo>
                <a:close/>
              </a:path>
            </a:pathLst>
          </a:custGeom>
          <a:solidFill>
            <a:srgbClr val="4A6D8C">
              <a:alpha val="10196"/>
            </a:srgbClr>
          </a:solidFill>
          <a:ln w="12700">
            <a:solidFill>
              <a:srgbClr val="4A6D8C">
                <a:alpha val="30196"/>
              </a:srgbClr>
            </a:solidFill>
            <a:prstDash val="solid"/>
          </a:ln>
        </p:spPr>
      </p:sp>
      <p:pic>
        <p:nvPicPr>
          <p:cNvPr id="58" name="Image 0" descr="https://kimi-web-img.moonshot.cn/img/visionplatform.ai/b7c508c67a5ed6d47f23e8c8095fbf2bb5e98022.jpeg">    </p:cNvPr>
          <p:cNvPicPr>
            <a:picLocks noChangeAspect="1"/>
          </p:cNvPicPr>
          <p:nvPr/>
        </p:nvPicPr>
        <p:blipFill>
          <a:blip r:embed="rId1"/>
          <a:srcRect l="0" r="0" t="17134" b="17134"/>
          <a:stretch/>
        </p:blipFill>
        <p:spPr>
          <a:xfrm>
            <a:off x="8324431" y="2425440"/>
            <a:ext cx="3304893" cy="1629303"/>
          </a:xfrm>
          <a:prstGeom prst="roundRect">
            <a:avLst>
              <a:gd name="adj" fmla="val 4545"/>
            </a:avLst>
          </a:prstGeom>
        </p:spPr>
      </p:pic>
      <p:sp>
        <p:nvSpPr>
          <p:cNvPr id="59" name="Text 56"/>
          <p:cNvSpPr/>
          <p:nvPr/>
        </p:nvSpPr>
        <p:spPr>
          <a:xfrm>
            <a:off x="8324431" y="4202861"/>
            <a:ext cx="3397467" cy="259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58" b="1" dirty="0">
                <a:solidFill>
                  <a:srgbClr val="E0E2E6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Aplicaciones Clave</a:t>
            </a:r>
            <a:endParaRPr lang="en-US" sz="1600" dirty="0"/>
          </a:p>
        </p:txBody>
      </p:sp>
      <p:sp>
        <p:nvSpPr>
          <p:cNvPr id="60" name="Shape 57"/>
          <p:cNvSpPr/>
          <p:nvPr/>
        </p:nvSpPr>
        <p:spPr>
          <a:xfrm>
            <a:off x="8342945" y="4610187"/>
            <a:ext cx="148118" cy="148118"/>
          </a:xfrm>
          <a:custGeom>
            <a:avLst/>
            <a:gdLst/>
            <a:ahLst/>
            <a:cxnLst/>
            <a:rect l="l" t="t" r="r" b="b"/>
            <a:pathLst>
              <a:path w="148118" h="148118">
                <a:moveTo>
                  <a:pt x="39113" y="33963"/>
                </a:moveTo>
                <a:lnTo>
                  <a:pt x="31562" y="55544"/>
                </a:lnTo>
                <a:lnTo>
                  <a:pt x="116556" y="55544"/>
                </a:lnTo>
                <a:lnTo>
                  <a:pt x="109006" y="33963"/>
                </a:lnTo>
                <a:cubicBezTo>
                  <a:pt x="107704" y="30260"/>
                  <a:pt x="104204" y="27772"/>
                  <a:pt x="100269" y="27772"/>
                </a:cubicBezTo>
                <a:lnTo>
                  <a:pt x="47849" y="27772"/>
                </a:lnTo>
                <a:cubicBezTo>
                  <a:pt x="43915" y="27772"/>
                  <a:pt x="40414" y="30260"/>
                  <a:pt x="39113" y="33963"/>
                </a:cubicBezTo>
                <a:close/>
                <a:moveTo>
                  <a:pt x="11456" y="56933"/>
                </a:moveTo>
                <a:lnTo>
                  <a:pt x="21639" y="27859"/>
                </a:lnTo>
                <a:cubicBezTo>
                  <a:pt x="25545" y="16721"/>
                  <a:pt x="36046" y="9257"/>
                  <a:pt x="47849" y="9257"/>
                </a:cubicBezTo>
                <a:lnTo>
                  <a:pt x="100269" y="9257"/>
                </a:lnTo>
                <a:cubicBezTo>
                  <a:pt x="112072" y="9257"/>
                  <a:pt x="122574" y="16721"/>
                  <a:pt x="126479" y="27859"/>
                </a:cubicBezTo>
                <a:lnTo>
                  <a:pt x="136662" y="56933"/>
                </a:lnTo>
                <a:cubicBezTo>
                  <a:pt x="143374" y="59710"/>
                  <a:pt x="148118" y="66335"/>
                  <a:pt x="148118" y="74059"/>
                </a:cubicBezTo>
                <a:lnTo>
                  <a:pt x="148118" y="129604"/>
                </a:lnTo>
                <a:cubicBezTo>
                  <a:pt x="148118" y="134724"/>
                  <a:pt x="143982" y="138861"/>
                  <a:pt x="138861" y="138861"/>
                </a:cubicBezTo>
                <a:lnTo>
                  <a:pt x="129604" y="138861"/>
                </a:lnTo>
                <a:cubicBezTo>
                  <a:pt x="124483" y="138861"/>
                  <a:pt x="120346" y="134724"/>
                  <a:pt x="120346" y="129604"/>
                </a:cubicBezTo>
                <a:lnTo>
                  <a:pt x="120346" y="120346"/>
                </a:lnTo>
                <a:lnTo>
                  <a:pt x="27772" y="120346"/>
                </a:lnTo>
                <a:lnTo>
                  <a:pt x="27772" y="129604"/>
                </a:lnTo>
                <a:cubicBezTo>
                  <a:pt x="27772" y="134724"/>
                  <a:pt x="23635" y="138861"/>
                  <a:pt x="18515" y="138861"/>
                </a:cubicBezTo>
                <a:lnTo>
                  <a:pt x="9257" y="138861"/>
                </a:lnTo>
                <a:cubicBezTo>
                  <a:pt x="4137" y="138861"/>
                  <a:pt x="0" y="134724"/>
                  <a:pt x="0" y="129604"/>
                </a:cubicBezTo>
                <a:lnTo>
                  <a:pt x="0" y="74059"/>
                </a:lnTo>
                <a:cubicBezTo>
                  <a:pt x="0" y="66335"/>
                  <a:pt x="4744" y="59710"/>
                  <a:pt x="11456" y="56933"/>
                </a:cubicBezTo>
                <a:close/>
                <a:moveTo>
                  <a:pt x="37030" y="87945"/>
                </a:moveTo>
                <a:cubicBezTo>
                  <a:pt x="37030" y="82836"/>
                  <a:pt x="32882" y="78688"/>
                  <a:pt x="27772" y="78688"/>
                </a:cubicBezTo>
                <a:cubicBezTo>
                  <a:pt x="22663" y="78688"/>
                  <a:pt x="18515" y="82836"/>
                  <a:pt x="18515" y="87945"/>
                </a:cubicBezTo>
                <a:cubicBezTo>
                  <a:pt x="18515" y="93055"/>
                  <a:pt x="22663" y="97203"/>
                  <a:pt x="27772" y="97203"/>
                </a:cubicBezTo>
                <a:cubicBezTo>
                  <a:pt x="32882" y="97203"/>
                  <a:pt x="37030" y="93055"/>
                  <a:pt x="37030" y="87945"/>
                </a:cubicBezTo>
                <a:close/>
                <a:moveTo>
                  <a:pt x="120346" y="97203"/>
                </a:moveTo>
                <a:cubicBezTo>
                  <a:pt x="125456" y="97203"/>
                  <a:pt x="129604" y="93055"/>
                  <a:pt x="129604" y="87945"/>
                </a:cubicBezTo>
                <a:cubicBezTo>
                  <a:pt x="129604" y="82836"/>
                  <a:pt x="125456" y="78688"/>
                  <a:pt x="120346" y="78688"/>
                </a:cubicBezTo>
                <a:cubicBezTo>
                  <a:pt x="115237" y="78688"/>
                  <a:pt x="111089" y="82836"/>
                  <a:pt x="111089" y="87945"/>
                </a:cubicBezTo>
                <a:cubicBezTo>
                  <a:pt x="111089" y="93055"/>
                  <a:pt x="115237" y="97203"/>
                  <a:pt x="120346" y="97203"/>
                </a:cubicBezTo>
                <a:close/>
              </a:path>
            </a:pathLst>
          </a:custGeom>
          <a:solidFill>
            <a:srgbClr val="C8A265"/>
          </a:solidFill>
          <a:ln/>
        </p:spPr>
      </p:sp>
      <p:sp>
        <p:nvSpPr>
          <p:cNvPr id="61" name="Text 58"/>
          <p:cNvSpPr/>
          <p:nvPr/>
        </p:nvSpPr>
        <p:spPr>
          <a:xfrm>
            <a:off x="8583638" y="4573157"/>
            <a:ext cx="2119945" cy="2221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66" b="1" dirty="0">
                <a:solidFill>
                  <a:srgbClr val="E0E2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Vehículos Autónomos</a:t>
            </a:r>
            <a:endParaRPr lang="en-US" sz="1600" dirty="0"/>
          </a:p>
        </p:txBody>
      </p:sp>
      <p:sp>
        <p:nvSpPr>
          <p:cNvPr id="62" name="Text 59"/>
          <p:cNvSpPr/>
          <p:nvPr/>
        </p:nvSpPr>
        <p:spPr>
          <a:xfrm>
            <a:off x="8583638" y="4795335"/>
            <a:ext cx="2110688" cy="1851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21" dirty="0">
                <a:solidFill>
                  <a:srgbClr val="788A9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Detección de señales y obstáculos</a:t>
            </a:r>
            <a:endParaRPr lang="en-US" sz="1600" dirty="0"/>
          </a:p>
        </p:txBody>
      </p:sp>
      <p:sp>
        <p:nvSpPr>
          <p:cNvPr id="63" name="Shape 60"/>
          <p:cNvSpPr/>
          <p:nvPr/>
        </p:nvSpPr>
        <p:spPr>
          <a:xfrm>
            <a:off x="8342945" y="5128601"/>
            <a:ext cx="148118" cy="148118"/>
          </a:xfrm>
          <a:custGeom>
            <a:avLst/>
            <a:gdLst/>
            <a:ahLst/>
            <a:cxnLst/>
            <a:rect l="l" t="t" r="r" b="b"/>
            <a:pathLst>
              <a:path w="148118" h="148118">
                <a:moveTo>
                  <a:pt x="74059" y="0"/>
                </a:moveTo>
                <a:cubicBezTo>
                  <a:pt x="75390" y="0"/>
                  <a:pt x="76721" y="289"/>
                  <a:pt x="77936" y="839"/>
                </a:cubicBezTo>
                <a:lnTo>
                  <a:pt x="132439" y="23954"/>
                </a:lnTo>
                <a:cubicBezTo>
                  <a:pt x="138803" y="26644"/>
                  <a:pt x="143548" y="32922"/>
                  <a:pt x="143519" y="40501"/>
                </a:cubicBezTo>
                <a:cubicBezTo>
                  <a:pt x="143374" y="69199"/>
                  <a:pt x="131571" y="121706"/>
                  <a:pt x="81726" y="145573"/>
                </a:cubicBezTo>
                <a:cubicBezTo>
                  <a:pt x="76894" y="147887"/>
                  <a:pt x="71282" y="147887"/>
                  <a:pt x="66451" y="145573"/>
                </a:cubicBezTo>
                <a:cubicBezTo>
                  <a:pt x="16577" y="121706"/>
                  <a:pt x="4802" y="69199"/>
                  <a:pt x="4658" y="40501"/>
                </a:cubicBezTo>
                <a:cubicBezTo>
                  <a:pt x="4629" y="32922"/>
                  <a:pt x="9373" y="26644"/>
                  <a:pt x="15738" y="23954"/>
                </a:cubicBezTo>
                <a:lnTo>
                  <a:pt x="70212" y="839"/>
                </a:lnTo>
                <a:cubicBezTo>
                  <a:pt x="71427" y="289"/>
                  <a:pt x="72728" y="0"/>
                  <a:pt x="74059" y="0"/>
                </a:cubicBezTo>
                <a:close/>
                <a:moveTo>
                  <a:pt x="74059" y="19325"/>
                </a:moveTo>
                <a:lnTo>
                  <a:pt x="74059" y="128707"/>
                </a:lnTo>
                <a:cubicBezTo>
                  <a:pt x="113982" y="109382"/>
                  <a:pt x="124715" y="66567"/>
                  <a:pt x="124975" y="40935"/>
                </a:cubicBezTo>
                <a:lnTo>
                  <a:pt x="74059" y="19354"/>
                </a:lnTo>
                <a:lnTo>
                  <a:pt x="74059" y="19354"/>
                </a:lnTo>
                <a:close/>
              </a:path>
            </a:pathLst>
          </a:custGeom>
          <a:solidFill>
            <a:srgbClr val="C8A265"/>
          </a:solidFill>
          <a:ln/>
        </p:spPr>
      </p:sp>
      <p:sp>
        <p:nvSpPr>
          <p:cNvPr id="64" name="Text 61"/>
          <p:cNvSpPr/>
          <p:nvPr/>
        </p:nvSpPr>
        <p:spPr>
          <a:xfrm>
            <a:off x="8583638" y="5091572"/>
            <a:ext cx="1842223" cy="2221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66" b="1" dirty="0">
                <a:solidFill>
                  <a:srgbClr val="E0E2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Seguridad</a:t>
            </a:r>
            <a:endParaRPr lang="en-US" sz="1600" dirty="0"/>
          </a:p>
        </p:txBody>
      </p:sp>
      <p:sp>
        <p:nvSpPr>
          <p:cNvPr id="65" name="Text 62"/>
          <p:cNvSpPr/>
          <p:nvPr/>
        </p:nvSpPr>
        <p:spPr>
          <a:xfrm>
            <a:off x="8583638" y="5313749"/>
            <a:ext cx="1832966" cy="1851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21" dirty="0">
                <a:solidFill>
                  <a:srgbClr val="788A9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Vigilancia y control de acceso</a:t>
            </a:r>
            <a:endParaRPr lang="en-US" sz="1600" dirty="0"/>
          </a:p>
        </p:txBody>
      </p:sp>
      <p:sp>
        <p:nvSpPr>
          <p:cNvPr id="66" name="Shape 63"/>
          <p:cNvSpPr/>
          <p:nvPr/>
        </p:nvSpPr>
        <p:spPr>
          <a:xfrm>
            <a:off x="8342945" y="5647016"/>
            <a:ext cx="148118" cy="148118"/>
          </a:xfrm>
          <a:custGeom>
            <a:avLst/>
            <a:gdLst/>
            <a:ahLst/>
            <a:cxnLst/>
            <a:rect l="l" t="t" r="r" b="b"/>
            <a:pathLst>
              <a:path w="148118" h="148118">
                <a:moveTo>
                  <a:pt x="9257" y="9257"/>
                </a:moveTo>
                <a:cubicBezTo>
                  <a:pt x="4137" y="9257"/>
                  <a:pt x="0" y="13394"/>
                  <a:pt x="0" y="18515"/>
                </a:cubicBezTo>
                <a:lnTo>
                  <a:pt x="0" y="124975"/>
                </a:lnTo>
                <a:cubicBezTo>
                  <a:pt x="0" y="132641"/>
                  <a:pt x="6220" y="138861"/>
                  <a:pt x="13886" y="138861"/>
                </a:cubicBezTo>
                <a:lnTo>
                  <a:pt x="134232" y="138861"/>
                </a:lnTo>
                <a:cubicBezTo>
                  <a:pt x="141899" y="138861"/>
                  <a:pt x="148118" y="132641"/>
                  <a:pt x="148118" y="124975"/>
                </a:cubicBezTo>
                <a:lnTo>
                  <a:pt x="148118" y="44031"/>
                </a:lnTo>
                <a:cubicBezTo>
                  <a:pt x="148118" y="38765"/>
                  <a:pt x="142506" y="35438"/>
                  <a:pt x="137877" y="37926"/>
                </a:cubicBezTo>
                <a:lnTo>
                  <a:pt x="92574" y="62314"/>
                </a:lnTo>
                <a:lnTo>
                  <a:pt x="92574" y="44031"/>
                </a:lnTo>
                <a:cubicBezTo>
                  <a:pt x="92574" y="38765"/>
                  <a:pt x="86962" y="35438"/>
                  <a:pt x="82333" y="37926"/>
                </a:cubicBezTo>
                <a:lnTo>
                  <a:pt x="37030" y="62314"/>
                </a:lnTo>
                <a:lnTo>
                  <a:pt x="37030" y="18515"/>
                </a:lnTo>
                <a:cubicBezTo>
                  <a:pt x="37030" y="13394"/>
                  <a:pt x="32893" y="9257"/>
                  <a:pt x="27772" y="9257"/>
                </a:cubicBezTo>
                <a:lnTo>
                  <a:pt x="9257" y="9257"/>
                </a:lnTo>
                <a:close/>
              </a:path>
            </a:pathLst>
          </a:custGeom>
          <a:solidFill>
            <a:srgbClr val="C8A265"/>
          </a:solidFill>
          <a:ln/>
        </p:spPr>
      </p:sp>
      <p:sp>
        <p:nvSpPr>
          <p:cNvPr id="67" name="Text 64"/>
          <p:cNvSpPr/>
          <p:nvPr/>
        </p:nvSpPr>
        <p:spPr>
          <a:xfrm>
            <a:off x="8583638" y="5609986"/>
            <a:ext cx="2008856" cy="2221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66" b="1" dirty="0">
                <a:solidFill>
                  <a:srgbClr val="E0E2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Manufactura</a:t>
            </a:r>
            <a:endParaRPr lang="en-US" sz="1600" dirty="0"/>
          </a:p>
        </p:txBody>
      </p:sp>
      <p:sp>
        <p:nvSpPr>
          <p:cNvPr id="68" name="Text 65"/>
          <p:cNvSpPr/>
          <p:nvPr/>
        </p:nvSpPr>
        <p:spPr>
          <a:xfrm>
            <a:off x="8583638" y="5832164"/>
            <a:ext cx="1999599" cy="1851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21" dirty="0">
                <a:solidFill>
                  <a:srgbClr val="788A9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Control de calidad automatizado</a:t>
            </a:r>
            <a:endParaRPr lang="en-US" sz="1600" dirty="0"/>
          </a:p>
        </p:txBody>
      </p:sp>
      <p:sp>
        <p:nvSpPr>
          <p:cNvPr id="69" name="Shape 66"/>
          <p:cNvSpPr/>
          <p:nvPr/>
        </p:nvSpPr>
        <p:spPr>
          <a:xfrm>
            <a:off x="8342945" y="6165431"/>
            <a:ext cx="148118" cy="148118"/>
          </a:xfrm>
          <a:custGeom>
            <a:avLst/>
            <a:gdLst/>
            <a:ahLst/>
            <a:cxnLst/>
            <a:rect l="l" t="t" r="r" b="b"/>
            <a:pathLst>
              <a:path w="148118" h="148118">
                <a:moveTo>
                  <a:pt x="74059" y="31215"/>
                </a:moveTo>
                <a:lnTo>
                  <a:pt x="69720" y="25197"/>
                </a:lnTo>
                <a:cubicBezTo>
                  <a:pt x="62487" y="15188"/>
                  <a:pt x="50887" y="9257"/>
                  <a:pt x="38505" y="9257"/>
                </a:cubicBezTo>
                <a:cubicBezTo>
                  <a:pt x="17242" y="9257"/>
                  <a:pt x="0" y="26499"/>
                  <a:pt x="0" y="47762"/>
                </a:cubicBezTo>
                <a:lnTo>
                  <a:pt x="0" y="48515"/>
                </a:lnTo>
                <a:cubicBezTo>
                  <a:pt x="0" y="55342"/>
                  <a:pt x="1794" y="62401"/>
                  <a:pt x="4802" y="69431"/>
                </a:cubicBezTo>
                <a:lnTo>
                  <a:pt x="35467" y="69431"/>
                </a:lnTo>
                <a:cubicBezTo>
                  <a:pt x="36393" y="69431"/>
                  <a:pt x="37232" y="68881"/>
                  <a:pt x="37608" y="68013"/>
                </a:cubicBezTo>
                <a:lnTo>
                  <a:pt x="46808" y="45940"/>
                </a:lnTo>
                <a:cubicBezTo>
                  <a:pt x="47878" y="43394"/>
                  <a:pt x="50366" y="41716"/>
                  <a:pt x="53114" y="41658"/>
                </a:cubicBezTo>
                <a:cubicBezTo>
                  <a:pt x="55863" y="41600"/>
                  <a:pt x="58408" y="43221"/>
                  <a:pt x="59537" y="45737"/>
                </a:cubicBezTo>
                <a:lnTo>
                  <a:pt x="74377" y="78688"/>
                </a:lnTo>
                <a:lnTo>
                  <a:pt x="86354" y="54734"/>
                </a:lnTo>
                <a:cubicBezTo>
                  <a:pt x="87540" y="52391"/>
                  <a:pt x="89941" y="50887"/>
                  <a:pt x="92574" y="50887"/>
                </a:cubicBezTo>
                <a:cubicBezTo>
                  <a:pt x="95207" y="50887"/>
                  <a:pt x="97608" y="52362"/>
                  <a:pt x="98794" y="54734"/>
                </a:cubicBezTo>
                <a:lnTo>
                  <a:pt x="105505" y="68129"/>
                </a:lnTo>
                <a:cubicBezTo>
                  <a:pt x="105910" y="68910"/>
                  <a:pt x="106692" y="69402"/>
                  <a:pt x="107588" y="69402"/>
                </a:cubicBezTo>
                <a:lnTo>
                  <a:pt x="143345" y="69402"/>
                </a:lnTo>
                <a:cubicBezTo>
                  <a:pt x="146383" y="62372"/>
                  <a:pt x="148147" y="55313"/>
                  <a:pt x="148147" y="48486"/>
                </a:cubicBezTo>
                <a:lnTo>
                  <a:pt x="148147" y="47733"/>
                </a:lnTo>
                <a:cubicBezTo>
                  <a:pt x="148118" y="26499"/>
                  <a:pt x="130877" y="9257"/>
                  <a:pt x="109613" y="9257"/>
                </a:cubicBezTo>
                <a:cubicBezTo>
                  <a:pt x="97261" y="9257"/>
                  <a:pt x="85631" y="15188"/>
                  <a:pt x="78399" y="25197"/>
                </a:cubicBezTo>
                <a:lnTo>
                  <a:pt x="74059" y="31186"/>
                </a:lnTo>
                <a:close/>
                <a:moveTo>
                  <a:pt x="135852" y="83317"/>
                </a:moveTo>
                <a:lnTo>
                  <a:pt x="107559" y="83317"/>
                </a:lnTo>
                <a:cubicBezTo>
                  <a:pt x="101426" y="83317"/>
                  <a:pt x="95814" y="79845"/>
                  <a:pt x="93066" y="74349"/>
                </a:cubicBezTo>
                <a:lnTo>
                  <a:pt x="92574" y="73365"/>
                </a:lnTo>
                <a:lnTo>
                  <a:pt x="80279" y="97984"/>
                </a:lnTo>
                <a:cubicBezTo>
                  <a:pt x="79093" y="100385"/>
                  <a:pt x="76605" y="101889"/>
                  <a:pt x="73915" y="101831"/>
                </a:cubicBezTo>
                <a:cubicBezTo>
                  <a:pt x="71224" y="101774"/>
                  <a:pt x="68823" y="100182"/>
                  <a:pt x="67724" y="97752"/>
                </a:cubicBezTo>
                <a:lnTo>
                  <a:pt x="53462" y="66075"/>
                </a:lnTo>
                <a:lnTo>
                  <a:pt x="50424" y="73365"/>
                </a:lnTo>
                <a:cubicBezTo>
                  <a:pt x="47907" y="79411"/>
                  <a:pt x="42005" y="83346"/>
                  <a:pt x="35467" y="83346"/>
                </a:cubicBezTo>
                <a:lnTo>
                  <a:pt x="12266" y="83346"/>
                </a:lnTo>
                <a:cubicBezTo>
                  <a:pt x="25921" y="104695"/>
                  <a:pt x="47849" y="124338"/>
                  <a:pt x="61562" y="134811"/>
                </a:cubicBezTo>
                <a:cubicBezTo>
                  <a:pt x="65149" y="137530"/>
                  <a:pt x="69546" y="138890"/>
                  <a:pt x="74030" y="138890"/>
                </a:cubicBezTo>
                <a:cubicBezTo>
                  <a:pt x="78514" y="138890"/>
                  <a:pt x="82941" y="137559"/>
                  <a:pt x="86499" y="134811"/>
                </a:cubicBezTo>
                <a:cubicBezTo>
                  <a:pt x="100269" y="124310"/>
                  <a:pt x="122198" y="104667"/>
                  <a:pt x="135852" y="83317"/>
                </a:cubicBezTo>
                <a:close/>
              </a:path>
            </a:pathLst>
          </a:custGeom>
          <a:solidFill>
            <a:srgbClr val="C8A265"/>
          </a:solidFill>
          <a:ln/>
        </p:spPr>
      </p:sp>
      <p:sp>
        <p:nvSpPr>
          <p:cNvPr id="70" name="Text 67"/>
          <p:cNvSpPr/>
          <p:nvPr/>
        </p:nvSpPr>
        <p:spPr>
          <a:xfrm>
            <a:off x="8583638" y="6128401"/>
            <a:ext cx="1962569" cy="2221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66" b="1" dirty="0">
                <a:solidFill>
                  <a:srgbClr val="E0E2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Salud</a:t>
            </a:r>
            <a:endParaRPr lang="en-US" sz="1600" dirty="0"/>
          </a:p>
        </p:txBody>
      </p:sp>
      <p:sp>
        <p:nvSpPr>
          <p:cNvPr id="71" name="Text 68"/>
          <p:cNvSpPr/>
          <p:nvPr/>
        </p:nvSpPr>
        <p:spPr>
          <a:xfrm>
            <a:off x="8583638" y="6350579"/>
            <a:ext cx="1953312" cy="1851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21" dirty="0">
                <a:solidFill>
                  <a:srgbClr val="788A9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Diagnóstico por imagen médica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A1D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33375" y="317500"/>
            <a:ext cx="2111375" cy="317500"/>
          </a:xfrm>
          <a:custGeom>
            <a:avLst/>
            <a:gdLst/>
            <a:ahLst/>
            <a:cxnLst/>
            <a:rect l="l" t="t" r="r" b="b"/>
            <a:pathLst>
              <a:path w="2111375" h="317500">
                <a:moveTo>
                  <a:pt x="0" y="0"/>
                </a:moveTo>
                <a:lnTo>
                  <a:pt x="2111375" y="0"/>
                </a:lnTo>
                <a:lnTo>
                  <a:pt x="2111375" y="317500"/>
                </a:lnTo>
                <a:lnTo>
                  <a:pt x="0" y="317500"/>
                </a:lnTo>
                <a:lnTo>
                  <a:pt x="0" y="0"/>
                </a:lnTo>
                <a:close/>
              </a:path>
            </a:pathLst>
          </a:custGeom>
          <a:solidFill>
            <a:srgbClr val="4A6D8C">
              <a:alpha val="2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333375" y="317500"/>
            <a:ext cx="31750" cy="317500"/>
          </a:xfrm>
          <a:custGeom>
            <a:avLst/>
            <a:gdLst/>
            <a:ahLst/>
            <a:cxnLst/>
            <a:rect l="l" t="t" r="r" b="b"/>
            <a:pathLst>
              <a:path w="31750" h="317500">
                <a:moveTo>
                  <a:pt x="0" y="0"/>
                </a:moveTo>
                <a:lnTo>
                  <a:pt x="31750" y="0"/>
                </a:lnTo>
                <a:lnTo>
                  <a:pt x="31750" y="317500"/>
                </a:lnTo>
                <a:lnTo>
                  <a:pt x="0" y="317500"/>
                </a:lnTo>
                <a:lnTo>
                  <a:pt x="0" y="0"/>
                </a:lnTo>
                <a:close/>
              </a:path>
            </a:pathLst>
          </a:custGeom>
          <a:solidFill>
            <a:srgbClr val="C8A265"/>
          </a:solidFill>
          <a:ln/>
        </p:spPr>
      </p:sp>
      <p:sp>
        <p:nvSpPr>
          <p:cNvPr id="4" name="Text 2"/>
          <p:cNvSpPr/>
          <p:nvPr/>
        </p:nvSpPr>
        <p:spPr>
          <a:xfrm>
            <a:off x="508000" y="388938"/>
            <a:ext cx="1840756" cy="1746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spc="50" kern="0" dirty="0">
                <a:solidFill>
                  <a:srgbClr val="C8A26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05 • SISTEMAS EXPERTOS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317500" y="762000"/>
            <a:ext cx="11747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000" b="1" dirty="0">
                <a:solidFill>
                  <a:srgbClr val="E0E2E6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Expert Systems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317500" y="1238250"/>
            <a:ext cx="11636375" cy="5159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50" dirty="0">
                <a:solidFill>
                  <a:srgbClr val="788A9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Los sistemas expertos son programas que </a:t>
            </a:r>
            <a:pPr>
              <a:lnSpc>
                <a:spcPct val="140000"/>
              </a:lnSpc>
            </a:pPr>
            <a:r>
              <a:rPr lang="en-US" sz="1250" b="1" dirty="0">
                <a:solidFill>
                  <a:srgbClr val="C8A26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imitan la toma de decisiones humanas</a:t>
            </a:r>
            <a:pPr>
              <a:lnSpc>
                <a:spcPct val="140000"/>
              </a:lnSpc>
            </a:pPr>
            <a:r>
              <a:rPr lang="en-US" sz="1250" dirty="0">
                <a:solidFill>
                  <a:srgbClr val="788A9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en dominios específicos, capturando conocimiento especializado para resolver problemas complejos.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321469" y="1916906"/>
            <a:ext cx="5691188" cy="4770438"/>
          </a:xfrm>
          <a:custGeom>
            <a:avLst/>
            <a:gdLst/>
            <a:ahLst/>
            <a:cxnLst/>
            <a:rect l="l" t="t" r="r" b="b"/>
            <a:pathLst>
              <a:path w="5691188" h="4770438">
                <a:moveTo>
                  <a:pt x="95266" y="0"/>
                </a:moveTo>
                <a:lnTo>
                  <a:pt x="5595922" y="0"/>
                </a:lnTo>
                <a:cubicBezTo>
                  <a:pt x="5648536" y="0"/>
                  <a:pt x="5691187" y="42652"/>
                  <a:pt x="5691187" y="95266"/>
                </a:cubicBezTo>
                <a:lnTo>
                  <a:pt x="5691188" y="4675172"/>
                </a:lnTo>
                <a:cubicBezTo>
                  <a:pt x="5691187" y="4727786"/>
                  <a:pt x="5648536" y="4770438"/>
                  <a:pt x="5595922" y="4770438"/>
                </a:cubicBezTo>
                <a:lnTo>
                  <a:pt x="95266" y="4770438"/>
                </a:lnTo>
                <a:cubicBezTo>
                  <a:pt x="42652" y="4770438"/>
                  <a:pt x="0" y="4727786"/>
                  <a:pt x="0" y="4675172"/>
                </a:cubicBezTo>
                <a:lnTo>
                  <a:pt x="0" y="95266"/>
                </a:lnTo>
                <a:cubicBezTo>
                  <a:pt x="0" y="42687"/>
                  <a:pt x="42687" y="0"/>
                  <a:pt x="95266" y="0"/>
                </a:cubicBezTo>
                <a:close/>
              </a:path>
            </a:pathLst>
          </a:custGeom>
          <a:solidFill>
            <a:srgbClr val="4A6D8C">
              <a:alpha val="10196"/>
            </a:srgbClr>
          </a:solidFill>
          <a:ln w="12700">
            <a:solidFill>
              <a:srgbClr val="4A6D8C">
                <a:alpha val="30196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84187" y="2079625"/>
            <a:ext cx="444500" cy="444500"/>
          </a:xfrm>
          <a:custGeom>
            <a:avLst/>
            <a:gdLst/>
            <a:ahLst/>
            <a:cxnLst/>
            <a:rect l="l" t="t" r="r" b="b"/>
            <a:pathLst>
              <a:path w="444500" h="444500">
                <a:moveTo>
                  <a:pt x="63501" y="0"/>
                </a:moveTo>
                <a:lnTo>
                  <a:pt x="380999" y="0"/>
                </a:lnTo>
                <a:cubicBezTo>
                  <a:pt x="416046" y="0"/>
                  <a:pt x="444500" y="28454"/>
                  <a:pt x="444500" y="63501"/>
                </a:cubicBezTo>
                <a:lnTo>
                  <a:pt x="444500" y="380999"/>
                </a:lnTo>
                <a:cubicBezTo>
                  <a:pt x="444500" y="416046"/>
                  <a:pt x="416046" y="444500"/>
                  <a:pt x="380999" y="444500"/>
                </a:cubicBezTo>
                <a:lnTo>
                  <a:pt x="63501" y="444500"/>
                </a:lnTo>
                <a:cubicBezTo>
                  <a:pt x="28454" y="444500"/>
                  <a:pt x="0" y="416046"/>
                  <a:pt x="0" y="380999"/>
                </a:cubicBezTo>
                <a:lnTo>
                  <a:pt x="0" y="63501"/>
                </a:lnTo>
                <a:cubicBezTo>
                  <a:pt x="0" y="28454"/>
                  <a:pt x="28454" y="0"/>
                  <a:pt x="63501" y="0"/>
                </a:cubicBezTo>
                <a:close/>
              </a:path>
            </a:pathLst>
          </a:custGeom>
          <a:solidFill>
            <a:srgbClr val="C8A265"/>
          </a:solidFill>
          <a:ln/>
        </p:spPr>
      </p:sp>
      <p:sp>
        <p:nvSpPr>
          <p:cNvPr id="9" name="Shape 7"/>
          <p:cNvSpPr/>
          <p:nvPr/>
        </p:nvSpPr>
        <p:spPr>
          <a:xfrm>
            <a:off x="611188" y="2206625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44648" y="20836"/>
                </a:moveTo>
                <a:cubicBezTo>
                  <a:pt x="44648" y="9339"/>
                  <a:pt x="53987" y="0"/>
                  <a:pt x="65484" y="0"/>
                </a:cubicBezTo>
                <a:lnTo>
                  <a:pt x="74414" y="0"/>
                </a:lnTo>
                <a:cubicBezTo>
                  <a:pt x="81000" y="0"/>
                  <a:pt x="86320" y="5321"/>
                  <a:pt x="86320" y="11906"/>
                </a:cubicBezTo>
                <a:lnTo>
                  <a:pt x="86320" y="178594"/>
                </a:lnTo>
                <a:cubicBezTo>
                  <a:pt x="86320" y="185179"/>
                  <a:pt x="81000" y="190500"/>
                  <a:pt x="74414" y="190500"/>
                </a:cubicBezTo>
                <a:lnTo>
                  <a:pt x="62508" y="190500"/>
                </a:lnTo>
                <a:cubicBezTo>
                  <a:pt x="51420" y="190500"/>
                  <a:pt x="42081" y="182910"/>
                  <a:pt x="39439" y="172641"/>
                </a:cubicBezTo>
                <a:cubicBezTo>
                  <a:pt x="39179" y="172641"/>
                  <a:pt x="38956" y="172641"/>
                  <a:pt x="38695" y="172641"/>
                </a:cubicBezTo>
                <a:cubicBezTo>
                  <a:pt x="22250" y="172641"/>
                  <a:pt x="8930" y="159321"/>
                  <a:pt x="8930" y="142875"/>
                </a:cubicBezTo>
                <a:cubicBezTo>
                  <a:pt x="8930" y="136178"/>
                  <a:pt x="11162" y="130001"/>
                  <a:pt x="14883" y="125016"/>
                </a:cubicBezTo>
                <a:cubicBezTo>
                  <a:pt x="7665" y="119583"/>
                  <a:pt x="2977" y="110951"/>
                  <a:pt x="2977" y="101203"/>
                </a:cubicBezTo>
                <a:cubicBezTo>
                  <a:pt x="2977" y="89706"/>
                  <a:pt x="9525" y="79697"/>
                  <a:pt x="19050" y="74749"/>
                </a:cubicBezTo>
                <a:cubicBezTo>
                  <a:pt x="16408" y="70284"/>
                  <a:pt x="14883" y="65075"/>
                  <a:pt x="14883" y="59531"/>
                </a:cubicBezTo>
                <a:cubicBezTo>
                  <a:pt x="14883" y="43086"/>
                  <a:pt x="28203" y="29766"/>
                  <a:pt x="44648" y="29766"/>
                </a:cubicBezTo>
                <a:lnTo>
                  <a:pt x="44648" y="20836"/>
                </a:lnTo>
                <a:close/>
                <a:moveTo>
                  <a:pt x="145852" y="20836"/>
                </a:moveTo>
                <a:lnTo>
                  <a:pt x="145852" y="29766"/>
                </a:lnTo>
                <a:cubicBezTo>
                  <a:pt x="162297" y="29766"/>
                  <a:pt x="175617" y="43086"/>
                  <a:pt x="175617" y="59531"/>
                </a:cubicBezTo>
                <a:cubicBezTo>
                  <a:pt x="175617" y="65112"/>
                  <a:pt x="174092" y="70321"/>
                  <a:pt x="171450" y="74749"/>
                </a:cubicBezTo>
                <a:cubicBezTo>
                  <a:pt x="181012" y="79697"/>
                  <a:pt x="187523" y="89669"/>
                  <a:pt x="187523" y="101203"/>
                </a:cubicBezTo>
                <a:cubicBezTo>
                  <a:pt x="187523" y="110951"/>
                  <a:pt x="182835" y="119583"/>
                  <a:pt x="175617" y="125016"/>
                </a:cubicBezTo>
                <a:cubicBezTo>
                  <a:pt x="179338" y="130001"/>
                  <a:pt x="181570" y="136178"/>
                  <a:pt x="181570" y="142875"/>
                </a:cubicBezTo>
                <a:cubicBezTo>
                  <a:pt x="181570" y="159321"/>
                  <a:pt x="168250" y="172641"/>
                  <a:pt x="151805" y="172641"/>
                </a:cubicBezTo>
                <a:cubicBezTo>
                  <a:pt x="151544" y="172641"/>
                  <a:pt x="151321" y="172641"/>
                  <a:pt x="151061" y="172641"/>
                </a:cubicBezTo>
                <a:cubicBezTo>
                  <a:pt x="148419" y="182910"/>
                  <a:pt x="139080" y="190500"/>
                  <a:pt x="127992" y="190500"/>
                </a:cubicBezTo>
                <a:lnTo>
                  <a:pt x="116086" y="190500"/>
                </a:lnTo>
                <a:cubicBezTo>
                  <a:pt x="109500" y="190500"/>
                  <a:pt x="104180" y="185179"/>
                  <a:pt x="104180" y="178594"/>
                </a:cubicBezTo>
                <a:lnTo>
                  <a:pt x="104180" y="11906"/>
                </a:lnTo>
                <a:cubicBezTo>
                  <a:pt x="104180" y="5321"/>
                  <a:pt x="109500" y="0"/>
                  <a:pt x="116086" y="0"/>
                </a:cubicBezTo>
                <a:lnTo>
                  <a:pt x="125016" y="0"/>
                </a:lnTo>
                <a:cubicBezTo>
                  <a:pt x="136513" y="0"/>
                  <a:pt x="145852" y="9339"/>
                  <a:pt x="145852" y="20836"/>
                </a:cubicBezTo>
                <a:close/>
              </a:path>
            </a:pathLst>
          </a:custGeom>
          <a:solidFill>
            <a:srgbClr val="1A1D23"/>
          </a:solidFill>
          <a:ln/>
        </p:spPr>
      </p:sp>
      <p:sp>
        <p:nvSpPr>
          <p:cNvPr id="10" name="Text 8"/>
          <p:cNvSpPr/>
          <p:nvPr/>
        </p:nvSpPr>
        <p:spPr>
          <a:xfrm>
            <a:off x="1023938" y="2174875"/>
            <a:ext cx="1309688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00" b="1" dirty="0">
                <a:solidFill>
                  <a:srgbClr val="E0E2E6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Lógica Difusa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84187" y="2651125"/>
            <a:ext cx="5429250" cy="412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00" dirty="0">
                <a:solidFill>
                  <a:srgbClr val="788A9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Modelos matemáticos para manejar información </a:t>
            </a:r>
            <a:pPr>
              <a:lnSpc>
                <a:spcPct val="140000"/>
              </a:lnSpc>
            </a:pPr>
            <a:r>
              <a:rPr lang="en-US" sz="1000" b="1" dirty="0">
                <a:solidFill>
                  <a:srgbClr val="C8A26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incierta, imprecisa o ambigua</a:t>
            </a:r>
            <a:pPr>
              <a:lnSpc>
                <a:spcPct val="140000"/>
              </a:lnSpc>
            </a:pPr>
            <a:r>
              <a:rPr lang="en-US" sz="1000" dirty="0">
                <a:solidFill>
                  <a:srgbClr val="788A9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, permitiendo razonamiento aproximado similar al humano.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484187" y="3190875"/>
            <a:ext cx="5365750" cy="571500"/>
          </a:xfrm>
          <a:custGeom>
            <a:avLst/>
            <a:gdLst/>
            <a:ahLst/>
            <a:cxnLst/>
            <a:rect l="l" t="t" r="r" b="b"/>
            <a:pathLst>
              <a:path w="5365750" h="571500">
                <a:moveTo>
                  <a:pt x="63499" y="0"/>
                </a:moveTo>
                <a:lnTo>
                  <a:pt x="5302251" y="0"/>
                </a:lnTo>
                <a:cubicBezTo>
                  <a:pt x="5337320" y="0"/>
                  <a:pt x="5365750" y="28430"/>
                  <a:pt x="5365750" y="63499"/>
                </a:cubicBezTo>
                <a:lnTo>
                  <a:pt x="5365750" y="508001"/>
                </a:lnTo>
                <a:cubicBezTo>
                  <a:pt x="5365750" y="543070"/>
                  <a:pt x="5337320" y="571500"/>
                  <a:pt x="5302251" y="571500"/>
                </a:cubicBezTo>
                <a:lnTo>
                  <a:pt x="63499" y="571500"/>
                </a:lnTo>
                <a:cubicBezTo>
                  <a:pt x="28430" y="571500"/>
                  <a:pt x="0" y="543070"/>
                  <a:pt x="0" y="508001"/>
                </a:cubicBezTo>
                <a:lnTo>
                  <a:pt x="0" y="63499"/>
                </a:lnTo>
                <a:cubicBezTo>
                  <a:pt x="0" y="28453"/>
                  <a:pt x="28453" y="0"/>
                  <a:pt x="63499" y="0"/>
                </a:cubicBezTo>
                <a:close/>
              </a:path>
            </a:pathLst>
          </a:custGeom>
          <a:solidFill>
            <a:srgbClr val="4A6D8C">
              <a:alpha val="20000"/>
            </a:srgbClr>
          </a:solidFill>
          <a:ln/>
        </p:spPr>
      </p:sp>
      <p:sp>
        <p:nvSpPr>
          <p:cNvPr id="13" name="Text 11"/>
          <p:cNvSpPr/>
          <p:nvPr/>
        </p:nvSpPr>
        <p:spPr>
          <a:xfrm>
            <a:off x="579438" y="3286125"/>
            <a:ext cx="52387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E0E2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Conjuntos Difusos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579438" y="3508375"/>
            <a:ext cx="5230813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788A9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Permiten grados de pertenencia entre 0 y 1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484187" y="3857625"/>
            <a:ext cx="5365750" cy="571500"/>
          </a:xfrm>
          <a:custGeom>
            <a:avLst/>
            <a:gdLst/>
            <a:ahLst/>
            <a:cxnLst/>
            <a:rect l="l" t="t" r="r" b="b"/>
            <a:pathLst>
              <a:path w="5365750" h="571500">
                <a:moveTo>
                  <a:pt x="63499" y="0"/>
                </a:moveTo>
                <a:lnTo>
                  <a:pt x="5302251" y="0"/>
                </a:lnTo>
                <a:cubicBezTo>
                  <a:pt x="5337320" y="0"/>
                  <a:pt x="5365750" y="28430"/>
                  <a:pt x="5365750" y="63499"/>
                </a:cubicBezTo>
                <a:lnTo>
                  <a:pt x="5365750" y="508001"/>
                </a:lnTo>
                <a:cubicBezTo>
                  <a:pt x="5365750" y="543070"/>
                  <a:pt x="5337320" y="571500"/>
                  <a:pt x="5302251" y="571500"/>
                </a:cubicBezTo>
                <a:lnTo>
                  <a:pt x="63499" y="571500"/>
                </a:lnTo>
                <a:cubicBezTo>
                  <a:pt x="28430" y="571500"/>
                  <a:pt x="0" y="543070"/>
                  <a:pt x="0" y="508001"/>
                </a:cubicBezTo>
                <a:lnTo>
                  <a:pt x="0" y="63499"/>
                </a:lnTo>
                <a:cubicBezTo>
                  <a:pt x="0" y="28453"/>
                  <a:pt x="28453" y="0"/>
                  <a:pt x="63499" y="0"/>
                </a:cubicBezTo>
                <a:close/>
              </a:path>
            </a:pathLst>
          </a:custGeom>
          <a:solidFill>
            <a:srgbClr val="4A6D8C">
              <a:alpha val="20000"/>
            </a:srgbClr>
          </a:solidFill>
          <a:ln/>
        </p:spPr>
      </p:sp>
      <p:sp>
        <p:nvSpPr>
          <p:cNvPr id="16" name="Text 14"/>
          <p:cNvSpPr/>
          <p:nvPr/>
        </p:nvSpPr>
        <p:spPr>
          <a:xfrm>
            <a:off x="579438" y="3952875"/>
            <a:ext cx="52387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E0E2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Reglas de Inferencia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579438" y="4175125"/>
            <a:ext cx="5230813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788A9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SI-ENTONCES con grados de certeza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484187" y="4524375"/>
            <a:ext cx="5365750" cy="571500"/>
          </a:xfrm>
          <a:custGeom>
            <a:avLst/>
            <a:gdLst/>
            <a:ahLst/>
            <a:cxnLst/>
            <a:rect l="l" t="t" r="r" b="b"/>
            <a:pathLst>
              <a:path w="5365750" h="571500">
                <a:moveTo>
                  <a:pt x="63499" y="0"/>
                </a:moveTo>
                <a:lnTo>
                  <a:pt x="5302251" y="0"/>
                </a:lnTo>
                <a:cubicBezTo>
                  <a:pt x="5337320" y="0"/>
                  <a:pt x="5365750" y="28430"/>
                  <a:pt x="5365750" y="63499"/>
                </a:cubicBezTo>
                <a:lnTo>
                  <a:pt x="5365750" y="508001"/>
                </a:lnTo>
                <a:cubicBezTo>
                  <a:pt x="5365750" y="543070"/>
                  <a:pt x="5337320" y="571500"/>
                  <a:pt x="5302251" y="571500"/>
                </a:cubicBezTo>
                <a:lnTo>
                  <a:pt x="63499" y="571500"/>
                </a:lnTo>
                <a:cubicBezTo>
                  <a:pt x="28430" y="571500"/>
                  <a:pt x="0" y="543070"/>
                  <a:pt x="0" y="508001"/>
                </a:cubicBezTo>
                <a:lnTo>
                  <a:pt x="0" y="63499"/>
                </a:lnTo>
                <a:cubicBezTo>
                  <a:pt x="0" y="28453"/>
                  <a:pt x="28453" y="0"/>
                  <a:pt x="63499" y="0"/>
                </a:cubicBezTo>
                <a:close/>
              </a:path>
            </a:pathLst>
          </a:custGeom>
          <a:solidFill>
            <a:srgbClr val="4A6D8C">
              <a:alpha val="20000"/>
            </a:srgbClr>
          </a:solidFill>
          <a:ln/>
        </p:spPr>
      </p:sp>
      <p:sp>
        <p:nvSpPr>
          <p:cNvPr id="19" name="Text 17"/>
          <p:cNvSpPr/>
          <p:nvPr/>
        </p:nvSpPr>
        <p:spPr>
          <a:xfrm>
            <a:off x="579438" y="4619625"/>
            <a:ext cx="52387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E0E2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Defuzzificación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579438" y="4841875"/>
            <a:ext cx="5230813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788A9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Conversión a valores precisos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333375" y="6818313"/>
            <a:ext cx="5683250" cy="603250"/>
          </a:xfrm>
          <a:custGeom>
            <a:avLst/>
            <a:gdLst/>
            <a:ahLst/>
            <a:cxnLst/>
            <a:rect l="l" t="t" r="r" b="b"/>
            <a:pathLst>
              <a:path w="5683250" h="603250">
                <a:moveTo>
                  <a:pt x="31750" y="0"/>
                </a:moveTo>
                <a:lnTo>
                  <a:pt x="5619752" y="0"/>
                </a:lnTo>
                <a:cubicBezTo>
                  <a:pt x="5654821" y="0"/>
                  <a:pt x="5683250" y="28429"/>
                  <a:pt x="5683250" y="63498"/>
                </a:cubicBezTo>
                <a:lnTo>
                  <a:pt x="5683250" y="539752"/>
                </a:lnTo>
                <a:cubicBezTo>
                  <a:pt x="5683250" y="574821"/>
                  <a:pt x="5654821" y="603250"/>
                  <a:pt x="5619752" y="603250"/>
                </a:cubicBezTo>
                <a:lnTo>
                  <a:pt x="31750" y="603250"/>
                </a:lnTo>
                <a:cubicBezTo>
                  <a:pt x="14215" y="603250"/>
                  <a:pt x="0" y="589035"/>
                  <a:pt x="0" y="57150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C8A265">
              <a:alpha val="10196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333375" y="6818313"/>
            <a:ext cx="31750" cy="603250"/>
          </a:xfrm>
          <a:custGeom>
            <a:avLst/>
            <a:gdLst/>
            <a:ahLst/>
            <a:cxnLst/>
            <a:rect l="l" t="t" r="r" b="b"/>
            <a:pathLst>
              <a:path w="31750" h="603250">
                <a:moveTo>
                  <a:pt x="31750" y="0"/>
                </a:moveTo>
                <a:lnTo>
                  <a:pt x="31750" y="0"/>
                </a:lnTo>
                <a:lnTo>
                  <a:pt x="31750" y="603250"/>
                </a:lnTo>
                <a:lnTo>
                  <a:pt x="31750" y="603250"/>
                </a:lnTo>
                <a:cubicBezTo>
                  <a:pt x="14227" y="603250"/>
                  <a:pt x="0" y="589023"/>
                  <a:pt x="0" y="57150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C8A265"/>
          </a:solidFill>
          <a:ln/>
        </p:spPr>
      </p:sp>
      <p:sp>
        <p:nvSpPr>
          <p:cNvPr id="23" name="Shape 21"/>
          <p:cNvSpPr/>
          <p:nvPr/>
        </p:nvSpPr>
        <p:spPr>
          <a:xfrm>
            <a:off x="523875" y="7024688"/>
            <a:ext cx="142875" cy="190500"/>
          </a:xfrm>
          <a:custGeom>
            <a:avLst/>
            <a:gdLst/>
            <a:ahLst/>
            <a:cxnLst/>
            <a:rect l="l" t="t" r="r" b="b"/>
            <a:pathLst>
              <a:path w="142875" h="190500">
                <a:moveTo>
                  <a:pt x="108979" y="142875"/>
                </a:moveTo>
                <a:cubicBezTo>
                  <a:pt x="111696" y="134578"/>
                  <a:pt x="117128" y="127062"/>
                  <a:pt x="123267" y="120588"/>
                </a:cubicBezTo>
                <a:cubicBezTo>
                  <a:pt x="135434" y="107789"/>
                  <a:pt x="142875" y="90488"/>
                  <a:pt x="142875" y="71438"/>
                </a:cubicBezTo>
                <a:cubicBezTo>
                  <a:pt x="142875" y="31998"/>
                  <a:pt x="110877" y="0"/>
                  <a:pt x="71437" y="0"/>
                </a:cubicBezTo>
                <a:cubicBezTo>
                  <a:pt x="31998" y="0"/>
                  <a:pt x="0" y="31998"/>
                  <a:pt x="0" y="71438"/>
                </a:cubicBezTo>
                <a:cubicBezTo>
                  <a:pt x="0" y="90488"/>
                  <a:pt x="7441" y="107789"/>
                  <a:pt x="19608" y="120588"/>
                </a:cubicBezTo>
                <a:cubicBezTo>
                  <a:pt x="25747" y="127062"/>
                  <a:pt x="31217" y="134578"/>
                  <a:pt x="33896" y="142875"/>
                </a:cubicBezTo>
                <a:lnTo>
                  <a:pt x="108942" y="142875"/>
                </a:lnTo>
                <a:close/>
                <a:moveTo>
                  <a:pt x="107156" y="160734"/>
                </a:moveTo>
                <a:lnTo>
                  <a:pt x="35719" y="160734"/>
                </a:lnTo>
                <a:lnTo>
                  <a:pt x="35719" y="166688"/>
                </a:lnTo>
                <a:cubicBezTo>
                  <a:pt x="35719" y="183133"/>
                  <a:pt x="49039" y="196453"/>
                  <a:pt x="65484" y="196453"/>
                </a:cubicBezTo>
                <a:lnTo>
                  <a:pt x="77391" y="196453"/>
                </a:lnTo>
                <a:cubicBezTo>
                  <a:pt x="93836" y="196453"/>
                  <a:pt x="107156" y="183133"/>
                  <a:pt x="107156" y="166688"/>
                </a:cubicBezTo>
                <a:lnTo>
                  <a:pt x="107156" y="160734"/>
                </a:lnTo>
                <a:close/>
                <a:moveTo>
                  <a:pt x="68461" y="41672"/>
                </a:moveTo>
                <a:cubicBezTo>
                  <a:pt x="53653" y="41672"/>
                  <a:pt x="41672" y="53653"/>
                  <a:pt x="41672" y="68461"/>
                </a:cubicBezTo>
                <a:cubicBezTo>
                  <a:pt x="41672" y="73409"/>
                  <a:pt x="37691" y="77391"/>
                  <a:pt x="32742" y="77391"/>
                </a:cubicBezTo>
                <a:cubicBezTo>
                  <a:pt x="27794" y="77391"/>
                  <a:pt x="23812" y="73409"/>
                  <a:pt x="23812" y="68461"/>
                </a:cubicBezTo>
                <a:cubicBezTo>
                  <a:pt x="23812" y="43793"/>
                  <a:pt x="43793" y="23812"/>
                  <a:pt x="68461" y="23812"/>
                </a:cubicBezTo>
                <a:cubicBezTo>
                  <a:pt x="73409" y="23812"/>
                  <a:pt x="77391" y="27794"/>
                  <a:pt x="77391" y="32742"/>
                </a:cubicBezTo>
                <a:cubicBezTo>
                  <a:pt x="77391" y="37691"/>
                  <a:pt x="73409" y="41672"/>
                  <a:pt x="68461" y="41672"/>
                </a:cubicBezTo>
                <a:close/>
              </a:path>
            </a:pathLst>
          </a:custGeom>
          <a:solidFill>
            <a:srgbClr val="C8A265"/>
          </a:solidFill>
          <a:ln/>
        </p:spPr>
      </p:sp>
      <p:sp>
        <p:nvSpPr>
          <p:cNvPr id="24" name="Text 22"/>
          <p:cNvSpPr/>
          <p:nvPr/>
        </p:nvSpPr>
        <p:spPr>
          <a:xfrm>
            <a:off x="809625" y="6945313"/>
            <a:ext cx="41433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E0E2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Aplicaciones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809625" y="7135813"/>
            <a:ext cx="4135438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788A9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Control de temperatura, sistemas de frenos ABS, electrodomésticos inteligentes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6179344" y="1916906"/>
            <a:ext cx="5691188" cy="3230563"/>
          </a:xfrm>
          <a:custGeom>
            <a:avLst/>
            <a:gdLst/>
            <a:ahLst/>
            <a:cxnLst/>
            <a:rect l="l" t="t" r="r" b="b"/>
            <a:pathLst>
              <a:path w="5691188" h="3230563">
                <a:moveTo>
                  <a:pt x="95237" y="0"/>
                </a:moveTo>
                <a:lnTo>
                  <a:pt x="5595951" y="0"/>
                </a:lnTo>
                <a:cubicBezTo>
                  <a:pt x="5648548" y="0"/>
                  <a:pt x="5691188" y="42639"/>
                  <a:pt x="5691188" y="95237"/>
                </a:cubicBezTo>
                <a:lnTo>
                  <a:pt x="5691188" y="3135326"/>
                </a:lnTo>
                <a:cubicBezTo>
                  <a:pt x="5691188" y="3187923"/>
                  <a:pt x="5648548" y="3230562"/>
                  <a:pt x="5595951" y="3230563"/>
                </a:cubicBezTo>
                <a:lnTo>
                  <a:pt x="95237" y="3230563"/>
                </a:lnTo>
                <a:cubicBezTo>
                  <a:pt x="42639" y="3230563"/>
                  <a:pt x="0" y="3187923"/>
                  <a:pt x="0" y="3135326"/>
                </a:cubicBezTo>
                <a:lnTo>
                  <a:pt x="0" y="95237"/>
                </a:lnTo>
                <a:cubicBezTo>
                  <a:pt x="0" y="42639"/>
                  <a:pt x="42639" y="0"/>
                  <a:pt x="95237" y="0"/>
                </a:cubicBezTo>
                <a:close/>
              </a:path>
            </a:pathLst>
          </a:custGeom>
          <a:solidFill>
            <a:srgbClr val="4A6D8C">
              <a:alpha val="10196"/>
            </a:srgbClr>
          </a:solidFill>
          <a:ln w="12700">
            <a:solidFill>
              <a:srgbClr val="4A6D8C">
                <a:alpha val="30196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342063" y="2079625"/>
            <a:ext cx="444500" cy="444500"/>
          </a:xfrm>
          <a:custGeom>
            <a:avLst/>
            <a:gdLst/>
            <a:ahLst/>
            <a:cxnLst/>
            <a:rect l="l" t="t" r="r" b="b"/>
            <a:pathLst>
              <a:path w="444500" h="444500">
                <a:moveTo>
                  <a:pt x="63501" y="0"/>
                </a:moveTo>
                <a:lnTo>
                  <a:pt x="380999" y="0"/>
                </a:lnTo>
                <a:cubicBezTo>
                  <a:pt x="416046" y="0"/>
                  <a:pt x="444500" y="28454"/>
                  <a:pt x="444500" y="63501"/>
                </a:cubicBezTo>
                <a:lnTo>
                  <a:pt x="444500" y="380999"/>
                </a:lnTo>
                <a:cubicBezTo>
                  <a:pt x="444500" y="416046"/>
                  <a:pt x="416046" y="444500"/>
                  <a:pt x="380999" y="444500"/>
                </a:cubicBezTo>
                <a:lnTo>
                  <a:pt x="63501" y="444500"/>
                </a:lnTo>
                <a:cubicBezTo>
                  <a:pt x="28454" y="444500"/>
                  <a:pt x="0" y="416046"/>
                  <a:pt x="0" y="380999"/>
                </a:cubicBezTo>
                <a:lnTo>
                  <a:pt x="0" y="63501"/>
                </a:lnTo>
                <a:cubicBezTo>
                  <a:pt x="0" y="28454"/>
                  <a:pt x="28454" y="0"/>
                  <a:pt x="63501" y="0"/>
                </a:cubicBezTo>
                <a:close/>
              </a:path>
            </a:pathLst>
          </a:custGeom>
          <a:solidFill>
            <a:srgbClr val="C8A265"/>
          </a:solidFill>
          <a:ln/>
        </p:spPr>
      </p:sp>
      <p:sp>
        <p:nvSpPr>
          <p:cNvPr id="28" name="Shape 26"/>
          <p:cNvSpPr/>
          <p:nvPr/>
        </p:nvSpPr>
        <p:spPr>
          <a:xfrm>
            <a:off x="6469063" y="2206625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49783" y="13506"/>
                </a:moveTo>
                <a:cubicBezTo>
                  <a:pt x="53839" y="16334"/>
                  <a:pt x="54806" y="21915"/>
                  <a:pt x="51978" y="25933"/>
                </a:cubicBezTo>
                <a:lnTo>
                  <a:pt x="31142" y="55699"/>
                </a:lnTo>
                <a:cubicBezTo>
                  <a:pt x="29617" y="57857"/>
                  <a:pt x="27236" y="59234"/>
                  <a:pt x="24594" y="59457"/>
                </a:cubicBezTo>
                <a:cubicBezTo>
                  <a:pt x="21952" y="59680"/>
                  <a:pt x="19348" y="58787"/>
                  <a:pt x="17487" y="56927"/>
                </a:cubicBezTo>
                <a:lnTo>
                  <a:pt x="2604" y="42044"/>
                </a:lnTo>
                <a:cubicBezTo>
                  <a:pt x="-856" y="38546"/>
                  <a:pt x="-856" y="32891"/>
                  <a:pt x="2604" y="29394"/>
                </a:cubicBezTo>
                <a:cubicBezTo>
                  <a:pt x="6065" y="25896"/>
                  <a:pt x="11757" y="25933"/>
                  <a:pt x="15255" y="29394"/>
                </a:cubicBezTo>
                <a:lnTo>
                  <a:pt x="22622" y="36761"/>
                </a:lnTo>
                <a:lnTo>
                  <a:pt x="37356" y="15701"/>
                </a:lnTo>
                <a:cubicBezTo>
                  <a:pt x="40184" y="11646"/>
                  <a:pt x="45765" y="10678"/>
                  <a:pt x="49783" y="13506"/>
                </a:cubicBezTo>
                <a:close/>
                <a:moveTo>
                  <a:pt x="49783" y="73037"/>
                </a:moveTo>
                <a:cubicBezTo>
                  <a:pt x="53839" y="75865"/>
                  <a:pt x="54806" y="81446"/>
                  <a:pt x="51978" y="85465"/>
                </a:cubicBezTo>
                <a:lnTo>
                  <a:pt x="31142" y="115230"/>
                </a:lnTo>
                <a:cubicBezTo>
                  <a:pt x="29617" y="117388"/>
                  <a:pt x="27236" y="118765"/>
                  <a:pt x="24594" y="118988"/>
                </a:cubicBezTo>
                <a:cubicBezTo>
                  <a:pt x="21952" y="119211"/>
                  <a:pt x="19348" y="118318"/>
                  <a:pt x="17487" y="116458"/>
                </a:cubicBezTo>
                <a:lnTo>
                  <a:pt x="2604" y="101575"/>
                </a:lnTo>
                <a:cubicBezTo>
                  <a:pt x="-893" y="98078"/>
                  <a:pt x="-893" y="92422"/>
                  <a:pt x="2604" y="88962"/>
                </a:cubicBezTo>
                <a:cubicBezTo>
                  <a:pt x="6102" y="85502"/>
                  <a:pt x="11757" y="85465"/>
                  <a:pt x="15218" y="88962"/>
                </a:cubicBezTo>
                <a:lnTo>
                  <a:pt x="22585" y="96329"/>
                </a:lnTo>
                <a:lnTo>
                  <a:pt x="37319" y="75270"/>
                </a:lnTo>
                <a:cubicBezTo>
                  <a:pt x="40146" y="71214"/>
                  <a:pt x="45727" y="70247"/>
                  <a:pt x="49746" y="73075"/>
                </a:cubicBezTo>
                <a:close/>
                <a:moveTo>
                  <a:pt x="83344" y="35719"/>
                </a:moveTo>
                <a:cubicBezTo>
                  <a:pt x="83344" y="29133"/>
                  <a:pt x="88664" y="23812"/>
                  <a:pt x="95250" y="23812"/>
                </a:cubicBezTo>
                <a:lnTo>
                  <a:pt x="178594" y="23812"/>
                </a:lnTo>
                <a:cubicBezTo>
                  <a:pt x="185179" y="23812"/>
                  <a:pt x="190500" y="29133"/>
                  <a:pt x="190500" y="35719"/>
                </a:cubicBezTo>
                <a:cubicBezTo>
                  <a:pt x="190500" y="42304"/>
                  <a:pt x="185179" y="47625"/>
                  <a:pt x="178594" y="47625"/>
                </a:cubicBezTo>
                <a:lnTo>
                  <a:pt x="95250" y="47625"/>
                </a:lnTo>
                <a:cubicBezTo>
                  <a:pt x="88664" y="47625"/>
                  <a:pt x="83344" y="42304"/>
                  <a:pt x="83344" y="35719"/>
                </a:cubicBezTo>
                <a:close/>
                <a:moveTo>
                  <a:pt x="83344" y="95250"/>
                </a:moveTo>
                <a:cubicBezTo>
                  <a:pt x="83344" y="88664"/>
                  <a:pt x="88664" y="83344"/>
                  <a:pt x="95250" y="83344"/>
                </a:cubicBezTo>
                <a:lnTo>
                  <a:pt x="178594" y="83344"/>
                </a:lnTo>
                <a:cubicBezTo>
                  <a:pt x="185179" y="83344"/>
                  <a:pt x="190500" y="88664"/>
                  <a:pt x="190500" y="95250"/>
                </a:cubicBezTo>
                <a:cubicBezTo>
                  <a:pt x="190500" y="101836"/>
                  <a:pt x="185179" y="107156"/>
                  <a:pt x="178594" y="107156"/>
                </a:cubicBezTo>
                <a:lnTo>
                  <a:pt x="95250" y="107156"/>
                </a:lnTo>
                <a:cubicBezTo>
                  <a:pt x="88664" y="107156"/>
                  <a:pt x="83344" y="101836"/>
                  <a:pt x="83344" y="95250"/>
                </a:cubicBezTo>
                <a:close/>
                <a:moveTo>
                  <a:pt x="59531" y="154781"/>
                </a:moveTo>
                <a:cubicBezTo>
                  <a:pt x="59531" y="148196"/>
                  <a:pt x="64852" y="142875"/>
                  <a:pt x="71438" y="142875"/>
                </a:cubicBezTo>
                <a:lnTo>
                  <a:pt x="178594" y="142875"/>
                </a:lnTo>
                <a:cubicBezTo>
                  <a:pt x="185179" y="142875"/>
                  <a:pt x="190500" y="148196"/>
                  <a:pt x="190500" y="154781"/>
                </a:cubicBezTo>
                <a:cubicBezTo>
                  <a:pt x="190500" y="161367"/>
                  <a:pt x="185179" y="166688"/>
                  <a:pt x="178594" y="166688"/>
                </a:cubicBezTo>
                <a:lnTo>
                  <a:pt x="71438" y="166688"/>
                </a:lnTo>
                <a:cubicBezTo>
                  <a:pt x="64852" y="166688"/>
                  <a:pt x="59531" y="161367"/>
                  <a:pt x="59531" y="154781"/>
                </a:cubicBezTo>
                <a:close/>
                <a:moveTo>
                  <a:pt x="23812" y="139898"/>
                </a:moveTo>
                <a:cubicBezTo>
                  <a:pt x="32027" y="139898"/>
                  <a:pt x="38695" y="146567"/>
                  <a:pt x="38695" y="154781"/>
                </a:cubicBezTo>
                <a:cubicBezTo>
                  <a:pt x="38695" y="162995"/>
                  <a:pt x="32027" y="169664"/>
                  <a:pt x="23812" y="169664"/>
                </a:cubicBezTo>
                <a:cubicBezTo>
                  <a:pt x="15598" y="169664"/>
                  <a:pt x="8930" y="162995"/>
                  <a:pt x="8930" y="154781"/>
                </a:cubicBezTo>
                <a:cubicBezTo>
                  <a:pt x="8930" y="146567"/>
                  <a:pt x="15598" y="139898"/>
                  <a:pt x="23812" y="139898"/>
                </a:cubicBezTo>
                <a:close/>
              </a:path>
            </a:pathLst>
          </a:custGeom>
          <a:solidFill>
            <a:srgbClr val="1A1D23"/>
          </a:solidFill>
          <a:ln/>
        </p:spPr>
      </p:sp>
      <p:sp>
        <p:nvSpPr>
          <p:cNvPr id="29" name="Text 27"/>
          <p:cNvSpPr/>
          <p:nvPr/>
        </p:nvSpPr>
        <p:spPr>
          <a:xfrm>
            <a:off x="6881813" y="2174875"/>
            <a:ext cx="2706688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00" b="1" dirty="0">
                <a:solidFill>
                  <a:srgbClr val="E0E2E6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Sistemas Basados en Reglas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6342063" y="2651125"/>
            <a:ext cx="5429250" cy="412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00" dirty="0">
                <a:solidFill>
                  <a:srgbClr val="788A9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Motor de inferencia que utiliza </a:t>
            </a:r>
            <a:pPr>
              <a:lnSpc>
                <a:spcPct val="140000"/>
              </a:lnSpc>
            </a:pPr>
            <a:r>
              <a:rPr lang="en-US" sz="1000" b="1" dirty="0">
                <a:solidFill>
                  <a:srgbClr val="C8A26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reglas SI-ENTONCES</a:t>
            </a:r>
            <a:pPr>
              <a:lnSpc>
                <a:spcPct val="140000"/>
              </a:lnSpc>
            </a:pPr>
            <a:r>
              <a:rPr lang="en-US" sz="1000" dirty="0">
                <a:solidFill>
                  <a:srgbClr val="788A9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para derivar conclusiones lógicas a partir de hechos conocidos.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6346031" y="3194844"/>
            <a:ext cx="5357813" cy="1055688"/>
          </a:xfrm>
          <a:custGeom>
            <a:avLst/>
            <a:gdLst/>
            <a:ahLst/>
            <a:cxnLst/>
            <a:rect l="l" t="t" r="r" b="b"/>
            <a:pathLst>
              <a:path w="5357813" h="1055688">
                <a:moveTo>
                  <a:pt x="63500" y="0"/>
                </a:moveTo>
                <a:lnTo>
                  <a:pt x="5294313" y="0"/>
                </a:lnTo>
                <a:cubicBezTo>
                  <a:pt x="5329383" y="0"/>
                  <a:pt x="5357813" y="28430"/>
                  <a:pt x="5357813" y="63500"/>
                </a:cubicBezTo>
                <a:lnTo>
                  <a:pt x="5357813" y="992188"/>
                </a:lnTo>
                <a:cubicBezTo>
                  <a:pt x="5357813" y="1027258"/>
                  <a:pt x="5329383" y="1055688"/>
                  <a:pt x="5294313" y="1055688"/>
                </a:cubicBezTo>
                <a:lnTo>
                  <a:pt x="63500" y="1055688"/>
                </a:lnTo>
                <a:cubicBezTo>
                  <a:pt x="28430" y="1055688"/>
                  <a:pt x="0" y="1027258"/>
                  <a:pt x="0" y="992188"/>
                </a:cubicBezTo>
                <a:lnTo>
                  <a:pt x="0" y="63500"/>
                </a:lnTo>
                <a:cubicBezTo>
                  <a:pt x="0" y="28453"/>
                  <a:pt x="28453" y="0"/>
                  <a:pt x="63500" y="0"/>
                </a:cubicBezTo>
                <a:close/>
              </a:path>
            </a:pathLst>
          </a:custGeom>
          <a:solidFill>
            <a:srgbClr val="1A1D23"/>
          </a:solidFill>
          <a:ln w="12700">
            <a:solidFill>
              <a:srgbClr val="4A6D8C">
                <a:alpha val="50196"/>
              </a:srgbClr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477000" y="3325813"/>
            <a:ext cx="5151438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C8A26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Ejemplo de Regla: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6477000" y="3548063"/>
            <a:ext cx="51593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E0E2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SI temperatura &gt; 38°C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6477000" y="3738563"/>
            <a:ext cx="51593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E0E2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Y dolor_de_cabeza = SÍ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6477000" y="3929063"/>
            <a:ext cx="51593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E0E2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ENTONCES posible_gripe = SÍ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6342063" y="4381500"/>
            <a:ext cx="2635250" cy="603250"/>
          </a:xfrm>
          <a:custGeom>
            <a:avLst/>
            <a:gdLst/>
            <a:ahLst/>
            <a:cxnLst/>
            <a:rect l="l" t="t" r="r" b="b"/>
            <a:pathLst>
              <a:path w="2635250" h="603250">
                <a:moveTo>
                  <a:pt x="63498" y="0"/>
                </a:moveTo>
                <a:lnTo>
                  <a:pt x="2571752" y="0"/>
                </a:lnTo>
                <a:cubicBezTo>
                  <a:pt x="2606821" y="0"/>
                  <a:pt x="2635250" y="28429"/>
                  <a:pt x="2635250" y="63498"/>
                </a:cubicBezTo>
                <a:lnTo>
                  <a:pt x="2635250" y="539752"/>
                </a:lnTo>
                <a:cubicBezTo>
                  <a:pt x="2635250" y="574821"/>
                  <a:pt x="2606821" y="603250"/>
                  <a:pt x="2571752" y="603250"/>
                </a:cubicBezTo>
                <a:lnTo>
                  <a:pt x="63498" y="603250"/>
                </a:lnTo>
                <a:cubicBezTo>
                  <a:pt x="28429" y="603250"/>
                  <a:pt x="0" y="574821"/>
                  <a:pt x="0" y="539752"/>
                </a:cubicBezTo>
                <a:lnTo>
                  <a:pt x="0" y="63498"/>
                </a:lnTo>
                <a:cubicBezTo>
                  <a:pt x="0" y="28453"/>
                  <a:pt x="28453" y="0"/>
                  <a:pt x="63498" y="0"/>
                </a:cubicBezTo>
                <a:close/>
              </a:path>
            </a:pathLst>
          </a:custGeom>
          <a:solidFill>
            <a:srgbClr val="4A6D8C">
              <a:alpha val="20000"/>
            </a:srgbClr>
          </a:solidFill>
          <a:ln/>
        </p:spPr>
      </p:sp>
      <p:sp>
        <p:nvSpPr>
          <p:cNvPr id="37" name="Text 35"/>
          <p:cNvSpPr/>
          <p:nvPr/>
        </p:nvSpPr>
        <p:spPr>
          <a:xfrm>
            <a:off x="6389688" y="4476750"/>
            <a:ext cx="2540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500" b="1" dirty="0">
                <a:solidFill>
                  <a:srgbClr val="C8A26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IF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6409531" y="4730750"/>
            <a:ext cx="2500313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875" dirty="0">
                <a:solidFill>
                  <a:srgbClr val="788A9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Condición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9072563" y="4381500"/>
            <a:ext cx="2635250" cy="603250"/>
          </a:xfrm>
          <a:custGeom>
            <a:avLst/>
            <a:gdLst/>
            <a:ahLst/>
            <a:cxnLst/>
            <a:rect l="l" t="t" r="r" b="b"/>
            <a:pathLst>
              <a:path w="2635250" h="603250">
                <a:moveTo>
                  <a:pt x="63498" y="0"/>
                </a:moveTo>
                <a:lnTo>
                  <a:pt x="2571752" y="0"/>
                </a:lnTo>
                <a:cubicBezTo>
                  <a:pt x="2606821" y="0"/>
                  <a:pt x="2635250" y="28429"/>
                  <a:pt x="2635250" y="63498"/>
                </a:cubicBezTo>
                <a:lnTo>
                  <a:pt x="2635250" y="539752"/>
                </a:lnTo>
                <a:cubicBezTo>
                  <a:pt x="2635250" y="574821"/>
                  <a:pt x="2606821" y="603250"/>
                  <a:pt x="2571752" y="603250"/>
                </a:cubicBezTo>
                <a:lnTo>
                  <a:pt x="63498" y="603250"/>
                </a:lnTo>
                <a:cubicBezTo>
                  <a:pt x="28429" y="603250"/>
                  <a:pt x="0" y="574821"/>
                  <a:pt x="0" y="539752"/>
                </a:cubicBezTo>
                <a:lnTo>
                  <a:pt x="0" y="63498"/>
                </a:lnTo>
                <a:cubicBezTo>
                  <a:pt x="0" y="28453"/>
                  <a:pt x="28453" y="0"/>
                  <a:pt x="63498" y="0"/>
                </a:cubicBezTo>
                <a:close/>
              </a:path>
            </a:pathLst>
          </a:custGeom>
          <a:solidFill>
            <a:srgbClr val="4A6D8C">
              <a:alpha val="20000"/>
            </a:srgbClr>
          </a:solidFill>
          <a:ln/>
        </p:spPr>
      </p:sp>
      <p:sp>
        <p:nvSpPr>
          <p:cNvPr id="40" name="Text 38"/>
          <p:cNvSpPr/>
          <p:nvPr/>
        </p:nvSpPr>
        <p:spPr>
          <a:xfrm>
            <a:off x="9120188" y="4476750"/>
            <a:ext cx="2540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500" b="1" dirty="0">
                <a:solidFill>
                  <a:srgbClr val="C8A26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THEN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9140031" y="4730750"/>
            <a:ext cx="2500313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875" dirty="0">
                <a:solidFill>
                  <a:srgbClr val="788A9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Acción</a:t>
            </a:r>
            <a:endParaRPr lang="en-US" sz="1600" dirty="0"/>
          </a:p>
        </p:txBody>
      </p:sp>
      <p:sp>
        <p:nvSpPr>
          <p:cNvPr id="42" name="Shape 40"/>
          <p:cNvSpPr/>
          <p:nvPr/>
        </p:nvSpPr>
        <p:spPr>
          <a:xfrm>
            <a:off x="6179344" y="5282406"/>
            <a:ext cx="5691188" cy="2135188"/>
          </a:xfrm>
          <a:custGeom>
            <a:avLst/>
            <a:gdLst/>
            <a:ahLst/>
            <a:cxnLst/>
            <a:rect l="l" t="t" r="r" b="b"/>
            <a:pathLst>
              <a:path w="5691188" h="2135188">
                <a:moveTo>
                  <a:pt x="95251" y="0"/>
                </a:moveTo>
                <a:lnTo>
                  <a:pt x="5595937" y="0"/>
                </a:lnTo>
                <a:cubicBezTo>
                  <a:pt x="5648542" y="0"/>
                  <a:pt x="5691188" y="42645"/>
                  <a:pt x="5691188" y="95251"/>
                </a:cubicBezTo>
                <a:lnTo>
                  <a:pt x="5691188" y="2039937"/>
                </a:lnTo>
                <a:cubicBezTo>
                  <a:pt x="5691188" y="2092542"/>
                  <a:pt x="5648542" y="2135188"/>
                  <a:pt x="5595937" y="2135188"/>
                </a:cubicBezTo>
                <a:lnTo>
                  <a:pt x="95251" y="2135188"/>
                </a:lnTo>
                <a:cubicBezTo>
                  <a:pt x="42645" y="2135188"/>
                  <a:pt x="0" y="2092542"/>
                  <a:pt x="0" y="2039937"/>
                </a:cubicBezTo>
                <a:lnTo>
                  <a:pt x="0" y="95251"/>
                </a:lnTo>
                <a:cubicBezTo>
                  <a:pt x="0" y="42645"/>
                  <a:pt x="42645" y="0"/>
                  <a:pt x="95251" y="0"/>
                </a:cubicBezTo>
                <a:close/>
              </a:path>
            </a:pathLst>
          </a:custGeom>
          <a:solidFill>
            <a:srgbClr val="4A6D8C">
              <a:alpha val="10196"/>
            </a:srgbClr>
          </a:solidFill>
          <a:ln w="12700">
            <a:solidFill>
              <a:srgbClr val="4A6D8C">
                <a:alpha val="30196"/>
              </a:srgbClr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6342063" y="5445125"/>
            <a:ext cx="444500" cy="444500"/>
          </a:xfrm>
          <a:custGeom>
            <a:avLst/>
            <a:gdLst/>
            <a:ahLst/>
            <a:cxnLst/>
            <a:rect l="l" t="t" r="r" b="b"/>
            <a:pathLst>
              <a:path w="444500" h="444500">
                <a:moveTo>
                  <a:pt x="63501" y="0"/>
                </a:moveTo>
                <a:lnTo>
                  <a:pt x="380999" y="0"/>
                </a:lnTo>
                <a:cubicBezTo>
                  <a:pt x="416046" y="0"/>
                  <a:pt x="444500" y="28454"/>
                  <a:pt x="444500" y="63501"/>
                </a:cubicBezTo>
                <a:lnTo>
                  <a:pt x="444500" y="380999"/>
                </a:lnTo>
                <a:cubicBezTo>
                  <a:pt x="444500" y="416046"/>
                  <a:pt x="416046" y="444500"/>
                  <a:pt x="380999" y="444500"/>
                </a:cubicBezTo>
                <a:lnTo>
                  <a:pt x="63501" y="444500"/>
                </a:lnTo>
                <a:cubicBezTo>
                  <a:pt x="28454" y="444500"/>
                  <a:pt x="0" y="416046"/>
                  <a:pt x="0" y="380999"/>
                </a:cubicBezTo>
                <a:lnTo>
                  <a:pt x="0" y="63501"/>
                </a:lnTo>
                <a:cubicBezTo>
                  <a:pt x="0" y="28454"/>
                  <a:pt x="28454" y="0"/>
                  <a:pt x="63501" y="0"/>
                </a:cubicBezTo>
                <a:close/>
              </a:path>
            </a:pathLst>
          </a:custGeom>
          <a:solidFill>
            <a:srgbClr val="C8A265"/>
          </a:solidFill>
          <a:ln/>
        </p:spPr>
      </p:sp>
      <p:sp>
        <p:nvSpPr>
          <p:cNvPr id="44" name="Shape 42"/>
          <p:cNvSpPr/>
          <p:nvPr/>
        </p:nvSpPr>
        <p:spPr>
          <a:xfrm>
            <a:off x="6469063" y="5572125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0" y="29766"/>
                </a:moveTo>
                <a:cubicBezTo>
                  <a:pt x="0" y="19906"/>
                  <a:pt x="8000" y="11906"/>
                  <a:pt x="17859" y="11906"/>
                </a:cubicBezTo>
                <a:lnTo>
                  <a:pt x="53578" y="11906"/>
                </a:lnTo>
                <a:cubicBezTo>
                  <a:pt x="63438" y="11906"/>
                  <a:pt x="71438" y="19906"/>
                  <a:pt x="71438" y="29766"/>
                </a:cubicBezTo>
                <a:lnTo>
                  <a:pt x="71438" y="35719"/>
                </a:lnTo>
                <a:lnTo>
                  <a:pt x="119063" y="35719"/>
                </a:lnTo>
                <a:lnTo>
                  <a:pt x="119063" y="29766"/>
                </a:lnTo>
                <a:cubicBezTo>
                  <a:pt x="119063" y="19906"/>
                  <a:pt x="127062" y="11906"/>
                  <a:pt x="136922" y="11906"/>
                </a:cubicBezTo>
                <a:lnTo>
                  <a:pt x="172641" y="11906"/>
                </a:lnTo>
                <a:cubicBezTo>
                  <a:pt x="182500" y="11906"/>
                  <a:pt x="190500" y="19906"/>
                  <a:pt x="190500" y="29766"/>
                </a:cubicBezTo>
                <a:lnTo>
                  <a:pt x="190500" y="65484"/>
                </a:lnTo>
                <a:cubicBezTo>
                  <a:pt x="190500" y="75344"/>
                  <a:pt x="182500" y="83344"/>
                  <a:pt x="172641" y="83344"/>
                </a:cubicBezTo>
                <a:lnTo>
                  <a:pt x="136922" y="83344"/>
                </a:lnTo>
                <a:cubicBezTo>
                  <a:pt x="127062" y="83344"/>
                  <a:pt x="119063" y="75344"/>
                  <a:pt x="119063" y="65484"/>
                </a:cubicBezTo>
                <a:lnTo>
                  <a:pt x="119063" y="59531"/>
                </a:lnTo>
                <a:lnTo>
                  <a:pt x="71438" y="59531"/>
                </a:lnTo>
                <a:lnTo>
                  <a:pt x="71438" y="65484"/>
                </a:lnTo>
                <a:cubicBezTo>
                  <a:pt x="71438" y="68200"/>
                  <a:pt x="70805" y="70805"/>
                  <a:pt x="69726" y="73112"/>
                </a:cubicBezTo>
                <a:lnTo>
                  <a:pt x="95250" y="107156"/>
                </a:lnTo>
                <a:lnTo>
                  <a:pt x="125016" y="107156"/>
                </a:lnTo>
                <a:cubicBezTo>
                  <a:pt x="134875" y="107156"/>
                  <a:pt x="142875" y="115156"/>
                  <a:pt x="142875" y="125016"/>
                </a:cubicBezTo>
                <a:lnTo>
                  <a:pt x="142875" y="160734"/>
                </a:lnTo>
                <a:cubicBezTo>
                  <a:pt x="142875" y="170594"/>
                  <a:pt x="134875" y="178594"/>
                  <a:pt x="125016" y="178594"/>
                </a:cubicBezTo>
                <a:lnTo>
                  <a:pt x="89297" y="178594"/>
                </a:lnTo>
                <a:cubicBezTo>
                  <a:pt x="79437" y="178594"/>
                  <a:pt x="71438" y="170594"/>
                  <a:pt x="71438" y="160734"/>
                </a:cubicBezTo>
                <a:lnTo>
                  <a:pt x="71438" y="125016"/>
                </a:lnTo>
                <a:cubicBezTo>
                  <a:pt x="71438" y="122300"/>
                  <a:pt x="72070" y="119695"/>
                  <a:pt x="73149" y="117388"/>
                </a:cubicBezTo>
                <a:lnTo>
                  <a:pt x="47625" y="83344"/>
                </a:lnTo>
                <a:lnTo>
                  <a:pt x="17859" y="83344"/>
                </a:lnTo>
                <a:cubicBezTo>
                  <a:pt x="8000" y="83344"/>
                  <a:pt x="0" y="75344"/>
                  <a:pt x="0" y="65484"/>
                </a:cubicBezTo>
                <a:lnTo>
                  <a:pt x="0" y="29766"/>
                </a:lnTo>
                <a:close/>
              </a:path>
            </a:pathLst>
          </a:custGeom>
          <a:solidFill>
            <a:srgbClr val="1A1D23"/>
          </a:solidFill>
          <a:ln/>
        </p:spPr>
      </p:sp>
      <p:sp>
        <p:nvSpPr>
          <p:cNvPr id="45" name="Text 43"/>
          <p:cNvSpPr/>
          <p:nvPr/>
        </p:nvSpPr>
        <p:spPr>
          <a:xfrm>
            <a:off x="6881813" y="5540375"/>
            <a:ext cx="1770063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00" b="1" dirty="0">
                <a:solidFill>
                  <a:srgbClr val="E0E2E6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Redes Bayesianas</a:t>
            </a:r>
            <a:endParaRPr lang="en-US" sz="1600" dirty="0"/>
          </a:p>
        </p:txBody>
      </p:sp>
      <p:sp>
        <p:nvSpPr>
          <p:cNvPr id="46" name="Text 44"/>
          <p:cNvSpPr/>
          <p:nvPr/>
        </p:nvSpPr>
        <p:spPr>
          <a:xfrm>
            <a:off x="6342063" y="6016625"/>
            <a:ext cx="5429250" cy="412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00" dirty="0">
                <a:solidFill>
                  <a:srgbClr val="788A9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Modelos probabilísticos gráficos que representan </a:t>
            </a:r>
            <a:pPr>
              <a:lnSpc>
                <a:spcPct val="140000"/>
              </a:lnSpc>
            </a:pPr>
            <a:r>
              <a:rPr lang="en-US" sz="1000" b="1" dirty="0">
                <a:solidFill>
                  <a:srgbClr val="C8A26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dependencias condicionales</a:t>
            </a:r>
            <a:pPr>
              <a:lnSpc>
                <a:spcPct val="140000"/>
              </a:lnSpc>
            </a:pPr>
            <a:r>
              <a:rPr lang="en-US" sz="1000" dirty="0">
                <a:solidFill>
                  <a:srgbClr val="788A9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entre variables mediante un grafo dirigido acíclico.</a:t>
            </a:r>
            <a:endParaRPr lang="en-US" sz="1600" dirty="0"/>
          </a:p>
        </p:txBody>
      </p:sp>
      <p:sp>
        <p:nvSpPr>
          <p:cNvPr id="47" name="Shape 45"/>
          <p:cNvSpPr/>
          <p:nvPr/>
        </p:nvSpPr>
        <p:spPr>
          <a:xfrm>
            <a:off x="6357938" y="6596063"/>
            <a:ext cx="111125" cy="111125"/>
          </a:xfrm>
          <a:custGeom>
            <a:avLst/>
            <a:gdLst/>
            <a:ahLst/>
            <a:cxnLst/>
            <a:rect l="l" t="t" r="r" b="b"/>
            <a:pathLst>
              <a:path w="111125" h="111125">
                <a:moveTo>
                  <a:pt x="55563" y="111125"/>
                </a:moveTo>
                <a:cubicBezTo>
                  <a:pt x="86228" y="111125"/>
                  <a:pt x="111125" y="86228"/>
                  <a:pt x="111125" y="55563"/>
                </a:cubicBezTo>
                <a:cubicBezTo>
                  <a:pt x="111125" y="24897"/>
                  <a:pt x="86228" y="0"/>
                  <a:pt x="55563" y="0"/>
                </a:cubicBezTo>
                <a:cubicBezTo>
                  <a:pt x="24897" y="0"/>
                  <a:pt x="0" y="24897"/>
                  <a:pt x="0" y="55563"/>
                </a:cubicBezTo>
                <a:cubicBezTo>
                  <a:pt x="0" y="86228"/>
                  <a:pt x="24897" y="111125"/>
                  <a:pt x="55562" y="111125"/>
                </a:cubicBezTo>
                <a:close/>
                <a:moveTo>
                  <a:pt x="73881" y="46165"/>
                </a:moveTo>
                <a:lnTo>
                  <a:pt x="56517" y="73946"/>
                </a:lnTo>
                <a:cubicBezTo>
                  <a:pt x="55606" y="75400"/>
                  <a:pt x="54043" y="76312"/>
                  <a:pt x="52329" y="76398"/>
                </a:cubicBezTo>
                <a:cubicBezTo>
                  <a:pt x="50614" y="76485"/>
                  <a:pt x="48964" y="75704"/>
                  <a:pt x="47944" y="74315"/>
                </a:cubicBezTo>
                <a:lnTo>
                  <a:pt x="37526" y="60424"/>
                </a:lnTo>
                <a:cubicBezTo>
                  <a:pt x="35790" y="58124"/>
                  <a:pt x="36268" y="54868"/>
                  <a:pt x="38568" y="53132"/>
                </a:cubicBezTo>
                <a:cubicBezTo>
                  <a:pt x="40869" y="51395"/>
                  <a:pt x="44124" y="51873"/>
                  <a:pt x="45861" y="54173"/>
                </a:cubicBezTo>
                <a:lnTo>
                  <a:pt x="51721" y="61987"/>
                </a:lnTo>
                <a:lnTo>
                  <a:pt x="65047" y="40652"/>
                </a:lnTo>
                <a:cubicBezTo>
                  <a:pt x="66566" y="38221"/>
                  <a:pt x="69779" y="37461"/>
                  <a:pt x="72231" y="39002"/>
                </a:cubicBezTo>
                <a:cubicBezTo>
                  <a:pt x="74684" y="40543"/>
                  <a:pt x="75422" y="43734"/>
                  <a:pt x="73881" y="46186"/>
                </a:cubicBezTo>
                <a:close/>
              </a:path>
            </a:pathLst>
          </a:custGeom>
          <a:solidFill>
            <a:srgbClr val="C8A265"/>
          </a:solidFill>
          <a:ln/>
        </p:spPr>
      </p:sp>
      <p:sp>
        <p:nvSpPr>
          <p:cNvPr id="48" name="Text 46"/>
          <p:cNvSpPr/>
          <p:nvPr/>
        </p:nvSpPr>
        <p:spPr>
          <a:xfrm>
            <a:off x="6544469" y="6556375"/>
            <a:ext cx="1706563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E0E2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Razonamiento probabilístico</a:t>
            </a:r>
            <a:endParaRPr lang="en-US" sz="1600" dirty="0"/>
          </a:p>
        </p:txBody>
      </p:sp>
      <p:sp>
        <p:nvSpPr>
          <p:cNvPr id="49" name="Shape 47"/>
          <p:cNvSpPr/>
          <p:nvPr/>
        </p:nvSpPr>
        <p:spPr>
          <a:xfrm>
            <a:off x="6357938" y="6850063"/>
            <a:ext cx="111125" cy="111125"/>
          </a:xfrm>
          <a:custGeom>
            <a:avLst/>
            <a:gdLst/>
            <a:ahLst/>
            <a:cxnLst/>
            <a:rect l="l" t="t" r="r" b="b"/>
            <a:pathLst>
              <a:path w="111125" h="111125">
                <a:moveTo>
                  <a:pt x="55563" y="111125"/>
                </a:moveTo>
                <a:cubicBezTo>
                  <a:pt x="86228" y="111125"/>
                  <a:pt x="111125" y="86228"/>
                  <a:pt x="111125" y="55563"/>
                </a:cubicBezTo>
                <a:cubicBezTo>
                  <a:pt x="111125" y="24897"/>
                  <a:pt x="86228" y="0"/>
                  <a:pt x="55563" y="0"/>
                </a:cubicBezTo>
                <a:cubicBezTo>
                  <a:pt x="24897" y="0"/>
                  <a:pt x="0" y="24897"/>
                  <a:pt x="0" y="55563"/>
                </a:cubicBezTo>
                <a:cubicBezTo>
                  <a:pt x="0" y="86228"/>
                  <a:pt x="24897" y="111125"/>
                  <a:pt x="55562" y="111125"/>
                </a:cubicBezTo>
                <a:close/>
                <a:moveTo>
                  <a:pt x="73881" y="46165"/>
                </a:moveTo>
                <a:lnTo>
                  <a:pt x="56517" y="73946"/>
                </a:lnTo>
                <a:cubicBezTo>
                  <a:pt x="55606" y="75400"/>
                  <a:pt x="54043" y="76312"/>
                  <a:pt x="52329" y="76398"/>
                </a:cubicBezTo>
                <a:cubicBezTo>
                  <a:pt x="50614" y="76485"/>
                  <a:pt x="48964" y="75704"/>
                  <a:pt x="47944" y="74315"/>
                </a:cubicBezTo>
                <a:lnTo>
                  <a:pt x="37526" y="60424"/>
                </a:lnTo>
                <a:cubicBezTo>
                  <a:pt x="35790" y="58124"/>
                  <a:pt x="36268" y="54868"/>
                  <a:pt x="38568" y="53132"/>
                </a:cubicBezTo>
                <a:cubicBezTo>
                  <a:pt x="40869" y="51395"/>
                  <a:pt x="44124" y="51873"/>
                  <a:pt x="45861" y="54173"/>
                </a:cubicBezTo>
                <a:lnTo>
                  <a:pt x="51721" y="61987"/>
                </a:lnTo>
                <a:lnTo>
                  <a:pt x="65047" y="40652"/>
                </a:lnTo>
                <a:cubicBezTo>
                  <a:pt x="66566" y="38221"/>
                  <a:pt x="69779" y="37461"/>
                  <a:pt x="72231" y="39002"/>
                </a:cubicBezTo>
                <a:cubicBezTo>
                  <a:pt x="74684" y="40543"/>
                  <a:pt x="75422" y="43734"/>
                  <a:pt x="73881" y="46186"/>
                </a:cubicBezTo>
                <a:close/>
              </a:path>
            </a:pathLst>
          </a:custGeom>
          <a:solidFill>
            <a:srgbClr val="C8A265"/>
          </a:solidFill>
          <a:ln/>
        </p:spPr>
      </p:sp>
      <p:sp>
        <p:nvSpPr>
          <p:cNvPr id="50" name="Text 48"/>
          <p:cNvSpPr/>
          <p:nvPr/>
        </p:nvSpPr>
        <p:spPr>
          <a:xfrm>
            <a:off x="6544469" y="6810375"/>
            <a:ext cx="153193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E0E2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Manejo de incertidumbre</a:t>
            </a:r>
            <a:endParaRPr lang="en-US" sz="1600" dirty="0"/>
          </a:p>
        </p:txBody>
      </p:sp>
      <p:sp>
        <p:nvSpPr>
          <p:cNvPr id="51" name="Shape 49"/>
          <p:cNvSpPr/>
          <p:nvPr/>
        </p:nvSpPr>
        <p:spPr>
          <a:xfrm>
            <a:off x="6357938" y="7104063"/>
            <a:ext cx="111125" cy="111125"/>
          </a:xfrm>
          <a:custGeom>
            <a:avLst/>
            <a:gdLst/>
            <a:ahLst/>
            <a:cxnLst/>
            <a:rect l="l" t="t" r="r" b="b"/>
            <a:pathLst>
              <a:path w="111125" h="111125">
                <a:moveTo>
                  <a:pt x="55563" y="111125"/>
                </a:moveTo>
                <a:cubicBezTo>
                  <a:pt x="86228" y="111125"/>
                  <a:pt x="111125" y="86228"/>
                  <a:pt x="111125" y="55563"/>
                </a:cubicBezTo>
                <a:cubicBezTo>
                  <a:pt x="111125" y="24897"/>
                  <a:pt x="86228" y="0"/>
                  <a:pt x="55563" y="0"/>
                </a:cubicBezTo>
                <a:cubicBezTo>
                  <a:pt x="24897" y="0"/>
                  <a:pt x="0" y="24897"/>
                  <a:pt x="0" y="55563"/>
                </a:cubicBezTo>
                <a:cubicBezTo>
                  <a:pt x="0" y="86228"/>
                  <a:pt x="24897" y="111125"/>
                  <a:pt x="55562" y="111125"/>
                </a:cubicBezTo>
                <a:close/>
                <a:moveTo>
                  <a:pt x="73881" y="46165"/>
                </a:moveTo>
                <a:lnTo>
                  <a:pt x="56517" y="73946"/>
                </a:lnTo>
                <a:cubicBezTo>
                  <a:pt x="55606" y="75400"/>
                  <a:pt x="54043" y="76312"/>
                  <a:pt x="52329" y="76398"/>
                </a:cubicBezTo>
                <a:cubicBezTo>
                  <a:pt x="50614" y="76485"/>
                  <a:pt x="48964" y="75704"/>
                  <a:pt x="47944" y="74315"/>
                </a:cubicBezTo>
                <a:lnTo>
                  <a:pt x="37526" y="60424"/>
                </a:lnTo>
                <a:cubicBezTo>
                  <a:pt x="35790" y="58124"/>
                  <a:pt x="36268" y="54868"/>
                  <a:pt x="38568" y="53132"/>
                </a:cubicBezTo>
                <a:cubicBezTo>
                  <a:pt x="40869" y="51395"/>
                  <a:pt x="44124" y="51873"/>
                  <a:pt x="45861" y="54173"/>
                </a:cubicBezTo>
                <a:lnTo>
                  <a:pt x="51721" y="61987"/>
                </a:lnTo>
                <a:lnTo>
                  <a:pt x="65047" y="40652"/>
                </a:lnTo>
                <a:cubicBezTo>
                  <a:pt x="66566" y="38221"/>
                  <a:pt x="69779" y="37461"/>
                  <a:pt x="72231" y="39002"/>
                </a:cubicBezTo>
                <a:cubicBezTo>
                  <a:pt x="74684" y="40543"/>
                  <a:pt x="75422" y="43734"/>
                  <a:pt x="73881" y="46186"/>
                </a:cubicBezTo>
                <a:close/>
              </a:path>
            </a:pathLst>
          </a:custGeom>
          <a:solidFill>
            <a:srgbClr val="C8A265"/>
          </a:solidFill>
          <a:ln/>
        </p:spPr>
      </p:sp>
      <p:sp>
        <p:nvSpPr>
          <p:cNvPr id="52" name="Text 50"/>
          <p:cNvSpPr/>
          <p:nvPr/>
        </p:nvSpPr>
        <p:spPr>
          <a:xfrm>
            <a:off x="6544469" y="7064375"/>
            <a:ext cx="1452563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E0E2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Actualización bayesiana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A1D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56839" y="339847"/>
            <a:ext cx="1826676" cy="339847"/>
          </a:xfrm>
          <a:custGeom>
            <a:avLst/>
            <a:gdLst/>
            <a:ahLst/>
            <a:cxnLst/>
            <a:rect l="l" t="t" r="r" b="b"/>
            <a:pathLst>
              <a:path w="1826676" h="339847">
                <a:moveTo>
                  <a:pt x="0" y="0"/>
                </a:moveTo>
                <a:lnTo>
                  <a:pt x="1826676" y="0"/>
                </a:lnTo>
                <a:lnTo>
                  <a:pt x="1826676" y="339847"/>
                </a:lnTo>
                <a:lnTo>
                  <a:pt x="0" y="339847"/>
                </a:lnTo>
                <a:lnTo>
                  <a:pt x="0" y="0"/>
                </a:lnTo>
                <a:close/>
              </a:path>
            </a:pathLst>
          </a:custGeom>
          <a:solidFill>
            <a:srgbClr val="4A6D8C">
              <a:alpha val="2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356839" y="339847"/>
            <a:ext cx="33985" cy="339847"/>
          </a:xfrm>
          <a:custGeom>
            <a:avLst/>
            <a:gdLst/>
            <a:ahLst/>
            <a:cxnLst/>
            <a:rect l="l" t="t" r="r" b="b"/>
            <a:pathLst>
              <a:path w="33985" h="339847">
                <a:moveTo>
                  <a:pt x="0" y="0"/>
                </a:moveTo>
                <a:lnTo>
                  <a:pt x="33985" y="0"/>
                </a:lnTo>
                <a:lnTo>
                  <a:pt x="33985" y="339847"/>
                </a:lnTo>
                <a:lnTo>
                  <a:pt x="0" y="339847"/>
                </a:lnTo>
                <a:lnTo>
                  <a:pt x="0" y="0"/>
                </a:lnTo>
                <a:close/>
              </a:path>
            </a:pathLst>
          </a:custGeom>
          <a:solidFill>
            <a:srgbClr val="C8A265"/>
          </a:solidFill>
          <a:ln/>
        </p:spPr>
      </p:sp>
      <p:sp>
        <p:nvSpPr>
          <p:cNvPr id="4" name="Text 2"/>
          <p:cNvSpPr/>
          <p:nvPr/>
        </p:nvSpPr>
        <p:spPr>
          <a:xfrm>
            <a:off x="543755" y="416312"/>
            <a:ext cx="1537806" cy="1869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70" b="1" spc="54" kern="0" dirty="0">
                <a:solidFill>
                  <a:srgbClr val="C8A26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06 • ROBÓTICA E IA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339847" y="815632"/>
            <a:ext cx="11716215" cy="4078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211" b="1" dirty="0">
                <a:solidFill>
                  <a:srgbClr val="E0E2E6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Robótica e Inteligencia Artificial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339847" y="1325402"/>
            <a:ext cx="11597268" cy="5522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38" dirty="0">
                <a:solidFill>
                  <a:srgbClr val="788A9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La IA en robótica permite a los robots </a:t>
            </a:r>
            <a:pPr>
              <a:lnSpc>
                <a:spcPct val="140000"/>
              </a:lnSpc>
            </a:pPr>
            <a:r>
              <a:rPr lang="en-US" sz="1338" b="1" dirty="0">
                <a:solidFill>
                  <a:srgbClr val="C8A26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realizar tareas de manera autónoma</a:t>
            </a:r>
            <a:pPr>
              <a:lnSpc>
                <a:spcPct val="140000"/>
              </a:lnSpc>
            </a:pPr>
            <a:r>
              <a:rPr lang="en-US" sz="1338" dirty="0">
                <a:solidFill>
                  <a:srgbClr val="788A9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utilizando sensores y algoritmos avanzados para percibir, planificar y actuar en entornos dinámicos.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344095" y="2051824"/>
            <a:ext cx="3712825" cy="4579434"/>
          </a:xfrm>
          <a:custGeom>
            <a:avLst/>
            <a:gdLst/>
            <a:ahLst/>
            <a:cxnLst/>
            <a:rect l="l" t="t" r="r" b="b"/>
            <a:pathLst>
              <a:path w="3712825" h="4579434">
                <a:moveTo>
                  <a:pt x="101954" y="0"/>
                </a:moveTo>
                <a:lnTo>
                  <a:pt x="3610871" y="0"/>
                </a:lnTo>
                <a:cubicBezTo>
                  <a:pt x="3667179" y="0"/>
                  <a:pt x="3712825" y="45646"/>
                  <a:pt x="3712825" y="101954"/>
                </a:cubicBezTo>
                <a:lnTo>
                  <a:pt x="3712825" y="4477480"/>
                </a:lnTo>
                <a:cubicBezTo>
                  <a:pt x="3712825" y="4533788"/>
                  <a:pt x="3667179" y="4579434"/>
                  <a:pt x="3610871" y="4579434"/>
                </a:cubicBezTo>
                <a:lnTo>
                  <a:pt x="101954" y="4579434"/>
                </a:lnTo>
                <a:cubicBezTo>
                  <a:pt x="45646" y="4579434"/>
                  <a:pt x="0" y="4533788"/>
                  <a:pt x="0" y="4477480"/>
                </a:cubicBezTo>
                <a:lnTo>
                  <a:pt x="0" y="101954"/>
                </a:lnTo>
                <a:cubicBezTo>
                  <a:pt x="0" y="45646"/>
                  <a:pt x="45646" y="0"/>
                  <a:pt x="101954" y="0"/>
                </a:cubicBezTo>
                <a:close/>
              </a:path>
            </a:pathLst>
          </a:custGeom>
          <a:solidFill>
            <a:srgbClr val="4A6D8C">
              <a:alpha val="10196"/>
            </a:srgbClr>
          </a:solidFill>
          <a:ln w="12700">
            <a:solidFill>
              <a:srgbClr val="4A6D8C">
                <a:alpha val="30196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18266" y="2225996"/>
            <a:ext cx="475785" cy="475785"/>
          </a:xfrm>
          <a:custGeom>
            <a:avLst/>
            <a:gdLst/>
            <a:ahLst/>
            <a:cxnLst/>
            <a:rect l="l" t="t" r="r" b="b"/>
            <a:pathLst>
              <a:path w="475785" h="475785">
                <a:moveTo>
                  <a:pt x="67971" y="0"/>
                </a:moveTo>
                <a:lnTo>
                  <a:pt x="407815" y="0"/>
                </a:lnTo>
                <a:cubicBezTo>
                  <a:pt x="445354" y="0"/>
                  <a:pt x="475785" y="30432"/>
                  <a:pt x="475785" y="67971"/>
                </a:cubicBezTo>
                <a:lnTo>
                  <a:pt x="475785" y="407815"/>
                </a:lnTo>
                <a:cubicBezTo>
                  <a:pt x="475785" y="445354"/>
                  <a:pt x="445354" y="475785"/>
                  <a:pt x="407815" y="475785"/>
                </a:cubicBezTo>
                <a:lnTo>
                  <a:pt x="67971" y="475785"/>
                </a:lnTo>
                <a:cubicBezTo>
                  <a:pt x="30432" y="475785"/>
                  <a:pt x="0" y="445354"/>
                  <a:pt x="0" y="407815"/>
                </a:cubicBezTo>
                <a:lnTo>
                  <a:pt x="0" y="67971"/>
                </a:lnTo>
                <a:cubicBezTo>
                  <a:pt x="0" y="30432"/>
                  <a:pt x="30432" y="0"/>
                  <a:pt x="67971" y="0"/>
                </a:cubicBezTo>
                <a:close/>
              </a:path>
            </a:pathLst>
          </a:custGeom>
          <a:solidFill>
            <a:srgbClr val="C8A265"/>
          </a:solidFill>
          <a:ln/>
        </p:spPr>
      </p:sp>
      <p:sp>
        <p:nvSpPr>
          <p:cNvPr id="9" name="Shape 7"/>
          <p:cNvSpPr/>
          <p:nvPr/>
        </p:nvSpPr>
        <p:spPr>
          <a:xfrm>
            <a:off x="628716" y="2361934"/>
            <a:ext cx="254885" cy="203908"/>
          </a:xfrm>
          <a:custGeom>
            <a:avLst/>
            <a:gdLst/>
            <a:ahLst/>
            <a:cxnLst/>
            <a:rect l="l" t="t" r="r" b="b"/>
            <a:pathLst>
              <a:path w="254885" h="203908">
                <a:moveTo>
                  <a:pt x="229397" y="19116"/>
                </a:moveTo>
                <a:cubicBezTo>
                  <a:pt x="229397" y="14696"/>
                  <a:pt x="227126" y="10594"/>
                  <a:pt x="223343" y="8284"/>
                </a:cubicBezTo>
                <a:cubicBezTo>
                  <a:pt x="219560" y="5974"/>
                  <a:pt x="214900" y="5735"/>
                  <a:pt x="210957" y="7726"/>
                </a:cubicBezTo>
                <a:lnTo>
                  <a:pt x="164680" y="30865"/>
                </a:lnTo>
                <a:lnTo>
                  <a:pt x="93232" y="7009"/>
                </a:lnTo>
                <a:cubicBezTo>
                  <a:pt x="90006" y="5934"/>
                  <a:pt x="86541" y="6173"/>
                  <a:pt x="83515" y="7686"/>
                </a:cubicBezTo>
                <a:lnTo>
                  <a:pt x="32538" y="33175"/>
                </a:lnTo>
                <a:cubicBezTo>
                  <a:pt x="28197" y="35365"/>
                  <a:pt x="25489" y="39786"/>
                  <a:pt x="25489" y="44605"/>
                </a:cubicBezTo>
                <a:lnTo>
                  <a:pt x="25489" y="184792"/>
                </a:lnTo>
                <a:cubicBezTo>
                  <a:pt x="25489" y="189212"/>
                  <a:pt x="27759" y="193314"/>
                  <a:pt x="31542" y="195624"/>
                </a:cubicBezTo>
                <a:cubicBezTo>
                  <a:pt x="35325" y="197934"/>
                  <a:pt x="39985" y="198173"/>
                  <a:pt x="43928" y="196182"/>
                </a:cubicBezTo>
                <a:lnTo>
                  <a:pt x="90166" y="173043"/>
                </a:lnTo>
                <a:lnTo>
                  <a:pt x="159184" y="196062"/>
                </a:lnTo>
                <a:cubicBezTo>
                  <a:pt x="157471" y="193513"/>
                  <a:pt x="155798" y="190845"/>
                  <a:pt x="154166" y="188137"/>
                </a:cubicBezTo>
                <a:cubicBezTo>
                  <a:pt x="149785" y="180849"/>
                  <a:pt x="145444" y="172485"/>
                  <a:pt x="142218" y="163525"/>
                </a:cubicBezTo>
                <a:lnTo>
                  <a:pt x="101914" y="150103"/>
                </a:lnTo>
                <a:lnTo>
                  <a:pt x="101914" y="36799"/>
                </a:lnTo>
                <a:lnTo>
                  <a:pt x="152891" y="53805"/>
                </a:lnTo>
                <a:lnTo>
                  <a:pt x="152891" y="93352"/>
                </a:lnTo>
                <a:cubicBezTo>
                  <a:pt x="165237" y="79094"/>
                  <a:pt x="183557" y="70093"/>
                  <a:pt x="203868" y="70093"/>
                </a:cubicBezTo>
                <a:cubicBezTo>
                  <a:pt x="212869" y="70093"/>
                  <a:pt x="221471" y="71846"/>
                  <a:pt x="229357" y="75072"/>
                </a:cubicBezTo>
                <a:lnTo>
                  <a:pt x="229397" y="19116"/>
                </a:lnTo>
                <a:close/>
                <a:moveTo>
                  <a:pt x="203908" y="89210"/>
                </a:moveTo>
                <a:cubicBezTo>
                  <a:pt x="177504" y="89210"/>
                  <a:pt x="156117" y="110238"/>
                  <a:pt x="156117" y="136164"/>
                </a:cubicBezTo>
                <a:cubicBezTo>
                  <a:pt x="156117" y="163604"/>
                  <a:pt x="181645" y="196062"/>
                  <a:pt x="195385" y="211555"/>
                </a:cubicBezTo>
                <a:cubicBezTo>
                  <a:pt x="200005" y="216732"/>
                  <a:pt x="207851" y="216732"/>
                  <a:pt x="212471" y="211555"/>
                </a:cubicBezTo>
                <a:cubicBezTo>
                  <a:pt x="226210" y="196062"/>
                  <a:pt x="251739" y="163604"/>
                  <a:pt x="251739" y="136164"/>
                </a:cubicBezTo>
                <a:cubicBezTo>
                  <a:pt x="251739" y="110238"/>
                  <a:pt x="230352" y="89210"/>
                  <a:pt x="203948" y="89210"/>
                </a:cubicBezTo>
                <a:close/>
                <a:moveTo>
                  <a:pt x="187978" y="137001"/>
                </a:moveTo>
                <a:cubicBezTo>
                  <a:pt x="187978" y="128209"/>
                  <a:pt x="195116" y="121070"/>
                  <a:pt x="203908" y="121070"/>
                </a:cubicBezTo>
                <a:cubicBezTo>
                  <a:pt x="212700" y="121070"/>
                  <a:pt x="219838" y="128209"/>
                  <a:pt x="219838" y="137001"/>
                </a:cubicBezTo>
                <a:cubicBezTo>
                  <a:pt x="219838" y="145793"/>
                  <a:pt x="212700" y="152931"/>
                  <a:pt x="203908" y="152931"/>
                </a:cubicBezTo>
                <a:cubicBezTo>
                  <a:pt x="195116" y="152931"/>
                  <a:pt x="187978" y="145793"/>
                  <a:pt x="187978" y="137001"/>
                </a:cubicBezTo>
                <a:close/>
              </a:path>
            </a:pathLst>
          </a:custGeom>
          <a:solidFill>
            <a:srgbClr val="1A1D23"/>
          </a:solidFill>
          <a:ln/>
        </p:spPr>
      </p:sp>
      <p:sp>
        <p:nvSpPr>
          <p:cNvPr id="10" name="Text 8"/>
          <p:cNvSpPr/>
          <p:nvPr/>
        </p:nvSpPr>
        <p:spPr>
          <a:xfrm>
            <a:off x="1096006" y="2327950"/>
            <a:ext cx="654205" cy="2718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606" b="1" dirty="0">
                <a:solidFill>
                  <a:srgbClr val="E0E2E6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SLAM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518266" y="2837720"/>
            <a:ext cx="3440948" cy="2378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4" b="1" dirty="0">
                <a:solidFill>
                  <a:srgbClr val="C8A26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Simultaneous Localization and Mapping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518266" y="3143582"/>
            <a:ext cx="3432452" cy="44180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70" dirty="0">
                <a:solidFill>
                  <a:srgbClr val="788A9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Algoritmo fundamental para la </a:t>
            </a:r>
            <a:pPr>
              <a:lnSpc>
                <a:spcPct val="140000"/>
              </a:lnSpc>
            </a:pPr>
            <a:r>
              <a:rPr lang="en-US" sz="1070" dirty="0">
                <a:solidFill>
                  <a:srgbClr val="E0E2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navegación autónoma</a:t>
            </a:r>
            <a:pPr>
              <a:lnSpc>
                <a:spcPct val="140000"/>
              </a:lnSpc>
            </a:pPr>
            <a:r>
              <a:rPr lang="en-US" sz="1070" dirty="0">
                <a:solidFill>
                  <a:srgbClr val="788A9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de robots en entornos desconocidos.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518266" y="3721321"/>
            <a:ext cx="3364482" cy="611724"/>
          </a:xfrm>
          <a:custGeom>
            <a:avLst/>
            <a:gdLst/>
            <a:ahLst/>
            <a:cxnLst/>
            <a:rect l="l" t="t" r="r" b="b"/>
            <a:pathLst>
              <a:path w="3364482" h="611724">
                <a:moveTo>
                  <a:pt x="67969" y="0"/>
                </a:moveTo>
                <a:lnTo>
                  <a:pt x="3296514" y="0"/>
                </a:lnTo>
                <a:cubicBezTo>
                  <a:pt x="3334052" y="0"/>
                  <a:pt x="3364482" y="30431"/>
                  <a:pt x="3364482" y="67969"/>
                </a:cubicBezTo>
                <a:lnTo>
                  <a:pt x="3364482" y="543755"/>
                </a:lnTo>
                <a:cubicBezTo>
                  <a:pt x="3364482" y="581293"/>
                  <a:pt x="3334052" y="611724"/>
                  <a:pt x="3296514" y="611724"/>
                </a:cubicBezTo>
                <a:lnTo>
                  <a:pt x="67969" y="611724"/>
                </a:lnTo>
                <a:cubicBezTo>
                  <a:pt x="30456" y="611724"/>
                  <a:pt x="0" y="581268"/>
                  <a:pt x="0" y="543755"/>
                </a:cubicBezTo>
                <a:lnTo>
                  <a:pt x="0" y="67969"/>
                </a:lnTo>
                <a:cubicBezTo>
                  <a:pt x="0" y="30456"/>
                  <a:pt x="30456" y="0"/>
                  <a:pt x="67969" y="0"/>
                </a:cubicBezTo>
                <a:close/>
              </a:path>
            </a:pathLst>
          </a:custGeom>
          <a:solidFill>
            <a:srgbClr val="4A6D8C">
              <a:alpha val="20000"/>
            </a:srgbClr>
          </a:solidFill>
          <a:ln/>
        </p:spPr>
      </p:sp>
      <p:sp>
        <p:nvSpPr>
          <p:cNvPr id="14" name="Text 12"/>
          <p:cNvSpPr/>
          <p:nvPr/>
        </p:nvSpPr>
        <p:spPr>
          <a:xfrm>
            <a:off x="620220" y="3823275"/>
            <a:ext cx="3228544" cy="2039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70" b="1" dirty="0">
                <a:solidFill>
                  <a:srgbClr val="E0E2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Localización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20220" y="4061168"/>
            <a:ext cx="3220047" cy="1699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37" dirty="0">
                <a:solidFill>
                  <a:srgbClr val="788A9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Determinar posición en el mapa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18266" y="4401015"/>
            <a:ext cx="3364482" cy="611724"/>
          </a:xfrm>
          <a:custGeom>
            <a:avLst/>
            <a:gdLst/>
            <a:ahLst/>
            <a:cxnLst/>
            <a:rect l="l" t="t" r="r" b="b"/>
            <a:pathLst>
              <a:path w="3364482" h="611724">
                <a:moveTo>
                  <a:pt x="67969" y="0"/>
                </a:moveTo>
                <a:lnTo>
                  <a:pt x="3296514" y="0"/>
                </a:lnTo>
                <a:cubicBezTo>
                  <a:pt x="3334052" y="0"/>
                  <a:pt x="3364482" y="30431"/>
                  <a:pt x="3364482" y="67969"/>
                </a:cubicBezTo>
                <a:lnTo>
                  <a:pt x="3364482" y="543755"/>
                </a:lnTo>
                <a:cubicBezTo>
                  <a:pt x="3364482" y="581293"/>
                  <a:pt x="3334052" y="611724"/>
                  <a:pt x="3296514" y="611724"/>
                </a:cubicBezTo>
                <a:lnTo>
                  <a:pt x="67969" y="611724"/>
                </a:lnTo>
                <a:cubicBezTo>
                  <a:pt x="30456" y="611724"/>
                  <a:pt x="0" y="581268"/>
                  <a:pt x="0" y="543755"/>
                </a:cubicBezTo>
                <a:lnTo>
                  <a:pt x="0" y="67969"/>
                </a:lnTo>
                <a:cubicBezTo>
                  <a:pt x="0" y="30456"/>
                  <a:pt x="30456" y="0"/>
                  <a:pt x="67969" y="0"/>
                </a:cubicBezTo>
                <a:close/>
              </a:path>
            </a:pathLst>
          </a:custGeom>
          <a:solidFill>
            <a:srgbClr val="4A6D8C">
              <a:alpha val="20000"/>
            </a:srgbClr>
          </a:solidFill>
          <a:ln/>
        </p:spPr>
      </p:sp>
      <p:sp>
        <p:nvSpPr>
          <p:cNvPr id="17" name="Text 15"/>
          <p:cNvSpPr/>
          <p:nvPr/>
        </p:nvSpPr>
        <p:spPr>
          <a:xfrm>
            <a:off x="620220" y="4502969"/>
            <a:ext cx="3228544" cy="2039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70" b="1" dirty="0">
                <a:solidFill>
                  <a:srgbClr val="E0E2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Mapeo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20220" y="4740861"/>
            <a:ext cx="3220047" cy="1699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37" dirty="0">
                <a:solidFill>
                  <a:srgbClr val="788A9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Construir mapa del entorno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518266" y="5080708"/>
            <a:ext cx="3364482" cy="611724"/>
          </a:xfrm>
          <a:custGeom>
            <a:avLst/>
            <a:gdLst/>
            <a:ahLst/>
            <a:cxnLst/>
            <a:rect l="l" t="t" r="r" b="b"/>
            <a:pathLst>
              <a:path w="3364482" h="611724">
                <a:moveTo>
                  <a:pt x="67969" y="0"/>
                </a:moveTo>
                <a:lnTo>
                  <a:pt x="3296514" y="0"/>
                </a:lnTo>
                <a:cubicBezTo>
                  <a:pt x="3334052" y="0"/>
                  <a:pt x="3364482" y="30431"/>
                  <a:pt x="3364482" y="67969"/>
                </a:cubicBezTo>
                <a:lnTo>
                  <a:pt x="3364482" y="543755"/>
                </a:lnTo>
                <a:cubicBezTo>
                  <a:pt x="3364482" y="581293"/>
                  <a:pt x="3334052" y="611724"/>
                  <a:pt x="3296514" y="611724"/>
                </a:cubicBezTo>
                <a:lnTo>
                  <a:pt x="67969" y="611724"/>
                </a:lnTo>
                <a:cubicBezTo>
                  <a:pt x="30456" y="611724"/>
                  <a:pt x="0" y="581268"/>
                  <a:pt x="0" y="543755"/>
                </a:cubicBezTo>
                <a:lnTo>
                  <a:pt x="0" y="67969"/>
                </a:lnTo>
                <a:cubicBezTo>
                  <a:pt x="0" y="30456"/>
                  <a:pt x="30456" y="0"/>
                  <a:pt x="67969" y="0"/>
                </a:cubicBezTo>
                <a:close/>
              </a:path>
            </a:pathLst>
          </a:custGeom>
          <a:solidFill>
            <a:srgbClr val="4A6D8C">
              <a:alpha val="20000"/>
            </a:srgbClr>
          </a:solidFill>
          <a:ln/>
        </p:spPr>
      </p:sp>
      <p:sp>
        <p:nvSpPr>
          <p:cNvPr id="20" name="Text 18"/>
          <p:cNvSpPr/>
          <p:nvPr/>
        </p:nvSpPr>
        <p:spPr>
          <a:xfrm>
            <a:off x="620220" y="5182662"/>
            <a:ext cx="3228544" cy="2039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70" b="1" dirty="0">
                <a:solidFill>
                  <a:srgbClr val="E0E2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Simultaneidad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620220" y="5420555"/>
            <a:ext cx="3220047" cy="1699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37" dirty="0">
                <a:solidFill>
                  <a:srgbClr val="788A9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Ambos procesos en paralelo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522514" y="6070511"/>
            <a:ext cx="3355986" cy="382328"/>
          </a:xfrm>
          <a:custGeom>
            <a:avLst/>
            <a:gdLst/>
            <a:ahLst/>
            <a:cxnLst/>
            <a:rect l="l" t="t" r="r" b="b"/>
            <a:pathLst>
              <a:path w="3355986" h="382328">
                <a:moveTo>
                  <a:pt x="67970" y="0"/>
                </a:moveTo>
                <a:lnTo>
                  <a:pt x="3288016" y="0"/>
                </a:lnTo>
                <a:cubicBezTo>
                  <a:pt x="3325555" y="0"/>
                  <a:pt x="3355986" y="30431"/>
                  <a:pt x="3355986" y="67970"/>
                </a:cubicBezTo>
                <a:lnTo>
                  <a:pt x="3355986" y="314357"/>
                </a:lnTo>
                <a:cubicBezTo>
                  <a:pt x="3355986" y="351896"/>
                  <a:pt x="3325555" y="382328"/>
                  <a:pt x="3288016" y="382328"/>
                </a:cubicBezTo>
                <a:lnTo>
                  <a:pt x="67970" y="382328"/>
                </a:lnTo>
                <a:cubicBezTo>
                  <a:pt x="30431" y="382328"/>
                  <a:pt x="0" y="351896"/>
                  <a:pt x="0" y="314357"/>
                </a:cubicBezTo>
                <a:lnTo>
                  <a:pt x="0" y="67970"/>
                </a:lnTo>
                <a:cubicBezTo>
                  <a:pt x="0" y="30431"/>
                  <a:pt x="30431" y="0"/>
                  <a:pt x="67970" y="0"/>
                </a:cubicBezTo>
                <a:close/>
              </a:path>
            </a:pathLst>
          </a:custGeom>
          <a:solidFill>
            <a:srgbClr val="C8A265">
              <a:alpha val="10196"/>
            </a:srgbClr>
          </a:solidFill>
          <a:ln w="12700">
            <a:solidFill>
              <a:srgbClr val="C8A265">
                <a:alpha val="30196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28716" y="6176714"/>
            <a:ext cx="3203055" cy="1699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37" b="1" dirty="0">
                <a:solidFill>
                  <a:srgbClr val="C8A26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Sensores: LiDAR, Cámaras, IMU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4237198" y="2051824"/>
            <a:ext cx="3712825" cy="4579434"/>
          </a:xfrm>
          <a:custGeom>
            <a:avLst/>
            <a:gdLst/>
            <a:ahLst/>
            <a:cxnLst/>
            <a:rect l="l" t="t" r="r" b="b"/>
            <a:pathLst>
              <a:path w="3712825" h="4579434">
                <a:moveTo>
                  <a:pt x="101954" y="0"/>
                </a:moveTo>
                <a:lnTo>
                  <a:pt x="3610871" y="0"/>
                </a:lnTo>
                <a:cubicBezTo>
                  <a:pt x="3667179" y="0"/>
                  <a:pt x="3712825" y="45646"/>
                  <a:pt x="3712825" y="101954"/>
                </a:cubicBezTo>
                <a:lnTo>
                  <a:pt x="3712825" y="4477480"/>
                </a:lnTo>
                <a:cubicBezTo>
                  <a:pt x="3712825" y="4533788"/>
                  <a:pt x="3667179" y="4579434"/>
                  <a:pt x="3610871" y="4579434"/>
                </a:cubicBezTo>
                <a:lnTo>
                  <a:pt x="101954" y="4579434"/>
                </a:lnTo>
                <a:cubicBezTo>
                  <a:pt x="45646" y="4579434"/>
                  <a:pt x="0" y="4533788"/>
                  <a:pt x="0" y="4477480"/>
                </a:cubicBezTo>
                <a:lnTo>
                  <a:pt x="0" y="101954"/>
                </a:lnTo>
                <a:cubicBezTo>
                  <a:pt x="0" y="45646"/>
                  <a:pt x="45646" y="0"/>
                  <a:pt x="101954" y="0"/>
                </a:cubicBezTo>
                <a:close/>
              </a:path>
            </a:pathLst>
          </a:custGeom>
          <a:solidFill>
            <a:srgbClr val="4A6D8C">
              <a:alpha val="10196"/>
            </a:srgbClr>
          </a:solidFill>
          <a:ln w="12700">
            <a:solidFill>
              <a:srgbClr val="4A6D8C">
                <a:alpha val="30196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411369" y="2225996"/>
            <a:ext cx="475785" cy="475785"/>
          </a:xfrm>
          <a:custGeom>
            <a:avLst/>
            <a:gdLst/>
            <a:ahLst/>
            <a:cxnLst/>
            <a:rect l="l" t="t" r="r" b="b"/>
            <a:pathLst>
              <a:path w="475785" h="475785">
                <a:moveTo>
                  <a:pt x="67971" y="0"/>
                </a:moveTo>
                <a:lnTo>
                  <a:pt x="407815" y="0"/>
                </a:lnTo>
                <a:cubicBezTo>
                  <a:pt x="445354" y="0"/>
                  <a:pt x="475785" y="30432"/>
                  <a:pt x="475785" y="67971"/>
                </a:cubicBezTo>
                <a:lnTo>
                  <a:pt x="475785" y="407815"/>
                </a:lnTo>
                <a:cubicBezTo>
                  <a:pt x="475785" y="445354"/>
                  <a:pt x="445354" y="475785"/>
                  <a:pt x="407815" y="475785"/>
                </a:cubicBezTo>
                <a:lnTo>
                  <a:pt x="67971" y="475785"/>
                </a:lnTo>
                <a:cubicBezTo>
                  <a:pt x="30432" y="475785"/>
                  <a:pt x="0" y="445354"/>
                  <a:pt x="0" y="407815"/>
                </a:cubicBezTo>
                <a:lnTo>
                  <a:pt x="0" y="67971"/>
                </a:lnTo>
                <a:cubicBezTo>
                  <a:pt x="0" y="30432"/>
                  <a:pt x="30432" y="0"/>
                  <a:pt x="67971" y="0"/>
                </a:cubicBezTo>
                <a:close/>
              </a:path>
            </a:pathLst>
          </a:custGeom>
          <a:solidFill>
            <a:srgbClr val="C8A265"/>
          </a:solidFill>
          <a:ln/>
        </p:spPr>
      </p:sp>
      <p:sp>
        <p:nvSpPr>
          <p:cNvPr id="26" name="Shape 24"/>
          <p:cNvSpPr/>
          <p:nvPr/>
        </p:nvSpPr>
        <p:spPr>
          <a:xfrm>
            <a:off x="4521820" y="2361934"/>
            <a:ext cx="254885" cy="203908"/>
          </a:xfrm>
          <a:custGeom>
            <a:avLst/>
            <a:gdLst/>
            <a:ahLst/>
            <a:cxnLst/>
            <a:rect l="l" t="t" r="r" b="b"/>
            <a:pathLst>
              <a:path w="254885" h="203908">
                <a:moveTo>
                  <a:pt x="165635" y="83833"/>
                </a:moveTo>
                <a:cubicBezTo>
                  <a:pt x="170494" y="82519"/>
                  <a:pt x="175592" y="84829"/>
                  <a:pt x="177782" y="89329"/>
                </a:cubicBezTo>
                <a:lnTo>
                  <a:pt x="185190" y="104304"/>
                </a:lnTo>
                <a:cubicBezTo>
                  <a:pt x="189292" y="104861"/>
                  <a:pt x="193314" y="105976"/>
                  <a:pt x="197098" y="107530"/>
                </a:cubicBezTo>
                <a:lnTo>
                  <a:pt x="211037" y="98250"/>
                </a:lnTo>
                <a:cubicBezTo>
                  <a:pt x="215219" y="95462"/>
                  <a:pt x="220754" y="96020"/>
                  <a:pt x="224299" y="99564"/>
                </a:cubicBezTo>
                <a:lnTo>
                  <a:pt x="231945" y="107211"/>
                </a:lnTo>
                <a:cubicBezTo>
                  <a:pt x="235490" y="110756"/>
                  <a:pt x="236047" y="116331"/>
                  <a:pt x="233260" y="120473"/>
                </a:cubicBezTo>
                <a:lnTo>
                  <a:pt x="223980" y="134372"/>
                </a:lnTo>
                <a:cubicBezTo>
                  <a:pt x="224737" y="136244"/>
                  <a:pt x="225414" y="138195"/>
                  <a:pt x="225971" y="140227"/>
                </a:cubicBezTo>
                <a:cubicBezTo>
                  <a:pt x="226529" y="142258"/>
                  <a:pt x="226887" y="144249"/>
                  <a:pt x="227166" y="146280"/>
                </a:cubicBezTo>
                <a:lnTo>
                  <a:pt x="242181" y="153688"/>
                </a:lnTo>
                <a:cubicBezTo>
                  <a:pt x="246681" y="155918"/>
                  <a:pt x="248991" y="161016"/>
                  <a:pt x="247677" y="165835"/>
                </a:cubicBezTo>
                <a:lnTo>
                  <a:pt x="244889" y="176269"/>
                </a:lnTo>
                <a:cubicBezTo>
                  <a:pt x="243574" y="181088"/>
                  <a:pt x="239074" y="184354"/>
                  <a:pt x="234056" y="184035"/>
                </a:cubicBezTo>
                <a:lnTo>
                  <a:pt x="217329" y="182960"/>
                </a:lnTo>
                <a:cubicBezTo>
                  <a:pt x="214820" y="186186"/>
                  <a:pt x="211913" y="189172"/>
                  <a:pt x="208607" y="191721"/>
                </a:cubicBezTo>
                <a:lnTo>
                  <a:pt x="209683" y="208408"/>
                </a:lnTo>
                <a:cubicBezTo>
                  <a:pt x="210001" y="213426"/>
                  <a:pt x="206736" y="217967"/>
                  <a:pt x="201917" y="219241"/>
                </a:cubicBezTo>
                <a:lnTo>
                  <a:pt x="191482" y="222029"/>
                </a:lnTo>
                <a:cubicBezTo>
                  <a:pt x="186624" y="223343"/>
                  <a:pt x="181566" y="221033"/>
                  <a:pt x="179336" y="216533"/>
                </a:cubicBezTo>
                <a:lnTo>
                  <a:pt x="171928" y="201558"/>
                </a:lnTo>
                <a:cubicBezTo>
                  <a:pt x="167826" y="201001"/>
                  <a:pt x="163803" y="199886"/>
                  <a:pt x="160020" y="198332"/>
                </a:cubicBezTo>
                <a:lnTo>
                  <a:pt x="146081" y="207612"/>
                </a:lnTo>
                <a:cubicBezTo>
                  <a:pt x="141899" y="210400"/>
                  <a:pt x="136363" y="209842"/>
                  <a:pt x="132819" y="206298"/>
                </a:cubicBezTo>
                <a:lnTo>
                  <a:pt x="125172" y="198651"/>
                </a:lnTo>
                <a:cubicBezTo>
                  <a:pt x="121628" y="195107"/>
                  <a:pt x="121070" y="189571"/>
                  <a:pt x="123858" y="185389"/>
                </a:cubicBezTo>
                <a:lnTo>
                  <a:pt x="133138" y="171450"/>
                </a:lnTo>
                <a:cubicBezTo>
                  <a:pt x="132381" y="169578"/>
                  <a:pt x="131704" y="167627"/>
                  <a:pt x="131146" y="165596"/>
                </a:cubicBezTo>
                <a:cubicBezTo>
                  <a:pt x="130589" y="163564"/>
                  <a:pt x="130230" y="161533"/>
                  <a:pt x="129952" y="159542"/>
                </a:cubicBezTo>
                <a:lnTo>
                  <a:pt x="114937" y="152134"/>
                </a:lnTo>
                <a:cubicBezTo>
                  <a:pt x="110437" y="149904"/>
                  <a:pt x="108167" y="144807"/>
                  <a:pt x="109441" y="139988"/>
                </a:cubicBezTo>
                <a:lnTo>
                  <a:pt x="112229" y="129553"/>
                </a:lnTo>
                <a:cubicBezTo>
                  <a:pt x="113543" y="124734"/>
                  <a:pt x="118044" y="121469"/>
                  <a:pt x="123062" y="121787"/>
                </a:cubicBezTo>
                <a:lnTo>
                  <a:pt x="139749" y="122863"/>
                </a:lnTo>
                <a:cubicBezTo>
                  <a:pt x="142258" y="119637"/>
                  <a:pt x="145165" y="116650"/>
                  <a:pt x="148471" y="114101"/>
                </a:cubicBezTo>
                <a:lnTo>
                  <a:pt x="147395" y="97454"/>
                </a:lnTo>
                <a:cubicBezTo>
                  <a:pt x="147077" y="92436"/>
                  <a:pt x="150342" y="87896"/>
                  <a:pt x="155161" y="86621"/>
                </a:cubicBezTo>
                <a:lnTo>
                  <a:pt x="165596" y="83833"/>
                </a:lnTo>
                <a:close/>
                <a:moveTo>
                  <a:pt x="178579" y="135408"/>
                </a:moveTo>
                <a:cubicBezTo>
                  <a:pt x="168907" y="135419"/>
                  <a:pt x="161064" y="143280"/>
                  <a:pt x="161075" y="152951"/>
                </a:cubicBezTo>
                <a:cubicBezTo>
                  <a:pt x="161086" y="162622"/>
                  <a:pt x="168947" y="170465"/>
                  <a:pt x="178619" y="170454"/>
                </a:cubicBezTo>
                <a:cubicBezTo>
                  <a:pt x="188290" y="170443"/>
                  <a:pt x="196133" y="162582"/>
                  <a:pt x="196122" y="152911"/>
                </a:cubicBezTo>
                <a:cubicBezTo>
                  <a:pt x="196111" y="143240"/>
                  <a:pt x="188250" y="135397"/>
                  <a:pt x="178579" y="135408"/>
                </a:cubicBezTo>
                <a:close/>
                <a:moveTo>
                  <a:pt x="89568" y="-18121"/>
                </a:moveTo>
                <a:lnTo>
                  <a:pt x="100003" y="-15333"/>
                </a:lnTo>
                <a:cubicBezTo>
                  <a:pt x="104821" y="-14019"/>
                  <a:pt x="108087" y="-9479"/>
                  <a:pt x="107769" y="-4500"/>
                </a:cubicBezTo>
                <a:lnTo>
                  <a:pt x="106693" y="12147"/>
                </a:lnTo>
                <a:cubicBezTo>
                  <a:pt x="109999" y="14696"/>
                  <a:pt x="112906" y="17643"/>
                  <a:pt x="115415" y="20909"/>
                </a:cubicBezTo>
                <a:lnTo>
                  <a:pt x="132142" y="19833"/>
                </a:lnTo>
                <a:cubicBezTo>
                  <a:pt x="137120" y="19515"/>
                  <a:pt x="141660" y="22780"/>
                  <a:pt x="142975" y="27599"/>
                </a:cubicBezTo>
                <a:lnTo>
                  <a:pt x="145762" y="38034"/>
                </a:lnTo>
                <a:cubicBezTo>
                  <a:pt x="147037" y="42853"/>
                  <a:pt x="144767" y="47950"/>
                  <a:pt x="140266" y="50180"/>
                </a:cubicBezTo>
                <a:lnTo>
                  <a:pt x="125252" y="57588"/>
                </a:lnTo>
                <a:cubicBezTo>
                  <a:pt x="124973" y="59619"/>
                  <a:pt x="124575" y="61650"/>
                  <a:pt x="124057" y="63642"/>
                </a:cubicBezTo>
                <a:cubicBezTo>
                  <a:pt x="123540" y="65633"/>
                  <a:pt x="122823" y="67624"/>
                  <a:pt x="122066" y="69496"/>
                </a:cubicBezTo>
                <a:lnTo>
                  <a:pt x="131345" y="83435"/>
                </a:lnTo>
                <a:cubicBezTo>
                  <a:pt x="134133" y="87617"/>
                  <a:pt x="133576" y="93153"/>
                  <a:pt x="130031" y="96697"/>
                </a:cubicBezTo>
                <a:lnTo>
                  <a:pt x="122385" y="104344"/>
                </a:lnTo>
                <a:cubicBezTo>
                  <a:pt x="118840" y="107888"/>
                  <a:pt x="113304" y="108446"/>
                  <a:pt x="109123" y="105658"/>
                </a:cubicBezTo>
                <a:lnTo>
                  <a:pt x="95184" y="96378"/>
                </a:lnTo>
                <a:cubicBezTo>
                  <a:pt x="91400" y="97932"/>
                  <a:pt x="87378" y="99047"/>
                  <a:pt x="83276" y="99604"/>
                </a:cubicBezTo>
                <a:lnTo>
                  <a:pt x="75868" y="114579"/>
                </a:lnTo>
                <a:cubicBezTo>
                  <a:pt x="73638" y="119079"/>
                  <a:pt x="68540" y="121349"/>
                  <a:pt x="63721" y="120075"/>
                </a:cubicBezTo>
                <a:lnTo>
                  <a:pt x="53287" y="117287"/>
                </a:lnTo>
                <a:cubicBezTo>
                  <a:pt x="48428" y="115973"/>
                  <a:pt x="45202" y="111433"/>
                  <a:pt x="45521" y="106454"/>
                </a:cubicBezTo>
                <a:lnTo>
                  <a:pt x="46596" y="89767"/>
                </a:lnTo>
                <a:cubicBezTo>
                  <a:pt x="43291" y="87218"/>
                  <a:pt x="40383" y="84271"/>
                  <a:pt x="37874" y="81006"/>
                </a:cubicBezTo>
                <a:lnTo>
                  <a:pt x="21147" y="82081"/>
                </a:lnTo>
                <a:cubicBezTo>
                  <a:pt x="16169" y="82400"/>
                  <a:pt x="11629" y="79134"/>
                  <a:pt x="10315" y="74315"/>
                </a:cubicBezTo>
                <a:lnTo>
                  <a:pt x="7527" y="63881"/>
                </a:lnTo>
                <a:cubicBezTo>
                  <a:pt x="6253" y="59062"/>
                  <a:pt x="8523" y="53964"/>
                  <a:pt x="13023" y="51734"/>
                </a:cubicBezTo>
                <a:lnTo>
                  <a:pt x="28037" y="44326"/>
                </a:lnTo>
                <a:cubicBezTo>
                  <a:pt x="28316" y="42295"/>
                  <a:pt x="28714" y="40304"/>
                  <a:pt x="29232" y="38273"/>
                </a:cubicBezTo>
                <a:cubicBezTo>
                  <a:pt x="29790" y="36241"/>
                  <a:pt x="30427" y="34290"/>
                  <a:pt x="31223" y="32418"/>
                </a:cubicBezTo>
                <a:lnTo>
                  <a:pt x="21944" y="18519"/>
                </a:lnTo>
                <a:cubicBezTo>
                  <a:pt x="19156" y="14337"/>
                  <a:pt x="19714" y="8801"/>
                  <a:pt x="23258" y="5257"/>
                </a:cubicBezTo>
                <a:lnTo>
                  <a:pt x="30905" y="-2390"/>
                </a:lnTo>
                <a:cubicBezTo>
                  <a:pt x="34449" y="-5934"/>
                  <a:pt x="39985" y="-6492"/>
                  <a:pt x="44167" y="-3704"/>
                </a:cubicBezTo>
                <a:lnTo>
                  <a:pt x="58106" y="5576"/>
                </a:lnTo>
                <a:cubicBezTo>
                  <a:pt x="61889" y="4022"/>
                  <a:pt x="65912" y="2907"/>
                  <a:pt x="70014" y="2350"/>
                </a:cubicBezTo>
                <a:lnTo>
                  <a:pt x="77421" y="-12625"/>
                </a:lnTo>
                <a:cubicBezTo>
                  <a:pt x="79652" y="-17125"/>
                  <a:pt x="84709" y="-19395"/>
                  <a:pt x="89568" y="-18121"/>
                </a:cubicBezTo>
                <a:close/>
                <a:moveTo>
                  <a:pt x="76625" y="33454"/>
                </a:moveTo>
                <a:cubicBezTo>
                  <a:pt x="66953" y="33454"/>
                  <a:pt x="59101" y="41306"/>
                  <a:pt x="59101" y="50977"/>
                </a:cubicBezTo>
                <a:cubicBezTo>
                  <a:pt x="59101" y="60648"/>
                  <a:pt x="66953" y="68500"/>
                  <a:pt x="76625" y="68500"/>
                </a:cubicBezTo>
                <a:cubicBezTo>
                  <a:pt x="86296" y="68500"/>
                  <a:pt x="94148" y="60648"/>
                  <a:pt x="94148" y="50977"/>
                </a:cubicBezTo>
                <a:cubicBezTo>
                  <a:pt x="94148" y="41306"/>
                  <a:pt x="86296" y="33454"/>
                  <a:pt x="76625" y="33454"/>
                </a:cubicBezTo>
                <a:close/>
              </a:path>
            </a:pathLst>
          </a:custGeom>
          <a:solidFill>
            <a:srgbClr val="1A1D23"/>
          </a:solidFill>
          <a:ln/>
        </p:spPr>
      </p:sp>
      <p:sp>
        <p:nvSpPr>
          <p:cNvPr id="27" name="Text 25"/>
          <p:cNvSpPr/>
          <p:nvPr/>
        </p:nvSpPr>
        <p:spPr>
          <a:xfrm>
            <a:off x="4989109" y="2327950"/>
            <a:ext cx="2378927" cy="2718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606" b="1" dirty="0">
                <a:solidFill>
                  <a:srgbClr val="E0E2E6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Control de Movimiento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4411369" y="2837720"/>
            <a:ext cx="3432452" cy="44180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70" dirty="0">
                <a:solidFill>
                  <a:srgbClr val="788A9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Algoritmos para controlar la dinámica y cinemática de robots, asegurando </a:t>
            </a:r>
            <a:pPr>
              <a:lnSpc>
                <a:spcPct val="140000"/>
              </a:lnSpc>
            </a:pPr>
            <a:r>
              <a:rPr lang="en-US" sz="1070" dirty="0">
                <a:solidFill>
                  <a:srgbClr val="E0E2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movimientos precisos y estables</a:t>
            </a:r>
            <a:pPr>
              <a:lnSpc>
                <a:spcPct val="140000"/>
              </a:lnSpc>
            </a:pPr>
            <a:r>
              <a:rPr lang="en-US" sz="1070" dirty="0">
                <a:solidFill>
                  <a:srgbClr val="788A9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.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4411369" y="3415459"/>
            <a:ext cx="3364482" cy="951571"/>
          </a:xfrm>
          <a:custGeom>
            <a:avLst/>
            <a:gdLst/>
            <a:ahLst/>
            <a:cxnLst/>
            <a:rect l="l" t="t" r="r" b="b"/>
            <a:pathLst>
              <a:path w="3364482" h="951571">
                <a:moveTo>
                  <a:pt x="67971" y="0"/>
                </a:moveTo>
                <a:lnTo>
                  <a:pt x="3296512" y="0"/>
                </a:lnTo>
                <a:cubicBezTo>
                  <a:pt x="3334051" y="0"/>
                  <a:pt x="3364482" y="30432"/>
                  <a:pt x="3364482" y="67971"/>
                </a:cubicBezTo>
                <a:lnTo>
                  <a:pt x="3364482" y="883600"/>
                </a:lnTo>
                <a:cubicBezTo>
                  <a:pt x="3364482" y="921139"/>
                  <a:pt x="3334051" y="951571"/>
                  <a:pt x="3296512" y="951571"/>
                </a:cubicBezTo>
                <a:lnTo>
                  <a:pt x="67971" y="951571"/>
                </a:lnTo>
                <a:cubicBezTo>
                  <a:pt x="30432" y="951571"/>
                  <a:pt x="0" y="921139"/>
                  <a:pt x="0" y="883600"/>
                </a:cubicBezTo>
                <a:lnTo>
                  <a:pt x="0" y="67971"/>
                </a:lnTo>
                <a:cubicBezTo>
                  <a:pt x="0" y="30432"/>
                  <a:pt x="30432" y="0"/>
                  <a:pt x="67971" y="0"/>
                </a:cubicBezTo>
                <a:close/>
              </a:path>
            </a:pathLst>
          </a:custGeom>
          <a:solidFill>
            <a:srgbClr val="4A6D8C">
              <a:alpha val="20000"/>
            </a:srgbClr>
          </a:solidFill>
          <a:ln/>
        </p:spPr>
      </p:sp>
      <p:sp>
        <p:nvSpPr>
          <p:cNvPr id="30" name="Shape 28"/>
          <p:cNvSpPr/>
          <p:nvPr/>
        </p:nvSpPr>
        <p:spPr>
          <a:xfrm>
            <a:off x="4564300" y="3602375"/>
            <a:ext cx="135939" cy="135939"/>
          </a:xfrm>
          <a:custGeom>
            <a:avLst/>
            <a:gdLst/>
            <a:ahLst/>
            <a:cxnLst/>
            <a:rect l="l" t="t" r="r" b="b"/>
            <a:pathLst>
              <a:path w="135939" h="135939">
                <a:moveTo>
                  <a:pt x="8496" y="16992"/>
                </a:moveTo>
                <a:cubicBezTo>
                  <a:pt x="3797" y="16992"/>
                  <a:pt x="0" y="20789"/>
                  <a:pt x="0" y="25489"/>
                </a:cubicBezTo>
                <a:cubicBezTo>
                  <a:pt x="0" y="30188"/>
                  <a:pt x="3797" y="33985"/>
                  <a:pt x="8496" y="33985"/>
                </a:cubicBezTo>
                <a:lnTo>
                  <a:pt x="31515" y="33985"/>
                </a:lnTo>
                <a:cubicBezTo>
                  <a:pt x="34781" y="41498"/>
                  <a:pt x="42268" y="46729"/>
                  <a:pt x="50977" y="46729"/>
                </a:cubicBezTo>
                <a:cubicBezTo>
                  <a:pt x="59686" y="46729"/>
                  <a:pt x="67173" y="41498"/>
                  <a:pt x="70439" y="33985"/>
                </a:cubicBezTo>
                <a:lnTo>
                  <a:pt x="127443" y="33985"/>
                </a:lnTo>
                <a:cubicBezTo>
                  <a:pt x="132142" y="33985"/>
                  <a:pt x="135939" y="30188"/>
                  <a:pt x="135939" y="25489"/>
                </a:cubicBezTo>
                <a:cubicBezTo>
                  <a:pt x="135939" y="20789"/>
                  <a:pt x="132142" y="16992"/>
                  <a:pt x="127443" y="16992"/>
                </a:cubicBezTo>
                <a:lnTo>
                  <a:pt x="70439" y="16992"/>
                </a:lnTo>
                <a:cubicBezTo>
                  <a:pt x="67173" y="9479"/>
                  <a:pt x="59686" y="4248"/>
                  <a:pt x="50977" y="4248"/>
                </a:cubicBezTo>
                <a:cubicBezTo>
                  <a:pt x="42268" y="4248"/>
                  <a:pt x="34781" y="9479"/>
                  <a:pt x="31515" y="16992"/>
                </a:cubicBezTo>
                <a:lnTo>
                  <a:pt x="8496" y="16992"/>
                </a:lnTo>
                <a:close/>
                <a:moveTo>
                  <a:pt x="8496" y="59473"/>
                </a:moveTo>
                <a:cubicBezTo>
                  <a:pt x="3797" y="59473"/>
                  <a:pt x="0" y="63270"/>
                  <a:pt x="0" y="67969"/>
                </a:cubicBezTo>
                <a:cubicBezTo>
                  <a:pt x="0" y="72669"/>
                  <a:pt x="3797" y="76466"/>
                  <a:pt x="8496" y="76466"/>
                </a:cubicBezTo>
                <a:lnTo>
                  <a:pt x="73996" y="76466"/>
                </a:lnTo>
                <a:cubicBezTo>
                  <a:pt x="77262" y="83979"/>
                  <a:pt x="84749" y="89210"/>
                  <a:pt x="93458" y="89210"/>
                </a:cubicBezTo>
                <a:cubicBezTo>
                  <a:pt x="102166" y="89210"/>
                  <a:pt x="109654" y="83979"/>
                  <a:pt x="112919" y="76466"/>
                </a:cubicBezTo>
                <a:lnTo>
                  <a:pt x="127443" y="76466"/>
                </a:lnTo>
                <a:cubicBezTo>
                  <a:pt x="132142" y="76466"/>
                  <a:pt x="135939" y="72669"/>
                  <a:pt x="135939" y="67969"/>
                </a:cubicBezTo>
                <a:cubicBezTo>
                  <a:pt x="135939" y="63270"/>
                  <a:pt x="132142" y="59473"/>
                  <a:pt x="127443" y="59473"/>
                </a:cubicBezTo>
                <a:lnTo>
                  <a:pt x="112919" y="59473"/>
                </a:lnTo>
                <a:cubicBezTo>
                  <a:pt x="109654" y="51959"/>
                  <a:pt x="102166" y="46729"/>
                  <a:pt x="93458" y="46729"/>
                </a:cubicBezTo>
                <a:cubicBezTo>
                  <a:pt x="84749" y="46729"/>
                  <a:pt x="77262" y="51959"/>
                  <a:pt x="73996" y="59473"/>
                </a:cubicBezTo>
                <a:lnTo>
                  <a:pt x="8496" y="59473"/>
                </a:lnTo>
                <a:close/>
                <a:moveTo>
                  <a:pt x="8496" y="101954"/>
                </a:moveTo>
                <a:cubicBezTo>
                  <a:pt x="3797" y="101954"/>
                  <a:pt x="0" y="105751"/>
                  <a:pt x="0" y="110450"/>
                </a:cubicBezTo>
                <a:cubicBezTo>
                  <a:pt x="0" y="115150"/>
                  <a:pt x="3797" y="118946"/>
                  <a:pt x="8496" y="118946"/>
                </a:cubicBezTo>
                <a:lnTo>
                  <a:pt x="23019" y="118946"/>
                </a:lnTo>
                <a:cubicBezTo>
                  <a:pt x="26285" y="126460"/>
                  <a:pt x="33772" y="131691"/>
                  <a:pt x="42481" y="131691"/>
                </a:cubicBezTo>
                <a:cubicBezTo>
                  <a:pt x="51189" y="131691"/>
                  <a:pt x="58677" y="126460"/>
                  <a:pt x="61942" y="118946"/>
                </a:cubicBezTo>
                <a:lnTo>
                  <a:pt x="127443" y="118946"/>
                </a:lnTo>
                <a:cubicBezTo>
                  <a:pt x="132142" y="118946"/>
                  <a:pt x="135939" y="115150"/>
                  <a:pt x="135939" y="110450"/>
                </a:cubicBezTo>
                <a:cubicBezTo>
                  <a:pt x="135939" y="105751"/>
                  <a:pt x="132142" y="101954"/>
                  <a:pt x="127443" y="101954"/>
                </a:cubicBezTo>
                <a:lnTo>
                  <a:pt x="61942" y="101954"/>
                </a:lnTo>
                <a:cubicBezTo>
                  <a:pt x="58677" y="94440"/>
                  <a:pt x="51189" y="89210"/>
                  <a:pt x="42481" y="89210"/>
                </a:cubicBezTo>
                <a:cubicBezTo>
                  <a:pt x="33772" y="89210"/>
                  <a:pt x="26285" y="94440"/>
                  <a:pt x="23019" y="101954"/>
                </a:cubicBezTo>
                <a:lnTo>
                  <a:pt x="8496" y="101954"/>
                </a:lnTo>
                <a:close/>
              </a:path>
            </a:pathLst>
          </a:custGeom>
          <a:solidFill>
            <a:srgbClr val="C8A265"/>
          </a:solidFill>
          <a:ln/>
        </p:spPr>
      </p:sp>
      <p:sp>
        <p:nvSpPr>
          <p:cNvPr id="31" name="Text 29"/>
          <p:cNvSpPr/>
          <p:nvPr/>
        </p:nvSpPr>
        <p:spPr>
          <a:xfrm>
            <a:off x="4785201" y="3551398"/>
            <a:ext cx="322854" cy="2378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4" b="1" dirty="0">
                <a:solidFill>
                  <a:srgbClr val="E0E2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PID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4547308" y="3857260"/>
            <a:ext cx="3160574" cy="3738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070" dirty="0">
                <a:solidFill>
                  <a:srgbClr val="788A9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Control Proporcional-Integral-Derivativo para corrección de errores en tiempo real.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4411369" y="4468984"/>
            <a:ext cx="3364482" cy="951571"/>
          </a:xfrm>
          <a:custGeom>
            <a:avLst/>
            <a:gdLst/>
            <a:ahLst/>
            <a:cxnLst/>
            <a:rect l="l" t="t" r="r" b="b"/>
            <a:pathLst>
              <a:path w="3364482" h="951571">
                <a:moveTo>
                  <a:pt x="67971" y="0"/>
                </a:moveTo>
                <a:lnTo>
                  <a:pt x="3296512" y="0"/>
                </a:lnTo>
                <a:cubicBezTo>
                  <a:pt x="3334051" y="0"/>
                  <a:pt x="3364482" y="30432"/>
                  <a:pt x="3364482" y="67971"/>
                </a:cubicBezTo>
                <a:lnTo>
                  <a:pt x="3364482" y="883600"/>
                </a:lnTo>
                <a:cubicBezTo>
                  <a:pt x="3364482" y="921139"/>
                  <a:pt x="3334051" y="951571"/>
                  <a:pt x="3296512" y="951571"/>
                </a:cubicBezTo>
                <a:lnTo>
                  <a:pt x="67971" y="951571"/>
                </a:lnTo>
                <a:cubicBezTo>
                  <a:pt x="30432" y="951571"/>
                  <a:pt x="0" y="921139"/>
                  <a:pt x="0" y="883600"/>
                </a:cubicBezTo>
                <a:lnTo>
                  <a:pt x="0" y="67971"/>
                </a:lnTo>
                <a:cubicBezTo>
                  <a:pt x="0" y="30432"/>
                  <a:pt x="30432" y="0"/>
                  <a:pt x="67971" y="0"/>
                </a:cubicBezTo>
                <a:close/>
              </a:path>
            </a:pathLst>
          </a:custGeom>
          <a:solidFill>
            <a:srgbClr val="4A6D8C">
              <a:alpha val="20000"/>
            </a:srgbClr>
          </a:solidFill>
          <a:ln/>
        </p:spPr>
      </p:sp>
      <p:sp>
        <p:nvSpPr>
          <p:cNvPr id="34" name="Shape 32"/>
          <p:cNvSpPr/>
          <p:nvPr/>
        </p:nvSpPr>
        <p:spPr>
          <a:xfrm>
            <a:off x="4564300" y="4655900"/>
            <a:ext cx="135939" cy="135939"/>
          </a:xfrm>
          <a:custGeom>
            <a:avLst/>
            <a:gdLst/>
            <a:ahLst/>
            <a:cxnLst/>
            <a:rect l="l" t="t" r="r" b="b"/>
            <a:pathLst>
              <a:path w="135939" h="135939">
                <a:moveTo>
                  <a:pt x="31861" y="14868"/>
                </a:moveTo>
                <a:cubicBezTo>
                  <a:pt x="31861" y="6664"/>
                  <a:pt x="38525" y="0"/>
                  <a:pt x="46729" y="0"/>
                </a:cubicBezTo>
                <a:lnTo>
                  <a:pt x="53101" y="0"/>
                </a:lnTo>
                <a:cubicBezTo>
                  <a:pt x="57800" y="0"/>
                  <a:pt x="61597" y="3797"/>
                  <a:pt x="61597" y="8496"/>
                </a:cubicBezTo>
                <a:lnTo>
                  <a:pt x="61597" y="127443"/>
                </a:lnTo>
                <a:cubicBezTo>
                  <a:pt x="61597" y="132142"/>
                  <a:pt x="57800" y="135939"/>
                  <a:pt x="53101" y="135939"/>
                </a:cubicBezTo>
                <a:lnTo>
                  <a:pt x="44605" y="135939"/>
                </a:lnTo>
                <a:cubicBezTo>
                  <a:pt x="36693" y="135939"/>
                  <a:pt x="30029" y="130522"/>
                  <a:pt x="28144" y="123194"/>
                </a:cubicBezTo>
                <a:cubicBezTo>
                  <a:pt x="27958" y="123194"/>
                  <a:pt x="27798" y="123194"/>
                  <a:pt x="27613" y="123194"/>
                </a:cubicBezTo>
                <a:cubicBezTo>
                  <a:pt x="15877" y="123194"/>
                  <a:pt x="6372" y="113689"/>
                  <a:pt x="6372" y="101954"/>
                </a:cubicBezTo>
                <a:cubicBezTo>
                  <a:pt x="6372" y="97175"/>
                  <a:pt x="7965" y="92768"/>
                  <a:pt x="10620" y="89210"/>
                </a:cubicBezTo>
                <a:cubicBezTo>
                  <a:pt x="5469" y="85333"/>
                  <a:pt x="2124" y="79174"/>
                  <a:pt x="2124" y="72217"/>
                </a:cubicBezTo>
                <a:cubicBezTo>
                  <a:pt x="2124" y="64013"/>
                  <a:pt x="6797" y="56871"/>
                  <a:pt x="13594" y="53340"/>
                </a:cubicBezTo>
                <a:cubicBezTo>
                  <a:pt x="11709" y="50154"/>
                  <a:pt x="10620" y="46437"/>
                  <a:pt x="10620" y="42481"/>
                </a:cubicBezTo>
                <a:cubicBezTo>
                  <a:pt x="10620" y="30746"/>
                  <a:pt x="20125" y="21240"/>
                  <a:pt x="31861" y="21240"/>
                </a:cubicBezTo>
                <a:lnTo>
                  <a:pt x="31861" y="14868"/>
                </a:lnTo>
                <a:close/>
                <a:moveTo>
                  <a:pt x="104078" y="14868"/>
                </a:moveTo>
                <a:lnTo>
                  <a:pt x="104078" y="21240"/>
                </a:lnTo>
                <a:cubicBezTo>
                  <a:pt x="115813" y="21240"/>
                  <a:pt x="125318" y="30746"/>
                  <a:pt x="125318" y="42481"/>
                </a:cubicBezTo>
                <a:cubicBezTo>
                  <a:pt x="125318" y="46463"/>
                  <a:pt x="124230" y="50180"/>
                  <a:pt x="122345" y="53340"/>
                </a:cubicBezTo>
                <a:cubicBezTo>
                  <a:pt x="129168" y="56871"/>
                  <a:pt x="133815" y="63987"/>
                  <a:pt x="133815" y="72217"/>
                </a:cubicBezTo>
                <a:cubicBezTo>
                  <a:pt x="133815" y="79174"/>
                  <a:pt x="130469" y="85333"/>
                  <a:pt x="125318" y="89210"/>
                </a:cubicBezTo>
                <a:cubicBezTo>
                  <a:pt x="127974" y="92768"/>
                  <a:pt x="129567" y="97175"/>
                  <a:pt x="129567" y="101954"/>
                </a:cubicBezTo>
                <a:cubicBezTo>
                  <a:pt x="129567" y="113689"/>
                  <a:pt x="120061" y="123194"/>
                  <a:pt x="108326" y="123194"/>
                </a:cubicBezTo>
                <a:cubicBezTo>
                  <a:pt x="108140" y="123194"/>
                  <a:pt x="107981" y="123194"/>
                  <a:pt x="107795" y="123194"/>
                </a:cubicBezTo>
                <a:cubicBezTo>
                  <a:pt x="105910" y="130522"/>
                  <a:pt x="99246" y="135939"/>
                  <a:pt x="91334" y="135939"/>
                </a:cubicBezTo>
                <a:lnTo>
                  <a:pt x="82838" y="135939"/>
                </a:lnTo>
                <a:cubicBezTo>
                  <a:pt x="78138" y="135939"/>
                  <a:pt x="74341" y="132142"/>
                  <a:pt x="74341" y="127443"/>
                </a:cubicBezTo>
                <a:lnTo>
                  <a:pt x="74341" y="8496"/>
                </a:lnTo>
                <a:cubicBezTo>
                  <a:pt x="74341" y="3797"/>
                  <a:pt x="78138" y="0"/>
                  <a:pt x="82838" y="0"/>
                </a:cubicBezTo>
                <a:lnTo>
                  <a:pt x="89210" y="0"/>
                </a:lnTo>
                <a:cubicBezTo>
                  <a:pt x="97414" y="0"/>
                  <a:pt x="104078" y="6664"/>
                  <a:pt x="104078" y="14868"/>
                </a:cubicBezTo>
                <a:close/>
              </a:path>
            </a:pathLst>
          </a:custGeom>
          <a:solidFill>
            <a:srgbClr val="C8A265"/>
          </a:solidFill>
          <a:ln/>
        </p:spPr>
      </p:sp>
      <p:sp>
        <p:nvSpPr>
          <p:cNvPr id="35" name="Text 33"/>
          <p:cNvSpPr/>
          <p:nvPr/>
        </p:nvSpPr>
        <p:spPr>
          <a:xfrm>
            <a:off x="4785201" y="4604923"/>
            <a:ext cx="1342394" cy="2378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4" b="1" dirty="0">
                <a:solidFill>
                  <a:srgbClr val="E0E2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Redes Neuronales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4547308" y="4910785"/>
            <a:ext cx="3160574" cy="3738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070" dirty="0">
                <a:solidFill>
                  <a:srgbClr val="788A9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Aprendizaje de políticas de control complejas y adaptativas.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4411369" y="6219194"/>
            <a:ext cx="467289" cy="237893"/>
          </a:xfrm>
          <a:custGeom>
            <a:avLst/>
            <a:gdLst/>
            <a:ahLst/>
            <a:cxnLst/>
            <a:rect l="l" t="t" r="r" b="b"/>
            <a:pathLst>
              <a:path w="467289" h="237893">
                <a:moveTo>
                  <a:pt x="118946" y="0"/>
                </a:moveTo>
                <a:lnTo>
                  <a:pt x="348343" y="0"/>
                </a:lnTo>
                <a:cubicBezTo>
                  <a:pt x="414035" y="0"/>
                  <a:pt x="467289" y="53254"/>
                  <a:pt x="467289" y="118946"/>
                </a:cubicBezTo>
                <a:lnTo>
                  <a:pt x="467289" y="118946"/>
                </a:lnTo>
                <a:cubicBezTo>
                  <a:pt x="467289" y="184639"/>
                  <a:pt x="414035" y="237893"/>
                  <a:pt x="348343" y="237893"/>
                </a:cubicBezTo>
                <a:lnTo>
                  <a:pt x="118946" y="237893"/>
                </a:lnTo>
                <a:cubicBezTo>
                  <a:pt x="53298" y="237893"/>
                  <a:pt x="0" y="184595"/>
                  <a:pt x="0" y="118946"/>
                </a:cubicBezTo>
                <a:lnTo>
                  <a:pt x="0" y="118946"/>
                </a:lnTo>
                <a:cubicBezTo>
                  <a:pt x="0" y="53298"/>
                  <a:pt x="53298" y="0"/>
                  <a:pt x="118946" y="0"/>
                </a:cubicBezTo>
                <a:close/>
              </a:path>
            </a:pathLst>
          </a:custGeom>
          <a:solidFill>
            <a:srgbClr val="4A6D8C">
              <a:alpha val="30196"/>
            </a:srgbClr>
          </a:solidFill>
          <a:ln/>
        </p:spPr>
      </p:sp>
      <p:sp>
        <p:nvSpPr>
          <p:cNvPr id="38" name="Text 36"/>
          <p:cNvSpPr/>
          <p:nvPr/>
        </p:nvSpPr>
        <p:spPr>
          <a:xfrm>
            <a:off x="4411369" y="6219194"/>
            <a:ext cx="526762" cy="237893"/>
          </a:xfrm>
          <a:prstGeom prst="rect">
            <a:avLst/>
          </a:prstGeom>
          <a:noFill/>
          <a:ln/>
        </p:spPr>
        <p:txBody>
          <a:bodyPr wrap="square" lIns="101954" tIns="33985" rIns="101954" bIns="33985" rtlCol="0" anchor="ctr"/>
          <a:lstStyle/>
          <a:p>
            <a:pPr>
              <a:lnSpc>
                <a:spcPct val="120000"/>
              </a:lnSpc>
            </a:pPr>
            <a:r>
              <a:rPr lang="en-US" sz="937" dirty="0">
                <a:solidFill>
                  <a:srgbClr val="E0E2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MPC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4943442" y="6219194"/>
            <a:ext cx="441801" cy="237893"/>
          </a:xfrm>
          <a:custGeom>
            <a:avLst/>
            <a:gdLst/>
            <a:ahLst/>
            <a:cxnLst/>
            <a:rect l="l" t="t" r="r" b="b"/>
            <a:pathLst>
              <a:path w="441801" h="237893">
                <a:moveTo>
                  <a:pt x="118946" y="0"/>
                </a:moveTo>
                <a:lnTo>
                  <a:pt x="322854" y="0"/>
                </a:lnTo>
                <a:cubicBezTo>
                  <a:pt x="388547" y="0"/>
                  <a:pt x="441801" y="53254"/>
                  <a:pt x="441801" y="118946"/>
                </a:cubicBezTo>
                <a:lnTo>
                  <a:pt x="441801" y="118946"/>
                </a:lnTo>
                <a:cubicBezTo>
                  <a:pt x="441801" y="184639"/>
                  <a:pt x="388547" y="237893"/>
                  <a:pt x="322854" y="237893"/>
                </a:cubicBezTo>
                <a:lnTo>
                  <a:pt x="118946" y="237893"/>
                </a:lnTo>
                <a:cubicBezTo>
                  <a:pt x="53298" y="237893"/>
                  <a:pt x="0" y="184595"/>
                  <a:pt x="0" y="118946"/>
                </a:cubicBezTo>
                <a:lnTo>
                  <a:pt x="0" y="118946"/>
                </a:lnTo>
                <a:cubicBezTo>
                  <a:pt x="0" y="53298"/>
                  <a:pt x="53298" y="0"/>
                  <a:pt x="118946" y="0"/>
                </a:cubicBezTo>
                <a:close/>
              </a:path>
            </a:pathLst>
          </a:custGeom>
          <a:solidFill>
            <a:srgbClr val="4A6D8C">
              <a:alpha val="30196"/>
            </a:srgbClr>
          </a:solidFill>
          <a:ln/>
        </p:spPr>
      </p:sp>
      <p:sp>
        <p:nvSpPr>
          <p:cNvPr id="40" name="Text 38"/>
          <p:cNvSpPr/>
          <p:nvPr/>
        </p:nvSpPr>
        <p:spPr>
          <a:xfrm>
            <a:off x="4943442" y="6219194"/>
            <a:ext cx="501274" cy="237893"/>
          </a:xfrm>
          <a:prstGeom prst="rect">
            <a:avLst/>
          </a:prstGeom>
          <a:noFill/>
          <a:ln/>
        </p:spPr>
        <p:txBody>
          <a:bodyPr wrap="square" lIns="101954" tIns="33985" rIns="101954" bIns="33985" rtlCol="0" anchor="ctr"/>
          <a:lstStyle/>
          <a:p>
            <a:pPr>
              <a:lnSpc>
                <a:spcPct val="120000"/>
              </a:lnSpc>
            </a:pPr>
            <a:r>
              <a:rPr lang="en-US" sz="937" dirty="0">
                <a:solidFill>
                  <a:srgbClr val="E0E2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LQR</a:t>
            </a:r>
            <a:endParaRPr lang="en-US" sz="1600" dirty="0"/>
          </a:p>
        </p:txBody>
      </p:sp>
      <p:sp>
        <p:nvSpPr>
          <p:cNvPr id="41" name="Shape 39"/>
          <p:cNvSpPr/>
          <p:nvPr/>
        </p:nvSpPr>
        <p:spPr>
          <a:xfrm>
            <a:off x="5449628" y="6219194"/>
            <a:ext cx="1520814" cy="237893"/>
          </a:xfrm>
          <a:custGeom>
            <a:avLst/>
            <a:gdLst/>
            <a:ahLst/>
            <a:cxnLst/>
            <a:rect l="l" t="t" r="r" b="b"/>
            <a:pathLst>
              <a:path w="1520814" h="237893">
                <a:moveTo>
                  <a:pt x="118946" y="0"/>
                </a:moveTo>
                <a:lnTo>
                  <a:pt x="1401868" y="0"/>
                </a:lnTo>
                <a:cubicBezTo>
                  <a:pt x="1467560" y="0"/>
                  <a:pt x="1520814" y="53254"/>
                  <a:pt x="1520814" y="118946"/>
                </a:cubicBezTo>
                <a:lnTo>
                  <a:pt x="1520814" y="118946"/>
                </a:lnTo>
                <a:cubicBezTo>
                  <a:pt x="1520814" y="184639"/>
                  <a:pt x="1467560" y="237893"/>
                  <a:pt x="1401868" y="237893"/>
                </a:cubicBezTo>
                <a:lnTo>
                  <a:pt x="118946" y="237893"/>
                </a:lnTo>
                <a:cubicBezTo>
                  <a:pt x="53298" y="237893"/>
                  <a:pt x="0" y="184595"/>
                  <a:pt x="0" y="118946"/>
                </a:cubicBezTo>
                <a:lnTo>
                  <a:pt x="0" y="118946"/>
                </a:lnTo>
                <a:cubicBezTo>
                  <a:pt x="0" y="53298"/>
                  <a:pt x="53298" y="0"/>
                  <a:pt x="118946" y="0"/>
                </a:cubicBezTo>
                <a:close/>
              </a:path>
            </a:pathLst>
          </a:custGeom>
          <a:solidFill>
            <a:srgbClr val="4A6D8C">
              <a:alpha val="30196"/>
            </a:srgbClr>
          </a:solidFill>
          <a:ln/>
        </p:spPr>
      </p:sp>
      <p:sp>
        <p:nvSpPr>
          <p:cNvPr id="42" name="Text 40"/>
          <p:cNvSpPr/>
          <p:nvPr/>
        </p:nvSpPr>
        <p:spPr>
          <a:xfrm>
            <a:off x="5449628" y="6219194"/>
            <a:ext cx="1580287" cy="237893"/>
          </a:xfrm>
          <a:prstGeom prst="rect">
            <a:avLst/>
          </a:prstGeom>
          <a:noFill/>
          <a:ln/>
        </p:spPr>
        <p:txBody>
          <a:bodyPr wrap="square" lIns="101954" tIns="33985" rIns="101954" bIns="33985" rtlCol="0" anchor="ctr"/>
          <a:lstStyle/>
          <a:p>
            <a:pPr>
              <a:lnSpc>
                <a:spcPct val="120000"/>
              </a:lnSpc>
            </a:pPr>
            <a:r>
              <a:rPr lang="en-US" sz="937" dirty="0">
                <a:solidFill>
                  <a:srgbClr val="E0E2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Reinforcement Learning</a:t>
            </a:r>
            <a:endParaRPr lang="en-US" sz="1600" dirty="0"/>
          </a:p>
        </p:txBody>
      </p:sp>
      <p:sp>
        <p:nvSpPr>
          <p:cNvPr id="43" name="Shape 41"/>
          <p:cNvSpPr/>
          <p:nvPr/>
        </p:nvSpPr>
        <p:spPr>
          <a:xfrm>
            <a:off x="8130301" y="2051824"/>
            <a:ext cx="3712825" cy="4579434"/>
          </a:xfrm>
          <a:custGeom>
            <a:avLst/>
            <a:gdLst/>
            <a:ahLst/>
            <a:cxnLst/>
            <a:rect l="l" t="t" r="r" b="b"/>
            <a:pathLst>
              <a:path w="3712825" h="4579434">
                <a:moveTo>
                  <a:pt x="101954" y="0"/>
                </a:moveTo>
                <a:lnTo>
                  <a:pt x="3610871" y="0"/>
                </a:lnTo>
                <a:cubicBezTo>
                  <a:pt x="3667179" y="0"/>
                  <a:pt x="3712825" y="45646"/>
                  <a:pt x="3712825" y="101954"/>
                </a:cubicBezTo>
                <a:lnTo>
                  <a:pt x="3712825" y="4477480"/>
                </a:lnTo>
                <a:cubicBezTo>
                  <a:pt x="3712825" y="4533788"/>
                  <a:pt x="3667179" y="4579434"/>
                  <a:pt x="3610871" y="4579434"/>
                </a:cubicBezTo>
                <a:lnTo>
                  <a:pt x="101954" y="4579434"/>
                </a:lnTo>
                <a:cubicBezTo>
                  <a:pt x="45646" y="4579434"/>
                  <a:pt x="0" y="4533788"/>
                  <a:pt x="0" y="4477480"/>
                </a:cubicBezTo>
                <a:lnTo>
                  <a:pt x="0" y="101954"/>
                </a:lnTo>
                <a:cubicBezTo>
                  <a:pt x="0" y="45646"/>
                  <a:pt x="45646" y="0"/>
                  <a:pt x="101954" y="0"/>
                </a:cubicBezTo>
                <a:close/>
              </a:path>
            </a:pathLst>
          </a:custGeom>
          <a:solidFill>
            <a:srgbClr val="4A6D8C">
              <a:alpha val="10196"/>
            </a:srgbClr>
          </a:solidFill>
          <a:ln w="12700">
            <a:solidFill>
              <a:srgbClr val="4A6D8C">
                <a:alpha val="30196"/>
              </a:srgbClr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8304472" y="2225996"/>
            <a:ext cx="475785" cy="475785"/>
          </a:xfrm>
          <a:custGeom>
            <a:avLst/>
            <a:gdLst/>
            <a:ahLst/>
            <a:cxnLst/>
            <a:rect l="l" t="t" r="r" b="b"/>
            <a:pathLst>
              <a:path w="475785" h="475785">
                <a:moveTo>
                  <a:pt x="67971" y="0"/>
                </a:moveTo>
                <a:lnTo>
                  <a:pt x="407815" y="0"/>
                </a:lnTo>
                <a:cubicBezTo>
                  <a:pt x="445354" y="0"/>
                  <a:pt x="475785" y="30432"/>
                  <a:pt x="475785" y="67971"/>
                </a:cubicBezTo>
                <a:lnTo>
                  <a:pt x="475785" y="407815"/>
                </a:lnTo>
                <a:cubicBezTo>
                  <a:pt x="475785" y="445354"/>
                  <a:pt x="445354" y="475785"/>
                  <a:pt x="407815" y="475785"/>
                </a:cubicBezTo>
                <a:lnTo>
                  <a:pt x="67971" y="475785"/>
                </a:lnTo>
                <a:cubicBezTo>
                  <a:pt x="30432" y="475785"/>
                  <a:pt x="0" y="445354"/>
                  <a:pt x="0" y="407815"/>
                </a:cubicBezTo>
                <a:lnTo>
                  <a:pt x="0" y="67971"/>
                </a:lnTo>
                <a:cubicBezTo>
                  <a:pt x="0" y="30432"/>
                  <a:pt x="30432" y="0"/>
                  <a:pt x="67971" y="0"/>
                </a:cubicBezTo>
                <a:close/>
              </a:path>
            </a:pathLst>
          </a:custGeom>
          <a:solidFill>
            <a:srgbClr val="C8A265"/>
          </a:solidFill>
          <a:ln/>
        </p:spPr>
      </p:sp>
      <p:sp>
        <p:nvSpPr>
          <p:cNvPr id="45" name="Shape 43"/>
          <p:cNvSpPr/>
          <p:nvPr/>
        </p:nvSpPr>
        <p:spPr>
          <a:xfrm>
            <a:off x="8427667" y="2361934"/>
            <a:ext cx="229397" cy="203908"/>
          </a:xfrm>
          <a:custGeom>
            <a:avLst/>
            <a:gdLst/>
            <a:ahLst/>
            <a:cxnLst/>
            <a:rect l="l" t="t" r="r" b="b"/>
            <a:pathLst>
              <a:path w="229397" h="203908">
                <a:moveTo>
                  <a:pt x="114698" y="12744"/>
                </a:moveTo>
                <a:cubicBezTo>
                  <a:pt x="82519" y="12744"/>
                  <a:pt x="56752" y="27400"/>
                  <a:pt x="37994" y="44844"/>
                </a:cubicBezTo>
                <a:cubicBezTo>
                  <a:pt x="19355" y="62168"/>
                  <a:pt x="6890" y="82838"/>
                  <a:pt x="956" y="97055"/>
                </a:cubicBezTo>
                <a:cubicBezTo>
                  <a:pt x="-358" y="100202"/>
                  <a:pt x="-358" y="103706"/>
                  <a:pt x="956" y="106853"/>
                </a:cubicBezTo>
                <a:cubicBezTo>
                  <a:pt x="6890" y="121070"/>
                  <a:pt x="19355" y="141780"/>
                  <a:pt x="37994" y="159064"/>
                </a:cubicBezTo>
                <a:cubicBezTo>
                  <a:pt x="56752" y="176468"/>
                  <a:pt x="82519" y="191164"/>
                  <a:pt x="114698" y="191164"/>
                </a:cubicBezTo>
                <a:cubicBezTo>
                  <a:pt x="146877" y="191164"/>
                  <a:pt x="172645" y="176508"/>
                  <a:pt x="191403" y="159064"/>
                </a:cubicBezTo>
                <a:cubicBezTo>
                  <a:pt x="210041" y="141740"/>
                  <a:pt x="222507" y="121070"/>
                  <a:pt x="228441" y="106853"/>
                </a:cubicBezTo>
                <a:cubicBezTo>
                  <a:pt x="229755" y="103706"/>
                  <a:pt x="229755" y="100202"/>
                  <a:pt x="228441" y="97055"/>
                </a:cubicBezTo>
                <a:cubicBezTo>
                  <a:pt x="222507" y="82838"/>
                  <a:pt x="210041" y="62128"/>
                  <a:pt x="191403" y="44844"/>
                </a:cubicBezTo>
                <a:cubicBezTo>
                  <a:pt x="172645" y="27440"/>
                  <a:pt x="146877" y="12744"/>
                  <a:pt x="114698" y="12744"/>
                </a:cubicBezTo>
                <a:close/>
                <a:moveTo>
                  <a:pt x="57349" y="101954"/>
                </a:moveTo>
                <a:cubicBezTo>
                  <a:pt x="57349" y="70302"/>
                  <a:pt x="83046" y="44605"/>
                  <a:pt x="114698" y="44605"/>
                </a:cubicBezTo>
                <a:cubicBezTo>
                  <a:pt x="146350" y="44605"/>
                  <a:pt x="172047" y="70302"/>
                  <a:pt x="172047" y="101954"/>
                </a:cubicBezTo>
                <a:cubicBezTo>
                  <a:pt x="172047" y="133606"/>
                  <a:pt x="146350" y="159303"/>
                  <a:pt x="114698" y="159303"/>
                </a:cubicBezTo>
                <a:cubicBezTo>
                  <a:pt x="83046" y="159303"/>
                  <a:pt x="57349" y="133606"/>
                  <a:pt x="57349" y="101954"/>
                </a:cubicBezTo>
                <a:close/>
                <a:moveTo>
                  <a:pt x="114698" y="76466"/>
                </a:moveTo>
                <a:cubicBezTo>
                  <a:pt x="114698" y="90524"/>
                  <a:pt x="103268" y="101954"/>
                  <a:pt x="89210" y="101954"/>
                </a:cubicBezTo>
                <a:cubicBezTo>
                  <a:pt x="84630" y="101954"/>
                  <a:pt x="80329" y="100759"/>
                  <a:pt x="76585" y="98609"/>
                </a:cubicBezTo>
                <a:cubicBezTo>
                  <a:pt x="76187" y="102950"/>
                  <a:pt x="76545" y="107410"/>
                  <a:pt x="77740" y="111831"/>
                </a:cubicBezTo>
                <a:cubicBezTo>
                  <a:pt x="83196" y="132222"/>
                  <a:pt x="104184" y="144329"/>
                  <a:pt x="124575" y="138873"/>
                </a:cubicBezTo>
                <a:cubicBezTo>
                  <a:pt x="144966" y="133416"/>
                  <a:pt x="157073" y="112428"/>
                  <a:pt x="151617" y="92037"/>
                </a:cubicBezTo>
                <a:cubicBezTo>
                  <a:pt x="146758" y="73837"/>
                  <a:pt x="129513" y="62248"/>
                  <a:pt x="111353" y="63841"/>
                </a:cubicBezTo>
                <a:cubicBezTo>
                  <a:pt x="113464" y="67545"/>
                  <a:pt x="114698" y="71846"/>
                  <a:pt x="114698" y="76466"/>
                </a:cubicBezTo>
                <a:close/>
              </a:path>
            </a:pathLst>
          </a:custGeom>
          <a:solidFill>
            <a:srgbClr val="1A1D23"/>
          </a:solidFill>
          <a:ln/>
        </p:spPr>
      </p:sp>
      <p:sp>
        <p:nvSpPr>
          <p:cNvPr id="46" name="Text 44"/>
          <p:cNvSpPr/>
          <p:nvPr/>
        </p:nvSpPr>
        <p:spPr>
          <a:xfrm>
            <a:off x="8882212" y="2327950"/>
            <a:ext cx="1988103" cy="2718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606" b="1" dirty="0">
                <a:solidFill>
                  <a:srgbClr val="E0E2E6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Percepción y Visión</a:t>
            </a:r>
            <a:endParaRPr lang="en-US" sz="1600" dirty="0"/>
          </a:p>
        </p:txBody>
      </p:sp>
      <p:sp>
        <p:nvSpPr>
          <p:cNvPr id="47" name="Text 45"/>
          <p:cNvSpPr/>
          <p:nvPr/>
        </p:nvSpPr>
        <p:spPr>
          <a:xfrm>
            <a:off x="8304472" y="2837720"/>
            <a:ext cx="3432452" cy="44180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70" dirty="0">
                <a:solidFill>
                  <a:srgbClr val="788A9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Uso de </a:t>
            </a:r>
            <a:pPr>
              <a:lnSpc>
                <a:spcPct val="140000"/>
              </a:lnSpc>
            </a:pPr>
            <a:r>
              <a:rPr lang="en-US" sz="1070" dirty="0">
                <a:solidFill>
                  <a:srgbClr val="E0E2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Computer Vision</a:t>
            </a:r>
            <a:pPr>
              <a:lnSpc>
                <a:spcPct val="140000"/>
              </a:lnSpc>
            </a:pPr>
            <a:r>
              <a:rPr lang="en-US" sz="1070" dirty="0">
                <a:solidFill>
                  <a:srgbClr val="788A9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para reconocimiento de objetos, navegación e interacción con el entorno.</a:t>
            </a:r>
            <a:endParaRPr lang="en-US" sz="1600" dirty="0"/>
          </a:p>
        </p:txBody>
      </p:sp>
      <p:pic>
        <p:nvPicPr>
          <p:cNvPr id="48" name="Image 0" descr="https://kimi-web-img.moonshot.cn/img/media.licdn.com/97316bf6534c6e499d5bc798fe20201ff9077208">    </p:cNvPr>
          <p:cNvPicPr>
            <a:picLocks noChangeAspect="1"/>
          </p:cNvPicPr>
          <p:nvPr/>
        </p:nvPicPr>
        <p:blipFill>
          <a:blip r:embed="rId1"/>
          <a:srcRect l="0" r="0" t="9596" b="9596"/>
          <a:stretch/>
        </p:blipFill>
        <p:spPr>
          <a:xfrm>
            <a:off x="8304472" y="3415459"/>
            <a:ext cx="3364482" cy="1223448"/>
          </a:xfrm>
          <a:prstGeom prst="roundRect">
            <a:avLst>
              <a:gd name="adj" fmla="val 5556"/>
            </a:avLst>
          </a:prstGeom>
        </p:spPr>
      </p:pic>
      <p:sp>
        <p:nvSpPr>
          <p:cNvPr id="49" name="Shape 46"/>
          <p:cNvSpPr/>
          <p:nvPr/>
        </p:nvSpPr>
        <p:spPr>
          <a:xfrm>
            <a:off x="8321465" y="4817327"/>
            <a:ext cx="118946" cy="118946"/>
          </a:xfrm>
          <a:custGeom>
            <a:avLst/>
            <a:gdLst/>
            <a:ahLst/>
            <a:cxnLst/>
            <a:rect l="l" t="t" r="r" b="b"/>
            <a:pathLst>
              <a:path w="118946" h="118946">
                <a:moveTo>
                  <a:pt x="52109" y="-581"/>
                </a:moveTo>
                <a:cubicBezTo>
                  <a:pt x="56709" y="-3229"/>
                  <a:pt x="62377" y="-3229"/>
                  <a:pt x="66977" y="-581"/>
                </a:cubicBezTo>
                <a:lnTo>
                  <a:pt x="107842" y="22999"/>
                </a:lnTo>
                <a:cubicBezTo>
                  <a:pt x="112441" y="25648"/>
                  <a:pt x="115276" y="30573"/>
                  <a:pt x="115276" y="35870"/>
                </a:cubicBezTo>
                <a:lnTo>
                  <a:pt x="115276" y="83030"/>
                </a:lnTo>
                <a:cubicBezTo>
                  <a:pt x="115276" y="88350"/>
                  <a:pt x="112441" y="93252"/>
                  <a:pt x="107842" y="95900"/>
                </a:cubicBezTo>
                <a:lnTo>
                  <a:pt x="66977" y="119527"/>
                </a:lnTo>
                <a:cubicBezTo>
                  <a:pt x="62377" y="122176"/>
                  <a:pt x="56709" y="122176"/>
                  <a:pt x="52109" y="119527"/>
                </a:cubicBezTo>
                <a:lnTo>
                  <a:pt x="11267" y="95947"/>
                </a:lnTo>
                <a:cubicBezTo>
                  <a:pt x="6667" y="93299"/>
                  <a:pt x="3833" y="88373"/>
                  <a:pt x="3833" y="83077"/>
                </a:cubicBezTo>
                <a:lnTo>
                  <a:pt x="3833" y="35916"/>
                </a:lnTo>
                <a:cubicBezTo>
                  <a:pt x="3833" y="30596"/>
                  <a:pt x="6667" y="25694"/>
                  <a:pt x="11267" y="23046"/>
                </a:cubicBezTo>
                <a:lnTo>
                  <a:pt x="52109" y="-581"/>
                </a:lnTo>
                <a:close/>
                <a:moveTo>
                  <a:pt x="100384" y="83053"/>
                </a:moveTo>
                <a:lnTo>
                  <a:pt x="100384" y="44465"/>
                </a:lnTo>
                <a:lnTo>
                  <a:pt x="66977" y="63748"/>
                </a:lnTo>
                <a:lnTo>
                  <a:pt x="66977" y="102336"/>
                </a:lnTo>
                <a:lnTo>
                  <a:pt x="100384" y="83053"/>
                </a:lnTo>
                <a:close/>
              </a:path>
            </a:pathLst>
          </a:custGeom>
          <a:solidFill>
            <a:srgbClr val="C8A265"/>
          </a:solidFill>
          <a:ln/>
        </p:spPr>
      </p:sp>
      <p:sp>
        <p:nvSpPr>
          <p:cNvPr id="50" name="Text 47"/>
          <p:cNvSpPr/>
          <p:nvPr/>
        </p:nvSpPr>
        <p:spPr>
          <a:xfrm>
            <a:off x="8521125" y="4774846"/>
            <a:ext cx="1418860" cy="2039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70" dirty="0">
                <a:solidFill>
                  <a:srgbClr val="E0E2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Detección de Objetos</a:t>
            </a:r>
            <a:endParaRPr lang="en-US" sz="1600" dirty="0"/>
          </a:p>
        </p:txBody>
      </p:sp>
      <p:sp>
        <p:nvSpPr>
          <p:cNvPr id="51" name="Shape 48"/>
          <p:cNvSpPr/>
          <p:nvPr/>
        </p:nvSpPr>
        <p:spPr>
          <a:xfrm>
            <a:off x="8321465" y="5089204"/>
            <a:ext cx="118946" cy="118946"/>
          </a:xfrm>
          <a:custGeom>
            <a:avLst/>
            <a:gdLst/>
            <a:ahLst/>
            <a:cxnLst/>
            <a:rect l="l" t="t" r="r" b="b"/>
            <a:pathLst>
              <a:path w="118946" h="118946">
                <a:moveTo>
                  <a:pt x="52109" y="-581"/>
                </a:moveTo>
                <a:cubicBezTo>
                  <a:pt x="56709" y="-3229"/>
                  <a:pt x="62377" y="-3229"/>
                  <a:pt x="66977" y="-581"/>
                </a:cubicBezTo>
                <a:lnTo>
                  <a:pt x="107842" y="22999"/>
                </a:lnTo>
                <a:cubicBezTo>
                  <a:pt x="112441" y="25648"/>
                  <a:pt x="115276" y="30573"/>
                  <a:pt x="115276" y="35870"/>
                </a:cubicBezTo>
                <a:lnTo>
                  <a:pt x="115276" y="83030"/>
                </a:lnTo>
                <a:cubicBezTo>
                  <a:pt x="115276" y="88350"/>
                  <a:pt x="112441" y="93252"/>
                  <a:pt x="107842" y="95900"/>
                </a:cubicBezTo>
                <a:lnTo>
                  <a:pt x="66977" y="119527"/>
                </a:lnTo>
                <a:cubicBezTo>
                  <a:pt x="62377" y="122176"/>
                  <a:pt x="56709" y="122176"/>
                  <a:pt x="52109" y="119527"/>
                </a:cubicBezTo>
                <a:lnTo>
                  <a:pt x="11267" y="95947"/>
                </a:lnTo>
                <a:cubicBezTo>
                  <a:pt x="6667" y="93299"/>
                  <a:pt x="3833" y="88373"/>
                  <a:pt x="3833" y="83077"/>
                </a:cubicBezTo>
                <a:lnTo>
                  <a:pt x="3833" y="35916"/>
                </a:lnTo>
                <a:cubicBezTo>
                  <a:pt x="3833" y="30596"/>
                  <a:pt x="6667" y="25694"/>
                  <a:pt x="11267" y="23046"/>
                </a:cubicBezTo>
                <a:lnTo>
                  <a:pt x="52109" y="-581"/>
                </a:lnTo>
                <a:close/>
                <a:moveTo>
                  <a:pt x="100384" y="83053"/>
                </a:moveTo>
                <a:lnTo>
                  <a:pt x="100384" y="44465"/>
                </a:lnTo>
                <a:lnTo>
                  <a:pt x="66977" y="63748"/>
                </a:lnTo>
                <a:lnTo>
                  <a:pt x="66977" y="102336"/>
                </a:lnTo>
                <a:lnTo>
                  <a:pt x="100384" y="83053"/>
                </a:lnTo>
                <a:close/>
              </a:path>
            </a:pathLst>
          </a:custGeom>
          <a:solidFill>
            <a:srgbClr val="C8A265"/>
          </a:solidFill>
          <a:ln/>
        </p:spPr>
      </p:sp>
      <p:sp>
        <p:nvSpPr>
          <p:cNvPr id="52" name="Text 49"/>
          <p:cNvSpPr/>
          <p:nvPr/>
        </p:nvSpPr>
        <p:spPr>
          <a:xfrm>
            <a:off x="8521125" y="5046723"/>
            <a:ext cx="1707730" cy="2039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70" dirty="0">
                <a:solidFill>
                  <a:srgbClr val="E0E2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Segmentación de Escenas</a:t>
            </a:r>
            <a:endParaRPr lang="en-US" sz="1600" dirty="0"/>
          </a:p>
        </p:txBody>
      </p:sp>
      <p:sp>
        <p:nvSpPr>
          <p:cNvPr id="53" name="Shape 50"/>
          <p:cNvSpPr/>
          <p:nvPr/>
        </p:nvSpPr>
        <p:spPr>
          <a:xfrm>
            <a:off x="8321465" y="5361082"/>
            <a:ext cx="118946" cy="118946"/>
          </a:xfrm>
          <a:custGeom>
            <a:avLst/>
            <a:gdLst/>
            <a:ahLst/>
            <a:cxnLst/>
            <a:rect l="l" t="t" r="r" b="b"/>
            <a:pathLst>
              <a:path w="118946" h="118946">
                <a:moveTo>
                  <a:pt x="52109" y="-581"/>
                </a:moveTo>
                <a:cubicBezTo>
                  <a:pt x="56709" y="-3229"/>
                  <a:pt x="62377" y="-3229"/>
                  <a:pt x="66977" y="-581"/>
                </a:cubicBezTo>
                <a:lnTo>
                  <a:pt x="107842" y="22999"/>
                </a:lnTo>
                <a:cubicBezTo>
                  <a:pt x="112441" y="25648"/>
                  <a:pt x="115276" y="30573"/>
                  <a:pt x="115276" y="35870"/>
                </a:cubicBezTo>
                <a:lnTo>
                  <a:pt x="115276" y="83030"/>
                </a:lnTo>
                <a:cubicBezTo>
                  <a:pt x="115276" y="88350"/>
                  <a:pt x="112441" y="93252"/>
                  <a:pt x="107842" y="95900"/>
                </a:cubicBezTo>
                <a:lnTo>
                  <a:pt x="66977" y="119527"/>
                </a:lnTo>
                <a:cubicBezTo>
                  <a:pt x="62377" y="122176"/>
                  <a:pt x="56709" y="122176"/>
                  <a:pt x="52109" y="119527"/>
                </a:cubicBezTo>
                <a:lnTo>
                  <a:pt x="11267" y="95947"/>
                </a:lnTo>
                <a:cubicBezTo>
                  <a:pt x="6667" y="93299"/>
                  <a:pt x="3833" y="88373"/>
                  <a:pt x="3833" y="83077"/>
                </a:cubicBezTo>
                <a:lnTo>
                  <a:pt x="3833" y="35916"/>
                </a:lnTo>
                <a:cubicBezTo>
                  <a:pt x="3833" y="30596"/>
                  <a:pt x="6667" y="25694"/>
                  <a:pt x="11267" y="23046"/>
                </a:cubicBezTo>
                <a:lnTo>
                  <a:pt x="52109" y="-581"/>
                </a:lnTo>
                <a:close/>
                <a:moveTo>
                  <a:pt x="100384" y="83053"/>
                </a:moveTo>
                <a:lnTo>
                  <a:pt x="100384" y="44465"/>
                </a:lnTo>
                <a:lnTo>
                  <a:pt x="66977" y="63748"/>
                </a:lnTo>
                <a:lnTo>
                  <a:pt x="66977" y="102336"/>
                </a:lnTo>
                <a:lnTo>
                  <a:pt x="100384" y="83053"/>
                </a:lnTo>
                <a:close/>
              </a:path>
            </a:pathLst>
          </a:custGeom>
          <a:solidFill>
            <a:srgbClr val="C8A265"/>
          </a:solidFill>
          <a:ln/>
        </p:spPr>
      </p:sp>
      <p:sp>
        <p:nvSpPr>
          <p:cNvPr id="54" name="Text 51"/>
          <p:cNvSpPr/>
          <p:nvPr/>
        </p:nvSpPr>
        <p:spPr>
          <a:xfrm>
            <a:off x="8521125" y="5318601"/>
            <a:ext cx="1750210" cy="2039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70" dirty="0">
                <a:solidFill>
                  <a:srgbClr val="E0E2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Estimación de Profundidad</a:t>
            </a:r>
            <a:endParaRPr lang="en-US" sz="1600" dirty="0"/>
          </a:p>
        </p:txBody>
      </p:sp>
      <p:sp>
        <p:nvSpPr>
          <p:cNvPr id="55" name="Shape 52"/>
          <p:cNvSpPr/>
          <p:nvPr/>
        </p:nvSpPr>
        <p:spPr>
          <a:xfrm>
            <a:off x="8321465" y="5632959"/>
            <a:ext cx="118946" cy="118946"/>
          </a:xfrm>
          <a:custGeom>
            <a:avLst/>
            <a:gdLst/>
            <a:ahLst/>
            <a:cxnLst/>
            <a:rect l="l" t="t" r="r" b="b"/>
            <a:pathLst>
              <a:path w="118946" h="118946">
                <a:moveTo>
                  <a:pt x="52109" y="-581"/>
                </a:moveTo>
                <a:cubicBezTo>
                  <a:pt x="56709" y="-3229"/>
                  <a:pt x="62377" y="-3229"/>
                  <a:pt x="66977" y="-581"/>
                </a:cubicBezTo>
                <a:lnTo>
                  <a:pt x="107842" y="22999"/>
                </a:lnTo>
                <a:cubicBezTo>
                  <a:pt x="112441" y="25648"/>
                  <a:pt x="115276" y="30573"/>
                  <a:pt x="115276" y="35870"/>
                </a:cubicBezTo>
                <a:lnTo>
                  <a:pt x="115276" y="83030"/>
                </a:lnTo>
                <a:cubicBezTo>
                  <a:pt x="115276" y="88350"/>
                  <a:pt x="112441" y="93252"/>
                  <a:pt x="107842" y="95900"/>
                </a:cubicBezTo>
                <a:lnTo>
                  <a:pt x="66977" y="119527"/>
                </a:lnTo>
                <a:cubicBezTo>
                  <a:pt x="62377" y="122176"/>
                  <a:pt x="56709" y="122176"/>
                  <a:pt x="52109" y="119527"/>
                </a:cubicBezTo>
                <a:lnTo>
                  <a:pt x="11267" y="95947"/>
                </a:lnTo>
                <a:cubicBezTo>
                  <a:pt x="6667" y="93299"/>
                  <a:pt x="3833" y="88373"/>
                  <a:pt x="3833" y="83077"/>
                </a:cubicBezTo>
                <a:lnTo>
                  <a:pt x="3833" y="35916"/>
                </a:lnTo>
                <a:cubicBezTo>
                  <a:pt x="3833" y="30596"/>
                  <a:pt x="6667" y="25694"/>
                  <a:pt x="11267" y="23046"/>
                </a:cubicBezTo>
                <a:lnTo>
                  <a:pt x="52109" y="-581"/>
                </a:lnTo>
                <a:close/>
                <a:moveTo>
                  <a:pt x="100384" y="83053"/>
                </a:moveTo>
                <a:lnTo>
                  <a:pt x="100384" y="44465"/>
                </a:lnTo>
                <a:lnTo>
                  <a:pt x="66977" y="63748"/>
                </a:lnTo>
                <a:lnTo>
                  <a:pt x="66977" y="102336"/>
                </a:lnTo>
                <a:lnTo>
                  <a:pt x="100384" y="83053"/>
                </a:lnTo>
                <a:close/>
              </a:path>
            </a:pathLst>
          </a:custGeom>
          <a:solidFill>
            <a:srgbClr val="C8A265"/>
          </a:solidFill>
          <a:ln/>
        </p:spPr>
      </p:sp>
      <p:sp>
        <p:nvSpPr>
          <p:cNvPr id="56" name="Text 53"/>
          <p:cNvSpPr/>
          <p:nvPr/>
        </p:nvSpPr>
        <p:spPr>
          <a:xfrm>
            <a:off x="8521125" y="5590478"/>
            <a:ext cx="1741714" cy="2039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70" dirty="0">
                <a:solidFill>
                  <a:srgbClr val="E0E2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Reconocimiento de Gestos</a:t>
            </a:r>
            <a:endParaRPr lang="en-US" sz="1600" dirty="0"/>
          </a:p>
        </p:txBody>
      </p:sp>
      <p:sp>
        <p:nvSpPr>
          <p:cNvPr id="57" name="Shape 54"/>
          <p:cNvSpPr/>
          <p:nvPr/>
        </p:nvSpPr>
        <p:spPr>
          <a:xfrm>
            <a:off x="8308721" y="5900588"/>
            <a:ext cx="3355986" cy="552251"/>
          </a:xfrm>
          <a:custGeom>
            <a:avLst/>
            <a:gdLst/>
            <a:ahLst/>
            <a:cxnLst/>
            <a:rect l="l" t="t" r="r" b="b"/>
            <a:pathLst>
              <a:path w="3355986" h="552251">
                <a:moveTo>
                  <a:pt x="67971" y="0"/>
                </a:moveTo>
                <a:lnTo>
                  <a:pt x="3288015" y="0"/>
                </a:lnTo>
                <a:cubicBezTo>
                  <a:pt x="3325554" y="0"/>
                  <a:pt x="3355986" y="30432"/>
                  <a:pt x="3355986" y="67971"/>
                </a:cubicBezTo>
                <a:lnTo>
                  <a:pt x="3355986" y="484280"/>
                </a:lnTo>
                <a:cubicBezTo>
                  <a:pt x="3355986" y="521819"/>
                  <a:pt x="3325554" y="552251"/>
                  <a:pt x="3288015" y="552251"/>
                </a:cubicBezTo>
                <a:lnTo>
                  <a:pt x="67971" y="552251"/>
                </a:lnTo>
                <a:cubicBezTo>
                  <a:pt x="30432" y="552251"/>
                  <a:pt x="0" y="521819"/>
                  <a:pt x="0" y="484280"/>
                </a:cubicBezTo>
                <a:lnTo>
                  <a:pt x="0" y="67971"/>
                </a:lnTo>
                <a:cubicBezTo>
                  <a:pt x="0" y="30457"/>
                  <a:pt x="30457" y="0"/>
                  <a:pt x="67971" y="0"/>
                </a:cubicBezTo>
                <a:close/>
              </a:path>
            </a:pathLst>
          </a:custGeom>
          <a:solidFill>
            <a:srgbClr val="C8A265">
              <a:alpha val="10196"/>
            </a:srgbClr>
          </a:solidFill>
          <a:ln w="12700">
            <a:solidFill>
              <a:srgbClr val="C8A265">
                <a:alpha val="30196"/>
              </a:srgbClr>
            </a:solidFill>
            <a:prstDash val="solid"/>
          </a:ln>
        </p:spPr>
      </p:sp>
      <p:sp>
        <p:nvSpPr>
          <p:cNvPr id="58" name="Text 55"/>
          <p:cNvSpPr/>
          <p:nvPr/>
        </p:nvSpPr>
        <p:spPr>
          <a:xfrm>
            <a:off x="8414923" y="6006790"/>
            <a:ext cx="3203055" cy="3398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37" b="1" dirty="0">
                <a:solidFill>
                  <a:srgbClr val="C8A26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Aplicaciones: Robots industriales, drones, vehículos autónomos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A1D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33375" y="317500"/>
            <a:ext cx="1714500" cy="317500"/>
          </a:xfrm>
          <a:custGeom>
            <a:avLst/>
            <a:gdLst/>
            <a:ahLst/>
            <a:cxnLst/>
            <a:rect l="l" t="t" r="r" b="b"/>
            <a:pathLst>
              <a:path w="1714500" h="317500">
                <a:moveTo>
                  <a:pt x="0" y="0"/>
                </a:moveTo>
                <a:lnTo>
                  <a:pt x="1714500" y="0"/>
                </a:lnTo>
                <a:lnTo>
                  <a:pt x="1714500" y="317500"/>
                </a:lnTo>
                <a:lnTo>
                  <a:pt x="0" y="317500"/>
                </a:lnTo>
                <a:lnTo>
                  <a:pt x="0" y="0"/>
                </a:lnTo>
                <a:close/>
              </a:path>
            </a:pathLst>
          </a:custGeom>
          <a:solidFill>
            <a:srgbClr val="4A6D8C">
              <a:alpha val="2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333375" y="317500"/>
            <a:ext cx="31750" cy="317500"/>
          </a:xfrm>
          <a:custGeom>
            <a:avLst/>
            <a:gdLst/>
            <a:ahLst/>
            <a:cxnLst/>
            <a:rect l="l" t="t" r="r" b="b"/>
            <a:pathLst>
              <a:path w="31750" h="317500">
                <a:moveTo>
                  <a:pt x="0" y="0"/>
                </a:moveTo>
                <a:lnTo>
                  <a:pt x="31750" y="0"/>
                </a:lnTo>
                <a:lnTo>
                  <a:pt x="31750" y="317500"/>
                </a:lnTo>
                <a:lnTo>
                  <a:pt x="0" y="317500"/>
                </a:lnTo>
                <a:lnTo>
                  <a:pt x="0" y="0"/>
                </a:lnTo>
                <a:close/>
              </a:path>
            </a:pathLst>
          </a:custGeom>
          <a:solidFill>
            <a:srgbClr val="C8A265"/>
          </a:solidFill>
          <a:ln/>
        </p:spPr>
      </p:sp>
      <p:sp>
        <p:nvSpPr>
          <p:cNvPr id="4" name="Text 2"/>
          <p:cNvSpPr/>
          <p:nvPr/>
        </p:nvSpPr>
        <p:spPr>
          <a:xfrm>
            <a:off x="508000" y="388938"/>
            <a:ext cx="1446981" cy="1746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spc="50" kern="0" dirty="0">
                <a:solidFill>
                  <a:srgbClr val="C8A26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07 • IA GENERATIVA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317500" y="762000"/>
            <a:ext cx="11747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000" b="1" dirty="0">
                <a:solidFill>
                  <a:srgbClr val="E0E2E6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Inteligencia Artificial Generativa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317500" y="1238250"/>
            <a:ext cx="11636375" cy="5159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50" dirty="0">
                <a:solidFill>
                  <a:srgbClr val="788A9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La IA generativa se enfoca en la </a:t>
            </a:r>
            <a:pPr>
              <a:lnSpc>
                <a:spcPct val="140000"/>
              </a:lnSpc>
            </a:pPr>
            <a:r>
              <a:rPr lang="en-US" sz="1250" b="1" dirty="0">
                <a:solidFill>
                  <a:srgbClr val="C8A26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creación de contenido nuevo</a:t>
            </a:r>
            <a:pPr>
              <a:lnSpc>
                <a:spcPct val="140000"/>
              </a:lnSpc>
            </a:pPr>
            <a:r>
              <a:rPr lang="en-US" sz="1250" dirty="0">
                <a:solidFill>
                  <a:srgbClr val="788A9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: texto, imágenes, música, video y código, aprendiendo patrones de datos existentes para generar outputs originales.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321469" y="1916906"/>
            <a:ext cx="3738563" cy="4294188"/>
          </a:xfrm>
          <a:custGeom>
            <a:avLst/>
            <a:gdLst/>
            <a:ahLst/>
            <a:cxnLst/>
            <a:rect l="l" t="t" r="r" b="b"/>
            <a:pathLst>
              <a:path w="3738563" h="4294188">
                <a:moveTo>
                  <a:pt x="95259" y="0"/>
                </a:moveTo>
                <a:lnTo>
                  <a:pt x="3643304" y="0"/>
                </a:lnTo>
                <a:cubicBezTo>
                  <a:pt x="3695914" y="0"/>
                  <a:pt x="3738563" y="42649"/>
                  <a:pt x="3738563" y="95259"/>
                </a:cubicBezTo>
                <a:lnTo>
                  <a:pt x="3738563" y="4198929"/>
                </a:lnTo>
                <a:cubicBezTo>
                  <a:pt x="3738563" y="4251539"/>
                  <a:pt x="3695914" y="4294187"/>
                  <a:pt x="3643304" y="4294188"/>
                </a:cubicBezTo>
                <a:lnTo>
                  <a:pt x="95259" y="4294188"/>
                </a:lnTo>
                <a:cubicBezTo>
                  <a:pt x="42649" y="4294188"/>
                  <a:pt x="0" y="4251539"/>
                  <a:pt x="0" y="4198929"/>
                </a:cubicBezTo>
                <a:lnTo>
                  <a:pt x="0" y="95259"/>
                </a:lnTo>
                <a:cubicBezTo>
                  <a:pt x="0" y="42684"/>
                  <a:pt x="42684" y="0"/>
                  <a:pt x="95259" y="0"/>
                </a:cubicBezTo>
                <a:close/>
              </a:path>
            </a:pathLst>
          </a:custGeom>
          <a:solidFill>
            <a:srgbClr val="4A6D8C">
              <a:alpha val="10196"/>
            </a:srgbClr>
          </a:solidFill>
          <a:ln w="12700">
            <a:solidFill>
              <a:srgbClr val="4A6D8C">
                <a:alpha val="30196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84187" y="2079625"/>
            <a:ext cx="444500" cy="444500"/>
          </a:xfrm>
          <a:custGeom>
            <a:avLst/>
            <a:gdLst/>
            <a:ahLst/>
            <a:cxnLst/>
            <a:rect l="l" t="t" r="r" b="b"/>
            <a:pathLst>
              <a:path w="444500" h="444500">
                <a:moveTo>
                  <a:pt x="63501" y="0"/>
                </a:moveTo>
                <a:lnTo>
                  <a:pt x="380999" y="0"/>
                </a:lnTo>
                <a:cubicBezTo>
                  <a:pt x="416046" y="0"/>
                  <a:pt x="444500" y="28454"/>
                  <a:pt x="444500" y="63501"/>
                </a:cubicBezTo>
                <a:lnTo>
                  <a:pt x="444500" y="380999"/>
                </a:lnTo>
                <a:cubicBezTo>
                  <a:pt x="444500" y="416046"/>
                  <a:pt x="416046" y="444500"/>
                  <a:pt x="380999" y="444500"/>
                </a:cubicBezTo>
                <a:lnTo>
                  <a:pt x="63501" y="444500"/>
                </a:lnTo>
                <a:cubicBezTo>
                  <a:pt x="28454" y="444500"/>
                  <a:pt x="0" y="416046"/>
                  <a:pt x="0" y="380999"/>
                </a:cubicBezTo>
                <a:lnTo>
                  <a:pt x="0" y="63501"/>
                </a:lnTo>
                <a:cubicBezTo>
                  <a:pt x="0" y="28454"/>
                  <a:pt x="28454" y="0"/>
                  <a:pt x="63501" y="0"/>
                </a:cubicBezTo>
                <a:close/>
              </a:path>
            </a:pathLst>
          </a:custGeom>
          <a:solidFill>
            <a:srgbClr val="C8A265"/>
          </a:solidFill>
          <a:ln/>
        </p:spPr>
      </p:sp>
      <p:sp>
        <p:nvSpPr>
          <p:cNvPr id="9" name="Shape 7"/>
          <p:cNvSpPr/>
          <p:nvPr/>
        </p:nvSpPr>
        <p:spPr>
          <a:xfrm>
            <a:off x="623094" y="2206625"/>
            <a:ext cx="166688" cy="190500"/>
          </a:xfrm>
          <a:custGeom>
            <a:avLst/>
            <a:gdLst/>
            <a:ahLst/>
            <a:cxnLst/>
            <a:rect l="l" t="t" r="r" b="b"/>
            <a:pathLst>
              <a:path w="166688" h="190500">
                <a:moveTo>
                  <a:pt x="23812" y="11906"/>
                </a:moveTo>
                <a:cubicBezTo>
                  <a:pt x="10678" y="11906"/>
                  <a:pt x="0" y="22585"/>
                  <a:pt x="0" y="35719"/>
                </a:cubicBezTo>
                <a:lnTo>
                  <a:pt x="0" y="154781"/>
                </a:lnTo>
                <a:cubicBezTo>
                  <a:pt x="0" y="167915"/>
                  <a:pt x="10678" y="178594"/>
                  <a:pt x="23812" y="178594"/>
                </a:cubicBezTo>
                <a:lnTo>
                  <a:pt x="142875" y="178594"/>
                </a:lnTo>
                <a:cubicBezTo>
                  <a:pt x="156009" y="178594"/>
                  <a:pt x="166688" y="167915"/>
                  <a:pt x="166688" y="154781"/>
                </a:cubicBezTo>
                <a:lnTo>
                  <a:pt x="166688" y="35719"/>
                </a:lnTo>
                <a:cubicBezTo>
                  <a:pt x="166688" y="22585"/>
                  <a:pt x="156009" y="11906"/>
                  <a:pt x="142875" y="11906"/>
                </a:cubicBezTo>
                <a:lnTo>
                  <a:pt x="23812" y="11906"/>
                </a:lnTo>
                <a:close/>
                <a:moveTo>
                  <a:pt x="47625" y="41672"/>
                </a:moveTo>
                <a:cubicBezTo>
                  <a:pt x="57482" y="41672"/>
                  <a:pt x="65484" y="49674"/>
                  <a:pt x="65484" y="59531"/>
                </a:cubicBezTo>
                <a:cubicBezTo>
                  <a:pt x="65484" y="69388"/>
                  <a:pt x="57482" y="77391"/>
                  <a:pt x="47625" y="77391"/>
                </a:cubicBezTo>
                <a:cubicBezTo>
                  <a:pt x="37768" y="77391"/>
                  <a:pt x="29766" y="69388"/>
                  <a:pt x="29766" y="59531"/>
                </a:cubicBezTo>
                <a:cubicBezTo>
                  <a:pt x="29766" y="49674"/>
                  <a:pt x="37768" y="41672"/>
                  <a:pt x="47625" y="41672"/>
                </a:cubicBezTo>
                <a:close/>
                <a:moveTo>
                  <a:pt x="101203" y="83344"/>
                </a:moveTo>
                <a:cubicBezTo>
                  <a:pt x="104329" y="83344"/>
                  <a:pt x="107193" y="84981"/>
                  <a:pt x="108831" y="87623"/>
                </a:cubicBezTo>
                <a:lnTo>
                  <a:pt x="141573" y="141201"/>
                </a:lnTo>
                <a:cubicBezTo>
                  <a:pt x="143247" y="143954"/>
                  <a:pt x="143321" y="147414"/>
                  <a:pt x="141759" y="150242"/>
                </a:cubicBezTo>
                <a:cubicBezTo>
                  <a:pt x="140196" y="153070"/>
                  <a:pt x="137182" y="154781"/>
                  <a:pt x="133945" y="154781"/>
                </a:cubicBezTo>
                <a:lnTo>
                  <a:pt x="32742" y="154781"/>
                </a:lnTo>
                <a:cubicBezTo>
                  <a:pt x="29431" y="154781"/>
                  <a:pt x="26343" y="152921"/>
                  <a:pt x="24817" y="149982"/>
                </a:cubicBezTo>
                <a:cubicBezTo>
                  <a:pt x="23292" y="147042"/>
                  <a:pt x="23515" y="143470"/>
                  <a:pt x="25412" y="140754"/>
                </a:cubicBezTo>
                <a:lnTo>
                  <a:pt x="46248" y="110989"/>
                </a:lnTo>
                <a:cubicBezTo>
                  <a:pt x="47923" y="108607"/>
                  <a:pt x="50639" y="107193"/>
                  <a:pt x="53578" y="107193"/>
                </a:cubicBezTo>
                <a:cubicBezTo>
                  <a:pt x="56517" y="107193"/>
                  <a:pt x="59234" y="108607"/>
                  <a:pt x="60908" y="110989"/>
                </a:cubicBezTo>
                <a:lnTo>
                  <a:pt x="70731" y="125053"/>
                </a:lnTo>
                <a:lnTo>
                  <a:pt x="93576" y="87660"/>
                </a:lnTo>
                <a:cubicBezTo>
                  <a:pt x="95213" y="85018"/>
                  <a:pt x="98078" y="83381"/>
                  <a:pt x="101203" y="83381"/>
                </a:cubicBezTo>
                <a:close/>
              </a:path>
            </a:pathLst>
          </a:custGeom>
          <a:solidFill>
            <a:srgbClr val="1A1D23"/>
          </a:solidFill>
          <a:ln/>
        </p:spPr>
      </p:sp>
      <p:sp>
        <p:nvSpPr>
          <p:cNvPr id="10" name="Text 8"/>
          <p:cNvSpPr/>
          <p:nvPr/>
        </p:nvSpPr>
        <p:spPr>
          <a:xfrm>
            <a:off x="1023938" y="2174875"/>
            <a:ext cx="595313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00" b="1" dirty="0">
                <a:solidFill>
                  <a:srgbClr val="E0E2E6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GANs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84187" y="2651125"/>
            <a:ext cx="3484563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5" b="1" dirty="0">
                <a:solidFill>
                  <a:srgbClr val="C8A26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Redes Generativas Antagónicas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84187" y="2936875"/>
            <a:ext cx="3476625" cy="412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00" dirty="0">
                <a:solidFill>
                  <a:srgbClr val="788A9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Dos redes neuronales compiten: el </a:t>
            </a:r>
            <a:pPr>
              <a:lnSpc>
                <a:spcPct val="140000"/>
              </a:lnSpc>
            </a:pPr>
            <a:r>
              <a:rPr lang="en-US" sz="1000" dirty="0">
                <a:solidFill>
                  <a:srgbClr val="E0E2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Generador</a:t>
            </a:r>
            <a:pPr>
              <a:lnSpc>
                <a:spcPct val="140000"/>
              </a:lnSpc>
            </a:pPr>
            <a:r>
              <a:rPr lang="en-US" sz="1000" dirty="0">
                <a:solidFill>
                  <a:srgbClr val="788A9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crea datos falsos y el </a:t>
            </a:r>
            <a:pPr>
              <a:lnSpc>
                <a:spcPct val="140000"/>
              </a:lnSpc>
            </a:pPr>
            <a:r>
              <a:rPr lang="en-US" sz="1000" dirty="0">
                <a:solidFill>
                  <a:srgbClr val="E0E2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Discriminador</a:t>
            </a:r>
            <a:pPr>
              <a:lnSpc>
                <a:spcPct val="140000"/>
              </a:lnSpc>
            </a:pPr>
            <a:r>
              <a:rPr lang="en-US" sz="1000" dirty="0">
                <a:solidFill>
                  <a:srgbClr val="788A9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intenta detectarlos.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484187" y="3476625"/>
            <a:ext cx="3413125" cy="571500"/>
          </a:xfrm>
          <a:custGeom>
            <a:avLst/>
            <a:gdLst/>
            <a:ahLst/>
            <a:cxnLst/>
            <a:rect l="l" t="t" r="r" b="b"/>
            <a:pathLst>
              <a:path w="3413125" h="571500">
                <a:moveTo>
                  <a:pt x="63499" y="0"/>
                </a:moveTo>
                <a:lnTo>
                  <a:pt x="3349626" y="0"/>
                </a:lnTo>
                <a:cubicBezTo>
                  <a:pt x="3384695" y="0"/>
                  <a:pt x="3413125" y="28430"/>
                  <a:pt x="3413125" y="63499"/>
                </a:cubicBezTo>
                <a:lnTo>
                  <a:pt x="3413125" y="508001"/>
                </a:lnTo>
                <a:cubicBezTo>
                  <a:pt x="3413125" y="543070"/>
                  <a:pt x="3384695" y="571500"/>
                  <a:pt x="3349626" y="571500"/>
                </a:cubicBezTo>
                <a:lnTo>
                  <a:pt x="63499" y="571500"/>
                </a:lnTo>
                <a:cubicBezTo>
                  <a:pt x="28430" y="571500"/>
                  <a:pt x="0" y="543070"/>
                  <a:pt x="0" y="508001"/>
                </a:cubicBezTo>
                <a:lnTo>
                  <a:pt x="0" y="63499"/>
                </a:lnTo>
                <a:cubicBezTo>
                  <a:pt x="0" y="28453"/>
                  <a:pt x="28453" y="0"/>
                  <a:pt x="63499" y="0"/>
                </a:cubicBezTo>
                <a:close/>
              </a:path>
            </a:pathLst>
          </a:custGeom>
          <a:solidFill>
            <a:srgbClr val="4A6D8C">
              <a:alpha val="20000"/>
            </a:srgbClr>
          </a:solidFill>
          <a:ln/>
        </p:spPr>
      </p:sp>
      <p:sp>
        <p:nvSpPr>
          <p:cNvPr id="14" name="Text 12"/>
          <p:cNvSpPr/>
          <p:nvPr/>
        </p:nvSpPr>
        <p:spPr>
          <a:xfrm>
            <a:off x="579438" y="3571875"/>
            <a:ext cx="32861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E0E2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Generador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579438" y="3794125"/>
            <a:ext cx="3278188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788A9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Crea imágenes/videos sintéticos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484187" y="4143375"/>
            <a:ext cx="3413125" cy="571500"/>
          </a:xfrm>
          <a:custGeom>
            <a:avLst/>
            <a:gdLst/>
            <a:ahLst/>
            <a:cxnLst/>
            <a:rect l="l" t="t" r="r" b="b"/>
            <a:pathLst>
              <a:path w="3413125" h="571500">
                <a:moveTo>
                  <a:pt x="63499" y="0"/>
                </a:moveTo>
                <a:lnTo>
                  <a:pt x="3349626" y="0"/>
                </a:lnTo>
                <a:cubicBezTo>
                  <a:pt x="3384695" y="0"/>
                  <a:pt x="3413125" y="28430"/>
                  <a:pt x="3413125" y="63499"/>
                </a:cubicBezTo>
                <a:lnTo>
                  <a:pt x="3413125" y="508001"/>
                </a:lnTo>
                <a:cubicBezTo>
                  <a:pt x="3413125" y="543070"/>
                  <a:pt x="3384695" y="571500"/>
                  <a:pt x="3349626" y="571500"/>
                </a:cubicBezTo>
                <a:lnTo>
                  <a:pt x="63499" y="571500"/>
                </a:lnTo>
                <a:cubicBezTo>
                  <a:pt x="28430" y="571500"/>
                  <a:pt x="0" y="543070"/>
                  <a:pt x="0" y="508001"/>
                </a:cubicBezTo>
                <a:lnTo>
                  <a:pt x="0" y="63499"/>
                </a:lnTo>
                <a:cubicBezTo>
                  <a:pt x="0" y="28453"/>
                  <a:pt x="28453" y="0"/>
                  <a:pt x="63499" y="0"/>
                </a:cubicBezTo>
                <a:close/>
              </a:path>
            </a:pathLst>
          </a:custGeom>
          <a:solidFill>
            <a:srgbClr val="4A6D8C">
              <a:alpha val="20000"/>
            </a:srgbClr>
          </a:solidFill>
          <a:ln/>
        </p:spPr>
      </p:sp>
      <p:sp>
        <p:nvSpPr>
          <p:cNvPr id="17" name="Text 15"/>
          <p:cNvSpPr/>
          <p:nvPr/>
        </p:nvSpPr>
        <p:spPr>
          <a:xfrm>
            <a:off x="579438" y="4238625"/>
            <a:ext cx="32861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E0E2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Discriminador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579438" y="4460875"/>
            <a:ext cx="3278188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788A9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Distingue real vs. generado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484187" y="4810125"/>
            <a:ext cx="3413125" cy="571500"/>
          </a:xfrm>
          <a:custGeom>
            <a:avLst/>
            <a:gdLst/>
            <a:ahLst/>
            <a:cxnLst/>
            <a:rect l="l" t="t" r="r" b="b"/>
            <a:pathLst>
              <a:path w="3413125" h="571500">
                <a:moveTo>
                  <a:pt x="63499" y="0"/>
                </a:moveTo>
                <a:lnTo>
                  <a:pt x="3349626" y="0"/>
                </a:lnTo>
                <a:cubicBezTo>
                  <a:pt x="3384695" y="0"/>
                  <a:pt x="3413125" y="28430"/>
                  <a:pt x="3413125" y="63499"/>
                </a:cubicBezTo>
                <a:lnTo>
                  <a:pt x="3413125" y="508001"/>
                </a:lnTo>
                <a:cubicBezTo>
                  <a:pt x="3413125" y="543070"/>
                  <a:pt x="3384695" y="571500"/>
                  <a:pt x="3349626" y="571500"/>
                </a:cubicBezTo>
                <a:lnTo>
                  <a:pt x="63499" y="571500"/>
                </a:lnTo>
                <a:cubicBezTo>
                  <a:pt x="28430" y="571500"/>
                  <a:pt x="0" y="543070"/>
                  <a:pt x="0" y="508001"/>
                </a:cubicBezTo>
                <a:lnTo>
                  <a:pt x="0" y="63499"/>
                </a:lnTo>
                <a:cubicBezTo>
                  <a:pt x="0" y="28453"/>
                  <a:pt x="28453" y="0"/>
                  <a:pt x="63499" y="0"/>
                </a:cubicBezTo>
                <a:close/>
              </a:path>
            </a:pathLst>
          </a:custGeom>
          <a:solidFill>
            <a:srgbClr val="4A6D8C">
              <a:alpha val="20000"/>
            </a:srgbClr>
          </a:solidFill>
          <a:ln/>
        </p:spPr>
      </p:sp>
      <p:sp>
        <p:nvSpPr>
          <p:cNvPr id="20" name="Text 18"/>
          <p:cNvSpPr/>
          <p:nvPr/>
        </p:nvSpPr>
        <p:spPr>
          <a:xfrm>
            <a:off x="579438" y="4905375"/>
            <a:ext cx="32861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E0E2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Entrenamiento Adversarial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579438" y="5127625"/>
            <a:ext cx="3278188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788A9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Competencia que mejora ambas redes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484187" y="5826125"/>
            <a:ext cx="674688" cy="222250"/>
          </a:xfrm>
          <a:custGeom>
            <a:avLst/>
            <a:gdLst/>
            <a:ahLst/>
            <a:cxnLst/>
            <a:rect l="l" t="t" r="r" b="b"/>
            <a:pathLst>
              <a:path w="674688" h="222250">
                <a:moveTo>
                  <a:pt x="111125" y="0"/>
                </a:moveTo>
                <a:lnTo>
                  <a:pt x="563563" y="0"/>
                </a:lnTo>
                <a:cubicBezTo>
                  <a:pt x="624894" y="0"/>
                  <a:pt x="674688" y="49793"/>
                  <a:pt x="674688" y="111125"/>
                </a:cubicBezTo>
                <a:lnTo>
                  <a:pt x="674688" y="111125"/>
                </a:lnTo>
                <a:cubicBezTo>
                  <a:pt x="674688" y="172457"/>
                  <a:pt x="624894" y="222250"/>
                  <a:pt x="563563" y="222250"/>
                </a:cubicBezTo>
                <a:lnTo>
                  <a:pt x="111125" y="222250"/>
                </a:lnTo>
                <a:cubicBezTo>
                  <a:pt x="49793" y="222250"/>
                  <a:pt x="0" y="172457"/>
                  <a:pt x="0" y="111125"/>
                </a:cubicBezTo>
                <a:lnTo>
                  <a:pt x="0" y="111125"/>
                </a:lnTo>
                <a:cubicBezTo>
                  <a:pt x="0" y="49793"/>
                  <a:pt x="49793" y="0"/>
                  <a:pt x="111125" y="0"/>
                </a:cubicBezTo>
                <a:close/>
              </a:path>
            </a:pathLst>
          </a:custGeom>
          <a:solidFill>
            <a:srgbClr val="4A6D8C">
              <a:alpha val="30196"/>
            </a:srgbClr>
          </a:solidFill>
          <a:ln/>
        </p:spPr>
      </p:sp>
      <p:sp>
        <p:nvSpPr>
          <p:cNvPr id="23" name="Text 21"/>
          <p:cNvSpPr/>
          <p:nvPr/>
        </p:nvSpPr>
        <p:spPr>
          <a:xfrm>
            <a:off x="484187" y="5826125"/>
            <a:ext cx="730250" cy="222250"/>
          </a:xfrm>
          <a:prstGeom prst="rect">
            <a:avLst/>
          </a:prstGeom>
          <a:noFill/>
          <a:ln/>
        </p:spPr>
        <p:txBody>
          <a:bodyPr wrap="square" lIns="95250" tIns="31750" rIns="95250" bIns="3175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E0E2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StyleGAN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1225352" y="5826125"/>
            <a:ext cx="587375" cy="222250"/>
          </a:xfrm>
          <a:custGeom>
            <a:avLst/>
            <a:gdLst/>
            <a:ahLst/>
            <a:cxnLst/>
            <a:rect l="l" t="t" r="r" b="b"/>
            <a:pathLst>
              <a:path w="587375" h="222250">
                <a:moveTo>
                  <a:pt x="111125" y="0"/>
                </a:moveTo>
                <a:lnTo>
                  <a:pt x="476250" y="0"/>
                </a:lnTo>
                <a:cubicBezTo>
                  <a:pt x="537582" y="0"/>
                  <a:pt x="587375" y="49793"/>
                  <a:pt x="587375" y="111125"/>
                </a:cubicBezTo>
                <a:lnTo>
                  <a:pt x="587375" y="111125"/>
                </a:lnTo>
                <a:cubicBezTo>
                  <a:pt x="587375" y="172457"/>
                  <a:pt x="537582" y="222250"/>
                  <a:pt x="476250" y="222250"/>
                </a:cubicBezTo>
                <a:lnTo>
                  <a:pt x="111125" y="222250"/>
                </a:lnTo>
                <a:cubicBezTo>
                  <a:pt x="49793" y="222250"/>
                  <a:pt x="0" y="172457"/>
                  <a:pt x="0" y="111125"/>
                </a:cubicBezTo>
                <a:lnTo>
                  <a:pt x="0" y="111125"/>
                </a:lnTo>
                <a:cubicBezTo>
                  <a:pt x="0" y="49793"/>
                  <a:pt x="49793" y="0"/>
                  <a:pt x="111125" y="0"/>
                </a:cubicBezTo>
                <a:close/>
              </a:path>
            </a:pathLst>
          </a:custGeom>
          <a:solidFill>
            <a:srgbClr val="4A6D8C">
              <a:alpha val="30196"/>
            </a:srgbClr>
          </a:solidFill>
          <a:ln/>
        </p:spPr>
      </p:sp>
      <p:sp>
        <p:nvSpPr>
          <p:cNvPr id="25" name="Text 23"/>
          <p:cNvSpPr/>
          <p:nvPr/>
        </p:nvSpPr>
        <p:spPr>
          <a:xfrm>
            <a:off x="1225352" y="5826125"/>
            <a:ext cx="642938" cy="222250"/>
          </a:xfrm>
          <a:prstGeom prst="rect">
            <a:avLst/>
          </a:prstGeom>
          <a:noFill/>
          <a:ln/>
        </p:spPr>
        <p:txBody>
          <a:bodyPr wrap="square" lIns="95250" tIns="31750" rIns="95250" bIns="3175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E0E2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DCGAN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1874862" y="5826125"/>
            <a:ext cx="706438" cy="222250"/>
          </a:xfrm>
          <a:custGeom>
            <a:avLst/>
            <a:gdLst/>
            <a:ahLst/>
            <a:cxnLst/>
            <a:rect l="l" t="t" r="r" b="b"/>
            <a:pathLst>
              <a:path w="706438" h="222250">
                <a:moveTo>
                  <a:pt x="111125" y="0"/>
                </a:moveTo>
                <a:lnTo>
                  <a:pt x="595313" y="0"/>
                </a:lnTo>
                <a:cubicBezTo>
                  <a:pt x="656644" y="0"/>
                  <a:pt x="706438" y="49793"/>
                  <a:pt x="706438" y="111125"/>
                </a:cubicBezTo>
                <a:lnTo>
                  <a:pt x="706438" y="111125"/>
                </a:lnTo>
                <a:cubicBezTo>
                  <a:pt x="706438" y="172457"/>
                  <a:pt x="656644" y="222250"/>
                  <a:pt x="595313" y="222250"/>
                </a:cubicBezTo>
                <a:lnTo>
                  <a:pt x="111125" y="222250"/>
                </a:lnTo>
                <a:cubicBezTo>
                  <a:pt x="49793" y="222250"/>
                  <a:pt x="0" y="172457"/>
                  <a:pt x="0" y="111125"/>
                </a:cubicBezTo>
                <a:lnTo>
                  <a:pt x="0" y="111125"/>
                </a:lnTo>
                <a:cubicBezTo>
                  <a:pt x="0" y="49793"/>
                  <a:pt x="49793" y="0"/>
                  <a:pt x="111125" y="0"/>
                </a:cubicBezTo>
                <a:close/>
              </a:path>
            </a:pathLst>
          </a:custGeom>
          <a:solidFill>
            <a:srgbClr val="4A6D8C">
              <a:alpha val="30196"/>
            </a:srgbClr>
          </a:solidFill>
          <a:ln/>
        </p:spPr>
      </p:sp>
      <p:sp>
        <p:nvSpPr>
          <p:cNvPr id="27" name="Text 25"/>
          <p:cNvSpPr/>
          <p:nvPr/>
        </p:nvSpPr>
        <p:spPr>
          <a:xfrm>
            <a:off x="1874862" y="5826125"/>
            <a:ext cx="762000" cy="222250"/>
          </a:xfrm>
          <a:prstGeom prst="rect">
            <a:avLst/>
          </a:prstGeom>
          <a:noFill/>
          <a:ln/>
        </p:spPr>
        <p:txBody>
          <a:bodyPr wrap="square" lIns="95250" tIns="31750" rIns="95250" bIns="3175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E0E2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CycleGAN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4226719" y="1916906"/>
            <a:ext cx="3738563" cy="4294188"/>
          </a:xfrm>
          <a:custGeom>
            <a:avLst/>
            <a:gdLst/>
            <a:ahLst/>
            <a:cxnLst/>
            <a:rect l="l" t="t" r="r" b="b"/>
            <a:pathLst>
              <a:path w="3738563" h="4294188">
                <a:moveTo>
                  <a:pt x="95259" y="0"/>
                </a:moveTo>
                <a:lnTo>
                  <a:pt x="3643304" y="0"/>
                </a:lnTo>
                <a:cubicBezTo>
                  <a:pt x="3695914" y="0"/>
                  <a:pt x="3738563" y="42649"/>
                  <a:pt x="3738563" y="95259"/>
                </a:cubicBezTo>
                <a:lnTo>
                  <a:pt x="3738563" y="4198929"/>
                </a:lnTo>
                <a:cubicBezTo>
                  <a:pt x="3738563" y="4251539"/>
                  <a:pt x="3695914" y="4294187"/>
                  <a:pt x="3643304" y="4294188"/>
                </a:cubicBezTo>
                <a:lnTo>
                  <a:pt x="95259" y="4294188"/>
                </a:lnTo>
                <a:cubicBezTo>
                  <a:pt x="42649" y="4294188"/>
                  <a:pt x="0" y="4251539"/>
                  <a:pt x="0" y="4198929"/>
                </a:cubicBezTo>
                <a:lnTo>
                  <a:pt x="0" y="95259"/>
                </a:lnTo>
                <a:cubicBezTo>
                  <a:pt x="0" y="42684"/>
                  <a:pt x="42684" y="0"/>
                  <a:pt x="95259" y="0"/>
                </a:cubicBezTo>
                <a:close/>
              </a:path>
            </a:pathLst>
          </a:custGeom>
          <a:solidFill>
            <a:srgbClr val="4A6D8C">
              <a:alpha val="10196"/>
            </a:srgbClr>
          </a:solidFill>
          <a:ln w="12700">
            <a:solidFill>
              <a:srgbClr val="4A6D8C">
                <a:alpha val="30196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389438" y="2079625"/>
            <a:ext cx="444500" cy="444500"/>
          </a:xfrm>
          <a:custGeom>
            <a:avLst/>
            <a:gdLst/>
            <a:ahLst/>
            <a:cxnLst/>
            <a:rect l="l" t="t" r="r" b="b"/>
            <a:pathLst>
              <a:path w="444500" h="444500">
                <a:moveTo>
                  <a:pt x="63501" y="0"/>
                </a:moveTo>
                <a:lnTo>
                  <a:pt x="380999" y="0"/>
                </a:lnTo>
                <a:cubicBezTo>
                  <a:pt x="416046" y="0"/>
                  <a:pt x="444500" y="28454"/>
                  <a:pt x="444500" y="63501"/>
                </a:cubicBezTo>
                <a:lnTo>
                  <a:pt x="444500" y="380999"/>
                </a:lnTo>
                <a:cubicBezTo>
                  <a:pt x="444500" y="416046"/>
                  <a:pt x="416046" y="444500"/>
                  <a:pt x="380999" y="444500"/>
                </a:cubicBezTo>
                <a:lnTo>
                  <a:pt x="63501" y="444500"/>
                </a:lnTo>
                <a:cubicBezTo>
                  <a:pt x="28454" y="444500"/>
                  <a:pt x="0" y="416046"/>
                  <a:pt x="0" y="380999"/>
                </a:cubicBezTo>
                <a:lnTo>
                  <a:pt x="0" y="63501"/>
                </a:lnTo>
                <a:cubicBezTo>
                  <a:pt x="0" y="28454"/>
                  <a:pt x="28454" y="0"/>
                  <a:pt x="63501" y="0"/>
                </a:cubicBezTo>
                <a:close/>
              </a:path>
            </a:pathLst>
          </a:custGeom>
          <a:solidFill>
            <a:srgbClr val="C8A265"/>
          </a:solidFill>
          <a:ln/>
        </p:spPr>
      </p:sp>
      <p:sp>
        <p:nvSpPr>
          <p:cNvPr id="30" name="Shape 28"/>
          <p:cNvSpPr/>
          <p:nvPr/>
        </p:nvSpPr>
        <p:spPr>
          <a:xfrm>
            <a:off x="4516438" y="2206625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148270" y="4539"/>
                </a:moveTo>
                <a:lnTo>
                  <a:pt x="115453" y="37356"/>
                </a:lnTo>
                <a:lnTo>
                  <a:pt x="153144" y="75047"/>
                </a:lnTo>
                <a:lnTo>
                  <a:pt x="185961" y="42230"/>
                </a:lnTo>
                <a:cubicBezTo>
                  <a:pt x="188863" y="39291"/>
                  <a:pt x="190500" y="35347"/>
                  <a:pt x="190500" y="31254"/>
                </a:cubicBezTo>
                <a:cubicBezTo>
                  <a:pt x="190500" y="27161"/>
                  <a:pt x="188863" y="23217"/>
                  <a:pt x="185961" y="20278"/>
                </a:cubicBezTo>
                <a:lnTo>
                  <a:pt x="170222" y="4539"/>
                </a:lnTo>
                <a:cubicBezTo>
                  <a:pt x="167283" y="1637"/>
                  <a:pt x="163339" y="0"/>
                  <a:pt x="159246" y="0"/>
                </a:cubicBezTo>
                <a:cubicBezTo>
                  <a:pt x="155153" y="0"/>
                  <a:pt x="151209" y="1637"/>
                  <a:pt x="148270" y="4539"/>
                </a:cubicBezTo>
                <a:close/>
                <a:moveTo>
                  <a:pt x="102840" y="49969"/>
                </a:moveTo>
                <a:lnTo>
                  <a:pt x="4539" y="148270"/>
                </a:lnTo>
                <a:cubicBezTo>
                  <a:pt x="1637" y="151209"/>
                  <a:pt x="0" y="155153"/>
                  <a:pt x="0" y="159246"/>
                </a:cubicBezTo>
                <a:cubicBezTo>
                  <a:pt x="0" y="163339"/>
                  <a:pt x="1637" y="167283"/>
                  <a:pt x="4539" y="170222"/>
                </a:cubicBezTo>
                <a:lnTo>
                  <a:pt x="20278" y="185961"/>
                </a:lnTo>
                <a:cubicBezTo>
                  <a:pt x="23217" y="188863"/>
                  <a:pt x="27161" y="190500"/>
                  <a:pt x="31254" y="190500"/>
                </a:cubicBezTo>
                <a:cubicBezTo>
                  <a:pt x="35347" y="190500"/>
                  <a:pt x="39291" y="188863"/>
                  <a:pt x="42230" y="185961"/>
                </a:cubicBezTo>
                <a:lnTo>
                  <a:pt x="140531" y="87660"/>
                </a:lnTo>
                <a:lnTo>
                  <a:pt x="102840" y="49969"/>
                </a:lnTo>
                <a:close/>
              </a:path>
            </a:pathLst>
          </a:custGeom>
          <a:solidFill>
            <a:srgbClr val="1A1D23"/>
          </a:solidFill>
          <a:ln/>
        </p:spPr>
      </p:sp>
      <p:sp>
        <p:nvSpPr>
          <p:cNvPr id="31" name="Text 29"/>
          <p:cNvSpPr/>
          <p:nvPr/>
        </p:nvSpPr>
        <p:spPr>
          <a:xfrm>
            <a:off x="4929188" y="2174875"/>
            <a:ext cx="13335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00" b="1" dirty="0">
                <a:solidFill>
                  <a:srgbClr val="E0E2E6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Transformers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4389438" y="2651125"/>
            <a:ext cx="3476625" cy="412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00" dirty="0">
                <a:solidFill>
                  <a:srgbClr val="788A9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Modelos que revolucionaron la generación de contenido multimodal con </a:t>
            </a:r>
            <a:pPr>
              <a:lnSpc>
                <a:spcPct val="140000"/>
              </a:lnSpc>
            </a:pPr>
            <a:r>
              <a:rPr lang="en-US" sz="1000" dirty="0">
                <a:solidFill>
                  <a:srgbClr val="E0E2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mecanismos de atención</a:t>
            </a:r>
            <a:pPr>
              <a:lnSpc>
                <a:spcPct val="140000"/>
              </a:lnSpc>
            </a:pPr>
            <a:r>
              <a:rPr lang="en-US" sz="1000" dirty="0">
                <a:solidFill>
                  <a:srgbClr val="788A9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avanzados.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4389438" y="3190875"/>
            <a:ext cx="3413125" cy="889000"/>
          </a:xfrm>
          <a:custGeom>
            <a:avLst/>
            <a:gdLst/>
            <a:ahLst/>
            <a:cxnLst/>
            <a:rect l="l" t="t" r="r" b="b"/>
            <a:pathLst>
              <a:path w="3413125" h="889000">
                <a:moveTo>
                  <a:pt x="63501" y="0"/>
                </a:moveTo>
                <a:lnTo>
                  <a:pt x="3349624" y="0"/>
                </a:lnTo>
                <a:cubicBezTo>
                  <a:pt x="3384695" y="0"/>
                  <a:pt x="3413125" y="28430"/>
                  <a:pt x="3413125" y="63501"/>
                </a:cubicBezTo>
                <a:lnTo>
                  <a:pt x="3413125" y="825499"/>
                </a:lnTo>
                <a:cubicBezTo>
                  <a:pt x="3413125" y="860570"/>
                  <a:pt x="3384695" y="889000"/>
                  <a:pt x="3349624" y="889000"/>
                </a:cubicBezTo>
                <a:lnTo>
                  <a:pt x="63501" y="889000"/>
                </a:lnTo>
                <a:cubicBezTo>
                  <a:pt x="28430" y="889000"/>
                  <a:pt x="0" y="860570"/>
                  <a:pt x="0" y="825499"/>
                </a:cubicBezTo>
                <a:lnTo>
                  <a:pt x="0" y="63501"/>
                </a:lnTo>
                <a:cubicBezTo>
                  <a:pt x="0" y="28454"/>
                  <a:pt x="28454" y="0"/>
                  <a:pt x="63501" y="0"/>
                </a:cubicBezTo>
                <a:close/>
              </a:path>
            </a:pathLst>
          </a:custGeom>
          <a:solidFill>
            <a:srgbClr val="4A6D8C">
              <a:alpha val="20000"/>
            </a:srgbClr>
          </a:solidFill>
          <a:ln/>
        </p:spPr>
      </p:sp>
      <p:sp>
        <p:nvSpPr>
          <p:cNvPr id="34" name="Shape 32"/>
          <p:cNvSpPr/>
          <p:nvPr/>
        </p:nvSpPr>
        <p:spPr>
          <a:xfrm>
            <a:off x="4532313" y="3365500"/>
            <a:ext cx="127000" cy="127000"/>
          </a:xfrm>
          <a:custGeom>
            <a:avLst/>
            <a:gdLst/>
            <a:ahLst/>
            <a:cxnLst/>
            <a:rect l="l" t="t" r="r" b="b"/>
            <a:pathLst>
              <a:path w="127000" h="127000">
                <a:moveTo>
                  <a:pt x="63500" y="119063"/>
                </a:moveTo>
                <a:cubicBezTo>
                  <a:pt x="98574" y="119063"/>
                  <a:pt x="127000" y="92397"/>
                  <a:pt x="127000" y="59531"/>
                </a:cubicBezTo>
                <a:cubicBezTo>
                  <a:pt x="127000" y="26665"/>
                  <a:pt x="98574" y="0"/>
                  <a:pt x="63500" y="0"/>
                </a:cubicBezTo>
                <a:cubicBezTo>
                  <a:pt x="28426" y="0"/>
                  <a:pt x="0" y="26665"/>
                  <a:pt x="0" y="59531"/>
                </a:cubicBezTo>
                <a:cubicBezTo>
                  <a:pt x="0" y="73000"/>
                  <a:pt x="4763" y="85403"/>
                  <a:pt x="12799" y="95374"/>
                </a:cubicBezTo>
                <a:lnTo>
                  <a:pt x="695" y="118269"/>
                </a:lnTo>
                <a:cubicBezTo>
                  <a:pt x="-496" y="120501"/>
                  <a:pt x="-124" y="123230"/>
                  <a:pt x="1588" y="125090"/>
                </a:cubicBezTo>
                <a:cubicBezTo>
                  <a:pt x="3299" y="126950"/>
                  <a:pt x="6003" y="127521"/>
                  <a:pt x="8310" y="126529"/>
                </a:cubicBezTo>
                <a:lnTo>
                  <a:pt x="37678" y="113953"/>
                </a:lnTo>
                <a:cubicBezTo>
                  <a:pt x="45566" y="117227"/>
                  <a:pt x="54297" y="119063"/>
                  <a:pt x="63500" y="119063"/>
                </a:cubicBezTo>
                <a:close/>
                <a:moveTo>
                  <a:pt x="31750" y="51594"/>
                </a:moveTo>
                <a:cubicBezTo>
                  <a:pt x="36131" y="51594"/>
                  <a:pt x="39688" y="55150"/>
                  <a:pt x="39688" y="59531"/>
                </a:cubicBezTo>
                <a:cubicBezTo>
                  <a:pt x="39688" y="63912"/>
                  <a:pt x="36131" y="67469"/>
                  <a:pt x="31750" y="67469"/>
                </a:cubicBezTo>
                <a:cubicBezTo>
                  <a:pt x="27369" y="67469"/>
                  <a:pt x="23812" y="63912"/>
                  <a:pt x="23812" y="59531"/>
                </a:cubicBezTo>
                <a:cubicBezTo>
                  <a:pt x="23812" y="55150"/>
                  <a:pt x="27369" y="51594"/>
                  <a:pt x="31750" y="51594"/>
                </a:cubicBezTo>
                <a:close/>
                <a:moveTo>
                  <a:pt x="63500" y="51594"/>
                </a:moveTo>
                <a:cubicBezTo>
                  <a:pt x="67881" y="51594"/>
                  <a:pt x="71438" y="55150"/>
                  <a:pt x="71438" y="59531"/>
                </a:cubicBezTo>
                <a:cubicBezTo>
                  <a:pt x="71438" y="63912"/>
                  <a:pt x="67881" y="67469"/>
                  <a:pt x="63500" y="67469"/>
                </a:cubicBezTo>
                <a:cubicBezTo>
                  <a:pt x="59119" y="67469"/>
                  <a:pt x="55563" y="63912"/>
                  <a:pt x="55563" y="59531"/>
                </a:cubicBezTo>
                <a:cubicBezTo>
                  <a:pt x="55563" y="55150"/>
                  <a:pt x="59119" y="51594"/>
                  <a:pt x="63500" y="51594"/>
                </a:cubicBezTo>
                <a:close/>
                <a:moveTo>
                  <a:pt x="87313" y="59531"/>
                </a:moveTo>
                <a:cubicBezTo>
                  <a:pt x="87313" y="55150"/>
                  <a:pt x="90869" y="51594"/>
                  <a:pt x="95250" y="51594"/>
                </a:cubicBezTo>
                <a:cubicBezTo>
                  <a:pt x="99631" y="51594"/>
                  <a:pt x="103188" y="55150"/>
                  <a:pt x="103188" y="59531"/>
                </a:cubicBezTo>
                <a:cubicBezTo>
                  <a:pt x="103188" y="63912"/>
                  <a:pt x="99631" y="67469"/>
                  <a:pt x="95250" y="67469"/>
                </a:cubicBezTo>
                <a:cubicBezTo>
                  <a:pt x="90869" y="67469"/>
                  <a:pt x="87313" y="63912"/>
                  <a:pt x="87313" y="59531"/>
                </a:cubicBezTo>
                <a:close/>
              </a:path>
            </a:pathLst>
          </a:custGeom>
          <a:solidFill>
            <a:srgbClr val="C8A265"/>
          </a:solidFill>
          <a:ln/>
        </p:spPr>
      </p:sp>
      <p:sp>
        <p:nvSpPr>
          <p:cNvPr id="35" name="Text 33"/>
          <p:cNvSpPr/>
          <p:nvPr/>
        </p:nvSpPr>
        <p:spPr>
          <a:xfrm>
            <a:off x="4738688" y="3317875"/>
            <a:ext cx="500063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5" b="1" dirty="0">
                <a:solidFill>
                  <a:srgbClr val="E0E2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GPT-4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4516438" y="3603625"/>
            <a:ext cx="3222625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000" dirty="0">
                <a:solidFill>
                  <a:srgbClr val="788A9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Generación de texto coherente y contextual para chatbots, escritura creativa y código.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4389438" y="4175125"/>
            <a:ext cx="3413125" cy="889000"/>
          </a:xfrm>
          <a:custGeom>
            <a:avLst/>
            <a:gdLst/>
            <a:ahLst/>
            <a:cxnLst/>
            <a:rect l="l" t="t" r="r" b="b"/>
            <a:pathLst>
              <a:path w="3413125" h="889000">
                <a:moveTo>
                  <a:pt x="63501" y="0"/>
                </a:moveTo>
                <a:lnTo>
                  <a:pt x="3349624" y="0"/>
                </a:lnTo>
                <a:cubicBezTo>
                  <a:pt x="3384695" y="0"/>
                  <a:pt x="3413125" y="28430"/>
                  <a:pt x="3413125" y="63501"/>
                </a:cubicBezTo>
                <a:lnTo>
                  <a:pt x="3413125" y="825499"/>
                </a:lnTo>
                <a:cubicBezTo>
                  <a:pt x="3413125" y="860570"/>
                  <a:pt x="3384695" y="889000"/>
                  <a:pt x="3349624" y="889000"/>
                </a:cubicBezTo>
                <a:lnTo>
                  <a:pt x="63501" y="889000"/>
                </a:lnTo>
                <a:cubicBezTo>
                  <a:pt x="28430" y="889000"/>
                  <a:pt x="0" y="860570"/>
                  <a:pt x="0" y="825499"/>
                </a:cubicBezTo>
                <a:lnTo>
                  <a:pt x="0" y="63501"/>
                </a:lnTo>
                <a:cubicBezTo>
                  <a:pt x="0" y="28454"/>
                  <a:pt x="28454" y="0"/>
                  <a:pt x="63501" y="0"/>
                </a:cubicBezTo>
                <a:close/>
              </a:path>
            </a:pathLst>
          </a:custGeom>
          <a:solidFill>
            <a:srgbClr val="4A6D8C">
              <a:alpha val="20000"/>
            </a:srgbClr>
          </a:solidFill>
          <a:ln/>
        </p:spPr>
      </p:sp>
      <p:sp>
        <p:nvSpPr>
          <p:cNvPr id="38" name="Shape 36"/>
          <p:cNvSpPr/>
          <p:nvPr/>
        </p:nvSpPr>
        <p:spPr>
          <a:xfrm>
            <a:off x="4532313" y="4349750"/>
            <a:ext cx="127000" cy="127000"/>
          </a:xfrm>
          <a:custGeom>
            <a:avLst/>
            <a:gdLst/>
            <a:ahLst/>
            <a:cxnLst/>
            <a:rect l="l" t="t" r="r" b="b"/>
            <a:pathLst>
              <a:path w="127000" h="127000">
                <a:moveTo>
                  <a:pt x="127000" y="63500"/>
                </a:moveTo>
                <a:cubicBezTo>
                  <a:pt x="127000" y="63723"/>
                  <a:pt x="127000" y="63946"/>
                  <a:pt x="127000" y="64170"/>
                </a:cubicBezTo>
                <a:cubicBezTo>
                  <a:pt x="126901" y="73223"/>
                  <a:pt x="118666" y="79375"/>
                  <a:pt x="109612" y="79375"/>
                </a:cubicBezTo>
                <a:lnTo>
                  <a:pt x="85328" y="79375"/>
                </a:lnTo>
                <a:cubicBezTo>
                  <a:pt x="78755" y="79375"/>
                  <a:pt x="73422" y="84708"/>
                  <a:pt x="73422" y="91281"/>
                </a:cubicBezTo>
                <a:cubicBezTo>
                  <a:pt x="73422" y="92125"/>
                  <a:pt x="73521" y="92943"/>
                  <a:pt x="73670" y="93737"/>
                </a:cubicBezTo>
                <a:cubicBezTo>
                  <a:pt x="74191" y="96267"/>
                  <a:pt x="75282" y="98698"/>
                  <a:pt x="76349" y="101154"/>
                </a:cubicBezTo>
                <a:cubicBezTo>
                  <a:pt x="77862" y="104577"/>
                  <a:pt x="79350" y="107975"/>
                  <a:pt x="79350" y="111571"/>
                </a:cubicBezTo>
                <a:cubicBezTo>
                  <a:pt x="79350" y="119459"/>
                  <a:pt x="73992" y="126628"/>
                  <a:pt x="66104" y="126950"/>
                </a:cubicBezTo>
                <a:cubicBezTo>
                  <a:pt x="65236" y="126975"/>
                  <a:pt x="64368" y="127000"/>
                  <a:pt x="63475" y="127000"/>
                </a:cubicBezTo>
                <a:cubicBezTo>
                  <a:pt x="28401" y="127000"/>
                  <a:pt x="-25" y="98574"/>
                  <a:pt x="-25" y="63500"/>
                </a:cubicBezTo>
                <a:cubicBezTo>
                  <a:pt x="-25" y="28426"/>
                  <a:pt x="28426" y="0"/>
                  <a:pt x="63500" y="0"/>
                </a:cubicBezTo>
                <a:cubicBezTo>
                  <a:pt x="98574" y="0"/>
                  <a:pt x="127000" y="28426"/>
                  <a:pt x="127000" y="63500"/>
                </a:cubicBezTo>
                <a:close/>
                <a:moveTo>
                  <a:pt x="31750" y="71438"/>
                </a:moveTo>
                <a:cubicBezTo>
                  <a:pt x="31750" y="67057"/>
                  <a:pt x="28193" y="63500"/>
                  <a:pt x="23812" y="63500"/>
                </a:cubicBezTo>
                <a:cubicBezTo>
                  <a:pt x="19432" y="63500"/>
                  <a:pt x="15875" y="67057"/>
                  <a:pt x="15875" y="71438"/>
                </a:cubicBezTo>
                <a:cubicBezTo>
                  <a:pt x="15875" y="75818"/>
                  <a:pt x="19432" y="79375"/>
                  <a:pt x="23812" y="79375"/>
                </a:cubicBezTo>
                <a:cubicBezTo>
                  <a:pt x="28193" y="79375"/>
                  <a:pt x="31750" y="75818"/>
                  <a:pt x="31750" y="71438"/>
                </a:cubicBezTo>
                <a:close/>
                <a:moveTo>
                  <a:pt x="31750" y="47625"/>
                </a:moveTo>
                <a:cubicBezTo>
                  <a:pt x="36131" y="47625"/>
                  <a:pt x="39688" y="44068"/>
                  <a:pt x="39688" y="39688"/>
                </a:cubicBezTo>
                <a:cubicBezTo>
                  <a:pt x="39688" y="35307"/>
                  <a:pt x="36131" y="31750"/>
                  <a:pt x="31750" y="31750"/>
                </a:cubicBezTo>
                <a:cubicBezTo>
                  <a:pt x="27369" y="31750"/>
                  <a:pt x="23812" y="35307"/>
                  <a:pt x="23812" y="39688"/>
                </a:cubicBezTo>
                <a:cubicBezTo>
                  <a:pt x="23812" y="44068"/>
                  <a:pt x="27369" y="47625"/>
                  <a:pt x="31750" y="47625"/>
                </a:cubicBezTo>
                <a:close/>
                <a:moveTo>
                  <a:pt x="71438" y="23812"/>
                </a:moveTo>
                <a:cubicBezTo>
                  <a:pt x="71438" y="19432"/>
                  <a:pt x="67881" y="15875"/>
                  <a:pt x="63500" y="15875"/>
                </a:cubicBezTo>
                <a:cubicBezTo>
                  <a:pt x="59119" y="15875"/>
                  <a:pt x="55563" y="19432"/>
                  <a:pt x="55563" y="23812"/>
                </a:cubicBezTo>
                <a:cubicBezTo>
                  <a:pt x="55563" y="28193"/>
                  <a:pt x="59119" y="31750"/>
                  <a:pt x="63500" y="31750"/>
                </a:cubicBezTo>
                <a:cubicBezTo>
                  <a:pt x="67881" y="31750"/>
                  <a:pt x="71438" y="28193"/>
                  <a:pt x="71438" y="23812"/>
                </a:cubicBezTo>
                <a:close/>
                <a:moveTo>
                  <a:pt x="95250" y="47625"/>
                </a:moveTo>
                <a:cubicBezTo>
                  <a:pt x="99631" y="47625"/>
                  <a:pt x="103188" y="44068"/>
                  <a:pt x="103188" y="39688"/>
                </a:cubicBezTo>
                <a:cubicBezTo>
                  <a:pt x="103188" y="35307"/>
                  <a:pt x="99631" y="31750"/>
                  <a:pt x="95250" y="31750"/>
                </a:cubicBezTo>
                <a:cubicBezTo>
                  <a:pt x="90869" y="31750"/>
                  <a:pt x="87313" y="35307"/>
                  <a:pt x="87313" y="39688"/>
                </a:cubicBezTo>
                <a:cubicBezTo>
                  <a:pt x="87313" y="44068"/>
                  <a:pt x="90869" y="47625"/>
                  <a:pt x="95250" y="47625"/>
                </a:cubicBezTo>
                <a:close/>
              </a:path>
            </a:pathLst>
          </a:custGeom>
          <a:solidFill>
            <a:srgbClr val="C8A265"/>
          </a:solidFill>
          <a:ln/>
        </p:spPr>
      </p:sp>
      <p:sp>
        <p:nvSpPr>
          <p:cNvPr id="39" name="Text 37"/>
          <p:cNvSpPr/>
          <p:nvPr/>
        </p:nvSpPr>
        <p:spPr>
          <a:xfrm>
            <a:off x="4738688" y="4302125"/>
            <a:ext cx="714375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5" b="1" dirty="0">
                <a:solidFill>
                  <a:srgbClr val="E0E2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DALL·E 3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4516438" y="4587875"/>
            <a:ext cx="3222625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000" dirty="0">
                <a:solidFill>
                  <a:srgbClr val="788A9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Generación de imágenes realistas y artísticas a partir de descripciones textuales.</a:t>
            </a:r>
            <a:endParaRPr lang="en-US" sz="1600" dirty="0"/>
          </a:p>
        </p:txBody>
      </p:sp>
      <p:sp>
        <p:nvSpPr>
          <p:cNvPr id="41" name="Shape 39"/>
          <p:cNvSpPr/>
          <p:nvPr/>
        </p:nvSpPr>
        <p:spPr>
          <a:xfrm>
            <a:off x="4389438" y="5159375"/>
            <a:ext cx="3413125" cy="889000"/>
          </a:xfrm>
          <a:custGeom>
            <a:avLst/>
            <a:gdLst/>
            <a:ahLst/>
            <a:cxnLst/>
            <a:rect l="l" t="t" r="r" b="b"/>
            <a:pathLst>
              <a:path w="3413125" h="889000">
                <a:moveTo>
                  <a:pt x="63501" y="0"/>
                </a:moveTo>
                <a:lnTo>
                  <a:pt x="3349624" y="0"/>
                </a:lnTo>
                <a:cubicBezTo>
                  <a:pt x="3384695" y="0"/>
                  <a:pt x="3413125" y="28430"/>
                  <a:pt x="3413125" y="63501"/>
                </a:cubicBezTo>
                <a:lnTo>
                  <a:pt x="3413125" y="825499"/>
                </a:lnTo>
                <a:cubicBezTo>
                  <a:pt x="3413125" y="860570"/>
                  <a:pt x="3384695" y="889000"/>
                  <a:pt x="3349624" y="889000"/>
                </a:cubicBezTo>
                <a:lnTo>
                  <a:pt x="63501" y="889000"/>
                </a:lnTo>
                <a:cubicBezTo>
                  <a:pt x="28430" y="889000"/>
                  <a:pt x="0" y="860570"/>
                  <a:pt x="0" y="825499"/>
                </a:cubicBezTo>
                <a:lnTo>
                  <a:pt x="0" y="63501"/>
                </a:lnTo>
                <a:cubicBezTo>
                  <a:pt x="0" y="28454"/>
                  <a:pt x="28454" y="0"/>
                  <a:pt x="63501" y="0"/>
                </a:cubicBezTo>
                <a:close/>
              </a:path>
            </a:pathLst>
          </a:custGeom>
          <a:solidFill>
            <a:srgbClr val="4A6D8C">
              <a:alpha val="20000"/>
            </a:srgbClr>
          </a:solidFill>
          <a:ln/>
        </p:spPr>
      </p:sp>
      <p:sp>
        <p:nvSpPr>
          <p:cNvPr id="42" name="Shape 40"/>
          <p:cNvSpPr/>
          <p:nvPr/>
        </p:nvSpPr>
        <p:spPr>
          <a:xfrm>
            <a:off x="4532313" y="5334000"/>
            <a:ext cx="127000" cy="127000"/>
          </a:xfrm>
          <a:custGeom>
            <a:avLst/>
            <a:gdLst/>
            <a:ahLst/>
            <a:cxnLst/>
            <a:rect l="l" t="t" r="r" b="b"/>
            <a:pathLst>
              <a:path w="127000" h="127000">
                <a:moveTo>
                  <a:pt x="71438" y="7938"/>
                </a:moveTo>
                <a:cubicBezTo>
                  <a:pt x="71438" y="12328"/>
                  <a:pt x="74985" y="15875"/>
                  <a:pt x="79375" y="15875"/>
                </a:cubicBezTo>
                <a:lnTo>
                  <a:pt x="89297" y="15875"/>
                </a:lnTo>
                <a:cubicBezTo>
                  <a:pt x="92596" y="15875"/>
                  <a:pt x="95250" y="18529"/>
                  <a:pt x="95250" y="21828"/>
                </a:cubicBezTo>
                <a:cubicBezTo>
                  <a:pt x="95250" y="25127"/>
                  <a:pt x="92596" y="27781"/>
                  <a:pt x="89297" y="27781"/>
                </a:cubicBezTo>
                <a:lnTo>
                  <a:pt x="7938" y="27781"/>
                </a:lnTo>
                <a:cubicBezTo>
                  <a:pt x="3547" y="27781"/>
                  <a:pt x="0" y="31328"/>
                  <a:pt x="0" y="35719"/>
                </a:cubicBezTo>
                <a:cubicBezTo>
                  <a:pt x="0" y="40109"/>
                  <a:pt x="3547" y="43656"/>
                  <a:pt x="7938" y="43656"/>
                </a:cubicBezTo>
                <a:lnTo>
                  <a:pt x="89297" y="43656"/>
                </a:lnTo>
                <a:cubicBezTo>
                  <a:pt x="101352" y="43656"/>
                  <a:pt x="111125" y="33883"/>
                  <a:pt x="111125" y="21828"/>
                </a:cubicBezTo>
                <a:cubicBezTo>
                  <a:pt x="111125" y="9773"/>
                  <a:pt x="101352" y="0"/>
                  <a:pt x="89297" y="0"/>
                </a:cubicBezTo>
                <a:lnTo>
                  <a:pt x="79375" y="0"/>
                </a:lnTo>
                <a:cubicBezTo>
                  <a:pt x="74985" y="0"/>
                  <a:pt x="71438" y="3547"/>
                  <a:pt x="71438" y="7938"/>
                </a:cubicBezTo>
                <a:close/>
                <a:moveTo>
                  <a:pt x="87313" y="95250"/>
                </a:moveTo>
                <a:cubicBezTo>
                  <a:pt x="87313" y="99640"/>
                  <a:pt x="90860" y="103188"/>
                  <a:pt x="95250" y="103188"/>
                </a:cubicBezTo>
                <a:lnTo>
                  <a:pt x="103188" y="103188"/>
                </a:lnTo>
                <a:cubicBezTo>
                  <a:pt x="116334" y="103188"/>
                  <a:pt x="127000" y="92521"/>
                  <a:pt x="127000" y="79375"/>
                </a:cubicBezTo>
                <a:cubicBezTo>
                  <a:pt x="127000" y="66229"/>
                  <a:pt x="116334" y="55563"/>
                  <a:pt x="103188" y="55563"/>
                </a:cubicBezTo>
                <a:lnTo>
                  <a:pt x="7938" y="55563"/>
                </a:lnTo>
                <a:cubicBezTo>
                  <a:pt x="3547" y="55563"/>
                  <a:pt x="0" y="59110"/>
                  <a:pt x="0" y="63500"/>
                </a:cubicBezTo>
                <a:cubicBezTo>
                  <a:pt x="0" y="67890"/>
                  <a:pt x="3547" y="71438"/>
                  <a:pt x="7938" y="71438"/>
                </a:cubicBezTo>
                <a:lnTo>
                  <a:pt x="103188" y="71438"/>
                </a:lnTo>
                <a:cubicBezTo>
                  <a:pt x="107578" y="71438"/>
                  <a:pt x="111125" y="74985"/>
                  <a:pt x="111125" y="79375"/>
                </a:cubicBezTo>
                <a:cubicBezTo>
                  <a:pt x="111125" y="83765"/>
                  <a:pt x="107578" y="87313"/>
                  <a:pt x="103188" y="87313"/>
                </a:cubicBezTo>
                <a:lnTo>
                  <a:pt x="95250" y="87313"/>
                </a:lnTo>
                <a:cubicBezTo>
                  <a:pt x="90860" y="87313"/>
                  <a:pt x="87313" y="90860"/>
                  <a:pt x="87313" y="95250"/>
                </a:cubicBezTo>
                <a:close/>
                <a:moveTo>
                  <a:pt x="31750" y="127000"/>
                </a:moveTo>
                <a:lnTo>
                  <a:pt x="41672" y="127000"/>
                </a:lnTo>
                <a:cubicBezTo>
                  <a:pt x="53727" y="127000"/>
                  <a:pt x="63500" y="117227"/>
                  <a:pt x="63500" y="105172"/>
                </a:cubicBezTo>
                <a:cubicBezTo>
                  <a:pt x="63500" y="93117"/>
                  <a:pt x="53727" y="83344"/>
                  <a:pt x="41672" y="83344"/>
                </a:cubicBezTo>
                <a:lnTo>
                  <a:pt x="7938" y="83344"/>
                </a:lnTo>
                <a:cubicBezTo>
                  <a:pt x="3547" y="83344"/>
                  <a:pt x="0" y="86891"/>
                  <a:pt x="0" y="91281"/>
                </a:cubicBezTo>
                <a:cubicBezTo>
                  <a:pt x="0" y="95672"/>
                  <a:pt x="3547" y="99219"/>
                  <a:pt x="7938" y="99219"/>
                </a:cubicBezTo>
                <a:lnTo>
                  <a:pt x="41672" y="99219"/>
                </a:lnTo>
                <a:cubicBezTo>
                  <a:pt x="44971" y="99219"/>
                  <a:pt x="47625" y="101873"/>
                  <a:pt x="47625" y="105172"/>
                </a:cubicBezTo>
                <a:cubicBezTo>
                  <a:pt x="47625" y="108471"/>
                  <a:pt x="44971" y="111125"/>
                  <a:pt x="41672" y="111125"/>
                </a:cubicBezTo>
                <a:lnTo>
                  <a:pt x="31750" y="111125"/>
                </a:lnTo>
                <a:cubicBezTo>
                  <a:pt x="27360" y="111125"/>
                  <a:pt x="23812" y="114672"/>
                  <a:pt x="23812" y="119063"/>
                </a:cubicBezTo>
                <a:cubicBezTo>
                  <a:pt x="23812" y="123453"/>
                  <a:pt x="27360" y="127000"/>
                  <a:pt x="31750" y="127000"/>
                </a:cubicBezTo>
                <a:close/>
              </a:path>
            </a:pathLst>
          </a:custGeom>
          <a:solidFill>
            <a:srgbClr val="C8A265"/>
          </a:solidFill>
          <a:ln/>
        </p:spPr>
      </p:sp>
      <p:sp>
        <p:nvSpPr>
          <p:cNvPr id="43" name="Text 41"/>
          <p:cNvSpPr/>
          <p:nvPr/>
        </p:nvSpPr>
        <p:spPr>
          <a:xfrm>
            <a:off x="4738688" y="5286375"/>
            <a:ext cx="1111250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5" b="1" dirty="0">
                <a:solidFill>
                  <a:srgbClr val="E0E2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Stable Diffusion</a:t>
            </a:r>
            <a:endParaRPr lang="en-US" sz="1600" dirty="0"/>
          </a:p>
        </p:txBody>
      </p:sp>
      <p:sp>
        <p:nvSpPr>
          <p:cNvPr id="44" name="Text 42"/>
          <p:cNvSpPr/>
          <p:nvPr/>
        </p:nvSpPr>
        <p:spPr>
          <a:xfrm>
            <a:off x="4516438" y="5572125"/>
            <a:ext cx="3222625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000" dirty="0">
                <a:solidFill>
                  <a:srgbClr val="788A9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Modelo de difusión para generación de imágenes de código abierto.</a:t>
            </a:r>
            <a:endParaRPr lang="en-US" sz="1600" dirty="0"/>
          </a:p>
        </p:txBody>
      </p:sp>
      <p:sp>
        <p:nvSpPr>
          <p:cNvPr id="45" name="Shape 43"/>
          <p:cNvSpPr/>
          <p:nvPr/>
        </p:nvSpPr>
        <p:spPr>
          <a:xfrm>
            <a:off x="8131969" y="1916906"/>
            <a:ext cx="3738563" cy="4294188"/>
          </a:xfrm>
          <a:custGeom>
            <a:avLst/>
            <a:gdLst/>
            <a:ahLst/>
            <a:cxnLst/>
            <a:rect l="l" t="t" r="r" b="b"/>
            <a:pathLst>
              <a:path w="3738563" h="4294188">
                <a:moveTo>
                  <a:pt x="95259" y="0"/>
                </a:moveTo>
                <a:lnTo>
                  <a:pt x="3643304" y="0"/>
                </a:lnTo>
                <a:cubicBezTo>
                  <a:pt x="3695914" y="0"/>
                  <a:pt x="3738563" y="42649"/>
                  <a:pt x="3738563" y="95259"/>
                </a:cubicBezTo>
                <a:lnTo>
                  <a:pt x="3738563" y="4198929"/>
                </a:lnTo>
                <a:cubicBezTo>
                  <a:pt x="3738563" y="4251539"/>
                  <a:pt x="3695914" y="4294187"/>
                  <a:pt x="3643304" y="4294188"/>
                </a:cubicBezTo>
                <a:lnTo>
                  <a:pt x="95259" y="4294188"/>
                </a:lnTo>
                <a:cubicBezTo>
                  <a:pt x="42649" y="4294188"/>
                  <a:pt x="0" y="4251539"/>
                  <a:pt x="0" y="4198929"/>
                </a:cubicBezTo>
                <a:lnTo>
                  <a:pt x="0" y="95259"/>
                </a:lnTo>
                <a:cubicBezTo>
                  <a:pt x="0" y="42684"/>
                  <a:pt x="42684" y="0"/>
                  <a:pt x="95259" y="0"/>
                </a:cubicBezTo>
                <a:close/>
              </a:path>
            </a:pathLst>
          </a:custGeom>
          <a:solidFill>
            <a:srgbClr val="4A6D8C">
              <a:alpha val="10196"/>
            </a:srgbClr>
          </a:solidFill>
          <a:ln w="12700">
            <a:solidFill>
              <a:srgbClr val="4A6D8C">
                <a:alpha val="30196"/>
              </a:srgbClr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8294688" y="2079625"/>
            <a:ext cx="444500" cy="444500"/>
          </a:xfrm>
          <a:custGeom>
            <a:avLst/>
            <a:gdLst/>
            <a:ahLst/>
            <a:cxnLst/>
            <a:rect l="l" t="t" r="r" b="b"/>
            <a:pathLst>
              <a:path w="444500" h="444500">
                <a:moveTo>
                  <a:pt x="63501" y="0"/>
                </a:moveTo>
                <a:lnTo>
                  <a:pt x="380999" y="0"/>
                </a:lnTo>
                <a:cubicBezTo>
                  <a:pt x="416046" y="0"/>
                  <a:pt x="444500" y="28454"/>
                  <a:pt x="444500" y="63501"/>
                </a:cubicBezTo>
                <a:lnTo>
                  <a:pt x="444500" y="380999"/>
                </a:lnTo>
                <a:cubicBezTo>
                  <a:pt x="444500" y="416046"/>
                  <a:pt x="416046" y="444500"/>
                  <a:pt x="380999" y="444500"/>
                </a:cubicBezTo>
                <a:lnTo>
                  <a:pt x="63501" y="444500"/>
                </a:lnTo>
                <a:cubicBezTo>
                  <a:pt x="28454" y="444500"/>
                  <a:pt x="0" y="416046"/>
                  <a:pt x="0" y="380999"/>
                </a:cubicBezTo>
                <a:lnTo>
                  <a:pt x="0" y="63501"/>
                </a:lnTo>
                <a:cubicBezTo>
                  <a:pt x="0" y="28454"/>
                  <a:pt x="28454" y="0"/>
                  <a:pt x="63501" y="0"/>
                </a:cubicBezTo>
                <a:close/>
              </a:path>
            </a:pathLst>
          </a:custGeom>
          <a:solidFill>
            <a:srgbClr val="C8A265"/>
          </a:solidFill>
          <a:ln/>
        </p:spPr>
      </p:sp>
      <p:sp>
        <p:nvSpPr>
          <p:cNvPr id="47" name="Shape 45"/>
          <p:cNvSpPr/>
          <p:nvPr/>
        </p:nvSpPr>
        <p:spPr>
          <a:xfrm>
            <a:off x="8421688" y="2206625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169664" y="83344"/>
                </a:moveTo>
                <a:lnTo>
                  <a:pt x="116086" y="83344"/>
                </a:lnTo>
                <a:cubicBezTo>
                  <a:pt x="111137" y="83344"/>
                  <a:pt x="107156" y="79363"/>
                  <a:pt x="107156" y="74414"/>
                </a:cubicBezTo>
                <a:lnTo>
                  <a:pt x="107156" y="20836"/>
                </a:lnTo>
                <a:cubicBezTo>
                  <a:pt x="107156" y="17227"/>
                  <a:pt x="109314" y="13953"/>
                  <a:pt x="112663" y="12576"/>
                </a:cubicBezTo>
                <a:cubicBezTo>
                  <a:pt x="116012" y="11199"/>
                  <a:pt x="119844" y="11981"/>
                  <a:pt x="122411" y="14511"/>
                </a:cubicBezTo>
                <a:lnTo>
                  <a:pt x="137294" y="29394"/>
                </a:lnTo>
                <a:lnTo>
                  <a:pt x="164604" y="2084"/>
                </a:lnTo>
                <a:cubicBezTo>
                  <a:pt x="165943" y="744"/>
                  <a:pt x="167767" y="0"/>
                  <a:pt x="169664" y="0"/>
                </a:cubicBezTo>
                <a:cubicBezTo>
                  <a:pt x="171562" y="0"/>
                  <a:pt x="173385" y="744"/>
                  <a:pt x="174761" y="2121"/>
                </a:cubicBezTo>
                <a:lnTo>
                  <a:pt x="188416" y="15776"/>
                </a:lnTo>
                <a:cubicBezTo>
                  <a:pt x="189756" y="17115"/>
                  <a:pt x="190500" y="18938"/>
                  <a:pt x="190500" y="20836"/>
                </a:cubicBezTo>
                <a:cubicBezTo>
                  <a:pt x="190500" y="22733"/>
                  <a:pt x="189756" y="24557"/>
                  <a:pt x="188379" y="25933"/>
                </a:cubicBezTo>
                <a:lnTo>
                  <a:pt x="161106" y="53206"/>
                </a:lnTo>
                <a:lnTo>
                  <a:pt x="175989" y="68089"/>
                </a:lnTo>
                <a:cubicBezTo>
                  <a:pt x="178557" y="70656"/>
                  <a:pt x="179301" y="74488"/>
                  <a:pt x="177924" y="77837"/>
                </a:cubicBezTo>
                <a:cubicBezTo>
                  <a:pt x="176547" y="81186"/>
                  <a:pt x="173273" y="83344"/>
                  <a:pt x="169664" y="83344"/>
                </a:cubicBezTo>
                <a:close/>
                <a:moveTo>
                  <a:pt x="169664" y="107156"/>
                </a:moveTo>
                <a:cubicBezTo>
                  <a:pt x="173273" y="107156"/>
                  <a:pt x="176547" y="109314"/>
                  <a:pt x="177924" y="112663"/>
                </a:cubicBezTo>
                <a:cubicBezTo>
                  <a:pt x="179301" y="116012"/>
                  <a:pt x="178557" y="119844"/>
                  <a:pt x="175989" y="122411"/>
                </a:cubicBezTo>
                <a:lnTo>
                  <a:pt x="161106" y="137294"/>
                </a:lnTo>
                <a:lnTo>
                  <a:pt x="188416" y="164604"/>
                </a:lnTo>
                <a:cubicBezTo>
                  <a:pt x="189756" y="165943"/>
                  <a:pt x="190537" y="167767"/>
                  <a:pt x="190537" y="169701"/>
                </a:cubicBezTo>
                <a:cubicBezTo>
                  <a:pt x="190537" y="171636"/>
                  <a:pt x="189793" y="173422"/>
                  <a:pt x="188416" y="174799"/>
                </a:cubicBezTo>
                <a:lnTo>
                  <a:pt x="174761" y="188454"/>
                </a:lnTo>
                <a:cubicBezTo>
                  <a:pt x="173385" y="189756"/>
                  <a:pt x="171562" y="190500"/>
                  <a:pt x="169664" y="190500"/>
                </a:cubicBezTo>
                <a:cubicBezTo>
                  <a:pt x="167767" y="190500"/>
                  <a:pt x="165943" y="189756"/>
                  <a:pt x="164567" y="188379"/>
                </a:cubicBezTo>
                <a:lnTo>
                  <a:pt x="137294" y="161106"/>
                </a:lnTo>
                <a:lnTo>
                  <a:pt x="122411" y="175989"/>
                </a:lnTo>
                <a:cubicBezTo>
                  <a:pt x="119844" y="178557"/>
                  <a:pt x="116012" y="179301"/>
                  <a:pt x="112663" y="177924"/>
                </a:cubicBezTo>
                <a:cubicBezTo>
                  <a:pt x="109314" y="176547"/>
                  <a:pt x="107156" y="173273"/>
                  <a:pt x="107156" y="169664"/>
                </a:cubicBezTo>
                <a:lnTo>
                  <a:pt x="107156" y="116086"/>
                </a:lnTo>
                <a:cubicBezTo>
                  <a:pt x="107156" y="111137"/>
                  <a:pt x="111137" y="107156"/>
                  <a:pt x="116086" y="107156"/>
                </a:cubicBezTo>
                <a:lnTo>
                  <a:pt x="169664" y="107156"/>
                </a:lnTo>
                <a:close/>
                <a:moveTo>
                  <a:pt x="74414" y="107156"/>
                </a:moveTo>
                <a:cubicBezTo>
                  <a:pt x="79363" y="107156"/>
                  <a:pt x="83344" y="111137"/>
                  <a:pt x="83344" y="116086"/>
                </a:cubicBezTo>
                <a:lnTo>
                  <a:pt x="83344" y="169664"/>
                </a:lnTo>
                <a:cubicBezTo>
                  <a:pt x="83344" y="173273"/>
                  <a:pt x="81186" y="176547"/>
                  <a:pt x="77837" y="177924"/>
                </a:cubicBezTo>
                <a:cubicBezTo>
                  <a:pt x="74488" y="179301"/>
                  <a:pt x="70656" y="178557"/>
                  <a:pt x="68089" y="175989"/>
                </a:cubicBezTo>
                <a:lnTo>
                  <a:pt x="53206" y="161106"/>
                </a:lnTo>
                <a:lnTo>
                  <a:pt x="25896" y="188416"/>
                </a:lnTo>
                <a:cubicBezTo>
                  <a:pt x="24557" y="189756"/>
                  <a:pt x="22733" y="190500"/>
                  <a:pt x="20836" y="190500"/>
                </a:cubicBezTo>
                <a:cubicBezTo>
                  <a:pt x="18938" y="190500"/>
                  <a:pt x="17115" y="189756"/>
                  <a:pt x="15739" y="188379"/>
                </a:cubicBezTo>
                <a:lnTo>
                  <a:pt x="2121" y="174761"/>
                </a:lnTo>
                <a:cubicBezTo>
                  <a:pt x="744" y="173385"/>
                  <a:pt x="0" y="171562"/>
                  <a:pt x="0" y="169664"/>
                </a:cubicBezTo>
                <a:cubicBezTo>
                  <a:pt x="0" y="167767"/>
                  <a:pt x="744" y="165943"/>
                  <a:pt x="2121" y="164567"/>
                </a:cubicBezTo>
                <a:lnTo>
                  <a:pt x="29394" y="137294"/>
                </a:lnTo>
                <a:lnTo>
                  <a:pt x="14511" y="122411"/>
                </a:lnTo>
                <a:cubicBezTo>
                  <a:pt x="11943" y="119844"/>
                  <a:pt x="11199" y="116012"/>
                  <a:pt x="12576" y="112663"/>
                </a:cubicBezTo>
                <a:cubicBezTo>
                  <a:pt x="13953" y="109314"/>
                  <a:pt x="17227" y="107156"/>
                  <a:pt x="20836" y="107156"/>
                </a:cubicBezTo>
                <a:lnTo>
                  <a:pt x="74414" y="107156"/>
                </a:lnTo>
                <a:close/>
                <a:moveTo>
                  <a:pt x="20836" y="83344"/>
                </a:moveTo>
                <a:cubicBezTo>
                  <a:pt x="17227" y="83344"/>
                  <a:pt x="13953" y="81186"/>
                  <a:pt x="12576" y="77837"/>
                </a:cubicBezTo>
                <a:cubicBezTo>
                  <a:pt x="11199" y="74488"/>
                  <a:pt x="11981" y="70656"/>
                  <a:pt x="14511" y="68089"/>
                </a:cubicBezTo>
                <a:lnTo>
                  <a:pt x="29394" y="53206"/>
                </a:lnTo>
                <a:lnTo>
                  <a:pt x="2121" y="25933"/>
                </a:lnTo>
                <a:cubicBezTo>
                  <a:pt x="744" y="24557"/>
                  <a:pt x="0" y="22733"/>
                  <a:pt x="0" y="20836"/>
                </a:cubicBezTo>
                <a:cubicBezTo>
                  <a:pt x="0" y="18938"/>
                  <a:pt x="744" y="17115"/>
                  <a:pt x="2121" y="15739"/>
                </a:cubicBezTo>
                <a:lnTo>
                  <a:pt x="15739" y="2121"/>
                </a:lnTo>
                <a:cubicBezTo>
                  <a:pt x="17115" y="744"/>
                  <a:pt x="18938" y="0"/>
                  <a:pt x="20836" y="0"/>
                </a:cubicBezTo>
                <a:cubicBezTo>
                  <a:pt x="22733" y="0"/>
                  <a:pt x="24557" y="744"/>
                  <a:pt x="25933" y="2121"/>
                </a:cubicBezTo>
                <a:lnTo>
                  <a:pt x="53206" y="29394"/>
                </a:lnTo>
                <a:lnTo>
                  <a:pt x="68089" y="14511"/>
                </a:lnTo>
                <a:cubicBezTo>
                  <a:pt x="70656" y="11943"/>
                  <a:pt x="74488" y="11199"/>
                  <a:pt x="77837" y="12576"/>
                </a:cubicBezTo>
                <a:cubicBezTo>
                  <a:pt x="81186" y="13953"/>
                  <a:pt x="83344" y="17227"/>
                  <a:pt x="83344" y="20836"/>
                </a:cubicBezTo>
                <a:lnTo>
                  <a:pt x="83344" y="74414"/>
                </a:lnTo>
                <a:cubicBezTo>
                  <a:pt x="83344" y="79363"/>
                  <a:pt x="79363" y="83344"/>
                  <a:pt x="74414" y="83344"/>
                </a:cubicBezTo>
                <a:lnTo>
                  <a:pt x="20836" y="83344"/>
                </a:lnTo>
                <a:close/>
              </a:path>
            </a:pathLst>
          </a:custGeom>
          <a:solidFill>
            <a:srgbClr val="1A1D23"/>
          </a:solidFill>
          <a:ln/>
        </p:spPr>
      </p:sp>
      <p:sp>
        <p:nvSpPr>
          <p:cNvPr id="48" name="Text 46"/>
          <p:cNvSpPr/>
          <p:nvPr/>
        </p:nvSpPr>
        <p:spPr>
          <a:xfrm>
            <a:off x="8834438" y="2174875"/>
            <a:ext cx="5715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00" b="1" dirty="0">
                <a:solidFill>
                  <a:srgbClr val="E0E2E6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VAEs</a:t>
            </a:r>
            <a:endParaRPr lang="en-US" sz="1600" dirty="0"/>
          </a:p>
        </p:txBody>
      </p:sp>
      <p:sp>
        <p:nvSpPr>
          <p:cNvPr id="49" name="Text 47"/>
          <p:cNvSpPr/>
          <p:nvPr/>
        </p:nvSpPr>
        <p:spPr>
          <a:xfrm>
            <a:off x="8294688" y="2651125"/>
            <a:ext cx="3484563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5" b="1" dirty="0">
                <a:solidFill>
                  <a:srgbClr val="C8A26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Variational Autoencoders</a:t>
            </a:r>
            <a:endParaRPr lang="en-US" sz="1600" dirty="0"/>
          </a:p>
        </p:txBody>
      </p:sp>
      <p:sp>
        <p:nvSpPr>
          <p:cNvPr id="50" name="Text 48"/>
          <p:cNvSpPr/>
          <p:nvPr/>
        </p:nvSpPr>
        <p:spPr>
          <a:xfrm>
            <a:off x="8294688" y="2936875"/>
            <a:ext cx="3476625" cy="412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00" dirty="0">
                <a:solidFill>
                  <a:srgbClr val="788A9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Redes que aprenden </a:t>
            </a:r>
            <a:pPr>
              <a:lnSpc>
                <a:spcPct val="140000"/>
              </a:lnSpc>
            </a:pPr>
            <a:r>
              <a:rPr lang="en-US" sz="1000" dirty="0">
                <a:solidFill>
                  <a:srgbClr val="E0E2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representaciones latentes</a:t>
            </a:r>
            <a:pPr>
              <a:lnSpc>
                <a:spcPct val="140000"/>
              </a:lnSpc>
            </a:pPr>
            <a:r>
              <a:rPr lang="en-US" sz="1000" dirty="0">
                <a:solidFill>
                  <a:srgbClr val="788A9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de datos para generar nuevas muestras similares.</a:t>
            </a:r>
            <a:endParaRPr lang="en-US" sz="1600" dirty="0"/>
          </a:p>
        </p:txBody>
      </p:sp>
      <p:sp>
        <p:nvSpPr>
          <p:cNvPr id="51" name="Shape 49"/>
          <p:cNvSpPr/>
          <p:nvPr/>
        </p:nvSpPr>
        <p:spPr>
          <a:xfrm>
            <a:off x="8294688" y="3476625"/>
            <a:ext cx="3413125" cy="571500"/>
          </a:xfrm>
          <a:custGeom>
            <a:avLst/>
            <a:gdLst/>
            <a:ahLst/>
            <a:cxnLst/>
            <a:rect l="l" t="t" r="r" b="b"/>
            <a:pathLst>
              <a:path w="3413125" h="571500">
                <a:moveTo>
                  <a:pt x="63499" y="0"/>
                </a:moveTo>
                <a:lnTo>
                  <a:pt x="3349626" y="0"/>
                </a:lnTo>
                <a:cubicBezTo>
                  <a:pt x="3384695" y="0"/>
                  <a:pt x="3413125" y="28430"/>
                  <a:pt x="3413125" y="63499"/>
                </a:cubicBezTo>
                <a:lnTo>
                  <a:pt x="3413125" y="508001"/>
                </a:lnTo>
                <a:cubicBezTo>
                  <a:pt x="3413125" y="543070"/>
                  <a:pt x="3384695" y="571500"/>
                  <a:pt x="3349626" y="571500"/>
                </a:cubicBezTo>
                <a:lnTo>
                  <a:pt x="63499" y="571500"/>
                </a:lnTo>
                <a:cubicBezTo>
                  <a:pt x="28430" y="571500"/>
                  <a:pt x="0" y="543070"/>
                  <a:pt x="0" y="508001"/>
                </a:cubicBezTo>
                <a:lnTo>
                  <a:pt x="0" y="63499"/>
                </a:lnTo>
                <a:cubicBezTo>
                  <a:pt x="0" y="28453"/>
                  <a:pt x="28453" y="0"/>
                  <a:pt x="63499" y="0"/>
                </a:cubicBezTo>
                <a:close/>
              </a:path>
            </a:pathLst>
          </a:custGeom>
          <a:solidFill>
            <a:srgbClr val="4A6D8C">
              <a:alpha val="20000"/>
            </a:srgbClr>
          </a:solidFill>
          <a:ln/>
        </p:spPr>
      </p:sp>
      <p:sp>
        <p:nvSpPr>
          <p:cNvPr id="52" name="Text 50"/>
          <p:cNvSpPr/>
          <p:nvPr/>
        </p:nvSpPr>
        <p:spPr>
          <a:xfrm>
            <a:off x="8389938" y="3571875"/>
            <a:ext cx="32861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E0E2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Encoder</a:t>
            </a:r>
            <a:endParaRPr lang="en-US" sz="1600" dirty="0"/>
          </a:p>
        </p:txBody>
      </p:sp>
      <p:sp>
        <p:nvSpPr>
          <p:cNvPr id="53" name="Text 51"/>
          <p:cNvSpPr/>
          <p:nvPr/>
        </p:nvSpPr>
        <p:spPr>
          <a:xfrm>
            <a:off x="8389938" y="3794125"/>
            <a:ext cx="3278188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788A9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Comprime datos a espacio latente</a:t>
            </a:r>
            <a:endParaRPr lang="en-US" sz="1600" dirty="0"/>
          </a:p>
        </p:txBody>
      </p:sp>
      <p:sp>
        <p:nvSpPr>
          <p:cNvPr id="54" name="Shape 52"/>
          <p:cNvSpPr/>
          <p:nvPr/>
        </p:nvSpPr>
        <p:spPr>
          <a:xfrm>
            <a:off x="8294688" y="4143375"/>
            <a:ext cx="3413125" cy="571500"/>
          </a:xfrm>
          <a:custGeom>
            <a:avLst/>
            <a:gdLst/>
            <a:ahLst/>
            <a:cxnLst/>
            <a:rect l="l" t="t" r="r" b="b"/>
            <a:pathLst>
              <a:path w="3413125" h="571500">
                <a:moveTo>
                  <a:pt x="63499" y="0"/>
                </a:moveTo>
                <a:lnTo>
                  <a:pt x="3349626" y="0"/>
                </a:lnTo>
                <a:cubicBezTo>
                  <a:pt x="3384695" y="0"/>
                  <a:pt x="3413125" y="28430"/>
                  <a:pt x="3413125" y="63499"/>
                </a:cubicBezTo>
                <a:lnTo>
                  <a:pt x="3413125" y="508001"/>
                </a:lnTo>
                <a:cubicBezTo>
                  <a:pt x="3413125" y="543070"/>
                  <a:pt x="3384695" y="571500"/>
                  <a:pt x="3349626" y="571500"/>
                </a:cubicBezTo>
                <a:lnTo>
                  <a:pt x="63499" y="571500"/>
                </a:lnTo>
                <a:cubicBezTo>
                  <a:pt x="28430" y="571500"/>
                  <a:pt x="0" y="543070"/>
                  <a:pt x="0" y="508001"/>
                </a:cubicBezTo>
                <a:lnTo>
                  <a:pt x="0" y="63499"/>
                </a:lnTo>
                <a:cubicBezTo>
                  <a:pt x="0" y="28453"/>
                  <a:pt x="28453" y="0"/>
                  <a:pt x="63499" y="0"/>
                </a:cubicBezTo>
                <a:close/>
              </a:path>
            </a:pathLst>
          </a:custGeom>
          <a:solidFill>
            <a:srgbClr val="4A6D8C">
              <a:alpha val="20000"/>
            </a:srgbClr>
          </a:solidFill>
          <a:ln/>
        </p:spPr>
      </p:sp>
      <p:sp>
        <p:nvSpPr>
          <p:cNvPr id="55" name="Text 53"/>
          <p:cNvSpPr/>
          <p:nvPr/>
        </p:nvSpPr>
        <p:spPr>
          <a:xfrm>
            <a:off x="8389938" y="4238625"/>
            <a:ext cx="32861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E0E2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Decoder</a:t>
            </a:r>
            <a:endParaRPr lang="en-US" sz="1600" dirty="0"/>
          </a:p>
        </p:txBody>
      </p:sp>
      <p:sp>
        <p:nvSpPr>
          <p:cNvPr id="56" name="Text 54"/>
          <p:cNvSpPr/>
          <p:nvPr/>
        </p:nvSpPr>
        <p:spPr>
          <a:xfrm>
            <a:off x="8389938" y="4460875"/>
            <a:ext cx="3278188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788A9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Reconstruye datos desde latente</a:t>
            </a:r>
            <a:endParaRPr lang="en-US" sz="1600" dirty="0"/>
          </a:p>
        </p:txBody>
      </p:sp>
      <p:sp>
        <p:nvSpPr>
          <p:cNvPr id="57" name="Shape 55"/>
          <p:cNvSpPr/>
          <p:nvPr/>
        </p:nvSpPr>
        <p:spPr>
          <a:xfrm>
            <a:off x="8294688" y="4810125"/>
            <a:ext cx="3413125" cy="571500"/>
          </a:xfrm>
          <a:custGeom>
            <a:avLst/>
            <a:gdLst/>
            <a:ahLst/>
            <a:cxnLst/>
            <a:rect l="l" t="t" r="r" b="b"/>
            <a:pathLst>
              <a:path w="3413125" h="571500">
                <a:moveTo>
                  <a:pt x="63499" y="0"/>
                </a:moveTo>
                <a:lnTo>
                  <a:pt x="3349626" y="0"/>
                </a:lnTo>
                <a:cubicBezTo>
                  <a:pt x="3384695" y="0"/>
                  <a:pt x="3413125" y="28430"/>
                  <a:pt x="3413125" y="63499"/>
                </a:cubicBezTo>
                <a:lnTo>
                  <a:pt x="3413125" y="508001"/>
                </a:lnTo>
                <a:cubicBezTo>
                  <a:pt x="3413125" y="543070"/>
                  <a:pt x="3384695" y="571500"/>
                  <a:pt x="3349626" y="571500"/>
                </a:cubicBezTo>
                <a:lnTo>
                  <a:pt x="63499" y="571500"/>
                </a:lnTo>
                <a:cubicBezTo>
                  <a:pt x="28430" y="571500"/>
                  <a:pt x="0" y="543070"/>
                  <a:pt x="0" y="508001"/>
                </a:cubicBezTo>
                <a:lnTo>
                  <a:pt x="0" y="63499"/>
                </a:lnTo>
                <a:cubicBezTo>
                  <a:pt x="0" y="28453"/>
                  <a:pt x="28453" y="0"/>
                  <a:pt x="63499" y="0"/>
                </a:cubicBezTo>
                <a:close/>
              </a:path>
            </a:pathLst>
          </a:custGeom>
          <a:solidFill>
            <a:srgbClr val="4A6D8C">
              <a:alpha val="20000"/>
            </a:srgbClr>
          </a:solidFill>
          <a:ln/>
        </p:spPr>
      </p:sp>
      <p:sp>
        <p:nvSpPr>
          <p:cNvPr id="58" name="Text 56"/>
          <p:cNvSpPr/>
          <p:nvPr/>
        </p:nvSpPr>
        <p:spPr>
          <a:xfrm>
            <a:off x="8389938" y="4905375"/>
            <a:ext cx="32861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E0E2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Espacio Latente</a:t>
            </a:r>
            <a:endParaRPr lang="en-US" sz="1600" dirty="0"/>
          </a:p>
        </p:txBody>
      </p:sp>
      <p:sp>
        <p:nvSpPr>
          <p:cNvPr id="59" name="Text 57"/>
          <p:cNvSpPr/>
          <p:nvPr/>
        </p:nvSpPr>
        <p:spPr>
          <a:xfrm>
            <a:off x="8389938" y="5127625"/>
            <a:ext cx="3278188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788A9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Representación comprimida continua</a:t>
            </a:r>
            <a:endParaRPr lang="en-US" sz="1600" dirty="0"/>
          </a:p>
        </p:txBody>
      </p:sp>
      <p:sp>
        <p:nvSpPr>
          <p:cNvPr id="60" name="Shape 58"/>
          <p:cNvSpPr/>
          <p:nvPr/>
        </p:nvSpPr>
        <p:spPr>
          <a:xfrm>
            <a:off x="8298656" y="5528469"/>
            <a:ext cx="3405188" cy="515938"/>
          </a:xfrm>
          <a:custGeom>
            <a:avLst/>
            <a:gdLst/>
            <a:ahLst/>
            <a:cxnLst/>
            <a:rect l="l" t="t" r="r" b="b"/>
            <a:pathLst>
              <a:path w="3405188" h="515938">
                <a:moveTo>
                  <a:pt x="63502" y="0"/>
                </a:moveTo>
                <a:lnTo>
                  <a:pt x="3341686" y="0"/>
                </a:lnTo>
                <a:cubicBezTo>
                  <a:pt x="3376757" y="0"/>
                  <a:pt x="3405188" y="28431"/>
                  <a:pt x="3405188" y="63502"/>
                </a:cubicBezTo>
                <a:lnTo>
                  <a:pt x="3405188" y="452436"/>
                </a:lnTo>
                <a:cubicBezTo>
                  <a:pt x="3405187" y="487507"/>
                  <a:pt x="3376757" y="515938"/>
                  <a:pt x="3341686" y="515938"/>
                </a:cubicBezTo>
                <a:lnTo>
                  <a:pt x="63502" y="515938"/>
                </a:lnTo>
                <a:cubicBezTo>
                  <a:pt x="28431" y="515938"/>
                  <a:pt x="0" y="487507"/>
                  <a:pt x="0" y="452436"/>
                </a:cubicBezTo>
                <a:lnTo>
                  <a:pt x="0" y="63502"/>
                </a:lnTo>
                <a:cubicBezTo>
                  <a:pt x="0" y="28454"/>
                  <a:pt x="28454" y="0"/>
                  <a:pt x="63502" y="0"/>
                </a:cubicBezTo>
                <a:close/>
              </a:path>
            </a:pathLst>
          </a:custGeom>
          <a:solidFill>
            <a:srgbClr val="C8A265">
              <a:alpha val="10196"/>
            </a:srgbClr>
          </a:solidFill>
          <a:ln w="12700">
            <a:solidFill>
              <a:srgbClr val="C8A265">
                <a:alpha val="30196"/>
              </a:srgbClr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8397875" y="5627688"/>
            <a:ext cx="3262313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b="1" dirty="0">
                <a:solidFill>
                  <a:srgbClr val="C8A26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Usos: Generación de imágenes, interpolación, detección de anomalías</a:t>
            </a:r>
            <a:endParaRPr lang="en-US" sz="1600" dirty="0"/>
          </a:p>
        </p:txBody>
      </p:sp>
      <p:sp>
        <p:nvSpPr>
          <p:cNvPr id="62" name="Shape 60"/>
          <p:cNvSpPr/>
          <p:nvPr/>
        </p:nvSpPr>
        <p:spPr>
          <a:xfrm>
            <a:off x="321469" y="6346031"/>
            <a:ext cx="2786063" cy="801688"/>
          </a:xfrm>
          <a:custGeom>
            <a:avLst/>
            <a:gdLst/>
            <a:ahLst/>
            <a:cxnLst/>
            <a:rect l="l" t="t" r="r" b="b"/>
            <a:pathLst>
              <a:path w="2786063" h="801688">
                <a:moveTo>
                  <a:pt x="63502" y="0"/>
                </a:moveTo>
                <a:lnTo>
                  <a:pt x="2722561" y="0"/>
                </a:lnTo>
                <a:cubicBezTo>
                  <a:pt x="2757632" y="0"/>
                  <a:pt x="2786063" y="28431"/>
                  <a:pt x="2786063" y="63502"/>
                </a:cubicBezTo>
                <a:lnTo>
                  <a:pt x="2786063" y="738186"/>
                </a:lnTo>
                <a:cubicBezTo>
                  <a:pt x="2786063" y="773257"/>
                  <a:pt x="2757632" y="801688"/>
                  <a:pt x="2722561" y="801688"/>
                </a:cubicBezTo>
                <a:lnTo>
                  <a:pt x="63502" y="801688"/>
                </a:lnTo>
                <a:cubicBezTo>
                  <a:pt x="28431" y="801688"/>
                  <a:pt x="0" y="773257"/>
                  <a:pt x="0" y="738186"/>
                </a:cubicBezTo>
                <a:lnTo>
                  <a:pt x="0" y="63502"/>
                </a:lnTo>
                <a:cubicBezTo>
                  <a:pt x="0" y="28431"/>
                  <a:pt x="28431" y="0"/>
                  <a:pt x="63502" y="0"/>
                </a:cubicBezTo>
                <a:close/>
              </a:path>
            </a:pathLst>
          </a:custGeom>
          <a:solidFill>
            <a:srgbClr val="4A6D8C">
              <a:alpha val="10196"/>
            </a:srgbClr>
          </a:solidFill>
          <a:ln w="12700">
            <a:solidFill>
              <a:srgbClr val="4A6D8C">
                <a:alpha val="30196"/>
              </a:srgbClr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1643063" y="6445250"/>
            <a:ext cx="142875" cy="190500"/>
          </a:xfrm>
          <a:custGeom>
            <a:avLst/>
            <a:gdLst/>
            <a:ahLst/>
            <a:cxnLst/>
            <a:rect l="l" t="t" r="r" b="b"/>
            <a:pathLst>
              <a:path w="142875" h="190500">
                <a:moveTo>
                  <a:pt x="0" y="23812"/>
                </a:moveTo>
                <a:cubicBezTo>
                  <a:pt x="0" y="10678"/>
                  <a:pt x="10678" y="0"/>
                  <a:pt x="23812" y="0"/>
                </a:cubicBezTo>
                <a:lnTo>
                  <a:pt x="79437" y="0"/>
                </a:lnTo>
                <a:cubicBezTo>
                  <a:pt x="85762" y="0"/>
                  <a:pt x="91827" y="2493"/>
                  <a:pt x="96292" y="6958"/>
                </a:cubicBezTo>
                <a:lnTo>
                  <a:pt x="135917" y="46620"/>
                </a:lnTo>
                <a:cubicBezTo>
                  <a:pt x="140382" y="51085"/>
                  <a:pt x="142875" y="57150"/>
                  <a:pt x="142875" y="63475"/>
                </a:cubicBezTo>
                <a:lnTo>
                  <a:pt x="142875" y="166688"/>
                </a:lnTo>
                <a:cubicBezTo>
                  <a:pt x="142875" y="179822"/>
                  <a:pt x="132197" y="190500"/>
                  <a:pt x="119063" y="190500"/>
                </a:cubicBezTo>
                <a:lnTo>
                  <a:pt x="23812" y="190500"/>
                </a:lnTo>
                <a:cubicBezTo>
                  <a:pt x="10678" y="190500"/>
                  <a:pt x="0" y="179822"/>
                  <a:pt x="0" y="166688"/>
                </a:cubicBezTo>
                <a:lnTo>
                  <a:pt x="0" y="23812"/>
                </a:lnTo>
                <a:close/>
                <a:moveTo>
                  <a:pt x="77391" y="21766"/>
                </a:moveTo>
                <a:lnTo>
                  <a:pt x="77391" y="56555"/>
                </a:lnTo>
                <a:cubicBezTo>
                  <a:pt x="77391" y="61503"/>
                  <a:pt x="81372" y="65484"/>
                  <a:pt x="86320" y="65484"/>
                </a:cubicBezTo>
                <a:lnTo>
                  <a:pt x="121109" y="65484"/>
                </a:lnTo>
                <a:lnTo>
                  <a:pt x="77391" y="21766"/>
                </a:lnTo>
                <a:close/>
                <a:moveTo>
                  <a:pt x="44648" y="95250"/>
                </a:moveTo>
                <a:cubicBezTo>
                  <a:pt x="39700" y="95250"/>
                  <a:pt x="35719" y="99231"/>
                  <a:pt x="35719" y="104180"/>
                </a:cubicBezTo>
                <a:cubicBezTo>
                  <a:pt x="35719" y="109128"/>
                  <a:pt x="39700" y="113109"/>
                  <a:pt x="44648" y="113109"/>
                </a:cubicBezTo>
                <a:lnTo>
                  <a:pt x="98227" y="113109"/>
                </a:lnTo>
                <a:cubicBezTo>
                  <a:pt x="103175" y="113109"/>
                  <a:pt x="107156" y="109128"/>
                  <a:pt x="107156" y="104180"/>
                </a:cubicBezTo>
                <a:cubicBezTo>
                  <a:pt x="107156" y="99231"/>
                  <a:pt x="103175" y="95250"/>
                  <a:pt x="98227" y="95250"/>
                </a:cubicBezTo>
                <a:lnTo>
                  <a:pt x="44648" y="95250"/>
                </a:lnTo>
                <a:close/>
                <a:moveTo>
                  <a:pt x="44648" y="130969"/>
                </a:moveTo>
                <a:cubicBezTo>
                  <a:pt x="39700" y="130969"/>
                  <a:pt x="35719" y="134950"/>
                  <a:pt x="35719" y="139898"/>
                </a:cubicBezTo>
                <a:cubicBezTo>
                  <a:pt x="35719" y="144847"/>
                  <a:pt x="39700" y="148828"/>
                  <a:pt x="44648" y="148828"/>
                </a:cubicBezTo>
                <a:lnTo>
                  <a:pt x="98227" y="148828"/>
                </a:lnTo>
                <a:cubicBezTo>
                  <a:pt x="103175" y="148828"/>
                  <a:pt x="107156" y="144847"/>
                  <a:pt x="107156" y="139898"/>
                </a:cubicBezTo>
                <a:cubicBezTo>
                  <a:pt x="107156" y="134950"/>
                  <a:pt x="103175" y="130969"/>
                  <a:pt x="98227" y="130969"/>
                </a:cubicBezTo>
                <a:lnTo>
                  <a:pt x="44648" y="130969"/>
                </a:lnTo>
                <a:close/>
              </a:path>
            </a:pathLst>
          </a:custGeom>
          <a:solidFill>
            <a:srgbClr val="C8A265"/>
          </a:solidFill>
          <a:ln/>
        </p:spPr>
      </p:sp>
      <p:sp>
        <p:nvSpPr>
          <p:cNvPr id="64" name="Text 62"/>
          <p:cNvSpPr/>
          <p:nvPr/>
        </p:nvSpPr>
        <p:spPr>
          <a:xfrm>
            <a:off x="388938" y="6699250"/>
            <a:ext cx="26511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000" b="1" dirty="0">
                <a:solidFill>
                  <a:srgbClr val="E0E2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Texto</a:t>
            </a:r>
            <a:endParaRPr lang="en-US" sz="1600" dirty="0"/>
          </a:p>
        </p:txBody>
      </p:sp>
      <p:sp>
        <p:nvSpPr>
          <p:cNvPr id="65" name="Text 63"/>
          <p:cNvSpPr/>
          <p:nvPr/>
        </p:nvSpPr>
        <p:spPr>
          <a:xfrm>
            <a:off x="392906" y="6889750"/>
            <a:ext cx="2643188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875" dirty="0">
                <a:solidFill>
                  <a:srgbClr val="788A9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Artículos, código, poesía</a:t>
            </a:r>
            <a:endParaRPr lang="en-US" sz="1600" dirty="0"/>
          </a:p>
        </p:txBody>
      </p:sp>
      <p:sp>
        <p:nvSpPr>
          <p:cNvPr id="66" name="Shape 64"/>
          <p:cNvSpPr/>
          <p:nvPr/>
        </p:nvSpPr>
        <p:spPr>
          <a:xfrm>
            <a:off x="3242469" y="6346031"/>
            <a:ext cx="2786063" cy="801688"/>
          </a:xfrm>
          <a:custGeom>
            <a:avLst/>
            <a:gdLst/>
            <a:ahLst/>
            <a:cxnLst/>
            <a:rect l="l" t="t" r="r" b="b"/>
            <a:pathLst>
              <a:path w="2786063" h="801688">
                <a:moveTo>
                  <a:pt x="63502" y="0"/>
                </a:moveTo>
                <a:lnTo>
                  <a:pt x="2722561" y="0"/>
                </a:lnTo>
                <a:cubicBezTo>
                  <a:pt x="2757632" y="0"/>
                  <a:pt x="2786063" y="28431"/>
                  <a:pt x="2786063" y="63502"/>
                </a:cubicBezTo>
                <a:lnTo>
                  <a:pt x="2786063" y="738186"/>
                </a:lnTo>
                <a:cubicBezTo>
                  <a:pt x="2786063" y="773257"/>
                  <a:pt x="2757632" y="801688"/>
                  <a:pt x="2722561" y="801688"/>
                </a:cubicBezTo>
                <a:lnTo>
                  <a:pt x="63502" y="801688"/>
                </a:lnTo>
                <a:cubicBezTo>
                  <a:pt x="28431" y="801688"/>
                  <a:pt x="0" y="773257"/>
                  <a:pt x="0" y="738186"/>
                </a:cubicBezTo>
                <a:lnTo>
                  <a:pt x="0" y="63502"/>
                </a:lnTo>
                <a:cubicBezTo>
                  <a:pt x="0" y="28431"/>
                  <a:pt x="28431" y="0"/>
                  <a:pt x="63502" y="0"/>
                </a:cubicBezTo>
                <a:close/>
              </a:path>
            </a:pathLst>
          </a:custGeom>
          <a:solidFill>
            <a:srgbClr val="4A6D8C">
              <a:alpha val="10196"/>
            </a:srgbClr>
          </a:solidFill>
          <a:ln w="12700">
            <a:solidFill>
              <a:srgbClr val="4A6D8C">
                <a:alpha val="30196"/>
              </a:srgbClr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4552156" y="6445250"/>
            <a:ext cx="166688" cy="190500"/>
          </a:xfrm>
          <a:custGeom>
            <a:avLst/>
            <a:gdLst/>
            <a:ahLst/>
            <a:cxnLst/>
            <a:rect l="l" t="t" r="r" b="b"/>
            <a:pathLst>
              <a:path w="166688" h="190500">
                <a:moveTo>
                  <a:pt x="23812" y="11906"/>
                </a:moveTo>
                <a:cubicBezTo>
                  <a:pt x="10678" y="11906"/>
                  <a:pt x="0" y="22585"/>
                  <a:pt x="0" y="35719"/>
                </a:cubicBezTo>
                <a:lnTo>
                  <a:pt x="0" y="154781"/>
                </a:lnTo>
                <a:cubicBezTo>
                  <a:pt x="0" y="167915"/>
                  <a:pt x="10678" y="178594"/>
                  <a:pt x="23812" y="178594"/>
                </a:cubicBezTo>
                <a:lnTo>
                  <a:pt x="142875" y="178594"/>
                </a:lnTo>
                <a:cubicBezTo>
                  <a:pt x="156009" y="178594"/>
                  <a:pt x="166688" y="167915"/>
                  <a:pt x="166688" y="154781"/>
                </a:cubicBezTo>
                <a:lnTo>
                  <a:pt x="166688" y="35719"/>
                </a:lnTo>
                <a:cubicBezTo>
                  <a:pt x="166688" y="22585"/>
                  <a:pt x="156009" y="11906"/>
                  <a:pt x="142875" y="11906"/>
                </a:cubicBezTo>
                <a:lnTo>
                  <a:pt x="23812" y="11906"/>
                </a:lnTo>
                <a:close/>
                <a:moveTo>
                  <a:pt x="47625" y="41672"/>
                </a:moveTo>
                <a:cubicBezTo>
                  <a:pt x="57482" y="41672"/>
                  <a:pt x="65484" y="49674"/>
                  <a:pt x="65484" y="59531"/>
                </a:cubicBezTo>
                <a:cubicBezTo>
                  <a:pt x="65484" y="69388"/>
                  <a:pt x="57482" y="77391"/>
                  <a:pt x="47625" y="77391"/>
                </a:cubicBezTo>
                <a:cubicBezTo>
                  <a:pt x="37768" y="77391"/>
                  <a:pt x="29766" y="69388"/>
                  <a:pt x="29766" y="59531"/>
                </a:cubicBezTo>
                <a:cubicBezTo>
                  <a:pt x="29766" y="49674"/>
                  <a:pt x="37768" y="41672"/>
                  <a:pt x="47625" y="41672"/>
                </a:cubicBezTo>
                <a:close/>
                <a:moveTo>
                  <a:pt x="101203" y="83344"/>
                </a:moveTo>
                <a:cubicBezTo>
                  <a:pt x="104329" y="83344"/>
                  <a:pt x="107193" y="84981"/>
                  <a:pt x="108831" y="87623"/>
                </a:cubicBezTo>
                <a:lnTo>
                  <a:pt x="141573" y="141201"/>
                </a:lnTo>
                <a:cubicBezTo>
                  <a:pt x="143247" y="143954"/>
                  <a:pt x="143321" y="147414"/>
                  <a:pt x="141759" y="150242"/>
                </a:cubicBezTo>
                <a:cubicBezTo>
                  <a:pt x="140196" y="153070"/>
                  <a:pt x="137182" y="154781"/>
                  <a:pt x="133945" y="154781"/>
                </a:cubicBezTo>
                <a:lnTo>
                  <a:pt x="32742" y="154781"/>
                </a:lnTo>
                <a:cubicBezTo>
                  <a:pt x="29431" y="154781"/>
                  <a:pt x="26343" y="152921"/>
                  <a:pt x="24817" y="149982"/>
                </a:cubicBezTo>
                <a:cubicBezTo>
                  <a:pt x="23292" y="147042"/>
                  <a:pt x="23515" y="143470"/>
                  <a:pt x="25412" y="140754"/>
                </a:cubicBezTo>
                <a:lnTo>
                  <a:pt x="46248" y="110989"/>
                </a:lnTo>
                <a:cubicBezTo>
                  <a:pt x="47923" y="108607"/>
                  <a:pt x="50639" y="107193"/>
                  <a:pt x="53578" y="107193"/>
                </a:cubicBezTo>
                <a:cubicBezTo>
                  <a:pt x="56517" y="107193"/>
                  <a:pt x="59234" y="108607"/>
                  <a:pt x="60908" y="110989"/>
                </a:cubicBezTo>
                <a:lnTo>
                  <a:pt x="70731" y="125053"/>
                </a:lnTo>
                <a:lnTo>
                  <a:pt x="93576" y="87660"/>
                </a:lnTo>
                <a:cubicBezTo>
                  <a:pt x="95213" y="85018"/>
                  <a:pt x="98078" y="83381"/>
                  <a:pt x="101203" y="83381"/>
                </a:cubicBezTo>
                <a:close/>
              </a:path>
            </a:pathLst>
          </a:custGeom>
          <a:solidFill>
            <a:srgbClr val="C8A265"/>
          </a:solidFill>
          <a:ln/>
        </p:spPr>
      </p:sp>
      <p:sp>
        <p:nvSpPr>
          <p:cNvPr id="68" name="Text 66"/>
          <p:cNvSpPr/>
          <p:nvPr/>
        </p:nvSpPr>
        <p:spPr>
          <a:xfrm>
            <a:off x="3309938" y="6699250"/>
            <a:ext cx="26511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000" b="1" dirty="0">
                <a:solidFill>
                  <a:srgbClr val="E0E2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Imágenes</a:t>
            </a:r>
            <a:endParaRPr lang="en-US" sz="1600" dirty="0"/>
          </a:p>
        </p:txBody>
      </p:sp>
      <p:sp>
        <p:nvSpPr>
          <p:cNvPr id="69" name="Text 67"/>
          <p:cNvSpPr/>
          <p:nvPr/>
        </p:nvSpPr>
        <p:spPr>
          <a:xfrm>
            <a:off x="3313906" y="6889750"/>
            <a:ext cx="2643188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875" dirty="0">
                <a:solidFill>
                  <a:srgbClr val="788A9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Arte, diseño, fotos</a:t>
            </a:r>
            <a:endParaRPr lang="en-US" sz="1600" dirty="0"/>
          </a:p>
        </p:txBody>
      </p:sp>
      <p:sp>
        <p:nvSpPr>
          <p:cNvPr id="70" name="Shape 68"/>
          <p:cNvSpPr/>
          <p:nvPr/>
        </p:nvSpPr>
        <p:spPr>
          <a:xfrm>
            <a:off x="6163469" y="6346031"/>
            <a:ext cx="2786063" cy="801688"/>
          </a:xfrm>
          <a:custGeom>
            <a:avLst/>
            <a:gdLst/>
            <a:ahLst/>
            <a:cxnLst/>
            <a:rect l="l" t="t" r="r" b="b"/>
            <a:pathLst>
              <a:path w="2786063" h="801688">
                <a:moveTo>
                  <a:pt x="63502" y="0"/>
                </a:moveTo>
                <a:lnTo>
                  <a:pt x="2722561" y="0"/>
                </a:lnTo>
                <a:cubicBezTo>
                  <a:pt x="2757632" y="0"/>
                  <a:pt x="2786063" y="28431"/>
                  <a:pt x="2786063" y="63502"/>
                </a:cubicBezTo>
                <a:lnTo>
                  <a:pt x="2786063" y="738186"/>
                </a:lnTo>
                <a:cubicBezTo>
                  <a:pt x="2786063" y="773257"/>
                  <a:pt x="2757632" y="801688"/>
                  <a:pt x="2722561" y="801688"/>
                </a:cubicBezTo>
                <a:lnTo>
                  <a:pt x="63502" y="801688"/>
                </a:lnTo>
                <a:cubicBezTo>
                  <a:pt x="28431" y="801688"/>
                  <a:pt x="0" y="773257"/>
                  <a:pt x="0" y="738186"/>
                </a:cubicBezTo>
                <a:lnTo>
                  <a:pt x="0" y="63502"/>
                </a:lnTo>
                <a:cubicBezTo>
                  <a:pt x="0" y="28431"/>
                  <a:pt x="28431" y="0"/>
                  <a:pt x="63502" y="0"/>
                </a:cubicBezTo>
                <a:close/>
              </a:path>
            </a:pathLst>
          </a:custGeom>
          <a:solidFill>
            <a:srgbClr val="4A6D8C">
              <a:alpha val="10196"/>
            </a:srgbClr>
          </a:solidFill>
          <a:ln w="12700">
            <a:solidFill>
              <a:srgbClr val="4A6D8C">
                <a:alpha val="30196"/>
              </a:srgbClr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7461250" y="6445250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174129" y="2604"/>
                </a:moveTo>
                <a:cubicBezTo>
                  <a:pt x="176957" y="4874"/>
                  <a:pt x="178594" y="8297"/>
                  <a:pt x="178594" y="11906"/>
                </a:cubicBezTo>
                <a:lnTo>
                  <a:pt x="178594" y="125016"/>
                </a:lnTo>
                <a:cubicBezTo>
                  <a:pt x="178594" y="141461"/>
                  <a:pt x="162595" y="154781"/>
                  <a:pt x="142875" y="154781"/>
                </a:cubicBezTo>
                <a:cubicBezTo>
                  <a:pt x="123155" y="154781"/>
                  <a:pt x="107156" y="141461"/>
                  <a:pt x="107156" y="125016"/>
                </a:cubicBezTo>
                <a:cubicBezTo>
                  <a:pt x="107156" y="108570"/>
                  <a:pt x="123155" y="95250"/>
                  <a:pt x="142875" y="95250"/>
                </a:cubicBezTo>
                <a:cubicBezTo>
                  <a:pt x="147042" y="95250"/>
                  <a:pt x="151061" y="95845"/>
                  <a:pt x="154781" y="96962"/>
                </a:cubicBezTo>
                <a:lnTo>
                  <a:pt x="154781" y="53541"/>
                </a:lnTo>
                <a:lnTo>
                  <a:pt x="71438" y="72070"/>
                </a:lnTo>
                <a:lnTo>
                  <a:pt x="71438" y="148828"/>
                </a:lnTo>
                <a:cubicBezTo>
                  <a:pt x="71438" y="165274"/>
                  <a:pt x="55438" y="178594"/>
                  <a:pt x="35719" y="178594"/>
                </a:cubicBezTo>
                <a:cubicBezTo>
                  <a:pt x="15999" y="178594"/>
                  <a:pt x="0" y="165274"/>
                  <a:pt x="0" y="148828"/>
                </a:cubicBezTo>
                <a:cubicBezTo>
                  <a:pt x="0" y="132383"/>
                  <a:pt x="15999" y="119063"/>
                  <a:pt x="35719" y="119063"/>
                </a:cubicBezTo>
                <a:cubicBezTo>
                  <a:pt x="39886" y="119063"/>
                  <a:pt x="43904" y="119658"/>
                  <a:pt x="47625" y="120774"/>
                </a:cubicBezTo>
                <a:lnTo>
                  <a:pt x="47625" y="35719"/>
                </a:lnTo>
                <a:cubicBezTo>
                  <a:pt x="47625" y="30138"/>
                  <a:pt x="51495" y="25301"/>
                  <a:pt x="56964" y="24110"/>
                </a:cubicBezTo>
                <a:lnTo>
                  <a:pt x="164120" y="298"/>
                </a:lnTo>
                <a:cubicBezTo>
                  <a:pt x="167655" y="-484"/>
                  <a:pt x="171338" y="372"/>
                  <a:pt x="174166" y="2642"/>
                </a:cubicBezTo>
                <a:close/>
              </a:path>
            </a:pathLst>
          </a:custGeom>
          <a:solidFill>
            <a:srgbClr val="C8A265"/>
          </a:solidFill>
          <a:ln/>
        </p:spPr>
      </p:sp>
      <p:sp>
        <p:nvSpPr>
          <p:cNvPr id="72" name="Text 70"/>
          <p:cNvSpPr/>
          <p:nvPr/>
        </p:nvSpPr>
        <p:spPr>
          <a:xfrm>
            <a:off x="6230938" y="6699250"/>
            <a:ext cx="26511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000" b="1" dirty="0">
                <a:solidFill>
                  <a:srgbClr val="E0E2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Audio</a:t>
            </a:r>
            <a:endParaRPr lang="en-US" sz="1600" dirty="0"/>
          </a:p>
        </p:txBody>
      </p:sp>
      <p:sp>
        <p:nvSpPr>
          <p:cNvPr id="73" name="Text 71"/>
          <p:cNvSpPr/>
          <p:nvPr/>
        </p:nvSpPr>
        <p:spPr>
          <a:xfrm>
            <a:off x="6234906" y="6889750"/>
            <a:ext cx="2643188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875" dirty="0">
                <a:solidFill>
                  <a:srgbClr val="788A9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Música, voz, efectos</a:t>
            </a:r>
            <a:endParaRPr lang="en-US" sz="1600" dirty="0"/>
          </a:p>
        </p:txBody>
      </p:sp>
      <p:sp>
        <p:nvSpPr>
          <p:cNvPr id="74" name="Shape 72"/>
          <p:cNvSpPr/>
          <p:nvPr/>
        </p:nvSpPr>
        <p:spPr>
          <a:xfrm>
            <a:off x="9084469" y="6346031"/>
            <a:ext cx="2786063" cy="801688"/>
          </a:xfrm>
          <a:custGeom>
            <a:avLst/>
            <a:gdLst/>
            <a:ahLst/>
            <a:cxnLst/>
            <a:rect l="l" t="t" r="r" b="b"/>
            <a:pathLst>
              <a:path w="2786063" h="801688">
                <a:moveTo>
                  <a:pt x="63502" y="0"/>
                </a:moveTo>
                <a:lnTo>
                  <a:pt x="2722561" y="0"/>
                </a:lnTo>
                <a:cubicBezTo>
                  <a:pt x="2757632" y="0"/>
                  <a:pt x="2786063" y="28431"/>
                  <a:pt x="2786063" y="63502"/>
                </a:cubicBezTo>
                <a:lnTo>
                  <a:pt x="2786063" y="738186"/>
                </a:lnTo>
                <a:cubicBezTo>
                  <a:pt x="2786063" y="773257"/>
                  <a:pt x="2757632" y="801688"/>
                  <a:pt x="2722561" y="801688"/>
                </a:cubicBezTo>
                <a:lnTo>
                  <a:pt x="63502" y="801688"/>
                </a:lnTo>
                <a:cubicBezTo>
                  <a:pt x="28431" y="801688"/>
                  <a:pt x="0" y="773257"/>
                  <a:pt x="0" y="738186"/>
                </a:cubicBezTo>
                <a:lnTo>
                  <a:pt x="0" y="63502"/>
                </a:lnTo>
                <a:cubicBezTo>
                  <a:pt x="0" y="28431"/>
                  <a:pt x="28431" y="0"/>
                  <a:pt x="63502" y="0"/>
                </a:cubicBezTo>
                <a:close/>
              </a:path>
            </a:pathLst>
          </a:custGeom>
          <a:solidFill>
            <a:srgbClr val="4A6D8C">
              <a:alpha val="10196"/>
            </a:srgbClr>
          </a:solidFill>
          <a:ln w="12700">
            <a:solidFill>
              <a:srgbClr val="4A6D8C">
                <a:alpha val="30196"/>
              </a:srgbClr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10370344" y="6445250"/>
            <a:ext cx="214313" cy="190500"/>
          </a:xfrm>
          <a:custGeom>
            <a:avLst/>
            <a:gdLst/>
            <a:ahLst/>
            <a:cxnLst/>
            <a:rect l="l" t="t" r="r" b="b"/>
            <a:pathLst>
              <a:path w="214313" h="190500">
                <a:moveTo>
                  <a:pt x="35719" y="23812"/>
                </a:moveTo>
                <a:cubicBezTo>
                  <a:pt x="22585" y="23812"/>
                  <a:pt x="11906" y="34491"/>
                  <a:pt x="11906" y="47625"/>
                </a:cubicBezTo>
                <a:lnTo>
                  <a:pt x="11906" y="142875"/>
                </a:lnTo>
                <a:cubicBezTo>
                  <a:pt x="11906" y="156009"/>
                  <a:pt x="22585" y="166688"/>
                  <a:pt x="35719" y="166688"/>
                </a:cubicBezTo>
                <a:lnTo>
                  <a:pt x="130969" y="166688"/>
                </a:lnTo>
                <a:cubicBezTo>
                  <a:pt x="144103" y="166688"/>
                  <a:pt x="154781" y="156009"/>
                  <a:pt x="154781" y="142875"/>
                </a:cubicBezTo>
                <a:lnTo>
                  <a:pt x="154781" y="47625"/>
                </a:lnTo>
                <a:cubicBezTo>
                  <a:pt x="154781" y="34491"/>
                  <a:pt x="144103" y="23812"/>
                  <a:pt x="130969" y="23812"/>
                </a:cubicBezTo>
                <a:lnTo>
                  <a:pt x="35719" y="23812"/>
                </a:lnTo>
                <a:close/>
                <a:moveTo>
                  <a:pt x="172641" y="125016"/>
                </a:moveTo>
                <a:lnTo>
                  <a:pt x="199988" y="146893"/>
                </a:lnTo>
                <a:cubicBezTo>
                  <a:pt x="201550" y="148158"/>
                  <a:pt x="203485" y="148828"/>
                  <a:pt x="205494" y="148828"/>
                </a:cubicBezTo>
                <a:cubicBezTo>
                  <a:pt x="210369" y="148828"/>
                  <a:pt x="214313" y="144884"/>
                  <a:pt x="214313" y="140010"/>
                </a:cubicBezTo>
                <a:lnTo>
                  <a:pt x="214313" y="50490"/>
                </a:lnTo>
                <a:cubicBezTo>
                  <a:pt x="214313" y="45616"/>
                  <a:pt x="210369" y="41672"/>
                  <a:pt x="205494" y="41672"/>
                </a:cubicBezTo>
                <a:cubicBezTo>
                  <a:pt x="203485" y="41672"/>
                  <a:pt x="201550" y="42342"/>
                  <a:pt x="199988" y="43607"/>
                </a:cubicBezTo>
                <a:lnTo>
                  <a:pt x="172641" y="65484"/>
                </a:lnTo>
                <a:lnTo>
                  <a:pt x="172641" y="125016"/>
                </a:lnTo>
                <a:close/>
              </a:path>
            </a:pathLst>
          </a:custGeom>
          <a:solidFill>
            <a:srgbClr val="C8A265"/>
          </a:solidFill>
          <a:ln/>
        </p:spPr>
      </p:sp>
      <p:sp>
        <p:nvSpPr>
          <p:cNvPr id="76" name="Text 74"/>
          <p:cNvSpPr/>
          <p:nvPr/>
        </p:nvSpPr>
        <p:spPr>
          <a:xfrm>
            <a:off x="9151938" y="6699250"/>
            <a:ext cx="26511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000" b="1" dirty="0">
                <a:solidFill>
                  <a:srgbClr val="E0E2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Video</a:t>
            </a:r>
            <a:endParaRPr lang="en-US" sz="1600" dirty="0"/>
          </a:p>
        </p:txBody>
      </p:sp>
      <p:sp>
        <p:nvSpPr>
          <p:cNvPr id="77" name="Text 75"/>
          <p:cNvSpPr/>
          <p:nvPr/>
        </p:nvSpPr>
        <p:spPr>
          <a:xfrm>
            <a:off x="9155906" y="6889750"/>
            <a:ext cx="2643188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875" dirty="0">
                <a:solidFill>
                  <a:srgbClr val="788A9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Animación, deepfakes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A1D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33375" y="317500"/>
            <a:ext cx="1690688" cy="317500"/>
          </a:xfrm>
          <a:custGeom>
            <a:avLst/>
            <a:gdLst/>
            <a:ahLst/>
            <a:cxnLst/>
            <a:rect l="l" t="t" r="r" b="b"/>
            <a:pathLst>
              <a:path w="1690688" h="317500">
                <a:moveTo>
                  <a:pt x="0" y="0"/>
                </a:moveTo>
                <a:lnTo>
                  <a:pt x="1690688" y="0"/>
                </a:lnTo>
                <a:lnTo>
                  <a:pt x="1690688" y="317500"/>
                </a:lnTo>
                <a:lnTo>
                  <a:pt x="0" y="317500"/>
                </a:lnTo>
                <a:lnTo>
                  <a:pt x="0" y="0"/>
                </a:lnTo>
                <a:close/>
              </a:path>
            </a:pathLst>
          </a:custGeom>
          <a:solidFill>
            <a:srgbClr val="4A6D8C">
              <a:alpha val="2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333375" y="317500"/>
            <a:ext cx="31750" cy="317500"/>
          </a:xfrm>
          <a:custGeom>
            <a:avLst/>
            <a:gdLst/>
            <a:ahLst/>
            <a:cxnLst/>
            <a:rect l="l" t="t" r="r" b="b"/>
            <a:pathLst>
              <a:path w="31750" h="317500">
                <a:moveTo>
                  <a:pt x="0" y="0"/>
                </a:moveTo>
                <a:lnTo>
                  <a:pt x="31750" y="0"/>
                </a:lnTo>
                <a:lnTo>
                  <a:pt x="31750" y="317500"/>
                </a:lnTo>
                <a:lnTo>
                  <a:pt x="0" y="317500"/>
                </a:lnTo>
                <a:lnTo>
                  <a:pt x="0" y="0"/>
                </a:lnTo>
                <a:close/>
              </a:path>
            </a:pathLst>
          </a:custGeom>
          <a:solidFill>
            <a:srgbClr val="C8A265"/>
          </a:solidFill>
          <a:ln/>
        </p:spPr>
      </p:sp>
      <p:sp>
        <p:nvSpPr>
          <p:cNvPr id="4" name="Text 2"/>
          <p:cNvSpPr/>
          <p:nvPr/>
        </p:nvSpPr>
        <p:spPr>
          <a:xfrm>
            <a:off x="508000" y="388938"/>
            <a:ext cx="1423789" cy="1746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spc="50" kern="0" dirty="0">
                <a:solidFill>
                  <a:srgbClr val="C8A26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08 • IA EXPLICABLE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317500" y="762000"/>
            <a:ext cx="11747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000" b="1" dirty="0">
                <a:solidFill>
                  <a:srgbClr val="E0E2E6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Explainable AI (XAI)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317500" y="1238250"/>
            <a:ext cx="11636375" cy="5159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50" dirty="0">
                <a:solidFill>
                  <a:srgbClr val="788A9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La IA explicable busca hacer que los modelos de IA sean </a:t>
            </a:r>
            <a:pPr>
              <a:lnSpc>
                <a:spcPct val="140000"/>
              </a:lnSpc>
            </a:pPr>
            <a:r>
              <a:rPr lang="en-US" sz="1250" b="1" dirty="0">
                <a:solidFill>
                  <a:srgbClr val="C8A26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interpretables y comprensibles</a:t>
            </a:r>
            <a:pPr>
              <a:lnSpc>
                <a:spcPct val="140000"/>
              </a:lnSpc>
            </a:pPr>
            <a:r>
              <a:rPr lang="en-US" sz="1250" dirty="0">
                <a:solidFill>
                  <a:srgbClr val="788A9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para los humanos, aumentando la transparencia y confianza en sistemas críticos.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321469" y="1916906"/>
            <a:ext cx="3246438" cy="2722563"/>
          </a:xfrm>
          <a:custGeom>
            <a:avLst/>
            <a:gdLst/>
            <a:ahLst/>
            <a:cxnLst/>
            <a:rect l="l" t="t" r="r" b="b"/>
            <a:pathLst>
              <a:path w="3246438" h="2722563">
                <a:moveTo>
                  <a:pt x="95262" y="0"/>
                </a:moveTo>
                <a:lnTo>
                  <a:pt x="3151175" y="0"/>
                </a:lnTo>
                <a:cubicBezTo>
                  <a:pt x="3203787" y="0"/>
                  <a:pt x="3246438" y="42650"/>
                  <a:pt x="3246438" y="95262"/>
                </a:cubicBezTo>
                <a:lnTo>
                  <a:pt x="3246438" y="2627300"/>
                </a:lnTo>
                <a:cubicBezTo>
                  <a:pt x="3246437" y="2679912"/>
                  <a:pt x="3203787" y="2722563"/>
                  <a:pt x="3151175" y="2722563"/>
                </a:cubicBezTo>
                <a:lnTo>
                  <a:pt x="95262" y="2722563"/>
                </a:lnTo>
                <a:cubicBezTo>
                  <a:pt x="42650" y="2722563"/>
                  <a:pt x="0" y="2679912"/>
                  <a:pt x="0" y="2627300"/>
                </a:cubicBezTo>
                <a:lnTo>
                  <a:pt x="0" y="95262"/>
                </a:lnTo>
                <a:cubicBezTo>
                  <a:pt x="0" y="42650"/>
                  <a:pt x="42650" y="0"/>
                  <a:pt x="95262" y="0"/>
                </a:cubicBezTo>
                <a:close/>
              </a:path>
            </a:pathLst>
          </a:custGeom>
          <a:solidFill>
            <a:srgbClr val="4A6D8C">
              <a:alpha val="10196"/>
            </a:srgbClr>
          </a:solidFill>
          <a:ln w="12700">
            <a:solidFill>
              <a:srgbClr val="4A6D8C">
                <a:alpha val="30196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84187" y="2079625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63501" y="0"/>
                </a:moveTo>
                <a:lnTo>
                  <a:pt x="317499" y="0"/>
                </a:lnTo>
                <a:cubicBezTo>
                  <a:pt x="352546" y="0"/>
                  <a:pt x="381000" y="28454"/>
                  <a:pt x="381000" y="63501"/>
                </a:cubicBezTo>
                <a:lnTo>
                  <a:pt x="381000" y="317499"/>
                </a:lnTo>
                <a:cubicBezTo>
                  <a:pt x="381000" y="352546"/>
                  <a:pt x="352546" y="381000"/>
                  <a:pt x="317499" y="381000"/>
                </a:cubicBezTo>
                <a:lnTo>
                  <a:pt x="63501" y="381000"/>
                </a:lnTo>
                <a:cubicBezTo>
                  <a:pt x="28454" y="381000"/>
                  <a:pt x="0" y="352546"/>
                  <a:pt x="0" y="317499"/>
                </a:cubicBezTo>
                <a:lnTo>
                  <a:pt x="0" y="63501"/>
                </a:lnTo>
                <a:cubicBezTo>
                  <a:pt x="0" y="28454"/>
                  <a:pt x="28454" y="0"/>
                  <a:pt x="63501" y="0"/>
                </a:cubicBezTo>
                <a:close/>
              </a:path>
            </a:pathLst>
          </a:custGeom>
          <a:solidFill>
            <a:srgbClr val="C8A265"/>
          </a:solidFill>
          <a:ln/>
        </p:spPr>
      </p:sp>
      <p:sp>
        <p:nvSpPr>
          <p:cNvPr id="9" name="Shape 7"/>
          <p:cNvSpPr/>
          <p:nvPr/>
        </p:nvSpPr>
        <p:spPr>
          <a:xfrm>
            <a:off x="595313" y="2190750"/>
            <a:ext cx="158750" cy="158750"/>
          </a:xfrm>
          <a:custGeom>
            <a:avLst/>
            <a:gdLst/>
            <a:ahLst/>
            <a:cxnLst/>
            <a:rect l="l" t="t" r="r" b="b"/>
            <a:pathLst>
              <a:path w="158750" h="158750">
                <a:moveTo>
                  <a:pt x="128984" y="64492"/>
                </a:moveTo>
                <a:cubicBezTo>
                  <a:pt x="128984" y="78724"/>
                  <a:pt x="124365" y="91870"/>
                  <a:pt x="116582" y="102536"/>
                </a:cubicBezTo>
                <a:lnTo>
                  <a:pt x="155835" y="141821"/>
                </a:lnTo>
                <a:cubicBezTo>
                  <a:pt x="159711" y="145697"/>
                  <a:pt x="159711" y="151991"/>
                  <a:pt x="155835" y="155866"/>
                </a:cubicBezTo>
                <a:cubicBezTo>
                  <a:pt x="151960" y="159742"/>
                  <a:pt x="145666" y="159742"/>
                  <a:pt x="141790" y="155866"/>
                </a:cubicBezTo>
                <a:lnTo>
                  <a:pt x="102536" y="116582"/>
                </a:lnTo>
                <a:cubicBezTo>
                  <a:pt x="91870" y="124365"/>
                  <a:pt x="78724" y="128984"/>
                  <a:pt x="64492" y="128984"/>
                </a:cubicBezTo>
                <a:cubicBezTo>
                  <a:pt x="28866" y="128984"/>
                  <a:pt x="0" y="100118"/>
                  <a:pt x="0" y="64492"/>
                </a:cubicBezTo>
                <a:cubicBezTo>
                  <a:pt x="0" y="28866"/>
                  <a:pt x="28866" y="0"/>
                  <a:pt x="64492" y="0"/>
                </a:cubicBezTo>
                <a:cubicBezTo>
                  <a:pt x="100118" y="0"/>
                  <a:pt x="128984" y="28866"/>
                  <a:pt x="128984" y="64492"/>
                </a:cubicBezTo>
                <a:close/>
                <a:moveTo>
                  <a:pt x="64492" y="34727"/>
                </a:moveTo>
                <a:cubicBezTo>
                  <a:pt x="60368" y="34727"/>
                  <a:pt x="57051" y="38044"/>
                  <a:pt x="57051" y="42168"/>
                </a:cubicBezTo>
                <a:lnTo>
                  <a:pt x="57051" y="57051"/>
                </a:lnTo>
                <a:lnTo>
                  <a:pt x="42168" y="57051"/>
                </a:lnTo>
                <a:cubicBezTo>
                  <a:pt x="38044" y="57051"/>
                  <a:pt x="34727" y="60368"/>
                  <a:pt x="34727" y="64492"/>
                </a:cubicBezTo>
                <a:cubicBezTo>
                  <a:pt x="34727" y="68616"/>
                  <a:pt x="38044" y="71934"/>
                  <a:pt x="42168" y="71934"/>
                </a:cubicBezTo>
                <a:lnTo>
                  <a:pt x="57051" y="71934"/>
                </a:lnTo>
                <a:lnTo>
                  <a:pt x="57051" y="86816"/>
                </a:lnTo>
                <a:cubicBezTo>
                  <a:pt x="57051" y="90940"/>
                  <a:pt x="60368" y="94258"/>
                  <a:pt x="64492" y="94258"/>
                </a:cubicBezTo>
                <a:cubicBezTo>
                  <a:pt x="68616" y="94258"/>
                  <a:pt x="71934" y="90940"/>
                  <a:pt x="71934" y="86816"/>
                </a:cubicBezTo>
                <a:lnTo>
                  <a:pt x="71934" y="71934"/>
                </a:lnTo>
                <a:lnTo>
                  <a:pt x="86816" y="71934"/>
                </a:lnTo>
                <a:cubicBezTo>
                  <a:pt x="90940" y="71934"/>
                  <a:pt x="94258" y="68616"/>
                  <a:pt x="94258" y="64492"/>
                </a:cubicBezTo>
                <a:cubicBezTo>
                  <a:pt x="94258" y="60368"/>
                  <a:pt x="90940" y="57051"/>
                  <a:pt x="86816" y="57051"/>
                </a:cubicBezTo>
                <a:lnTo>
                  <a:pt x="71934" y="57051"/>
                </a:lnTo>
                <a:lnTo>
                  <a:pt x="71934" y="42168"/>
                </a:lnTo>
                <a:cubicBezTo>
                  <a:pt x="71934" y="38044"/>
                  <a:pt x="68616" y="34727"/>
                  <a:pt x="64492" y="34727"/>
                </a:cubicBezTo>
                <a:close/>
              </a:path>
            </a:pathLst>
          </a:custGeom>
          <a:solidFill>
            <a:srgbClr val="1A1D23"/>
          </a:solidFill>
          <a:ln/>
        </p:spPr>
      </p:sp>
      <p:sp>
        <p:nvSpPr>
          <p:cNvPr id="10" name="Text 8"/>
          <p:cNvSpPr/>
          <p:nvPr/>
        </p:nvSpPr>
        <p:spPr>
          <a:xfrm>
            <a:off x="960438" y="2143125"/>
            <a:ext cx="531813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00" b="1" dirty="0">
                <a:solidFill>
                  <a:srgbClr val="E0E2E6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LIME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84187" y="2555875"/>
            <a:ext cx="2992438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5" b="1" dirty="0">
                <a:solidFill>
                  <a:srgbClr val="C8A26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Local Interpretable Model-agnostic Explanations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84187" y="3063875"/>
            <a:ext cx="2984500" cy="6191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00" dirty="0">
                <a:solidFill>
                  <a:srgbClr val="788A9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Explica predicciones individuales de </a:t>
            </a:r>
            <a:pPr>
              <a:lnSpc>
                <a:spcPct val="140000"/>
              </a:lnSpc>
            </a:pPr>
            <a:r>
              <a:rPr lang="en-US" sz="1000" dirty="0">
                <a:solidFill>
                  <a:srgbClr val="E0E2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cualquier modelo de ML</a:t>
            </a:r>
            <a:pPr>
              <a:lnSpc>
                <a:spcPct val="140000"/>
              </a:lnSpc>
            </a:pPr>
            <a:r>
              <a:rPr lang="en-US" sz="1000" dirty="0">
                <a:solidFill>
                  <a:srgbClr val="788A9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aproximando localmente con modelos interpretables.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508000" y="3810000"/>
            <a:ext cx="111125" cy="127000"/>
          </a:xfrm>
          <a:custGeom>
            <a:avLst/>
            <a:gdLst/>
            <a:ahLst/>
            <a:cxnLst/>
            <a:rect l="l" t="t" r="r" b="b"/>
            <a:pathLst>
              <a:path w="111125" h="127000">
                <a:moveTo>
                  <a:pt x="107851" y="17388"/>
                </a:moveTo>
                <a:cubicBezTo>
                  <a:pt x="111398" y="19968"/>
                  <a:pt x="112192" y="24929"/>
                  <a:pt x="109612" y="28476"/>
                </a:cubicBezTo>
                <a:lnTo>
                  <a:pt x="46112" y="115788"/>
                </a:lnTo>
                <a:cubicBezTo>
                  <a:pt x="44748" y="117673"/>
                  <a:pt x="42639" y="118839"/>
                  <a:pt x="40308" y="119038"/>
                </a:cubicBezTo>
                <a:cubicBezTo>
                  <a:pt x="37976" y="119236"/>
                  <a:pt x="35719" y="118368"/>
                  <a:pt x="34082" y="116731"/>
                </a:cubicBezTo>
                <a:lnTo>
                  <a:pt x="2332" y="84981"/>
                </a:lnTo>
                <a:cubicBezTo>
                  <a:pt x="-769" y="81880"/>
                  <a:pt x="-769" y="76845"/>
                  <a:pt x="2332" y="73744"/>
                </a:cubicBezTo>
                <a:cubicBezTo>
                  <a:pt x="5432" y="70644"/>
                  <a:pt x="10468" y="70644"/>
                  <a:pt x="13568" y="73744"/>
                </a:cubicBezTo>
                <a:lnTo>
                  <a:pt x="38745" y="98921"/>
                </a:lnTo>
                <a:lnTo>
                  <a:pt x="96788" y="19124"/>
                </a:lnTo>
                <a:cubicBezTo>
                  <a:pt x="99368" y="15577"/>
                  <a:pt x="104329" y="14784"/>
                  <a:pt x="107876" y="17363"/>
                </a:cubicBezTo>
                <a:close/>
              </a:path>
            </a:pathLst>
          </a:custGeom>
          <a:solidFill>
            <a:srgbClr val="C8A265"/>
          </a:solidFill>
          <a:ln/>
        </p:spPr>
      </p:sp>
      <p:sp>
        <p:nvSpPr>
          <p:cNvPr id="14" name="Text 12"/>
          <p:cNvSpPr/>
          <p:nvPr/>
        </p:nvSpPr>
        <p:spPr>
          <a:xfrm>
            <a:off x="706438" y="3778250"/>
            <a:ext cx="20796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E0E2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Muestrea alrededor de la instancia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508000" y="4064000"/>
            <a:ext cx="111125" cy="127000"/>
          </a:xfrm>
          <a:custGeom>
            <a:avLst/>
            <a:gdLst/>
            <a:ahLst/>
            <a:cxnLst/>
            <a:rect l="l" t="t" r="r" b="b"/>
            <a:pathLst>
              <a:path w="111125" h="127000">
                <a:moveTo>
                  <a:pt x="107851" y="17388"/>
                </a:moveTo>
                <a:cubicBezTo>
                  <a:pt x="111398" y="19968"/>
                  <a:pt x="112192" y="24929"/>
                  <a:pt x="109612" y="28476"/>
                </a:cubicBezTo>
                <a:lnTo>
                  <a:pt x="46112" y="115788"/>
                </a:lnTo>
                <a:cubicBezTo>
                  <a:pt x="44748" y="117673"/>
                  <a:pt x="42639" y="118839"/>
                  <a:pt x="40308" y="119038"/>
                </a:cubicBezTo>
                <a:cubicBezTo>
                  <a:pt x="37976" y="119236"/>
                  <a:pt x="35719" y="118368"/>
                  <a:pt x="34082" y="116731"/>
                </a:cubicBezTo>
                <a:lnTo>
                  <a:pt x="2332" y="84981"/>
                </a:lnTo>
                <a:cubicBezTo>
                  <a:pt x="-769" y="81880"/>
                  <a:pt x="-769" y="76845"/>
                  <a:pt x="2332" y="73744"/>
                </a:cubicBezTo>
                <a:cubicBezTo>
                  <a:pt x="5432" y="70644"/>
                  <a:pt x="10468" y="70644"/>
                  <a:pt x="13568" y="73744"/>
                </a:cubicBezTo>
                <a:lnTo>
                  <a:pt x="38745" y="98921"/>
                </a:lnTo>
                <a:lnTo>
                  <a:pt x="96788" y="19124"/>
                </a:lnTo>
                <a:cubicBezTo>
                  <a:pt x="99368" y="15577"/>
                  <a:pt x="104329" y="14784"/>
                  <a:pt x="107876" y="17363"/>
                </a:cubicBezTo>
                <a:close/>
              </a:path>
            </a:pathLst>
          </a:custGeom>
          <a:solidFill>
            <a:srgbClr val="C8A265"/>
          </a:solidFill>
          <a:ln/>
        </p:spPr>
      </p:sp>
      <p:sp>
        <p:nvSpPr>
          <p:cNvPr id="16" name="Text 14"/>
          <p:cNvSpPr/>
          <p:nvPr/>
        </p:nvSpPr>
        <p:spPr>
          <a:xfrm>
            <a:off x="706438" y="4032250"/>
            <a:ext cx="178593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E0E2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Pesos basados en proximidad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508000" y="4318000"/>
            <a:ext cx="111125" cy="127000"/>
          </a:xfrm>
          <a:custGeom>
            <a:avLst/>
            <a:gdLst/>
            <a:ahLst/>
            <a:cxnLst/>
            <a:rect l="l" t="t" r="r" b="b"/>
            <a:pathLst>
              <a:path w="111125" h="127000">
                <a:moveTo>
                  <a:pt x="107851" y="17388"/>
                </a:moveTo>
                <a:cubicBezTo>
                  <a:pt x="111398" y="19968"/>
                  <a:pt x="112192" y="24929"/>
                  <a:pt x="109612" y="28476"/>
                </a:cubicBezTo>
                <a:lnTo>
                  <a:pt x="46112" y="115788"/>
                </a:lnTo>
                <a:cubicBezTo>
                  <a:pt x="44748" y="117673"/>
                  <a:pt x="42639" y="118839"/>
                  <a:pt x="40308" y="119038"/>
                </a:cubicBezTo>
                <a:cubicBezTo>
                  <a:pt x="37976" y="119236"/>
                  <a:pt x="35719" y="118368"/>
                  <a:pt x="34082" y="116731"/>
                </a:cubicBezTo>
                <a:lnTo>
                  <a:pt x="2332" y="84981"/>
                </a:lnTo>
                <a:cubicBezTo>
                  <a:pt x="-769" y="81880"/>
                  <a:pt x="-769" y="76845"/>
                  <a:pt x="2332" y="73744"/>
                </a:cubicBezTo>
                <a:cubicBezTo>
                  <a:pt x="5432" y="70644"/>
                  <a:pt x="10468" y="70644"/>
                  <a:pt x="13568" y="73744"/>
                </a:cubicBezTo>
                <a:lnTo>
                  <a:pt x="38745" y="98921"/>
                </a:lnTo>
                <a:lnTo>
                  <a:pt x="96788" y="19124"/>
                </a:lnTo>
                <a:cubicBezTo>
                  <a:pt x="99368" y="15577"/>
                  <a:pt x="104329" y="14784"/>
                  <a:pt x="107876" y="17363"/>
                </a:cubicBezTo>
                <a:close/>
              </a:path>
            </a:pathLst>
          </a:custGeom>
          <a:solidFill>
            <a:srgbClr val="C8A265"/>
          </a:solidFill>
          <a:ln/>
        </p:spPr>
      </p:sp>
      <p:sp>
        <p:nvSpPr>
          <p:cNvPr id="18" name="Text 16"/>
          <p:cNvSpPr/>
          <p:nvPr/>
        </p:nvSpPr>
        <p:spPr>
          <a:xfrm>
            <a:off x="706438" y="4286250"/>
            <a:ext cx="2008187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E0E2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Modelo simple interpretable local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3704456" y="1916906"/>
            <a:ext cx="3246438" cy="2722563"/>
          </a:xfrm>
          <a:custGeom>
            <a:avLst/>
            <a:gdLst/>
            <a:ahLst/>
            <a:cxnLst/>
            <a:rect l="l" t="t" r="r" b="b"/>
            <a:pathLst>
              <a:path w="3246438" h="2722563">
                <a:moveTo>
                  <a:pt x="95262" y="0"/>
                </a:moveTo>
                <a:lnTo>
                  <a:pt x="3151175" y="0"/>
                </a:lnTo>
                <a:cubicBezTo>
                  <a:pt x="3203787" y="0"/>
                  <a:pt x="3246438" y="42650"/>
                  <a:pt x="3246438" y="95262"/>
                </a:cubicBezTo>
                <a:lnTo>
                  <a:pt x="3246438" y="2627300"/>
                </a:lnTo>
                <a:cubicBezTo>
                  <a:pt x="3246437" y="2679912"/>
                  <a:pt x="3203787" y="2722563"/>
                  <a:pt x="3151175" y="2722563"/>
                </a:cubicBezTo>
                <a:lnTo>
                  <a:pt x="95262" y="2722563"/>
                </a:lnTo>
                <a:cubicBezTo>
                  <a:pt x="42650" y="2722563"/>
                  <a:pt x="0" y="2679912"/>
                  <a:pt x="0" y="2627300"/>
                </a:cubicBezTo>
                <a:lnTo>
                  <a:pt x="0" y="95262"/>
                </a:lnTo>
                <a:cubicBezTo>
                  <a:pt x="0" y="42650"/>
                  <a:pt x="42650" y="0"/>
                  <a:pt x="95262" y="0"/>
                </a:cubicBezTo>
                <a:close/>
              </a:path>
            </a:pathLst>
          </a:custGeom>
          <a:solidFill>
            <a:srgbClr val="4A6D8C">
              <a:alpha val="10196"/>
            </a:srgbClr>
          </a:solidFill>
          <a:ln w="12700">
            <a:solidFill>
              <a:srgbClr val="4A6D8C">
                <a:alpha val="30196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867175" y="2079625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63501" y="0"/>
                </a:moveTo>
                <a:lnTo>
                  <a:pt x="317499" y="0"/>
                </a:lnTo>
                <a:cubicBezTo>
                  <a:pt x="352546" y="0"/>
                  <a:pt x="381000" y="28454"/>
                  <a:pt x="381000" y="63501"/>
                </a:cubicBezTo>
                <a:lnTo>
                  <a:pt x="381000" y="317499"/>
                </a:lnTo>
                <a:cubicBezTo>
                  <a:pt x="381000" y="352546"/>
                  <a:pt x="352546" y="381000"/>
                  <a:pt x="317499" y="381000"/>
                </a:cubicBezTo>
                <a:lnTo>
                  <a:pt x="63501" y="381000"/>
                </a:lnTo>
                <a:cubicBezTo>
                  <a:pt x="28454" y="381000"/>
                  <a:pt x="0" y="352546"/>
                  <a:pt x="0" y="317499"/>
                </a:cubicBezTo>
                <a:lnTo>
                  <a:pt x="0" y="63501"/>
                </a:lnTo>
                <a:cubicBezTo>
                  <a:pt x="0" y="28454"/>
                  <a:pt x="28454" y="0"/>
                  <a:pt x="63501" y="0"/>
                </a:cubicBezTo>
                <a:close/>
              </a:path>
            </a:pathLst>
          </a:custGeom>
          <a:solidFill>
            <a:srgbClr val="C8A265"/>
          </a:solidFill>
          <a:ln/>
        </p:spPr>
      </p:sp>
      <p:sp>
        <p:nvSpPr>
          <p:cNvPr id="21" name="Shape 19"/>
          <p:cNvSpPr/>
          <p:nvPr/>
        </p:nvSpPr>
        <p:spPr>
          <a:xfrm>
            <a:off x="3958456" y="2190750"/>
            <a:ext cx="198438" cy="158750"/>
          </a:xfrm>
          <a:custGeom>
            <a:avLst/>
            <a:gdLst/>
            <a:ahLst/>
            <a:cxnLst/>
            <a:rect l="l" t="t" r="r" b="b"/>
            <a:pathLst>
              <a:path w="198438" h="158750">
                <a:moveTo>
                  <a:pt x="119062" y="9922"/>
                </a:moveTo>
                <a:lnTo>
                  <a:pt x="158750" y="9922"/>
                </a:lnTo>
                <a:cubicBezTo>
                  <a:pt x="164238" y="9922"/>
                  <a:pt x="168672" y="14356"/>
                  <a:pt x="168672" y="19844"/>
                </a:cubicBezTo>
                <a:cubicBezTo>
                  <a:pt x="168672" y="25332"/>
                  <a:pt x="164238" y="29766"/>
                  <a:pt x="158750" y="29766"/>
                </a:cubicBezTo>
                <a:lnTo>
                  <a:pt x="123527" y="29766"/>
                </a:lnTo>
                <a:cubicBezTo>
                  <a:pt x="121915" y="37765"/>
                  <a:pt x="116427" y="44369"/>
                  <a:pt x="109141" y="47532"/>
                </a:cubicBezTo>
                <a:lnTo>
                  <a:pt x="109141" y="138906"/>
                </a:lnTo>
                <a:lnTo>
                  <a:pt x="158750" y="138906"/>
                </a:lnTo>
                <a:cubicBezTo>
                  <a:pt x="164238" y="138906"/>
                  <a:pt x="168672" y="143340"/>
                  <a:pt x="168672" y="148828"/>
                </a:cubicBezTo>
                <a:cubicBezTo>
                  <a:pt x="168672" y="154316"/>
                  <a:pt x="164238" y="158750"/>
                  <a:pt x="158750" y="158750"/>
                </a:cubicBezTo>
                <a:lnTo>
                  <a:pt x="39688" y="158750"/>
                </a:lnTo>
                <a:cubicBezTo>
                  <a:pt x="34199" y="158750"/>
                  <a:pt x="29766" y="154316"/>
                  <a:pt x="29766" y="148828"/>
                </a:cubicBezTo>
                <a:cubicBezTo>
                  <a:pt x="29766" y="143340"/>
                  <a:pt x="34199" y="138906"/>
                  <a:pt x="39688" y="138906"/>
                </a:cubicBezTo>
                <a:lnTo>
                  <a:pt x="89297" y="138906"/>
                </a:lnTo>
                <a:lnTo>
                  <a:pt x="89297" y="47532"/>
                </a:lnTo>
                <a:cubicBezTo>
                  <a:pt x="82010" y="44338"/>
                  <a:pt x="76522" y="37734"/>
                  <a:pt x="74910" y="29766"/>
                </a:cubicBezTo>
                <a:lnTo>
                  <a:pt x="39688" y="29766"/>
                </a:lnTo>
                <a:cubicBezTo>
                  <a:pt x="34199" y="29766"/>
                  <a:pt x="29766" y="25332"/>
                  <a:pt x="29766" y="19844"/>
                </a:cubicBezTo>
                <a:cubicBezTo>
                  <a:pt x="29766" y="14356"/>
                  <a:pt x="34199" y="9922"/>
                  <a:pt x="39688" y="9922"/>
                </a:cubicBezTo>
                <a:lnTo>
                  <a:pt x="79375" y="9922"/>
                </a:lnTo>
                <a:cubicBezTo>
                  <a:pt x="83902" y="3907"/>
                  <a:pt x="91095" y="0"/>
                  <a:pt x="99219" y="0"/>
                </a:cubicBezTo>
                <a:cubicBezTo>
                  <a:pt x="107342" y="0"/>
                  <a:pt x="114536" y="3907"/>
                  <a:pt x="119062" y="9922"/>
                </a:cubicBezTo>
                <a:close/>
                <a:moveTo>
                  <a:pt x="136302" y="99219"/>
                </a:moveTo>
                <a:lnTo>
                  <a:pt x="181198" y="99219"/>
                </a:lnTo>
                <a:lnTo>
                  <a:pt x="158750" y="60709"/>
                </a:lnTo>
                <a:lnTo>
                  <a:pt x="136302" y="99219"/>
                </a:lnTo>
                <a:close/>
                <a:moveTo>
                  <a:pt x="158750" y="128984"/>
                </a:moveTo>
                <a:cubicBezTo>
                  <a:pt x="139247" y="128984"/>
                  <a:pt x="123031" y="118442"/>
                  <a:pt x="119683" y="104521"/>
                </a:cubicBezTo>
                <a:cubicBezTo>
                  <a:pt x="118876" y="101110"/>
                  <a:pt x="119993" y="97606"/>
                  <a:pt x="121760" y="94568"/>
                </a:cubicBezTo>
                <a:lnTo>
                  <a:pt x="151278" y="43966"/>
                </a:lnTo>
                <a:cubicBezTo>
                  <a:pt x="152828" y="41300"/>
                  <a:pt x="155680" y="39688"/>
                  <a:pt x="158750" y="39688"/>
                </a:cubicBezTo>
                <a:cubicBezTo>
                  <a:pt x="161820" y="39688"/>
                  <a:pt x="164672" y="41331"/>
                  <a:pt x="166222" y="43966"/>
                </a:cubicBezTo>
                <a:lnTo>
                  <a:pt x="195740" y="94568"/>
                </a:lnTo>
                <a:cubicBezTo>
                  <a:pt x="197507" y="97606"/>
                  <a:pt x="198624" y="101110"/>
                  <a:pt x="197817" y="104521"/>
                </a:cubicBezTo>
                <a:cubicBezTo>
                  <a:pt x="194469" y="118411"/>
                  <a:pt x="178253" y="128984"/>
                  <a:pt x="158750" y="128984"/>
                </a:cubicBezTo>
                <a:close/>
                <a:moveTo>
                  <a:pt x="39315" y="60709"/>
                </a:moveTo>
                <a:lnTo>
                  <a:pt x="16867" y="99219"/>
                </a:lnTo>
                <a:lnTo>
                  <a:pt x="61795" y="99219"/>
                </a:lnTo>
                <a:lnTo>
                  <a:pt x="39315" y="60709"/>
                </a:lnTo>
                <a:close/>
                <a:moveTo>
                  <a:pt x="279" y="104521"/>
                </a:moveTo>
                <a:cubicBezTo>
                  <a:pt x="-527" y="101110"/>
                  <a:pt x="589" y="97606"/>
                  <a:pt x="2356" y="94568"/>
                </a:cubicBezTo>
                <a:lnTo>
                  <a:pt x="31874" y="43966"/>
                </a:lnTo>
                <a:cubicBezTo>
                  <a:pt x="33424" y="41300"/>
                  <a:pt x="36277" y="39688"/>
                  <a:pt x="39346" y="39688"/>
                </a:cubicBezTo>
                <a:cubicBezTo>
                  <a:pt x="42416" y="39688"/>
                  <a:pt x="45269" y="41331"/>
                  <a:pt x="46819" y="43966"/>
                </a:cubicBezTo>
                <a:lnTo>
                  <a:pt x="76336" y="94568"/>
                </a:lnTo>
                <a:cubicBezTo>
                  <a:pt x="78104" y="97606"/>
                  <a:pt x="79220" y="101110"/>
                  <a:pt x="78414" y="104521"/>
                </a:cubicBezTo>
                <a:cubicBezTo>
                  <a:pt x="75065" y="118411"/>
                  <a:pt x="58849" y="128984"/>
                  <a:pt x="39346" y="128984"/>
                </a:cubicBezTo>
                <a:cubicBezTo>
                  <a:pt x="19844" y="128984"/>
                  <a:pt x="3628" y="118442"/>
                  <a:pt x="279" y="104521"/>
                </a:cubicBezTo>
                <a:close/>
              </a:path>
            </a:pathLst>
          </a:custGeom>
          <a:solidFill>
            <a:srgbClr val="1A1D23"/>
          </a:solidFill>
          <a:ln/>
        </p:spPr>
      </p:sp>
      <p:sp>
        <p:nvSpPr>
          <p:cNvPr id="22" name="Text 20"/>
          <p:cNvSpPr/>
          <p:nvPr/>
        </p:nvSpPr>
        <p:spPr>
          <a:xfrm>
            <a:off x="4343425" y="2143125"/>
            <a:ext cx="60325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00" b="1" dirty="0">
                <a:solidFill>
                  <a:srgbClr val="E0E2E6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SHAP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3867175" y="2555875"/>
            <a:ext cx="2992438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5" b="1" dirty="0">
                <a:solidFill>
                  <a:srgbClr val="C8A26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SHapley Additive exPlanations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3867175" y="2841625"/>
            <a:ext cx="2984500" cy="6191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00" dirty="0">
                <a:solidFill>
                  <a:srgbClr val="788A9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Asigna </a:t>
            </a:r>
            <a:pPr>
              <a:lnSpc>
                <a:spcPct val="140000"/>
              </a:lnSpc>
            </a:pPr>
            <a:r>
              <a:rPr lang="en-US" sz="1000" dirty="0">
                <a:solidFill>
                  <a:srgbClr val="E0E2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importancia a variables</a:t>
            </a:r>
            <a:pPr>
              <a:lnSpc>
                <a:spcPct val="140000"/>
              </a:lnSpc>
            </a:pPr>
            <a:r>
              <a:rPr lang="en-US" sz="1000" dirty="0">
                <a:solidFill>
                  <a:srgbClr val="788A9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basándose en teoría de juegos cooperativos (valores de Shapley).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3890987" y="3587750"/>
            <a:ext cx="111125" cy="127000"/>
          </a:xfrm>
          <a:custGeom>
            <a:avLst/>
            <a:gdLst/>
            <a:ahLst/>
            <a:cxnLst/>
            <a:rect l="l" t="t" r="r" b="b"/>
            <a:pathLst>
              <a:path w="111125" h="127000">
                <a:moveTo>
                  <a:pt x="107851" y="17388"/>
                </a:moveTo>
                <a:cubicBezTo>
                  <a:pt x="111398" y="19968"/>
                  <a:pt x="112192" y="24929"/>
                  <a:pt x="109612" y="28476"/>
                </a:cubicBezTo>
                <a:lnTo>
                  <a:pt x="46112" y="115788"/>
                </a:lnTo>
                <a:cubicBezTo>
                  <a:pt x="44748" y="117673"/>
                  <a:pt x="42639" y="118839"/>
                  <a:pt x="40308" y="119038"/>
                </a:cubicBezTo>
                <a:cubicBezTo>
                  <a:pt x="37976" y="119236"/>
                  <a:pt x="35719" y="118368"/>
                  <a:pt x="34082" y="116731"/>
                </a:cubicBezTo>
                <a:lnTo>
                  <a:pt x="2332" y="84981"/>
                </a:lnTo>
                <a:cubicBezTo>
                  <a:pt x="-769" y="81880"/>
                  <a:pt x="-769" y="76845"/>
                  <a:pt x="2332" y="73744"/>
                </a:cubicBezTo>
                <a:cubicBezTo>
                  <a:pt x="5432" y="70644"/>
                  <a:pt x="10468" y="70644"/>
                  <a:pt x="13568" y="73744"/>
                </a:cubicBezTo>
                <a:lnTo>
                  <a:pt x="38745" y="98921"/>
                </a:lnTo>
                <a:lnTo>
                  <a:pt x="96788" y="19124"/>
                </a:lnTo>
                <a:cubicBezTo>
                  <a:pt x="99368" y="15577"/>
                  <a:pt x="104329" y="14784"/>
                  <a:pt x="107876" y="17363"/>
                </a:cubicBezTo>
                <a:close/>
              </a:path>
            </a:pathLst>
          </a:custGeom>
          <a:solidFill>
            <a:srgbClr val="C8A265"/>
          </a:solidFill>
          <a:ln/>
        </p:spPr>
      </p:sp>
      <p:sp>
        <p:nvSpPr>
          <p:cNvPr id="26" name="Text 24"/>
          <p:cNvSpPr/>
          <p:nvPr/>
        </p:nvSpPr>
        <p:spPr>
          <a:xfrm>
            <a:off x="4089425" y="3556000"/>
            <a:ext cx="1611313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E0E2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Explicaciones consistentes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3890987" y="3841750"/>
            <a:ext cx="111125" cy="127000"/>
          </a:xfrm>
          <a:custGeom>
            <a:avLst/>
            <a:gdLst/>
            <a:ahLst/>
            <a:cxnLst/>
            <a:rect l="l" t="t" r="r" b="b"/>
            <a:pathLst>
              <a:path w="111125" h="127000">
                <a:moveTo>
                  <a:pt x="107851" y="17388"/>
                </a:moveTo>
                <a:cubicBezTo>
                  <a:pt x="111398" y="19968"/>
                  <a:pt x="112192" y="24929"/>
                  <a:pt x="109612" y="28476"/>
                </a:cubicBezTo>
                <a:lnTo>
                  <a:pt x="46112" y="115788"/>
                </a:lnTo>
                <a:cubicBezTo>
                  <a:pt x="44748" y="117673"/>
                  <a:pt x="42639" y="118839"/>
                  <a:pt x="40308" y="119038"/>
                </a:cubicBezTo>
                <a:cubicBezTo>
                  <a:pt x="37976" y="119236"/>
                  <a:pt x="35719" y="118368"/>
                  <a:pt x="34082" y="116731"/>
                </a:cubicBezTo>
                <a:lnTo>
                  <a:pt x="2332" y="84981"/>
                </a:lnTo>
                <a:cubicBezTo>
                  <a:pt x="-769" y="81880"/>
                  <a:pt x="-769" y="76845"/>
                  <a:pt x="2332" y="73744"/>
                </a:cubicBezTo>
                <a:cubicBezTo>
                  <a:pt x="5432" y="70644"/>
                  <a:pt x="10468" y="70644"/>
                  <a:pt x="13568" y="73744"/>
                </a:cubicBezTo>
                <a:lnTo>
                  <a:pt x="38745" y="98921"/>
                </a:lnTo>
                <a:lnTo>
                  <a:pt x="96788" y="19124"/>
                </a:lnTo>
                <a:cubicBezTo>
                  <a:pt x="99368" y="15577"/>
                  <a:pt x="104329" y="14784"/>
                  <a:pt x="107876" y="17363"/>
                </a:cubicBezTo>
                <a:close/>
              </a:path>
            </a:pathLst>
          </a:custGeom>
          <a:solidFill>
            <a:srgbClr val="C8A265"/>
          </a:solidFill>
          <a:ln/>
        </p:spPr>
      </p:sp>
      <p:sp>
        <p:nvSpPr>
          <p:cNvPr id="28" name="Text 26"/>
          <p:cNvSpPr/>
          <p:nvPr/>
        </p:nvSpPr>
        <p:spPr>
          <a:xfrm>
            <a:off x="4089425" y="3810000"/>
            <a:ext cx="15557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E0E2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Importancia global y local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3890987" y="4095750"/>
            <a:ext cx="111125" cy="127000"/>
          </a:xfrm>
          <a:custGeom>
            <a:avLst/>
            <a:gdLst/>
            <a:ahLst/>
            <a:cxnLst/>
            <a:rect l="l" t="t" r="r" b="b"/>
            <a:pathLst>
              <a:path w="111125" h="127000">
                <a:moveTo>
                  <a:pt x="107851" y="17388"/>
                </a:moveTo>
                <a:cubicBezTo>
                  <a:pt x="111398" y="19968"/>
                  <a:pt x="112192" y="24929"/>
                  <a:pt x="109612" y="28476"/>
                </a:cubicBezTo>
                <a:lnTo>
                  <a:pt x="46112" y="115788"/>
                </a:lnTo>
                <a:cubicBezTo>
                  <a:pt x="44748" y="117673"/>
                  <a:pt x="42639" y="118839"/>
                  <a:pt x="40308" y="119038"/>
                </a:cubicBezTo>
                <a:cubicBezTo>
                  <a:pt x="37976" y="119236"/>
                  <a:pt x="35719" y="118368"/>
                  <a:pt x="34082" y="116731"/>
                </a:cubicBezTo>
                <a:lnTo>
                  <a:pt x="2332" y="84981"/>
                </a:lnTo>
                <a:cubicBezTo>
                  <a:pt x="-769" y="81880"/>
                  <a:pt x="-769" y="76845"/>
                  <a:pt x="2332" y="73744"/>
                </a:cubicBezTo>
                <a:cubicBezTo>
                  <a:pt x="5432" y="70644"/>
                  <a:pt x="10468" y="70644"/>
                  <a:pt x="13568" y="73744"/>
                </a:cubicBezTo>
                <a:lnTo>
                  <a:pt x="38745" y="98921"/>
                </a:lnTo>
                <a:lnTo>
                  <a:pt x="96788" y="19124"/>
                </a:lnTo>
                <a:cubicBezTo>
                  <a:pt x="99368" y="15577"/>
                  <a:pt x="104329" y="14784"/>
                  <a:pt x="107876" y="17363"/>
                </a:cubicBezTo>
                <a:close/>
              </a:path>
            </a:pathLst>
          </a:custGeom>
          <a:solidFill>
            <a:srgbClr val="C8A265"/>
          </a:solidFill>
          <a:ln/>
        </p:spPr>
      </p:sp>
      <p:sp>
        <p:nvSpPr>
          <p:cNvPr id="30" name="Text 28"/>
          <p:cNvSpPr/>
          <p:nvPr/>
        </p:nvSpPr>
        <p:spPr>
          <a:xfrm>
            <a:off x="4089425" y="4064000"/>
            <a:ext cx="1897063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E0E2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Visualización de contribuciones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321469" y="4774406"/>
            <a:ext cx="3246438" cy="2865438"/>
          </a:xfrm>
          <a:custGeom>
            <a:avLst/>
            <a:gdLst/>
            <a:ahLst/>
            <a:cxnLst/>
            <a:rect l="l" t="t" r="r" b="b"/>
            <a:pathLst>
              <a:path w="3246438" h="2865438">
                <a:moveTo>
                  <a:pt x="95247" y="0"/>
                </a:moveTo>
                <a:lnTo>
                  <a:pt x="3151190" y="0"/>
                </a:lnTo>
                <a:cubicBezTo>
                  <a:pt x="3203794" y="0"/>
                  <a:pt x="3246438" y="42644"/>
                  <a:pt x="3246438" y="95247"/>
                </a:cubicBezTo>
                <a:lnTo>
                  <a:pt x="3246438" y="2770190"/>
                </a:lnTo>
                <a:cubicBezTo>
                  <a:pt x="3246438" y="2822794"/>
                  <a:pt x="3203794" y="2865438"/>
                  <a:pt x="3151190" y="2865438"/>
                </a:cubicBezTo>
                <a:lnTo>
                  <a:pt x="95247" y="2865438"/>
                </a:lnTo>
                <a:cubicBezTo>
                  <a:pt x="42644" y="2865438"/>
                  <a:pt x="0" y="2822794"/>
                  <a:pt x="0" y="2770190"/>
                </a:cubicBezTo>
                <a:lnTo>
                  <a:pt x="0" y="95247"/>
                </a:lnTo>
                <a:cubicBezTo>
                  <a:pt x="0" y="42644"/>
                  <a:pt x="42644" y="0"/>
                  <a:pt x="95247" y="0"/>
                </a:cubicBezTo>
                <a:close/>
              </a:path>
            </a:pathLst>
          </a:custGeom>
          <a:solidFill>
            <a:srgbClr val="4A6D8C">
              <a:alpha val="10196"/>
            </a:srgbClr>
          </a:solidFill>
          <a:ln w="12700">
            <a:solidFill>
              <a:srgbClr val="4A6D8C">
                <a:alpha val="30196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84187" y="4937125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63501" y="0"/>
                </a:moveTo>
                <a:lnTo>
                  <a:pt x="317499" y="0"/>
                </a:lnTo>
                <a:cubicBezTo>
                  <a:pt x="352546" y="0"/>
                  <a:pt x="381000" y="28454"/>
                  <a:pt x="381000" y="63501"/>
                </a:cubicBezTo>
                <a:lnTo>
                  <a:pt x="381000" y="317499"/>
                </a:lnTo>
                <a:cubicBezTo>
                  <a:pt x="381000" y="352546"/>
                  <a:pt x="352546" y="381000"/>
                  <a:pt x="317499" y="381000"/>
                </a:cubicBezTo>
                <a:lnTo>
                  <a:pt x="63501" y="381000"/>
                </a:lnTo>
                <a:cubicBezTo>
                  <a:pt x="28454" y="381000"/>
                  <a:pt x="0" y="352546"/>
                  <a:pt x="0" y="317499"/>
                </a:cubicBezTo>
                <a:lnTo>
                  <a:pt x="0" y="63501"/>
                </a:lnTo>
                <a:cubicBezTo>
                  <a:pt x="0" y="28454"/>
                  <a:pt x="28454" y="0"/>
                  <a:pt x="63501" y="0"/>
                </a:cubicBezTo>
                <a:close/>
              </a:path>
            </a:pathLst>
          </a:custGeom>
          <a:solidFill>
            <a:srgbClr val="C8A265"/>
          </a:solidFill>
          <a:ln/>
        </p:spPr>
      </p:sp>
      <p:sp>
        <p:nvSpPr>
          <p:cNvPr id="33" name="Shape 31"/>
          <p:cNvSpPr/>
          <p:nvPr/>
        </p:nvSpPr>
        <p:spPr>
          <a:xfrm>
            <a:off x="605234" y="5048250"/>
            <a:ext cx="138906" cy="158750"/>
          </a:xfrm>
          <a:custGeom>
            <a:avLst/>
            <a:gdLst/>
            <a:ahLst/>
            <a:cxnLst/>
            <a:rect l="l" t="t" r="r" b="b"/>
            <a:pathLst>
              <a:path w="138906" h="158750">
                <a:moveTo>
                  <a:pt x="69453" y="-9922"/>
                </a:moveTo>
                <a:cubicBezTo>
                  <a:pt x="71624" y="-9922"/>
                  <a:pt x="73701" y="-8961"/>
                  <a:pt x="75127" y="-7286"/>
                </a:cubicBezTo>
                <a:lnTo>
                  <a:pt x="117295" y="42323"/>
                </a:lnTo>
                <a:cubicBezTo>
                  <a:pt x="119187" y="44524"/>
                  <a:pt x="119590" y="47625"/>
                  <a:pt x="118380" y="50260"/>
                </a:cubicBezTo>
                <a:cubicBezTo>
                  <a:pt x="117171" y="52896"/>
                  <a:pt x="114536" y="54570"/>
                  <a:pt x="111621" y="54570"/>
                </a:cubicBezTo>
                <a:lnTo>
                  <a:pt x="103901" y="54570"/>
                </a:lnTo>
                <a:lnTo>
                  <a:pt x="127217" y="82010"/>
                </a:lnTo>
                <a:cubicBezTo>
                  <a:pt x="129108" y="84212"/>
                  <a:pt x="129511" y="87313"/>
                  <a:pt x="128302" y="89948"/>
                </a:cubicBezTo>
                <a:cubicBezTo>
                  <a:pt x="127093" y="92583"/>
                  <a:pt x="124458" y="94258"/>
                  <a:pt x="121543" y="94258"/>
                </a:cubicBezTo>
                <a:lnTo>
                  <a:pt x="109606" y="94258"/>
                </a:lnTo>
                <a:lnTo>
                  <a:pt x="137139" y="126659"/>
                </a:lnTo>
                <a:cubicBezTo>
                  <a:pt x="139030" y="128860"/>
                  <a:pt x="139433" y="131961"/>
                  <a:pt x="138224" y="134596"/>
                </a:cubicBezTo>
                <a:cubicBezTo>
                  <a:pt x="137015" y="137232"/>
                  <a:pt x="134379" y="138906"/>
                  <a:pt x="131465" y="138906"/>
                </a:cubicBezTo>
                <a:lnTo>
                  <a:pt x="79375" y="138906"/>
                </a:lnTo>
                <a:lnTo>
                  <a:pt x="79375" y="158750"/>
                </a:lnTo>
                <a:cubicBezTo>
                  <a:pt x="79375" y="164238"/>
                  <a:pt x="74941" y="168672"/>
                  <a:pt x="69453" y="168672"/>
                </a:cubicBezTo>
                <a:cubicBezTo>
                  <a:pt x="63965" y="168672"/>
                  <a:pt x="59531" y="164238"/>
                  <a:pt x="59531" y="158750"/>
                </a:cubicBezTo>
                <a:lnTo>
                  <a:pt x="59531" y="138906"/>
                </a:lnTo>
                <a:lnTo>
                  <a:pt x="7441" y="138906"/>
                </a:lnTo>
                <a:cubicBezTo>
                  <a:pt x="4527" y="138906"/>
                  <a:pt x="1891" y="137232"/>
                  <a:pt x="682" y="134596"/>
                </a:cubicBezTo>
                <a:cubicBezTo>
                  <a:pt x="-527" y="131961"/>
                  <a:pt x="-124" y="128860"/>
                  <a:pt x="1767" y="126659"/>
                </a:cubicBezTo>
                <a:lnTo>
                  <a:pt x="29301" y="94258"/>
                </a:lnTo>
                <a:lnTo>
                  <a:pt x="17363" y="94258"/>
                </a:lnTo>
                <a:cubicBezTo>
                  <a:pt x="14449" y="94258"/>
                  <a:pt x="11813" y="92583"/>
                  <a:pt x="10604" y="89948"/>
                </a:cubicBezTo>
                <a:cubicBezTo>
                  <a:pt x="9395" y="87313"/>
                  <a:pt x="9798" y="84212"/>
                  <a:pt x="11689" y="82010"/>
                </a:cubicBezTo>
                <a:lnTo>
                  <a:pt x="35006" y="54570"/>
                </a:lnTo>
                <a:lnTo>
                  <a:pt x="27285" y="54570"/>
                </a:lnTo>
                <a:cubicBezTo>
                  <a:pt x="24371" y="54570"/>
                  <a:pt x="21735" y="52896"/>
                  <a:pt x="20526" y="50260"/>
                </a:cubicBezTo>
                <a:cubicBezTo>
                  <a:pt x="19317" y="47625"/>
                  <a:pt x="19720" y="44524"/>
                  <a:pt x="21611" y="42323"/>
                </a:cubicBezTo>
                <a:lnTo>
                  <a:pt x="63779" y="-7286"/>
                </a:lnTo>
                <a:cubicBezTo>
                  <a:pt x="65205" y="-8961"/>
                  <a:pt x="67283" y="-9922"/>
                  <a:pt x="69453" y="-9922"/>
                </a:cubicBezTo>
                <a:close/>
              </a:path>
            </a:pathLst>
          </a:custGeom>
          <a:solidFill>
            <a:srgbClr val="1A1D23"/>
          </a:solidFill>
          <a:ln/>
        </p:spPr>
      </p:sp>
      <p:sp>
        <p:nvSpPr>
          <p:cNvPr id="34" name="Text 32"/>
          <p:cNvSpPr/>
          <p:nvPr/>
        </p:nvSpPr>
        <p:spPr>
          <a:xfrm>
            <a:off x="960438" y="5000625"/>
            <a:ext cx="1658938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00" b="1" dirty="0">
                <a:solidFill>
                  <a:srgbClr val="E0E2E6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Modelos Simples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484187" y="5413375"/>
            <a:ext cx="2984500" cy="412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00" dirty="0">
                <a:solidFill>
                  <a:srgbClr val="788A9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Uso de modelos inherentemente interpretables cuando la </a:t>
            </a:r>
            <a:pPr>
              <a:lnSpc>
                <a:spcPct val="140000"/>
              </a:lnSpc>
            </a:pPr>
            <a:r>
              <a:rPr lang="en-US" sz="1000" dirty="0">
                <a:solidFill>
                  <a:srgbClr val="E0E2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explicabilidad es prioridad</a:t>
            </a:r>
            <a:pPr>
              <a:lnSpc>
                <a:spcPct val="140000"/>
              </a:lnSpc>
            </a:pPr>
            <a:r>
              <a:rPr lang="en-US" sz="1000" dirty="0">
                <a:solidFill>
                  <a:srgbClr val="788A9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.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484187" y="5921375"/>
            <a:ext cx="2921000" cy="476250"/>
          </a:xfrm>
          <a:custGeom>
            <a:avLst/>
            <a:gdLst/>
            <a:ahLst/>
            <a:cxnLst/>
            <a:rect l="l" t="t" r="r" b="b"/>
            <a:pathLst>
              <a:path w="2921000" h="476250">
                <a:moveTo>
                  <a:pt x="31752" y="0"/>
                </a:moveTo>
                <a:lnTo>
                  <a:pt x="2889248" y="0"/>
                </a:lnTo>
                <a:cubicBezTo>
                  <a:pt x="2906784" y="0"/>
                  <a:pt x="2921000" y="14216"/>
                  <a:pt x="2921000" y="31752"/>
                </a:cubicBezTo>
                <a:lnTo>
                  <a:pt x="2921000" y="444498"/>
                </a:lnTo>
                <a:cubicBezTo>
                  <a:pt x="2921000" y="462034"/>
                  <a:pt x="2906784" y="476250"/>
                  <a:pt x="2889248" y="476250"/>
                </a:cubicBezTo>
                <a:lnTo>
                  <a:pt x="31752" y="476250"/>
                </a:lnTo>
                <a:cubicBezTo>
                  <a:pt x="14216" y="476250"/>
                  <a:pt x="0" y="462034"/>
                  <a:pt x="0" y="444498"/>
                </a:cubicBezTo>
                <a:lnTo>
                  <a:pt x="0" y="31752"/>
                </a:lnTo>
                <a:cubicBezTo>
                  <a:pt x="0" y="14216"/>
                  <a:pt x="14216" y="0"/>
                  <a:pt x="31752" y="0"/>
                </a:cubicBezTo>
                <a:close/>
              </a:path>
            </a:pathLst>
          </a:custGeom>
          <a:solidFill>
            <a:srgbClr val="4A6D8C">
              <a:alpha val="20000"/>
            </a:srgbClr>
          </a:solidFill>
          <a:ln/>
        </p:spPr>
      </p:sp>
      <p:sp>
        <p:nvSpPr>
          <p:cNvPr id="37" name="Text 35"/>
          <p:cNvSpPr/>
          <p:nvPr/>
        </p:nvSpPr>
        <p:spPr>
          <a:xfrm>
            <a:off x="547688" y="5984875"/>
            <a:ext cx="2857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E0E2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Árboles de Decisión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547688" y="6175375"/>
            <a:ext cx="2849563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788A9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Reglas visuales claras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484187" y="6461125"/>
            <a:ext cx="2921000" cy="476250"/>
          </a:xfrm>
          <a:custGeom>
            <a:avLst/>
            <a:gdLst/>
            <a:ahLst/>
            <a:cxnLst/>
            <a:rect l="l" t="t" r="r" b="b"/>
            <a:pathLst>
              <a:path w="2921000" h="476250">
                <a:moveTo>
                  <a:pt x="31752" y="0"/>
                </a:moveTo>
                <a:lnTo>
                  <a:pt x="2889248" y="0"/>
                </a:lnTo>
                <a:cubicBezTo>
                  <a:pt x="2906784" y="0"/>
                  <a:pt x="2921000" y="14216"/>
                  <a:pt x="2921000" y="31752"/>
                </a:cubicBezTo>
                <a:lnTo>
                  <a:pt x="2921000" y="444498"/>
                </a:lnTo>
                <a:cubicBezTo>
                  <a:pt x="2921000" y="462034"/>
                  <a:pt x="2906784" y="476250"/>
                  <a:pt x="2889248" y="476250"/>
                </a:cubicBezTo>
                <a:lnTo>
                  <a:pt x="31752" y="476250"/>
                </a:lnTo>
                <a:cubicBezTo>
                  <a:pt x="14216" y="476250"/>
                  <a:pt x="0" y="462034"/>
                  <a:pt x="0" y="444498"/>
                </a:cubicBezTo>
                <a:lnTo>
                  <a:pt x="0" y="31752"/>
                </a:lnTo>
                <a:cubicBezTo>
                  <a:pt x="0" y="14216"/>
                  <a:pt x="14216" y="0"/>
                  <a:pt x="31752" y="0"/>
                </a:cubicBezTo>
                <a:close/>
              </a:path>
            </a:pathLst>
          </a:custGeom>
          <a:solidFill>
            <a:srgbClr val="4A6D8C">
              <a:alpha val="20000"/>
            </a:srgbClr>
          </a:solidFill>
          <a:ln/>
        </p:spPr>
      </p:sp>
      <p:sp>
        <p:nvSpPr>
          <p:cNvPr id="40" name="Text 38"/>
          <p:cNvSpPr/>
          <p:nvPr/>
        </p:nvSpPr>
        <p:spPr>
          <a:xfrm>
            <a:off x="547688" y="6524625"/>
            <a:ext cx="2857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E0E2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Regresión Lineal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547688" y="6715125"/>
            <a:ext cx="2849563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788A9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Coeficientes interpretables</a:t>
            </a:r>
            <a:endParaRPr lang="en-US" sz="1600" dirty="0"/>
          </a:p>
        </p:txBody>
      </p:sp>
      <p:sp>
        <p:nvSpPr>
          <p:cNvPr id="42" name="Shape 40"/>
          <p:cNvSpPr/>
          <p:nvPr/>
        </p:nvSpPr>
        <p:spPr>
          <a:xfrm>
            <a:off x="484187" y="7000875"/>
            <a:ext cx="2921000" cy="476250"/>
          </a:xfrm>
          <a:custGeom>
            <a:avLst/>
            <a:gdLst/>
            <a:ahLst/>
            <a:cxnLst/>
            <a:rect l="l" t="t" r="r" b="b"/>
            <a:pathLst>
              <a:path w="2921000" h="476250">
                <a:moveTo>
                  <a:pt x="31752" y="0"/>
                </a:moveTo>
                <a:lnTo>
                  <a:pt x="2889248" y="0"/>
                </a:lnTo>
                <a:cubicBezTo>
                  <a:pt x="2906784" y="0"/>
                  <a:pt x="2921000" y="14216"/>
                  <a:pt x="2921000" y="31752"/>
                </a:cubicBezTo>
                <a:lnTo>
                  <a:pt x="2921000" y="444498"/>
                </a:lnTo>
                <a:cubicBezTo>
                  <a:pt x="2921000" y="462034"/>
                  <a:pt x="2906784" y="476250"/>
                  <a:pt x="2889248" y="476250"/>
                </a:cubicBezTo>
                <a:lnTo>
                  <a:pt x="31752" y="476250"/>
                </a:lnTo>
                <a:cubicBezTo>
                  <a:pt x="14216" y="476250"/>
                  <a:pt x="0" y="462034"/>
                  <a:pt x="0" y="444498"/>
                </a:cubicBezTo>
                <a:lnTo>
                  <a:pt x="0" y="31752"/>
                </a:lnTo>
                <a:cubicBezTo>
                  <a:pt x="0" y="14216"/>
                  <a:pt x="14216" y="0"/>
                  <a:pt x="31752" y="0"/>
                </a:cubicBezTo>
                <a:close/>
              </a:path>
            </a:pathLst>
          </a:custGeom>
          <a:solidFill>
            <a:srgbClr val="4A6D8C">
              <a:alpha val="20000"/>
            </a:srgbClr>
          </a:solidFill>
          <a:ln/>
        </p:spPr>
      </p:sp>
      <p:sp>
        <p:nvSpPr>
          <p:cNvPr id="43" name="Text 41"/>
          <p:cNvSpPr/>
          <p:nvPr/>
        </p:nvSpPr>
        <p:spPr>
          <a:xfrm>
            <a:off x="547688" y="7064375"/>
            <a:ext cx="2857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E0E2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Reglas de Asociación</a:t>
            </a:r>
            <a:endParaRPr lang="en-US" sz="1600" dirty="0"/>
          </a:p>
        </p:txBody>
      </p:sp>
      <p:sp>
        <p:nvSpPr>
          <p:cNvPr id="44" name="Text 42"/>
          <p:cNvSpPr/>
          <p:nvPr/>
        </p:nvSpPr>
        <p:spPr>
          <a:xfrm>
            <a:off x="547688" y="7254875"/>
            <a:ext cx="2849563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788A9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SI-ENTONCES explícitos</a:t>
            </a:r>
            <a:endParaRPr lang="en-US" sz="1600" dirty="0"/>
          </a:p>
        </p:txBody>
      </p:sp>
      <p:sp>
        <p:nvSpPr>
          <p:cNvPr id="45" name="Shape 43"/>
          <p:cNvSpPr/>
          <p:nvPr/>
        </p:nvSpPr>
        <p:spPr>
          <a:xfrm>
            <a:off x="3704456" y="4774406"/>
            <a:ext cx="3246438" cy="2865438"/>
          </a:xfrm>
          <a:custGeom>
            <a:avLst/>
            <a:gdLst/>
            <a:ahLst/>
            <a:cxnLst/>
            <a:rect l="l" t="t" r="r" b="b"/>
            <a:pathLst>
              <a:path w="3246438" h="2865438">
                <a:moveTo>
                  <a:pt x="95247" y="0"/>
                </a:moveTo>
                <a:lnTo>
                  <a:pt x="3151190" y="0"/>
                </a:lnTo>
                <a:cubicBezTo>
                  <a:pt x="3203794" y="0"/>
                  <a:pt x="3246438" y="42644"/>
                  <a:pt x="3246438" y="95247"/>
                </a:cubicBezTo>
                <a:lnTo>
                  <a:pt x="3246438" y="2770190"/>
                </a:lnTo>
                <a:cubicBezTo>
                  <a:pt x="3246438" y="2822794"/>
                  <a:pt x="3203794" y="2865438"/>
                  <a:pt x="3151190" y="2865438"/>
                </a:cubicBezTo>
                <a:lnTo>
                  <a:pt x="95247" y="2865438"/>
                </a:lnTo>
                <a:cubicBezTo>
                  <a:pt x="42644" y="2865438"/>
                  <a:pt x="0" y="2822794"/>
                  <a:pt x="0" y="2770190"/>
                </a:cubicBezTo>
                <a:lnTo>
                  <a:pt x="0" y="95247"/>
                </a:lnTo>
                <a:cubicBezTo>
                  <a:pt x="0" y="42644"/>
                  <a:pt x="42644" y="0"/>
                  <a:pt x="95247" y="0"/>
                </a:cubicBezTo>
                <a:close/>
              </a:path>
            </a:pathLst>
          </a:custGeom>
          <a:solidFill>
            <a:srgbClr val="4A6D8C">
              <a:alpha val="10196"/>
            </a:srgbClr>
          </a:solidFill>
          <a:ln w="12700">
            <a:solidFill>
              <a:srgbClr val="4A6D8C">
                <a:alpha val="30196"/>
              </a:srgbClr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3867175" y="4937125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63501" y="0"/>
                </a:moveTo>
                <a:lnTo>
                  <a:pt x="317499" y="0"/>
                </a:lnTo>
                <a:cubicBezTo>
                  <a:pt x="352546" y="0"/>
                  <a:pt x="381000" y="28454"/>
                  <a:pt x="381000" y="63501"/>
                </a:cubicBezTo>
                <a:lnTo>
                  <a:pt x="381000" y="317499"/>
                </a:lnTo>
                <a:cubicBezTo>
                  <a:pt x="381000" y="352546"/>
                  <a:pt x="352546" y="381000"/>
                  <a:pt x="317499" y="381000"/>
                </a:cubicBezTo>
                <a:lnTo>
                  <a:pt x="63501" y="381000"/>
                </a:lnTo>
                <a:cubicBezTo>
                  <a:pt x="28454" y="381000"/>
                  <a:pt x="0" y="352546"/>
                  <a:pt x="0" y="317499"/>
                </a:cubicBezTo>
                <a:lnTo>
                  <a:pt x="0" y="63501"/>
                </a:lnTo>
                <a:cubicBezTo>
                  <a:pt x="0" y="28454"/>
                  <a:pt x="28454" y="0"/>
                  <a:pt x="63501" y="0"/>
                </a:cubicBezTo>
                <a:close/>
              </a:path>
            </a:pathLst>
          </a:custGeom>
          <a:solidFill>
            <a:srgbClr val="C8A265"/>
          </a:solidFill>
          <a:ln/>
        </p:spPr>
      </p:sp>
      <p:sp>
        <p:nvSpPr>
          <p:cNvPr id="47" name="Shape 45"/>
          <p:cNvSpPr/>
          <p:nvPr/>
        </p:nvSpPr>
        <p:spPr>
          <a:xfrm>
            <a:off x="3968378" y="5048250"/>
            <a:ext cx="178594" cy="158750"/>
          </a:xfrm>
          <a:custGeom>
            <a:avLst/>
            <a:gdLst/>
            <a:ahLst/>
            <a:cxnLst/>
            <a:rect l="l" t="t" r="r" b="b"/>
            <a:pathLst>
              <a:path w="178594" h="158750">
                <a:moveTo>
                  <a:pt x="89297" y="9922"/>
                </a:moveTo>
                <a:cubicBezTo>
                  <a:pt x="64244" y="9922"/>
                  <a:pt x="44183" y="21332"/>
                  <a:pt x="29580" y="34913"/>
                </a:cubicBezTo>
                <a:cubicBezTo>
                  <a:pt x="15069" y="48400"/>
                  <a:pt x="5364" y="64492"/>
                  <a:pt x="744" y="75561"/>
                </a:cubicBezTo>
                <a:cubicBezTo>
                  <a:pt x="-279" y="78011"/>
                  <a:pt x="-279" y="80739"/>
                  <a:pt x="744" y="83189"/>
                </a:cubicBezTo>
                <a:cubicBezTo>
                  <a:pt x="5364" y="94258"/>
                  <a:pt x="15069" y="110381"/>
                  <a:pt x="29580" y="123837"/>
                </a:cubicBezTo>
                <a:cubicBezTo>
                  <a:pt x="44183" y="137387"/>
                  <a:pt x="64244" y="148828"/>
                  <a:pt x="89297" y="148828"/>
                </a:cubicBezTo>
                <a:cubicBezTo>
                  <a:pt x="114350" y="148828"/>
                  <a:pt x="134410" y="137418"/>
                  <a:pt x="149014" y="123837"/>
                </a:cubicBezTo>
                <a:cubicBezTo>
                  <a:pt x="163525" y="110350"/>
                  <a:pt x="173230" y="94258"/>
                  <a:pt x="177850" y="83189"/>
                </a:cubicBezTo>
                <a:cubicBezTo>
                  <a:pt x="178873" y="80739"/>
                  <a:pt x="178873" y="78011"/>
                  <a:pt x="177850" y="75561"/>
                </a:cubicBezTo>
                <a:cubicBezTo>
                  <a:pt x="173230" y="64492"/>
                  <a:pt x="163525" y="48369"/>
                  <a:pt x="149014" y="34913"/>
                </a:cubicBezTo>
                <a:cubicBezTo>
                  <a:pt x="134410" y="21363"/>
                  <a:pt x="114350" y="9922"/>
                  <a:pt x="89297" y="9922"/>
                </a:cubicBezTo>
                <a:close/>
                <a:moveTo>
                  <a:pt x="44648" y="79375"/>
                </a:moveTo>
                <a:cubicBezTo>
                  <a:pt x="44648" y="54733"/>
                  <a:pt x="64655" y="34727"/>
                  <a:pt x="89297" y="34727"/>
                </a:cubicBezTo>
                <a:cubicBezTo>
                  <a:pt x="113939" y="34727"/>
                  <a:pt x="133945" y="54733"/>
                  <a:pt x="133945" y="79375"/>
                </a:cubicBezTo>
                <a:cubicBezTo>
                  <a:pt x="133945" y="104017"/>
                  <a:pt x="113939" y="124023"/>
                  <a:pt x="89297" y="124023"/>
                </a:cubicBezTo>
                <a:cubicBezTo>
                  <a:pt x="64655" y="124023"/>
                  <a:pt x="44648" y="104017"/>
                  <a:pt x="44648" y="79375"/>
                </a:cubicBezTo>
                <a:close/>
                <a:moveTo>
                  <a:pt x="89297" y="59531"/>
                </a:moveTo>
                <a:cubicBezTo>
                  <a:pt x="89297" y="70476"/>
                  <a:pt x="80398" y="79375"/>
                  <a:pt x="69453" y="79375"/>
                </a:cubicBezTo>
                <a:cubicBezTo>
                  <a:pt x="65887" y="79375"/>
                  <a:pt x="62539" y="78445"/>
                  <a:pt x="59624" y="76771"/>
                </a:cubicBezTo>
                <a:cubicBezTo>
                  <a:pt x="59314" y="80150"/>
                  <a:pt x="59593" y="83623"/>
                  <a:pt x="60523" y="87064"/>
                </a:cubicBezTo>
                <a:cubicBezTo>
                  <a:pt x="64771" y="102939"/>
                  <a:pt x="81111" y="112365"/>
                  <a:pt x="96986" y="108117"/>
                </a:cubicBezTo>
                <a:cubicBezTo>
                  <a:pt x="112861" y="103870"/>
                  <a:pt x="122287" y="87530"/>
                  <a:pt x="118039" y="71655"/>
                </a:cubicBezTo>
                <a:cubicBezTo>
                  <a:pt x="114257" y="57485"/>
                  <a:pt x="100831" y="48462"/>
                  <a:pt x="86692" y="49702"/>
                </a:cubicBezTo>
                <a:cubicBezTo>
                  <a:pt x="88336" y="52586"/>
                  <a:pt x="89297" y="55935"/>
                  <a:pt x="89297" y="59531"/>
                </a:cubicBezTo>
                <a:close/>
              </a:path>
            </a:pathLst>
          </a:custGeom>
          <a:solidFill>
            <a:srgbClr val="1A1D23"/>
          </a:solidFill>
          <a:ln/>
        </p:spPr>
      </p:sp>
      <p:sp>
        <p:nvSpPr>
          <p:cNvPr id="48" name="Text 46"/>
          <p:cNvSpPr/>
          <p:nvPr/>
        </p:nvSpPr>
        <p:spPr>
          <a:xfrm>
            <a:off x="4343425" y="5000625"/>
            <a:ext cx="130175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00" b="1" dirty="0">
                <a:solidFill>
                  <a:srgbClr val="E0E2E6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Visualización</a:t>
            </a:r>
            <a:endParaRPr lang="en-US" sz="1600" dirty="0"/>
          </a:p>
        </p:txBody>
      </p:sp>
      <p:sp>
        <p:nvSpPr>
          <p:cNvPr id="49" name="Text 47"/>
          <p:cNvSpPr/>
          <p:nvPr/>
        </p:nvSpPr>
        <p:spPr>
          <a:xfrm>
            <a:off x="3867175" y="5413375"/>
            <a:ext cx="2984500" cy="412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00" dirty="0">
                <a:solidFill>
                  <a:srgbClr val="788A9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Técnicas para </a:t>
            </a:r>
            <a:pPr>
              <a:lnSpc>
                <a:spcPct val="140000"/>
              </a:lnSpc>
            </a:pPr>
            <a:r>
              <a:rPr lang="en-US" sz="1000" dirty="0">
                <a:solidFill>
                  <a:srgbClr val="E0E2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visualizar decisiones</a:t>
            </a:r>
            <a:pPr>
              <a:lnSpc>
                <a:spcPct val="140000"/>
              </a:lnSpc>
            </a:pPr>
            <a:r>
              <a:rPr lang="en-US" sz="1000" dirty="0">
                <a:solidFill>
                  <a:srgbClr val="788A9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de modelos complejos.</a:t>
            </a:r>
            <a:endParaRPr lang="en-US" sz="1600" dirty="0"/>
          </a:p>
        </p:txBody>
      </p:sp>
      <p:sp>
        <p:nvSpPr>
          <p:cNvPr id="50" name="Shape 48"/>
          <p:cNvSpPr/>
          <p:nvPr/>
        </p:nvSpPr>
        <p:spPr>
          <a:xfrm>
            <a:off x="3867175" y="5921375"/>
            <a:ext cx="2921000" cy="476250"/>
          </a:xfrm>
          <a:custGeom>
            <a:avLst/>
            <a:gdLst/>
            <a:ahLst/>
            <a:cxnLst/>
            <a:rect l="l" t="t" r="r" b="b"/>
            <a:pathLst>
              <a:path w="2921000" h="476250">
                <a:moveTo>
                  <a:pt x="31752" y="0"/>
                </a:moveTo>
                <a:lnTo>
                  <a:pt x="2889248" y="0"/>
                </a:lnTo>
                <a:cubicBezTo>
                  <a:pt x="2906784" y="0"/>
                  <a:pt x="2921000" y="14216"/>
                  <a:pt x="2921000" y="31752"/>
                </a:cubicBezTo>
                <a:lnTo>
                  <a:pt x="2921000" y="444498"/>
                </a:lnTo>
                <a:cubicBezTo>
                  <a:pt x="2921000" y="462034"/>
                  <a:pt x="2906784" y="476250"/>
                  <a:pt x="2889248" y="476250"/>
                </a:cubicBezTo>
                <a:lnTo>
                  <a:pt x="31752" y="476250"/>
                </a:lnTo>
                <a:cubicBezTo>
                  <a:pt x="14216" y="476250"/>
                  <a:pt x="0" y="462034"/>
                  <a:pt x="0" y="444498"/>
                </a:cubicBezTo>
                <a:lnTo>
                  <a:pt x="0" y="31752"/>
                </a:lnTo>
                <a:cubicBezTo>
                  <a:pt x="0" y="14216"/>
                  <a:pt x="14216" y="0"/>
                  <a:pt x="31752" y="0"/>
                </a:cubicBezTo>
                <a:close/>
              </a:path>
            </a:pathLst>
          </a:custGeom>
          <a:solidFill>
            <a:srgbClr val="4A6D8C">
              <a:alpha val="20000"/>
            </a:srgbClr>
          </a:solidFill>
          <a:ln/>
        </p:spPr>
      </p:sp>
      <p:sp>
        <p:nvSpPr>
          <p:cNvPr id="51" name="Text 49"/>
          <p:cNvSpPr/>
          <p:nvPr/>
        </p:nvSpPr>
        <p:spPr>
          <a:xfrm>
            <a:off x="3930675" y="5984875"/>
            <a:ext cx="2857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E0E2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Heatmaps</a:t>
            </a:r>
            <a:endParaRPr lang="en-US" sz="1600" dirty="0"/>
          </a:p>
        </p:txBody>
      </p:sp>
      <p:sp>
        <p:nvSpPr>
          <p:cNvPr id="52" name="Text 50"/>
          <p:cNvSpPr/>
          <p:nvPr/>
        </p:nvSpPr>
        <p:spPr>
          <a:xfrm>
            <a:off x="3930675" y="6175375"/>
            <a:ext cx="2849563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788A9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Áreas importantes en imágenes</a:t>
            </a:r>
            <a:endParaRPr lang="en-US" sz="1600" dirty="0"/>
          </a:p>
        </p:txBody>
      </p:sp>
      <p:sp>
        <p:nvSpPr>
          <p:cNvPr id="53" name="Shape 51"/>
          <p:cNvSpPr/>
          <p:nvPr/>
        </p:nvSpPr>
        <p:spPr>
          <a:xfrm>
            <a:off x="3867175" y="6461125"/>
            <a:ext cx="2921000" cy="476250"/>
          </a:xfrm>
          <a:custGeom>
            <a:avLst/>
            <a:gdLst/>
            <a:ahLst/>
            <a:cxnLst/>
            <a:rect l="l" t="t" r="r" b="b"/>
            <a:pathLst>
              <a:path w="2921000" h="476250">
                <a:moveTo>
                  <a:pt x="31752" y="0"/>
                </a:moveTo>
                <a:lnTo>
                  <a:pt x="2889248" y="0"/>
                </a:lnTo>
                <a:cubicBezTo>
                  <a:pt x="2906784" y="0"/>
                  <a:pt x="2921000" y="14216"/>
                  <a:pt x="2921000" y="31752"/>
                </a:cubicBezTo>
                <a:lnTo>
                  <a:pt x="2921000" y="444498"/>
                </a:lnTo>
                <a:cubicBezTo>
                  <a:pt x="2921000" y="462034"/>
                  <a:pt x="2906784" y="476250"/>
                  <a:pt x="2889248" y="476250"/>
                </a:cubicBezTo>
                <a:lnTo>
                  <a:pt x="31752" y="476250"/>
                </a:lnTo>
                <a:cubicBezTo>
                  <a:pt x="14216" y="476250"/>
                  <a:pt x="0" y="462034"/>
                  <a:pt x="0" y="444498"/>
                </a:cubicBezTo>
                <a:lnTo>
                  <a:pt x="0" y="31752"/>
                </a:lnTo>
                <a:cubicBezTo>
                  <a:pt x="0" y="14216"/>
                  <a:pt x="14216" y="0"/>
                  <a:pt x="31752" y="0"/>
                </a:cubicBezTo>
                <a:close/>
              </a:path>
            </a:pathLst>
          </a:custGeom>
          <a:solidFill>
            <a:srgbClr val="4A6D8C">
              <a:alpha val="20000"/>
            </a:srgbClr>
          </a:solidFill>
          <a:ln/>
        </p:spPr>
      </p:sp>
      <p:sp>
        <p:nvSpPr>
          <p:cNvPr id="54" name="Text 52"/>
          <p:cNvSpPr/>
          <p:nvPr/>
        </p:nvSpPr>
        <p:spPr>
          <a:xfrm>
            <a:off x="3930675" y="6524625"/>
            <a:ext cx="2857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E0E2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Feature Importance</a:t>
            </a:r>
            <a:endParaRPr lang="en-US" sz="1600" dirty="0"/>
          </a:p>
        </p:txBody>
      </p:sp>
      <p:sp>
        <p:nvSpPr>
          <p:cNvPr id="55" name="Text 53"/>
          <p:cNvSpPr/>
          <p:nvPr/>
        </p:nvSpPr>
        <p:spPr>
          <a:xfrm>
            <a:off x="3930675" y="6715125"/>
            <a:ext cx="2849563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788A9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Ranking de variables</a:t>
            </a:r>
            <a:endParaRPr lang="en-US" sz="1600" dirty="0"/>
          </a:p>
        </p:txBody>
      </p:sp>
      <p:sp>
        <p:nvSpPr>
          <p:cNvPr id="56" name="Shape 54"/>
          <p:cNvSpPr/>
          <p:nvPr/>
        </p:nvSpPr>
        <p:spPr>
          <a:xfrm>
            <a:off x="3867175" y="7000875"/>
            <a:ext cx="2921000" cy="476250"/>
          </a:xfrm>
          <a:custGeom>
            <a:avLst/>
            <a:gdLst/>
            <a:ahLst/>
            <a:cxnLst/>
            <a:rect l="l" t="t" r="r" b="b"/>
            <a:pathLst>
              <a:path w="2921000" h="476250">
                <a:moveTo>
                  <a:pt x="31752" y="0"/>
                </a:moveTo>
                <a:lnTo>
                  <a:pt x="2889248" y="0"/>
                </a:lnTo>
                <a:cubicBezTo>
                  <a:pt x="2906784" y="0"/>
                  <a:pt x="2921000" y="14216"/>
                  <a:pt x="2921000" y="31752"/>
                </a:cubicBezTo>
                <a:lnTo>
                  <a:pt x="2921000" y="444498"/>
                </a:lnTo>
                <a:cubicBezTo>
                  <a:pt x="2921000" y="462034"/>
                  <a:pt x="2906784" y="476250"/>
                  <a:pt x="2889248" y="476250"/>
                </a:cubicBezTo>
                <a:lnTo>
                  <a:pt x="31752" y="476250"/>
                </a:lnTo>
                <a:cubicBezTo>
                  <a:pt x="14216" y="476250"/>
                  <a:pt x="0" y="462034"/>
                  <a:pt x="0" y="444498"/>
                </a:cubicBezTo>
                <a:lnTo>
                  <a:pt x="0" y="31752"/>
                </a:lnTo>
                <a:cubicBezTo>
                  <a:pt x="0" y="14216"/>
                  <a:pt x="14216" y="0"/>
                  <a:pt x="31752" y="0"/>
                </a:cubicBezTo>
                <a:close/>
              </a:path>
            </a:pathLst>
          </a:custGeom>
          <a:solidFill>
            <a:srgbClr val="4A6D8C">
              <a:alpha val="20000"/>
            </a:srgbClr>
          </a:solidFill>
          <a:ln/>
        </p:spPr>
      </p:sp>
      <p:sp>
        <p:nvSpPr>
          <p:cNvPr id="57" name="Text 55"/>
          <p:cNvSpPr/>
          <p:nvPr/>
        </p:nvSpPr>
        <p:spPr>
          <a:xfrm>
            <a:off x="3930675" y="7064375"/>
            <a:ext cx="2857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E0E2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Partial Dependence</a:t>
            </a:r>
            <a:endParaRPr lang="en-US" sz="1600" dirty="0"/>
          </a:p>
        </p:txBody>
      </p:sp>
      <p:sp>
        <p:nvSpPr>
          <p:cNvPr id="58" name="Text 56"/>
          <p:cNvSpPr/>
          <p:nvPr/>
        </p:nvSpPr>
        <p:spPr>
          <a:xfrm>
            <a:off x="3930675" y="7254875"/>
            <a:ext cx="2849563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788A9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Efecto de features individuales</a:t>
            </a:r>
            <a:endParaRPr lang="en-US" sz="1600" dirty="0"/>
          </a:p>
        </p:txBody>
      </p:sp>
      <p:sp>
        <p:nvSpPr>
          <p:cNvPr id="59" name="Shape 57"/>
          <p:cNvSpPr/>
          <p:nvPr/>
        </p:nvSpPr>
        <p:spPr>
          <a:xfrm>
            <a:off x="7119193" y="1916906"/>
            <a:ext cx="4754563" cy="5722938"/>
          </a:xfrm>
          <a:custGeom>
            <a:avLst/>
            <a:gdLst/>
            <a:ahLst/>
            <a:cxnLst/>
            <a:rect l="l" t="t" r="r" b="b"/>
            <a:pathLst>
              <a:path w="4754563" h="5722938">
                <a:moveTo>
                  <a:pt x="95234" y="0"/>
                </a:moveTo>
                <a:lnTo>
                  <a:pt x="4659329" y="0"/>
                </a:lnTo>
                <a:cubicBezTo>
                  <a:pt x="4711925" y="0"/>
                  <a:pt x="4754563" y="42638"/>
                  <a:pt x="4754563" y="95234"/>
                </a:cubicBezTo>
                <a:lnTo>
                  <a:pt x="4754563" y="5627704"/>
                </a:lnTo>
                <a:cubicBezTo>
                  <a:pt x="4754562" y="5680300"/>
                  <a:pt x="4711925" y="5722938"/>
                  <a:pt x="4659329" y="5722938"/>
                </a:cubicBezTo>
                <a:lnTo>
                  <a:pt x="95234" y="5722938"/>
                </a:lnTo>
                <a:cubicBezTo>
                  <a:pt x="42638" y="5722938"/>
                  <a:pt x="0" y="5680300"/>
                  <a:pt x="0" y="5627704"/>
                </a:cubicBezTo>
                <a:lnTo>
                  <a:pt x="0" y="95234"/>
                </a:lnTo>
                <a:cubicBezTo>
                  <a:pt x="0" y="42638"/>
                  <a:pt x="42638" y="0"/>
                  <a:pt x="95234" y="0"/>
                </a:cubicBezTo>
                <a:close/>
              </a:path>
            </a:pathLst>
          </a:custGeom>
          <a:solidFill>
            <a:srgbClr val="4A6D8C">
              <a:alpha val="10196"/>
            </a:srgbClr>
          </a:solidFill>
          <a:ln w="12700">
            <a:solidFill>
              <a:srgbClr val="4A6D8C">
                <a:alpha val="30196"/>
              </a:srgbClr>
            </a:solidFill>
            <a:prstDash val="solid"/>
          </a:ln>
        </p:spPr>
      </p:sp>
      <p:pic>
        <p:nvPicPr>
          <p:cNvPr id="60" name="Image 0" descr="https://kimi-web-img.moonshot.cn/img/miro.medium.com/dbc215587ad7d340c66dedf7c40c76789273f5ee.jpeg">    </p:cNvPr>
          <p:cNvPicPr>
            <a:picLocks noChangeAspect="1"/>
          </p:cNvPicPr>
          <p:nvPr/>
        </p:nvPicPr>
        <p:blipFill>
          <a:blip r:embed="rId1"/>
          <a:srcRect l="0" r="0" t="24528" b="24528"/>
          <a:stretch/>
        </p:blipFill>
        <p:spPr>
          <a:xfrm>
            <a:off x="7281912" y="2079625"/>
            <a:ext cx="4429125" cy="1270000"/>
          </a:xfrm>
          <a:prstGeom prst="roundRect">
            <a:avLst>
              <a:gd name="adj" fmla="val 5000"/>
            </a:avLst>
          </a:prstGeom>
        </p:spPr>
      </p:pic>
      <p:sp>
        <p:nvSpPr>
          <p:cNvPr id="61" name="Text 58"/>
          <p:cNvSpPr/>
          <p:nvPr/>
        </p:nvSpPr>
        <p:spPr>
          <a:xfrm>
            <a:off x="7281912" y="3476625"/>
            <a:ext cx="4524375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00" b="1" dirty="0">
                <a:solidFill>
                  <a:srgbClr val="E0E2E6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¿Por qué XAI?</a:t>
            </a:r>
            <a:endParaRPr lang="en-US" sz="1600" dirty="0"/>
          </a:p>
        </p:txBody>
      </p:sp>
      <p:sp>
        <p:nvSpPr>
          <p:cNvPr id="62" name="Shape 59"/>
          <p:cNvSpPr/>
          <p:nvPr/>
        </p:nvSpPr>
        <p:spPr>
          <a:xfrm>
            <a:off x="7281912" y="3857625"/>
            <a:ext cx="317500" cy="317500"/>
          </a:xfrm>
          <a:custGeom>
            <a:avLst/>
            <a:gdLst/>
            <a:ahLst/>
            <a:cxnLst/>
            <a:rect l="l" t="t" r="r" b="b"/>
            <a:pathLst>
              <a:path w="317500" h="317500">
                <a:moveTo>
                  <a:pt x="63500" y="0"/>
                </a:moveTo>
                <a:lnTo>
                  <a:pt x="254000" y="0"/>
                </a:lnTo>
                <a:cubicBezTo>
                  <a:pt x="289047" y="0"/>
                  <a:pt x="317500" y="28453"/>
                  <a:pt x="317500" y="63500"/>
                </a:cubicBezTo>
                <a:lnTo>
                  <a:pt x="317500" y="254000"/>
                </a:lnTo>
                <a:cubicBezTo>
                  <a:pt x="317500" y="289047"/>
                  <a:pt x="289047" y="317500"/>
                  <a:pt x="254000" y="317500"/>
                </a:cubicBezTo>
                <a:lnTo>
                  <a:pt x="63500" y="317500"/>
                </a:lnTo>
                <a:cubicBezTo>
                  <a:pt x="28453" y="317500"/>
                  <a:pt x="0" y="289047"/>
                  <a:pt x="0" y="254000"/>
                </a:cubicBezTo>
                <a:lnTo>
                  <a:pt x="0" y="63500"/>
                </a:lnTo>
                <a:cubicBezTo>
                  <a:pt x="0" y="28453"/>
                  <a:pt x="28453" y="0"/>
                  <a:pt x="63500" y="0"/>
                </a:cubicBezTo>
                <a:close/>
              </a:path>
            </a:pathLst>
          </a:custGeom>
          <a:solidFill>
            <a:srgbClr val="C8A265"/>
          </a:solidFill>
          <a:ln/>
        </p:spPr>
      </p:sp>
      <p:sp>
        <p:nvSpPr>
          <p:cNvPr id="63" name="Shape 60"/>
          <p:cNvSpPr/>
          <p:nvPr/>
        </p:nvSpPr>
        <p:spPr>
          <a:xfrm>
            <a:off x="7377162" y="3952875"/>
            <a:ext cx="127000" cy="127000"/>
          </a:xfrm>
          <a:custGeom>
            <a:avLst/>
            <a:gdLst/>
            <a:ahLst/>
            <a:cxnLst/>
            <a:rect l="l" t="t" r="r" b="b"/>
            <a:pathLst>
              <a:path w="127000" h="127000">
                <a:moveTo>
                  <a:pt x="63500" y="0"/>
                </a:moveTo>
                <a:cubicBezTo>
                  <a:pt x="64641" y="0"/>
                  <a:pt x="65782" y="248"/>
                  <a:pt x="66824" y="719"/>
                </a:cubicBezTo>
                <a:lnTo>
                  <a:pt x="113556" y="20538"/>
                </a:lnTo>
                <a:cubicBezTo>
                  <a:pt x="119013" y="22845"/>
                  <a:pt x="123081" y="28228"/>
                  <a:pt x="123056" y="34727"/>
                </a:cubicBezTo>
                <a:cubicBezTo>
                  <a:pt x="122932" y="59333"/>
                  <a:pt x="112812" y="104353"/>
                  <a:pt x="70073" y="124817"/>
                </a:cubicBezTo>
                <a:cubicBezTo>
                  <a:pt x="65931" y="126802"/>
                  <a:pt x="61119" y="126802"/>
                  <a:pt x="56976" y="124817"/>
                </a:cubicBezTo>
                <a:cubicBezTo>
                  <a:pt x="14213" y="104353"/>
                  <a:pt x="4118" y="59333"/>
                  <a:pt x="3994" y="34727"/>
                </a:cubicBezTo>
                <a:cubicBezTo>
                  <a:pt x="3969" y="28228"/>
                  <a:pt x="8037" y="22845"/>
                  <a:pt x="13494" y="20538"/>
                </a:cubicBezTo>
                <a:lnTo>
                  <a:pt x="60201" y="719"/>
                </a:lnTo>
                <a:cubicBezTo>
                  <a:pt x="61243" y="248"/>
                  <a:pt x="62359" y="0"/>
                  <a:pt x="63500" y="0"/>
                </a:cubicBezTo>
                <a:close/>
                <a:moveTo>
                  <a:pt x="63500" y="16570"/>
                </a:moveTo>
                <a:lnTo>
                  <a:pt x="63500" y="110356"/>
                </a:lnTo>
                <a:cubicBezTo>
                  <a:pt x="97730" y="93787"/>
                  <a:pt x="106933" y="57076"/>
                  <a:pt x="107156" y="35099"/>
                </a:cubicBezTo>
                <a:lnTo>
                  <a:pt x="63500" y="16594"/>
                </a:lnTo>
                <a:lnTo>
                  <a:pt x="63500" y="16594"/>
                </a:lnTo>
                <a:close/>
              </a:path>
            </a:pathLst>
          </a:custGeom>
          <a:solidFill>
            <a:srgbClr val="1A1D23"/>
          </a:solidFill>
          <a:ln/>
        </p:spPr>
      </p:sp>
      <p:sp>
        <p:nvSpPr>
          <p:cNvPr id="64" name="Text 61"/>
          <p:cNvSpPr/>
          <p:nvPr/>
        </p:nvSpPr>
        <p:spPr>
          <a:xfrm>
            <a:off x="7694662" y="3857625"/>
            <a:ext cx="1770063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5" b="1" dirty="0">
                <a:solidFill>
                  <a:srgbClr val="E0E2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Regulaciones</a:t>
            </a:r>
            <a:endParaRPr lang="en-US" sz="1600" dirty="0"/>
          </a:p>
        </p:txBody>
      </p:sp>
      <p:sp>
        <p:nvSpPr>
          <p:cNvPr id="65" name="Text 62"/>
          <p:cNvSpPr/>
          <p:nvPr/>
        </p:nvSpPr>
        <p:spPr>
          <a:xfrm>
            <a:off x="7694662" y="4079875"/>
            <a:ext cx="17621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788A9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GDPR requiere explicabilidad</a:t>
            </a:r>
            <a:endParaRPr lang="en-US" sz="1600" dirty="0"/>
          </a:p>
        </p:txBody>
      </p:sp>
      <p:sp>
        <p:nvSpPr>
          <p:cNvPr id="66" name="Shape 63"/>
          <p:cNvSpPr/>
          <p:nvPr/>
        </p:nvSpPr>
        <p:spPr>
          <a:xfrm>
            <a:off x="7281912" y="4365625"/>
            <a:ext cx="317500" cy="317500"/>
          </a:xfrm>
          <a:custGeom>
            <a:avLst/>
            <a:gdLst/>
            <a:ahLst/>
            <a:cxnLst/>
            <a:rect l="l" t="t" r="r" b="b"/>
            <a:pathLst>
              <a:path w="317500" h="317500">
                <a:moveTo>
                  <a:pt x="63500" y="0"/>
                </a:moveTo>
                <a:lnTo>
                  <a:pt x="254000" y="0"/>
                </a:lnTo>
                <a:cubicBezTo>
                  <a:pt x="289047" y="0"/>
                  <a:pt x="317500" y="28453"/>
                  <a:pt x="317500" y="63500"/>
                </a:cubicBezTo>
                <a:lnTo>
                  <a:pt x="317500" y="254000"/>
                </a:lnTo>
                <a:cubicBezTo>
                  <a:pt x="317500" y="289047"/>
                  <a:pt x="289047" y="317500"/>
                  <a:pt x="254000" y="317500"/>
                </a:cubicBezTo>
                <a:lnTo>
                  <a:pt x="63500" y="317500"/>
                </a:lnTo>
                <a:cubicBezTo>
                  <a:pt x="28453" y="317500"/>
                  <a:pt x="0" y="289047"/>
                  <a:pt x="0" y="254000"/>
                </a:cubicBezTo>
                <a:lnTo>
                  <a:pt x="0" y="63500"/>
                </a:lnTo>
                <a:cubicBezTo>
                  <a:pt x="0" y="28453"/>
                  <a:pt x="28453" y="0"/>
                  <a:pt x="63500" y="0"/>
                </a:cubicBezTo>
                <a:close/>
              </a:path>
            </a:pathLst>
          </a:custGeom>
          <a:solidFill>
            <a:srgbClr val="C8A265"/>
          </a:solidFill>
          <a:ln/>
        </p:spPr>
      </p:sp>
      <p:sp>
        <p:nvSpPr>
          <p:cNvPr id="67" name="Shape 64"/>
          <p:cNvSpPr/>
          <p:nvPr/>
        </p:nvSpPr>
        <p:spPr>
          <a:xfrm>
            <a:off x="7369225" y="4460875"/>
            <a:ext cx="142875" cy="127000"/>
          </a:xfrm>
          <a:custGeom>
            <a:avLst/>
            <a:gdLst/>
            <a:ahLst/>
            <a:cxnLst/>
            <a:rect l="l" t="t" r="r" b="b"/>
            <a:pathLst>
              <a:path w="142875" h="127000">
                <a:moveTo>
                  <a:pt x="66700" y="21134"/>
                </a:moveTo>
                <a:lnTo>
                  <a:pt x="37778" y="53280"/>
                </a:lnTo>
                <a:cubicBezTo>
                  <a:pt x="36637" y="54546"/>
                  <a:pt x="36686" y="56505"/>
                  <a:pt x="37902" y="57721"/>
                </a:cubicBezTo>
                <a:cubicBezTo>
                  <a:pt x="45467" y="65286"/>
                  <a:pt x="57745" y="65286"/>
                  <a:pt x="65311" y="57721"/>
                </a:cubicBezTo>
                <a:lnTo>
                  <a:pt x="73199" y="49833"/>
                </a:lnTo>
                <a:cubicBezTo>
                  <a:pt x="74240" y="48791"/>
                  <a:pt x="75555" y="48220"/>
                  <a:pt x="76895" y="48121"/>
                </a:cubicBezTo>
                <a:cubicBezTo>
                  <a:pt x="78581" y="47972"/>
                  <a:pt x="80318" y="48543"/>
                  <a:pt x="81607" y="49833"/>
                </a:cubicBezTo>
                <a:lnTo>
                  <a:pt x="125413" y="93266"/>
                </a:lnTo>
                <a:lnTo>
                  <a:pt x="142875" y="79375"/>
                </a:lnTo>
                <a:lnTo>
                  <a:pt x="142875" y="7938"/>
                </a:lnTo>
                <a:lnTo>
                  <a:pt x="115094" y="23812"/>
                </a:lnTo>
                <a:lnTo>
                  <a:pt x="109190" y="19869"/>
                </a:lnTo>
                <a:cubicBezTo>
                  <a:pt x="105271" y="17264"/>
                  <a:pt x="100682" y="15875"/>
                  <a:pt x="95969" y="15875"/>
                </a:cubicBezTo>
                <a:lnTo>
                  <a:pt x="78507" y="15875"/>
                </a:lnTo>
                <a:cubicBezTo>
                  <a:pt x="78234" y="15875"/>
                  <a:pt x="77936" y="15875"/>
                  <a:pt x="77663" y="15900"/>
                </a:cubicBezTo>
                <a:cubicBezTo>
                  <a:pt x="73471" y="16123"/>
                  <a:pt x="69528" y="18008"/>
                  <a:pt x="66700" y="21134"/>
                </a:cubicBezTo>
                <a:close/>
                <a:moveTo>
                  <a:pt x="28922" y="45318"/>
                </a:moveTo>
                <a:lnTo>
                  <a:pt x="55414" y="15875"/>
                </a:lnTo>
                <a:lnTo>
                  <a:pt x="45591" y="15875"/>
                </a:lnTo>
                <a:cubicBezTo>
                  <a:pt x="39266" y="15875"/>
                  <a:pt x="33213" y="18380"/>
                  <a:pt x="28749" y="22845"/>
                </a:cubicBezTo>
                <a:lnTo>
                  <a:pt x="27781" y="23812"/>
                </a:lnTo>
                <a:lnTo>
                  <a:pt x="0" y="7938"/>
                </a:lnTo>
                <a:lnTo>
                  <a:pt x="0" y="79375"/>
                </a:lnTo>
                <a:lnTo>
                  <a:pt x="38795" y="111696"/>
                </a:lnTo>
                <a:cubicBezTo>
                  <a:pt x="44500" y="116458"/>
                  <a:pt x="51693" y="119063"/>
                  <a:pt x="59110" y="119063"/>
                </a:cubicBezTo>
                <a:lnTo>
                  <a:pt x="63004" y="119063"/>
                </a:lnTo>
                <a:lnTo>
                  <a:pt x="61268" y="117326"/>
                </a:lnTo>
                <a:cubicBezTo>
                  <a:pt x="58936" y="114995"/>
                  <a:pt x="58936" y="111224"/>
                  <a:pt x="61268" y="108917"/>
                </a:cubicBezTo>
                <a:cubicBezTo>
                  <a:pt x="63599" y="106611"/>
                  <a:pt x="67370" y="106586"/>
                  <a:pt x="69676" y="108917"/>
                </a:cubicBezTo>
                <a:lnTo>
                  <a:pt x="79846" y="119087"/>
                </a:lnTo>
                <a:lnTo>
                  <a:pt x="82079" y="119087"/>
                </a:lnTo>
                <a:cubicBezTo>
                  <a:pt x="86816" y="119087"/>
                  <a:pt x="91455" y="118021"/>
                  <a:pt x="95672" y="116036"/>
                </a:cubicBezTo>
                <a:lnTo>
                  <a:pt x="89049" y="109389"/>
                </a:lnTo>
                <a:cubicBezTo>
                  <a:pt x="86717" y="107057"/>
                  <a:pt x="86717" y="103287"/>
                  <a:pt x="89049" y="100980"/>
                </a:cubicBezTo>
                <a:cubicBezTo>
                  <a:pt x="91380" y="98673"/>
                  <a:pt x="95151" y="98648"/>
                  <a:pt x="97458" y="100980"/>
                </a:cubicBezTo>
                <a:lnTo>
                  <a:pt x="105395" y="108917"/>
                </a:lnTo>
                <a:lnTo>
                  <a:pt x="109736" y="104577"/>
                </a:lnTo>
                <a:cubicBezTo>
                  <a:pt x="111944" y="102369"/>
                  <a:pt x="112588" y="99169"/>
                  <a:pt x="111621" y="96366"/>
                </a:cubicBezTo>
                <a:lnTo>
                  <a:pt x="77415" y="62433"/>
                </a:lnTo>
                <a:lnTo>
                  <a:pt x="73720" y="66129"/>
                </a:lnTo>
                <a:cubicBezTo>
                  <a:pt x="61491" y="78358"/>
                  <a:pt x="41697" y="78358"/>
                  <a:pt x="29468" y="66129"/>
                </a:cubicBezTo>
                <a:cubicBezTo>
                  <a:pt x="23763" y="60424"/>
                  <a:pt x="23540" y="51271"/>
                  <a:pt x="28922" y="45293"/>
                </a:cubicBezTo>
                <a:close/>
              </a:path>
            </a:pathLst>
          </a:custGeom>
          <a:solidFill>
            <a:srgbClr val="1A1D23"/>
          </a:solidFill>
          <a:ln/>
        </p:spPr>
      </p:sp>
      <p:sp>
        <p:nvSpPr>
          <p:cNvPr id="68" name="Text 65"/>
          <p:cNvSpPr/>
          <p:nvPr/>
        </p:nvSpPr>
        <p:spPr>
          <a:xfrm>
            <a:off x="7694662" y="4365625"/>
            <a:ext cx="2230438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5" b="1" dirty="0">
                <a:solidFill>
                  <a:srgbClr val="E0E2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Confianza</a:t>
            </a:r>
            <a:endParaRPr lang="en-US" sz="1600" dirty="0"/>
          </a:p>
        </p:txBody>
      </p:sp>
      <p:sp>
        <p:nvSpPr>
          <p:cNvPr id="69" name="Text 66"/>
          <p:cNvSpPr/>
          <p:nvPr/>
        </p:nvSpPr>
        <p:spPr>
          <a:xfrm>
            <a:off x="7694662" y="4587875"/>
            <a:ext cx="2222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788A9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Usuarios confían en lo que entienden</a:t>
            </a:r>
            <a:endParaRPr lang="en-US" sz="1600" dirty="0"/>
          </a:p>
        </p:txBody>
      </p:sp>
      <p:sp>
        <p:nvSpPr>
          <p:cNvPr id="70" name="Shape 67"/>
          <p:cNvSpPr/>
          <p:nvPr/>
        </p:nvSpPr>
        <p:spPr>
          <a:xfrm>
            <a:off x="7281912" y="4873625"/>
            <a:ext cx="317500" cy="317500"/>
          </a:xfrm>
          <a:custGeom>
            <a:avLst/>
            <a:gdLst/>
            <a:ahLst/>
            <a:cxnLst/>
            <a:rect l="l" t="t" r="r" b="b"/>
            <a:pathLst>
              <a:path w="317500" h="317500">
                <a:moveTo>
                  <a:pt x="63500" y="0"/>
                </a:moveTo>
                <a:lnTo>
                  <a:pt x="254000" y="0"/>
                </a:lnTo>
                <a:cubicBezTo>
                  <a:pt x="289047" y="0"/>
                  <a:pt x="317500" y="28453"/>
                  <a:pt x="317500" y="63500"/>
                </a:cubicBezTo>
                <a:lnTo>
                  <a:pt x="317500" y="254000"/>
                </a:lnTo>
                <a:cubicBezTo>
                  <a:pt x="317500" y="289047"/>
                  <a:pt x="289047" y="317500"/>
                  <a:pt x="254000" y="317500"/>
                </a:cubicBezTo>
                <a:lnTo>
                  <a:pt x="63500" y="317500"/>
                </a:lnTo>
                <a:cubicBezTo>
                  <a:pt x="28453" y="317500"/>
                  <a:pt x="0" y="289047"/>
                  <a:pt x="0" y="254000"/>
                </a:cubicBezTo>
                <a:lnTo>
                  <a:pt x="0" y="63500"/>
                </a:lnTo>
                <a:cubicBezTo>
                  <a:pt x="0" y="28453"/>
                  <a:pt x="28453" y="0"/>
                  <a:pt x="63500" y="0"/>
                </a:cubicBezTo>
                <a:close/>
              </a:path>
            </a:pathLst>
          </a:custGeom>
          <a:solidFill>
            <a:srgbClr val="C8A265"/>
          </a:solidFill>
          <a:ln/>
        </p:spPr>
      </p:sp>
      <p:sp>
        <p:nvSpPr>
          <p:cNvPr id="71" name="Shape 68"/>
          <p:cNvSpPr/>
          <p:nvPr/>
        </p:nvSpPr>
        <p:spPr>
          <a:xfrm>
            <a:off x="7369225" y="4968875"/>
            <a:ext cx="142875" cy="127000"/>
          </a:xfrm>
          <a:custGeom>
            <a:avLst/>
            <a:gdLst/>
            <a:ahLst/>
            <a:cxnLst/>
            <a:rect l="l" t="t" r="r" b="b"/>
            <a:pathLst>
              <a:path w="142875" h="127000">
                <a:moveTo>
                  <a:pt x="47625" y="23812"/>
                </a:moveTo>
                <a:cubicBezTo>
                  <a:pt x="47625" y="10666"/>
                  <a:pt x="58291" y="0"/>
                  <a:pt x="71438" y="0"/>
                </a:cubicBezTo>
                <a:cubicBezTo>
                  <a:pt x="84584" y="0"/>
                  <a:pt x="95250" y="10666"/>
                  <a:pt x="95250" y="23812"/>
                </a:cubicBezTo>
                <a:lnTo>
                  <a:pt x="95250" y="24705"/>
                </a:lnTo>
                <a:cubicBezTo>
                  <a:pt x="95250" y="28600"/>
                  <a:pt x="92100" y="31750"/>
                  <a:pt x="88205" y="31750"/>
                </a:cubicBezTo>
                <a:lnTo>
                  <a:pt x="54694" y="31750"/>
                </a:lnTo>
                <a:cubicBezTo>
                  <a:pt x="50800" y="31750"/>
                  <a:pt x="47650" y="28600"/>
                  <a:pt x="47650" y="24705"/>
                </a:cubicBezTo>
                <a:lnTo>
                  <a:pt x="47650" y="23812"/>
                </a:lnTo>
                <a:close/>
                <a:moveTo>
                  <a:pt x="133350" y="26988"/>
                </a:moveTo>
                <a:cubicBezTo>
                  <a:pt x="135979" y="30485"/>
                  <a:pt x="135260" y="35471"/>
                  <a:pt x="131763" y="38100"/>
                </a:cubicBezTo>
                <a:lnTo>
                  <a:pt x="107504" y="56282"/>
                </a:lnTo>
                <a:cubicBezTo>
                  <a:pt x="108818" y="58489"/>
                  <a:pt x="109810" y="60920"/>
                  <a:pt x="110430" y="63500"/>
                </a:cubicBezTo>
                <a:lnTo>
                  <a:pt x="134938" y="63500"/>
                </a:lnTo>
                <a:cubicBezTo>
                  <a:pt x="139328" y="63500"/>
                  <a:pt x="142875" y="67047"/>
                  <a:pt x="142875" y="71438"/>
                </a:cubicBezTo>
                <a:cubicBezTo>
                  <a:pt x="142875" y="75828"/>
                  <a:pt x="139328" y="79375"/>
                  <a:pt x="134938" y="79375"/>
                </a:cubicBezTo>
                <a:lnTo>
                  <a:pt x="111125" y="79375"/>
                </a:lnTo>
                <a:lnTo>
                  <a:pt x="111125" y="87313"/>
                </a:lnTo>
                <a:cubicBezTo>
                  <a:pt x="111125" y="87957"/>
                  <a:pt x="111100" y="88627"/>
                  <a:pt x="111075" y="89272"/>
                </a:cubicBezTo>
                <a:lnTo>
                  <a:pt x="131763" y="104775"/>
                </a:lnTo>
                <a:cubicBezTo>
                  <a:pt x="135260" y="107404"/>
                  <a:pt x="135979" y="112390"/>
                  <a:pt x="133350" y="115888"/>
                </a:cubicBezTo>
                <a:cubicBezTo>
                  <a:pt x="130721" y="119385"/>
                  <a:pt x="125735" y="120104"/>
                  <a:pt x="122238" y="117475"/>
                </a:cubicBezTo>
                <a:lnTo>
                  <a:pt x="106586" y="105742"/>
                </a:lnTo>
                <a:cubicBezTo>
                  <a:pt x="100831" y="116706"/>
                  <a:pt x="90091" y="124644"/>
                  <a:pt x="77391" y="126554"/>
                </a:cubicBezTo>
                <a:lnTo>
                  <a:pt x="77391" y="69453"/>
                </a:lnTo>
                <a:cubicBezTo>
                  <a:pt x="77391" y="66154"/>
                  <a:pt x="74737" y="63500"/>
                  <a:pt x="71438" y="63500"/>
                </a:cubicBezTo>
                <a:cubicBezTo>
                  <a:pt x="68138" y="63500"/>
                  <a:pt x="65484" y="66154"/>
                  <a:pt x="65484" y="69453"/>
                </a:cubicBezTo>
                <a:lnTo>
                  <a:pt x="65484" y="126554"/>
                </a:lnTo>
                <a:cubicBezTo>
                  <a:pt x="52784" y="124644"/>
                  <a:pt x="42044" y="116706"/>
                  <a:pt x="36289" y="105742"/>
                </a:cubicBezTo>
                <a:lnTo>
                  <a:pt x="20638" y="117475"/>
                </a:lnTo>
                <a:cubicBezTo>
                  <a:pt x="17140" y="120104"/>
                  <a:pt x="12154" y="119385"/>
                  <a:pt x="9525" y="115888"/>
                </a:cubicBezTo>
                <a:cubicBezTo>
                  <a:pt x="6896" y="112390"/>
                  <a:pt x="7615" y="107404"/>
                  <a:pt x="11113" y="104775"/>
                </a:cubicBezTo>
                <a:lnTo>
                  <a:pt x="31800" y="89272"/>
                </a:lnTo>
                <a:cubicBezTo>
                  <a:pt x="31775" y="88627"/>
                  <a:pt x="31750" y="87982"/>
                  <a:pt x="31750" y="87313"/>
                </a:cubicBezTo>
                <a:lnTo>
                  <a:pt x="31750" y="79375"/>
                </a:lnTo>
                <a:lnTo>
                  <a:pt x="7938" y="79375"/>
                </a:lnTo>
                <a:cubicBezTo>
                  <a:pt x="3547" y="79375"/>
                  <a:pt x="0" y="75828"/>
                  <a:pt x="0" y="71438"/>
                </a:cubicBezTo>
                <a:cubicBezTo>
                  <a:pt x="0" y="67047"/>
                  <a:pt x="3547" y="63500"/>
                  <a:pt x="7938" y="63500"/>
                </a:cubicBezTo>
                <a:lnTo>
                  <a:pt x="32445" y="63500"/>
                </a:lnTo>
                <a:cubicBezTo>
                  <a:pt x="33065" y="60920"/>
                  <a:pt x="34057" y="58489"/>
                  <a:pt x="35371" y="56282"/>
                </a:cubicBezTo>
                <a:lnTo>
                  <a:pt x="11113" y="38100"/>
                </a:lnTo>
                <a:cubicBezTo>
                  <a:pt x="7615" y="35471"/>
                  <a:pt x="6896" y="30485"/>
                  <a:pt x="9525" y="26988"/>
                </a:cubicBezTo>
                <a:cubicBezTo>
                  <a:pt x="12154" y="23490"/>
                  <a:pt x="17140" y="22771"/>
                  <a:pt x="20637" y="25400"/>
                </a:cubicBezTo>
                <a:lnTo>
                  <a:pt x="47625" y="45641"/>
                </a:lnTo>
                <a:cubicBezTo>
                  <a:pt x="50676" y="44376"/>
                  <a:pt x="54025" y="43656"/>
                  <a:pt x="57547" y="43656"/>
                </a:cubicBezTo>
                <a:lnTo>
                  <a:pt x="85328" y="43656"/>
                </a:lnTo>
                <a:cubicBezTo>
                  <a:pt x="88850" y="43656"/>
                  <a:pt x="92199" y="44351"/>
                  <a:pt x="95250" y="45641"/>
                </a:cubicBezTo>
                <a:lnTo>
                  <a:pt x="122238" y="25400"/>
                </a:lnTo>
                <a:cubicBezTo>
                  <a:pt x="125735" y="22771"/>
                  <a:pt x="130721" y="23490"/>
                  <a:pt x="133350" y="26988"/>
                </a:cubicBezTo>
                <a:close/>
              </a:path>
            </a:pathLst>
          </a:custGeom>
          <a:solidFill>
            <a:srgbClr val="1A1D23"/>
          </a:solidFill>
          <a:ln/>
        </p:spPr>
      </p:sp>
      <p:sp>
        <p:nvSpPr>
          <p:cNvPr id="72" name="Text 69"/>
          <p:cNvSpPr/>
          <p:nvPr/>
        </p:nvSpPr>
        <p:spPr>
          <a:xfrm>
            <a:off x="7694662" y="4873625"/>
            <a:ext cx="1571625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5" b="1" dirty="0">
                <a:solidFill>
                  <a:srgbClr val="E0E2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Debugging</a:t>
            </a:r>
            <a:endParaRPr lang="en-US" sz="1600" dirty="0"/>
          </a:p>
        </p:txBody>
      </p:sp>
      <p:sp>
        <p:nvSpPr>
          <p:cNvPr id="73" name="Text 70"/>
          <p:cNvSpPr/>
          <p:nvPr/>
        </p:nvSpPr>
        <p:spPr>
          <a:xfrm>
            <a:off x="7694662" y="5095875"/>
            <a:ext cx="156368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788A9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Detectar sesgos y errores</a:t>
            </a:r>
            <a:endParaRPr lang="en-US" sz="1600" dirty="0"/>
          </a:p>
        </p:txBody>
      </p:sp>
      <p:sp>
        <p:nvSpPr>
          <p:cNvPr id="74" name="Shape 71"/>
          <p:cNvSpPr/>
          <p:nvPr/>
        </p:nvSpPr>
        <p:spPr>
          <a:xfrm>
            <a:off x="7281912" y="5381625"/>
            <a:ext cx="317500" cy="317500"/>
          </a:xfrm>
          <a:custGeom>
            <a:avLst/>
            <a:gdLst/>
            <a:ahLst/>
            <a:cxnLst/>
            <a:rect l="l" t="t" r="r" b="b"/>
            <a:pathLst>
              <a:path w="317500" h="317500">
                <a:moveTo>
                  <a:pt x="63500" y="0"/>
                </a:moveTo>
                <a:lnTo>
                  <a:pt x="254000" y="0"/>
                </a:lnTo>
                <a:cubicBezTo>
                  <a:pt x="289047" y="0"/>
                  <a:pt x="317500" y="28453"/>
                  <a:pt x="317500" y="63500"/>
                </a:cubicBezTo>
                <a:lnTo>
                  <a:pt x="317500" y="254000"/>
                </a:lnTo>
                <a:cubicBezTo>
                  <a:pt x="317500" y="289047"/>
                  <a:pt x="289047" y="317500"/>
                  <a:pt x="254000" y="317500"/>
                </a:cubicBezTo>
                <a:lnTo>
                  <a:pt x="63500" y="317500"/>
                </a:lnTo>
                <a:cubicBezTo>
                  <a:pt x="28453" y="317500"/>
                  <a:pt x="0" y="289047"/>
                  <a:pt x="0" y="254000"/>
                </a:cubicBezTo>
                <a:lnTo>
                  <a:pt x="0" y="63500"/>
                </a:lnTo>
                <a:cubicBezTo>
                  <a:pt x="0" y="28453"/>
                  <a:pt x="28453" y="0"/>
                  <a:pt x="63500" y="0"/>
                </a:cubicBezTo>
                <a:close/>
              </a:path>
            </a:pathLst>
          </a:custGeom>
          <a:solidFill>
            <a:srgbClr val="C8A265"/>
          </a:solidFill>
          <a:ln/>
        </p:spPr>
      </p:sp>
      <p:sp>
        <p:nvSpPr>
          <p:cNvPr id="75" name="Shape 72"/>
          <p:cNvSpPr/>
          <p:nvPr/>
        </p:nvSpPr>
        <p:spPr>
          <a:xfrm>
            <a:off x="7361287" y="5476875"/>
            <a:ext cx="158750" cy="127000"/>
          </a:xfrm>
          <a:custGeom>
            <a:avLst/>
            <a:gdLst/>
            <a:ahLst/>
            <a:cxnLst/>
            <a:rect l="l" t="t" r="r" b="b"/>
            <a:pathLst>
              <a:path w="158750" h="127000">
                <a:moveTo>
                  <a:pt x="29319" y="15478"/>
                </a:moveTo>
                <a:cubicBezTo>
                  <a:pt x="25177" y="14089"/>
                  <a:pt x="22920" y="9575"/>
                  <a:pt x="24309" y="5432"/>
                </a:cubicBezTo>
                <a:cubicBezTo>
                  <a:pt x="25698" y="1290"/>
                  <a:pt x="30187" y="-967"/>
                  <a:pt x="34354" y="397"/>
                </a:cubicBezTo>
                <a:lnTo>
                  <a:pt x="62384" y="9748"/>
                </a:lnTo>
                <a:cubicBezTo>
                  <a:pt x="65832" y="3919"/>
                  <a:pt x="72206" y="0"/>
                  <a:pt x="79474" y="0"/>
                </a:cubicBezTo>
                <a:cubicBezTo>
                  <a:pt x="90438" y="0"/>
                  <a:pt x="99318" y="8880"/>
                  <a:pt x="99318" y="19844"/>
                </a:cubicBezTo>
                <a:cubicBezTo>
                  <a:pt x="99318" y="20588"/>
                  <a:pt x="99268" y="21307"/>
                  <a:pt x="99194" y="22027"/>
                </a:cubicBezTo>
                <a:lnTo>
                  <a:pt x="129604" y="32172"/>
                </a:lnTo>
                <a:cubicBezTo>
                  <a:pt x="133772" y="33561"/>
                  <a:pt x="136004" y="38050"/>
                  <a:pt x="134615" y="42218"/>
                </a:cubicBezTo>
                <a:cubicBezTo>
                  <a:pt x="133226" y="46385"/>
                  <a:pt x="128736" y="48617"/>
                  <a:pt x="124569" y="47228"/>
                </a:cubicBezTo>
                <a:lnTo>
                  <a:pt x="90959" y="36016"/>
                </a:lnTo>
                <a:cubicBezTo>
                  <a:pt x="89843" y="36810"/>
                  <a:pt x="88652" y="37480"/>
                  <a:pt x="87387" y="38050"/>
                </a:cubicBezTo>
                <a:lnTo>
                  <a:pt x="87387" y="119087"/>
                </a:lnTo>
                <a:cubicBezTo>
                  <a:pt x="87387" y="123478"/>
                  <a:pt x="83840" y="127025"/>
                  <a:pt x="79449" y="127025"/>
                </a:cubicBezTo>
                <a:lnTo>
                  <a:pt x="31824" y="127025"/>
                </a:lnTo>
                <a:cubicBezTo>
                  <a:pt x="27434" y="127025"/>
                  <a:pt x="23887" y="123478"/>
                  <a:pt x="23887" y="119087"/>
                </a:cubicBezTo>
                <a:cubicBezTo>
                  <a:pt x="23887" y="114697"/>
                  <a:pt x="27434" y="111150"/>
                  <a:pt x="31824" y="111150"/>
                </a:cubicBezTo>
                <a:lnTo>
                  <a:pt x="71512" y="111150"/>
                </a:lnTo>
                <a:lnTo>
                  <a:pt x="71512" y="38050"/>
                </a:lnTo>
                <a:cubicBezTo>
                  <a:pt x="66303" y="35768"/>
                  <a:pt x="62285" y="31353"/>
                  <a:pt x="60548" y="25896"/>
                </a:cubicBezTo>
                <a:lnTo>
                  <a:pt x="29319" y="15478"/>
                </a:lnTo>
                <a:close/>
                <a:moveTo>
                  <a:pt x="49808" y="71438"/>
                </a:moveTo>
                <a:lnTo>
                  <a:pt x="31824" y="40630"/>
                </a:lnTo>
                <a:lnTo>
                  <a:pt x="13866" y="71438"/>
                </a:lnTo>
                <a:lnTo>
                  <a:pt x="49808" y="71438"/>
                </a:lnTo>
                <a:close/>
                <a:moveTo>
                  <a:pt x="31849" y="95250"/>
                </a:moveTo>
                <a:cubicBezTo>
                  <a:pt x="16247" y="95250"/>
                  <a:pt x="3274" y="86816"/>
                  <a:pt x="595" y="75679"/>
                </a:cubicBezTo>
                <a:cubicBezTo>
                  <a:pt x="-50" y="72951"/>
                  <a:pt x="843" y="70148"/>
                  <a:pt x="2257" y="67717"/>
                </a:cubicBezTo>
                <a:lnTo>
                  <a:pt x="25871" y="27236"/>
                </a:lnTo>
                <a:cubicBezTo>
                  <a:pt x="27112" y="25102"/>
                  <a:pt x="29394" y="23813"/>
                  <a:pt x="31849" y="23813"/>
                </a:cubicBezTo>
                <a:cubicBezTo>
                  <a:pt x="34305" y="23813"/>
                  <a:pt x="36587" y="25127"/>
                  <a:pt x="37827" y="27236"/>
                </a:cubicBezTo>
                <a:lnTo>
                  <a:pt x="61441" y="67717"/>
                </a:lnTo>
                <a:cubicBezTo>
                  <a:pt x="62855" y="70148"/>
                  <a:pt x="63748" y="72951"/>
                  <a:pt x="63103" y="75679"/>
                </a:cubicBezTo>
                <a:cubicBezTo>
                  <a:pt x="60424" y="86792"/>
                  <a:pt x="47451" y="95250"/>
                  <a:pt x="31849" y="95250"/>
                </a:cubicBezTo>
                <a:close/>
                <a:moveTo>
                  <a:pt x="126802" y="72380"/>
                </a:moveTo>
                <a:lnTo>
                  <a:pt x="108843" y="103188"/>
                </a:lnTo>
                <a:lnTo>
                  <a:pt x="144785" y="103188"/>
                </a:lnTo>
                <a:lnTo>
                  <a:pt x="126826" y="72380"/>
                </a:lnTo>
                <a:close/>
                <a:moveTo>
                  <a:pt x="158055" y="107429"/>
                </a:moveTo>
                <a:cubicBezTo>
                  <a:pt x="155377" y="118566"/>
                  <a:pt x="142404" y="127000"/>
                  <a:pt x="126802" y="127000"/>
                </a:cubicBezTo>
                <a:cubicBezTo>
                  <a:pt x="111199" y="127000"/>
                  <a:pt x="98227" y="118566"/>
                  <a:pt x="95548" y="107429"/>
                </a:cubicBezTo>
                <a:cubicBezTo>
                  <a:pt x="94903" y="104701"/>
                  <a:pt x="95796" y="101898"/>
                  <a:pt x="97210" y="99467"/>
                </a:cubicBezTo>
                <a:lnTo>
                  <a:pt x="120824" y="58986"/>
                </a:lnTo>
                <a:cubicBezTo>
                  <a:pt x="122064" y="56852"/>
                  <a:pt x="124346" y="55563"/>
                  <a:pt x="126802" y="55563"/>
                </a:cubicBezTo>
                <a:cubicBezTo>
                  <a:pt x="129257" y="55563"/>
                  <a:pt x="131539" y="56877"/>
                  <a:pt x="132779" y="58986"/>
                </a:cubicBezTo>
                <a:lnTo>
                  <a:pt x="156394" y="99467"/>
                </a:lnTo>
                <a:cubicBezTo>
                  <a:pt x="157807" y="101898"/>
                  <a:pt x="158700" y="104701"/>
                  <a:pt x="158055" y="107429"/>
                </a:cubicBezTo>
                <a:close/>
              </a:path>
            </a:pathLst>
          </a:custGeom>
          <a:solidFill>
            <a:srgbClr val="1A1D23"/>
          </a:solidFill>
          <a:ln/>
        </p:spPr>
      </p:sp>
      <p:sp>
        <p:nvSpPr>
          <p:cNvPr id="76" name="Text 73"/>
          <p:cNvSpPr/>
          <p:nvPr/>
        </p:nvSpPr>
        <p:spPr>
          <a:xfrm>
            <a:off x="7694662" y="5381625"/>
            <a:ext cx="2016125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5" b="1" dirty="0">
                <a:solidFill>
                  <a:srgbClr val="E0E2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Ética</a:t>
            </a:r>
            <a:endParaRPr lang="en-US" sz="1600" dirty="0"/>
          </a:p>
        </p:txBody>
      </p:sp>
      <p:sp>
        <p:nvSpPr>
          <p:cNvPr id="77" name="Text 74"/>
          <p:cNvSpPr/>
          <p:nvPr/>
        </p:nvSpPr>
        <p:spPr>
          <a:xfrm>
            <a:off x="7694662" y="5603875"/>
            <a:ext cx="2008187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788A9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Decisiones justas y transparentes</a:t>
            </a:r>
            <a:endParaRPr lang="en-US" sz="1600" dirty="0"/>
          </a:p>
        </p:txBody>
      </p:sp>
      <p:sp>
        <p:nvSpPr>
          <p:cNvPr id="78" name="Shape 75"/>
          <p:cNvSpPr/>
          <p:nvPr/>
        </p:nvSpPr>
        <p:spPr>
          <a:xfrm>
            <a:off x="7285881" y="7115969"/>
            <a:ext cx="4421188" cy="357188"/>
          </a:xfrm>
          <a:custGeom>
            <a:avLst/>
            <a:gdLst/>
            <a:ahLst/>
            <a:cxnLst/>
            <a:rect l="l" t="t" r="r" b="b"/>
            <a:pathLst>
              <a:path w="4421188" h="357188">
                <a:moveTo>
                  <a:pt x="63501" y="0"/>
                </a:moveTo>
                <a:lnTo>
                  <a:pt x="4357687" y="0"/>
                </a:lnTo>
                <a:cubicBezTo>
                  <a:pt x="4392757" y="0"/>
                  <a:pt x="4421188" y="28430"/>
                  <a:pt x="4421188" y="63501"/>
                </a:cubicBezTo>
                <a:lnTo>
                  <a:pt x="4421188" y="293687"/>
                </a:lnTo>
                <a:cubicBezTo>
                  <a:pt x="4421188" y="328757"/>
                  <a:pt x="4392757" y="357188"/>
                  <a:pt x="4357687" y="357188"/>
                </a:cubicBezTo>
                <a:lnTo>
                  <a:pt x="63501" y="357188"/>
                </a:lnTo>
                <a:cubicBezTo>
                  <a:pt x="28430" y="357188"/>
                  <a:pt x="0" y="328757"/>
                  <a:pt x="0" y="293687"/>
                </a:cubicBezTo>
                <a:lnTo>
                  <a:pt x="0" y="63501"/>
                </a:lnTo>
                <a:cubicBezTo>
                  <a:pt x="0" y="28454"/>
                  <a:pt x="28454" y="0"/>
                  <a:pt x="63501" y="0"/>
                </a:cubicBezTo>
                <a:close/>
              </a:path>
            </a:pathLst>
          </a:custGeom>
          <a:solidFill>
            <a:srgbClr val="C8A265">
              <a:alpha val="10196"/>
            </a:srgbClr>
          </a:solidFill>
          <a:ln w="12700">
            <a:solidFill>
              <a:srgbClr val="C8A265">
                <a:alpha val="30196"/>
              </a:srgbClr>
            </a:solidFill>
            <a:prstDash val="solid"/>
          </a:ln>
        </p:spPr>
      </p:sp>
      <p:sp>
        <p:nvSpPr>
          <p:cNvPr id="79" name="Text 76"/>
          <p:cNvSpPr/>
          <p:nvPr/>
        </p:nvSpPr>
        <p:spPr>
          <a:xfrm>
            <a:off x="7357318" y="7215188"/>
            <a:ext cx="4278313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875" b="1" dirty="0">
                <a:solidFill>
                  <a:srgbClr val="C8A26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Sectores críticos: Salud, Finanzas, Legal, Transporte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A1D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00050" y="381000"/>
            <a:ext cx="1104900" cy="381000"/>
          </a:xfrm>
          <a:custGeom>
            <a:avLst/>
            <a:gdLst/>
            <a:ahLst/>
            <a:cxnLst/>
            <a:rect l="l" t="t" r="r" b="b"/>
            <a:pathLst>
              <a:path w="1104900" h="381000">
                <a:moveTo>
                  <a:pt x="0" y="0"/>
                </a:moveTo>
                <a:lnTo>
                  <a:pt x="1104900" y="0"/>
                </a:lnTo>
                <a:lnTo>
                  <a:pt x="1104900" y="381000"/>
                </a:lnTo>
                <a:lnTo>
                  <a:pt x="0" y="381000"/>
                </a:lnTo>
                <a:lnTo>
                  <a:pt x="0" y="0"/>
                </a:lnTo>
                <a:close/>
              </a:path>
            </a:pathLst>
          </a:custGeom>
          <a:solidFill>
            <a:srgbClr val="4A6D8C">
              <a:alpha val="2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400050" y="381000"/>
            <a:ext cx="38100" cy="381000"/>
          </a:xfrm>
          <a:custGeom>
            <a:avLst/>
            <a:gdLst/>
            <a:ahLst/>
            <a:cxnLst/>
            <a:rect l="l" t="t" r="r" b="b"/>
            <a:pathLst>
              <a:path w="38100" h="381000">
                <a:moveTo>
                  <a:pt x="0" y="0"/>
                </a:moveTo>
                <a:lnTo>
                  <a:pt x="38100" y="0"/>
                </a:lnTo>
                <a:lnTo>
                  <a:pt x="38100" y="381000"/>
                </a:lnTo>
                <a:lnTo>
                  <a:pt x="0" y="381000"/>
                </a:lnTo>
                <a:lnTo>
                  <a:pt x="0" y="0"/>
                </a:lnTo>
                <a:close/>
              </a:path>
            </a:pathLst>
          </a:custGeom>
          <a:solidFill>
            <a:srgbClr val="C8A265"/>
          </a:solidFill>
          <a:ln/>
        </p:spPr>
      </p:sp>
      <p:sp>
        <p:nvSpPr>
          <p:cNvPr id="4" name="Text 2"/>
          <p:cNvSpPr/>
          <p:nvPr/>
        </p:nvSpPr>
        <p:spPr>
          <a:xfrm>
            <a:off x="609600" y="466725"/>
            <a:ext cx="777776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spc="60" kern="0" dirty="0">
                <a:solidFill>
                  <a:srgbClr val="C8A26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SÍNTESIS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381000" y="914400"/>
            <a:ext cx="11658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600" b="1" dirty="0">
                <a:solidFill>
                  <a:srgbClr val="E0E2E6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Resumen y Aplicaciones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381000" y="1485900"/>
            <a:ext cx="11525250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500" dirty="0">
                <a:solidFill>
                  <a:srgbClr val="788A9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Las 8 ramas de IA presentadas están transformando industrias y creando nuevas oportunidades en todos los sectores.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385763" y="1990725"/>
            <a:ext cx="2733675" cy="1704975"/>
          </a:xfrm>
          <a:custGeom>
            <a:avLst/>
            <a:gdLst/>
            <a:ahLst/>
            <a:cxnLst/>
            <a:rect l="l" t="t" r="r" b="b"/>
            <a:pathLst>
              <a:path w="2733675" h="1704975">
                <a:moveTo>
                  <a:pt x="114302" y="0"/>
                </a:moveTo>
                <a:lnTo>
                  <a:pt x="2619373" y="0"/>
                </a:lnTo>
                <a:cubicBezTo>
                  <a:pt x="2682500" y="0"/>
                  <a:pt x="2733675" y="51175"/>
                  <a:pt x="2733675" y="114302"/>
                </a:cubicBezTo>
                <a:lnTo>
                  <a:pt x="2733675" y="1590673"/>
                </a:lnTo>
                <a:cubicBezTo>
                  <a:pt x="2733675" y="1653800"/>
                  <a:pt x="2682500" y="1704975"/>
                  <a:pt x="2619373" y="1704975"/>
                </a:cubicBezTo>
                <a:lnTo>
                  <a:pt x="114302" y="1704975"/>
                </a:lnTo>
                <a:cubicBezTo>
                  <a:pt x="51175" y="1704975"/>
                  <a:pt x="0" y="1653800"/>
                  <a:pt x="0" y="1590673"/>
                </a:cubicBezTo>
                <a:lnTo>
                  <a:pt x="0" y="114302"/>
                </a:lnTo>
                <a:cubicBezTo>
                  <a:pt x="0" y="51217"/>
                  <a:pt x="51217" y="0"/>
                  <a:pt x="114302" y="0"/>
                </a:cubicBezTo>
                <a:close/>
              </a:path>
            </a:pathLst>
          </a:custGeom>
          <a:solidFill>
            <a:srgbClr val="4A6D8C">
              <a:alpha val="10196"/>
            </a:srgbClr>
          </a:solidFill>
          <a:ln w="12700">
            <a:solidFill>
              <a:srgbClr val="4A6D8C">
                <a:alpha val="30196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2925" y="2147888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76200" y="0"/>
                </a:moveTo>
                <a:lnTo>
                  <a:pt x="304800" y="0"/>
                </a:lnTo>
                <a:cubicBezTo>
                  <a:pt x="346856" y="0"/>
                  <a:pt x="381000" y="34144"/>
                  <a:pt x="381000" y="76200"/>
                </a:cubicBezTo>
                <a:lnTo>
                  <a:pt x="381000" y="304800"/>
                </a:lnTo>
                <a:cubicBezTo>
                  <a:pt x="381000" y="346856"/>
                  <a:pt x="346856" y="381000"/>
                  <a:pt x="304800" y="381000"/>
                </a:cubicBezTo>
                <a:lnTo>
                  <a:pt x="76200" y="381000"/>
                </a:lnTo>
                <a:cubicBezTo>
                  <a:pt x="34144" y="381000"/>
                  <a:pt x="0" y="346856"/>
                  <a:pt x="0" y="304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C8A265"/>
          </a:solidFill>
          <a:ln/>
        </p:spPr>
      </p:sp>
      <p:sp>
        <p:nvSpPr>
          <p:cNvPr id="9" name="Text 7"/>
          <p:cNvSpPr/>
          <p:nvPr/>
        </p:nvSpPr>
        <p:spPr>
          <a:xfrm>
            <a:off x="655588" y="2224088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1A1D2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01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000125" y="2205038"/>
            <a:ext cx="3238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E0E2E6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ML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542925" y="2643188"/>
            <a:ext cx="2486025" cy="552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050" dirty="0">
                <a:solidFill>
                  <a:srgbClr val="788A9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Análisis predictivo, detección de fraudes, sistemas de recomendación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42925" y="3307556"/>
            <a:ext cx="609600" cy="228600"/>
          </a:xfrm>
          <a:custGeom>
            <a:avLst/>
            <a:gdLst/>
            <a:ahLst/>
            <a:cxnLst/>
            <a:rect l="l" t="t" r="r" b="b"/>
            <a:pathLst>
              <a:path w="609600" h="228600">
                <a:moveTo>
                  <a:pt x="38101" y="0"/>
                </a:moveTo>
                <a:lnTo>
                  <a:pt x="571499" y="0"/>
                </a:lnTo>
                <a:cubicBezTo>
                  <a:pt x="592542" y="0"/>
                  <a:pt x="609600" y="17058"/>
                  <a:pt x="609600" y="38101"/>
                </a:cubicBezTo>
                <a:lnTo>
                  <a:pt x="609600" y="190499"/>
                </a:lnTo>
                <a:cubicBezTo>
                  <a:pt x="609600" y="211542"/>
                  <a:pt x="592542" y="228600"/>
                  <a:pt x="571499" y="228600"/>
                </a:cubicBezTo>
                <a:lnTo>
                  <a:pt x="38101" y="228600"/>
                </a:lnTo>
                <a:cubicBezTo>
                  <a:pt x="17072" y="228600"/>
                  <a:pt x="0" y="211528"/>
                  <a:pt x="0" y="190499"/>
                </a:cubicBezTo>
                <a:lnTo>
                  <a:pt x="0" y="38101"/>
                </a:lnTo>
                <a:cubicBezTo>
                  <a:pt x="0" y="17072"/>
                  <a:pt x="17072" y="0"/>
                  <a:pt x="38101" y="0"/>
                </a:cubicBezTo>
                <a:close/>
              </a:path>
            </a:pathLst>
          </a:custGeom>
          <a:solidFill>
            <a:srgbClr val="4A6D8C">
              <a:alpha val="30196"/>
            </a:srgbClr>
          </a:solidFill>
          <a:ln/>
        </p:spPr>
      </p:sp>
      <p:sp>
        <p:nvSpPr>
          <p:cNvPr id="13" name="Text 11"/>
          <p:cNvSpPr/>
          <p:nvPr/>
        </p:nvSpPr>
        <p:spPr>
          <a:xfrm>
            <a:off x="542925" y="3307556"/>
            <a:ext cx="666750" cy="228600"/>
          </a:xfrm>
          <a:prstGeom prst="rect">
            <a:avLst/>
          </a:prstGeom>
          <a:noFill/>
          <a:ln/>
        </p:spPr>
        <p:txBody>
          <a:bodyPr wrap="square" lIns="76200" tIns="38100" rIns="76200" bIns="3810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E0E2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Finanzas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1189137" y="3307556"/>
            <a:ext cx="447675" cy="228600"/>
          </a:xfrm>
          <a:custGeom>
            <a:avLst/>
            <a:gdLst/>
            <a:ahLst/>
            <a:cxnLst/>
            <a:rect l="l" t="t" r="r" b="b"/>
            <a:pathLst>
              <a:path w="447675" h="228600">
                <a:moveTo>
                  <a:pt x="38101" y="0"/>
                </a:moveTo>
                <a:lnTo>
                  <a:pt x="409574" y="0"/>
                </a:lnTo>
                <a:cubicBezTo>
                  <a:pt x="430617" y="0"/>
                  <a:pt x="447675" y="17058"/>
                  <a:pt x="447675" y="38101"/>
                </a:cubicBezTo>
                <a:lnTo>
                  <a:pt x="447675" y="190499"/>
                </a:lnTo>
                <a:cubicBezTo>
                  <a:pt x="447675" y="211542"/>
                  <a:pt x="430617" y="228600"/>
                  <a:pt x="409574" y="228600"/>
                </a:cubicBezTo>
                <a:lnTo>
                  <a:pt x="38101" y="228600"/>
                </a:lnTo>
                <a:cubicBezTo>
                  <a:pt x="17072" y="228600"/>
                  <a:pt x="0" y="211528"/>
                  <a:pt x="0" y="190499"/>
                </a:cubicBezTo>
                <a:lnTo>
                  <a:pt x="0" y="38101"/>
                </a:lnTo>
                <a:cubicBezTo>
                  <a:pt x="0" y="17072"/>
                  <a:pt x="17072" y="0"/>
                  <a:pt x="38101" y="0"/>
                </a:cubicBezTo>
                <a:close/>
              </a:path>
            </a:pathLst>
          </a:custGeom>
          <a:solidFill>
            <a:srgbClr val="4A6D8C">
              <a:alpha val="30196"/>
            </a:srgbClr>
          </a:solidFill>
          <a:ln/>
        </p:spPr>
      </p:sp>
      <p:sp>
        <p:nvSpPr>
          <p:cNvPr id="15" name="Text 13"/>
          <p:cNvSpPr/>
          <p:nvPr/>
        </p:nvSpPr>
        <p:spPr>
          <a:xfrm>
            <a:off x="1189137" y="3307556"/>
            <a:ext cx="504825" cy="228600"/>
          </a:xfrm>
          <a:prstGeom prst="rect">
            <a:avLst/>
          </a:prstGeom>
          <a:noFill/>
          <a:ln/>
        </p:spPr>
        <p:txBody>
          <a:bodyPr wrap="square" lIns="76200" tIns="38100" rIns="76200" bIns="3810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E0E2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Retail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3281363" y="1990725"/>
            <a:ext cx="2733675" cy="1704975"/>
          </a:xfrm>
          <a:custGeom>
            <a:avLst/>
            <a:gdLst/>
            <a:ahLst/>
            <a:cxnLst/>
            <a:rect l="l" t="t" r="r" b="b"/>
            <a:pathLst>
              <a:path w="2733675" h="1704975">
                <a:moveTo>
                  <a:pt x="114302" y="0"/>
                </a:moveTo>
                <a:lnTo>
                  <a:pt x="2619373" y="0"/>
                </a:lnTo>
                <a:cubicBezTo>
                  <a:pt x="2682500" y="0"/>
                  <a:pt x="2733675" y="51175"/>
                  <a:pt x="2733675" y="114302"/>
                </a:cubicBezTo>
                <a:lnTo>
                  <a:pt x="2733675" y="1590673"/>
                </a:lnTo>
                <a:cubicBezTo>
                  <a:pt x="2733675" y="1653800"/>
                  <a:pt x="2682500" y="1704975"/>
                  <a:pt x="2619373" y="1704975"/>
                </a:cubicBezTo>
                <a:lnTo>
                  <a:pt x="114302" y="1704975"/>
                </a:lnTo>
                <a:cubicBezTo>
                  <a:pt x="51175" y="1704975"/>
                  <a:pt x="0" y="1653800"/>
                  <a:pt x="0" y="1590673"/>
                </a:cubicBezTo>
                <a:lnTo>
                  <a:pt x="0" y="114302"/>
                </a:lnTo>
                <a:cubicBezTo>
                  <a:pt x="0" y="51217"/>
                  <a:pt x="51217" y="0"/>
                  <a:pt x="114302" y="0"/>
                </a:cubicBezTo>
                <a:close/>
              </a:path>
            </a:pathLst>
          </a:custGeom>
          <a:solidFill>
            <a:srgbClr val="4A6D8C">
              <a:alpha val="10196"/>
            </a:srgbClr>
          </a:solidFill>
          <a:ln w="12700">
            <a:solidFill>
              <a:srgbClr val="4A6D8C">
                <a:alpha val="30196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438525" y="2147888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76200" y="0"/>
                </a:moveTo>
                <a:lnTo>
                  <a:pt x="304800" y="0"/>
                </a:lnTo>
                <a:cubicBezTo>
                  <a:pt x="346856" y="0"/>
                  <a:pt x="381000" y="34144"/>
                  <a:pt x="381000" y="76200"/>
                </a:cubicBezTo>
                <a:lnTo>
                  <a:pt x="381000" y="304800"/>
                </a:lnTo>
                <a:cubicBezTo>
                  <a:pt x="381000" y="346856"/>
                  <a:pt x="346856" y="381000"/>
                  <a:pt x="304800" y="381000"/>
                </a:cubicBezTo>
                <a:lnTo>
                  <a:pt x="76200" y="381000"/>
                </a:lnTo>
                <a:cubicBezTo>
                  <a:pt x="34144" y="381000"/>
                  <a:pt x="0" y="346856"/>
                  <a:pt x="0" y="304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C8A265"/>
          </a:solidFill>
          <a:ln/>
        </p:spPr>
      </p:sp>
      <p:sp>
        <p:nvSpPr>
          <p:cNvPr id="18" name="Text 16"/>
          <p:cNvSpPr/>
          <p:nvPr/>
        </p:nvSpPr>
        <p:spPr>
          <a:xfrm>
            <a:off x="3538389" y="2224088"/>
            <a:ext cx="2571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1A1D2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02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3895725" y="2205038"/>
            <a:ext cx="2952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E0E2E6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DL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3438525" y="2643188"/>
            <a:ext cx="2486025" cy="552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050" dirty="0">
                <a:solidFill>
                  <a:srgbClr val="788A9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Reconocimiento de patrones complejos, diagnóstico médico, conducción autónoma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3438525" y="3307556"/>
            <a:ext cx="447675" cy="228600"/>
          </a:xfrm>
          <a:custGeom>
            <a:avLst/>
            <a:gdLst/>
            <a:ahLst/>
            <a:cxnLst/>
            <a:rect l="l" t="t" r="r" b="b"/>
            <a:pathLst>
              <a:path w="447675" h="228600">
                <a:moveTo>
                  <a:pt x="38101" y="0"/>
                </a:moveTo>
                <a:lnTo>
                  <a:pt x="409574" y="0"/>
                </a:lnTo>
                <a:cubicBezTo>
                  <a:pt x="430617" y="0"/>
                  <a:pt x="447675" y="17058"/>
                  <a:pt x="447675" y="38101"/>
                </a:cubicBezTo>
                <a:lnTo>
                  <a:pt x="447675" y="190499"/>
                </a:lnTo>
                <a:cubicBezTo>
                  <a:pt x="447675" y="211542"/>
                  <a:pt x="430617" y="228600"/>
                  <a:pt x="409574" y="228600"/>
                </a:cubicBezTo>
                <a:lnTo>
                  <a:pt x="38101" y="228600"/>
                </a:lnTo>
                <a:cubicBezTo>
                  <a:pt x="17072" y="228600"/>
                  <a:pt x="0" y="211528"/>
                  <a:pt x="0" y="190499"/>
                </a:cubicBezTo>
                <a:lnTo>
                  <a:pt x="0" y="38101"/>
                </a:lnTo>
                <a:cubicBezTo>
                  <a:pt x="0" y="17072"/>
                  <a:pt x="17072" y="0"/>
                  <a:pt x="38101" y="0"/>
                </a:cubicBezTo>
                <a:close/>
              </a:path>
            </a:pathLst>
          </a:custGeom>
          <a:solidFill>
            <a:srgbClr val="4A6D8C">
              <a:alpha val="30196"/>
            </a:srgbClr>
          </a:solidFill>
          <a:ln/>
        </p:spPr>
      </p:sp>
      <p:sp>
        <p:nvSpPr>
          <p:cNvPr id="22" name="Text 20"/>
          <p:cNvSpPr/>
          <p:nvPr/>
        </p:nvSpPr>
        <p:spPr>
          <a:xfrm>
            <a:off x="3438525" y="3307556"/>
            <a:ext cx="504825" cy="228600"/>
          </a:xfrm>
          <a:prstGeom prst="rect">
            <a:avLst/>
          </a:prstGeom>
          <a:noFill/>
          <a:ln/>
        </p:spPr>
        <p:txBody>
          <a:bodyPr wrap="square" lIns="76200" tIns="38100" rIns="76200" bIns="3810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E0E2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Salud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3921323" y="3307556"/>
            <a:ext cx="781050" cy="228600"/>
          </a:xfrm>
          <a:custGeom>
            <a:avLst/>
            <a:gdLst/>
            <a:ahLst/>
            <a:cxnLst/>
            <a:rect l="l" t="t" r="r" b="b"/>
            <a:pathLst>
              <a:path w="781050" h="228600">
                <a:moveTo>
                  <a:pt x="38101" y="0"/>
                </a:moveTo>
                <a:lnTo>
                  <a:pt x="742949" y="0"/>
                </a:lnTo>
                <a:cubicBezTo>
                  <a:pt x="763992" y="0"/>
                  <a:pt x="781050" y="17058"/>
                  <a:pt x="781050" y="38101"/>
                </a:cubicBezTo>
                <a:lnTo>
                  <a:pt x="781050" y="190499"/>
                </a:lnTo>
                <a:cubicBezTo>
                  <a:pt x="781050" y="211542"/>
                  <a:pt x="763992" y="228600"/>
                  <a:pt x="742949" y="228600"/>
                </a:cubicBezTo>
                <a:lnTo>
                  <a:pt x="38101" y="228600"/>
                </a:lnTo>
                <a:cubicBezTo>
                  <a:pt x="17072" y="228600"/>
                  <a:pt x="0" y="211528"/>
                  <a:pt x="0" y="190499"/>
                </a:cubicBezTo>
                <a:lnTo>
                  <a:pt x="0" y="38101"/>
                </a:lnTo>
                <a:cubicBezTo>
                  <a:pt x="0" y="17072"/>
                  <a:pt x="17072" y="0"/>
                  <a:pt x="38101" y="0"/>
                </a:cubicBezTo>
                <a:close/>
              </a:path>
            </a:pathLst>
          </a:custGeom>
          <a:solidFill>
            <a:srgbClr val="4A6D8C">
              <a:alpha val="30196"/>
            </a:srgbClr>
          </a:solidFill>
          <a:ln/>
        </p:spPr>
      </p:sp>
      <p:sp>
        <p:nvSpPr>
          <p:cNvPr id="24" name="Text 22"/>
          <p:cNvSpPr/>
          <p:nvPr/>
        </p:nvSpPr>
        <p:spPr>
          <a:xfrm>
            <a:off x="3921323" y="3307556"/>
            <a:ext cx="838200" cy="228600"/>
          </a:xfrm>
          <a:prstGeom prst="rect">
            <a:avLst/>
          </a:prstGeom>
          <a:noFill/>
          <a:ln/>
        </p:spPr>
        <p:txBody>
          <a:bodyPr wrap="square" lIns="76200" tIns="38100" rIns="76200" bIns="3810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E0E2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Automoción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6176963" y="1990725"/>
            <a:ext cx="2733675" cy="1704975"/>
          </a:xfrm>
          <a:custGeom>
            <a:avLst/>
            <a:gdLst/>
            <a:ahLst/>
            <a:cxnLst/>
            <a:rect l="l" t="t" r="r" b="b"/>
            <a:pathLst>
              <a:path w="2733675" h="1704975">
                <a:moveTo>
                  <a:pt x="114302" y="0"/>
                </a:moveTo>
                <a:lnTo>
                  <a:pt x="2619373" y="0"/>
                </a:lnTo>
                <a:cubicBezTo>
                  <a:pt x="2682500" y="0"/>
                  <a:pt x="2733675" y="51175"/>
                  <a:pt x="2733675" y="114302"/>
                </a:cubicBezTo>
                <a:lnTo>
                  <a:pt x="2733675" y="1590673"/>
                </a:lnTo>
                <a:cubicBezTo>
                  <a:pt x="2733675" y="1653800"/>
                  <a:pt x="2682500" y="1704975"/>
                  <a:pt x="2619373" y="1704975"/>
                </a:cubicBezTo>
                <a:lnTo>
                  <a:pt x="114302" y="1704975"/>
                </a:lnTo>
                <a:cubicBezTo>
                  <a:pt x="51175" y="1704975"/>
                  <a:pt x="0" y="1653800"/>
                  <a:pt x="0" y="1590673"/>
                </a:cubicBezTo>
                <a:lnTo>
                  <a:pt x="0" y="114302"/>
                </a:lnTo>
                <a:cubicBezTo>
                  <a:pt x="0" y="51217"/>
                  <a:pt x="51217" y="0"/>
                  <a:pt x="114302" y="0"/>
                </a:cubicBezTo>
                <a:close/>
              </a:path>
            </a:pathLst>
          </a:custGeom>
          <a:solidFill>
            <a:srgbClr val="4A6D8C">
              <a:alpha val="10196"/>
            </a:srgbClr>
          </a:solidFill>
          <a:ln w="12700">
            <a:solidFill>
              <a:srgbClr val="4A6D8C">
                <a:alpha val="30196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334125" y="2147888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76200" y="0"/>
                </a:moveTo>
                <a:lnTo>
                  <a:pt x="304800" y="0"/>
                </a:lnTo>
                <a:cubicBezTo>
                  <a:pt x="346856" y="0"/>
                  <a:pt x="381000" y="34144"/>
                  <a:pt x="381000" y="76200"/>
                </a:cubicBezTo>
                <a:lnTo>
                  <a:pt x="381000" y="304800"/>
                </a:lnTo>
                <a:cubicBezTo>
                  <a:pt x="381000" y="346856"/>
                  <a:pt x="346856" y="381000"/>
                  <a:pt x="304800" y="381000"/>
                </a:cubicBezTo>
                <a:lnTo>
                  <a:pt x="76200" y="381000"/>
                </a:lnTo>
                <a:cubicBezTo>
                  <a:pt x="34144" y="381000"/>
                  <a:pt x="0" y="346856"/>
                  <a:pt x="0" y="304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C8A265"/>
          </a:solidFill>
          <a:ln/>
        </p:spPr>
      </p:sp>
      <p:sp>
        <p:nvSpPr>
          <p:cNvPr id="27" name="Text 25"/>
          <p:cNvSpPr/>
          <p:nvPr/>
        </p:nvSpPr>
        <p:spPr>
          <a:xfrm>
            <a:off x="6431905" y="2224088"/>
            <a:ext cx="2571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1A1D2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03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6791325" y="2205038"/>
            <a:ext cx="4095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E0E2E6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NLP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6334125" y="2643188"/>
            <a:ext cx="2486025" cy="552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050" dirty="0">
                <a:solidFill>
                  <a:srgbClr val="788A9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Asistentes virtuales, traducción automática, análisis de sentimiento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6334125" y="3307556"/>
            <a:ext cx="1123950" cy="228600"/>
          </a:xfrm>
          <a:custGeom>
            <a:avLst/>
            <a:gdLst/>
            <a:ahLst/>
            <a:cxnLst/>
            <a:rect l="l" t="t" r="r" b="b"/>
            <a:pathLst>
              <a:path w="1123950" h="228600">
                <a:moveTo>
                  <a:pt x="38101" y="0"/>
                </a:moveTo>
                <a:lnTo>
                  <a:pt x="1085849" y="0"/>
                </a:lnTo>
                <a:cubicBezTo>
                  <a:pt x="1106892" y="0"/>
                  <a:pt x="1123950" y="17058"/>
                  <a:pt x="1123950" y="38101"/>
                </a:cubicBezTo>
                <a:lnTo>
                  <a:pt x="1123950" y="190499"/>
                </a:lnTo>
                <a:cubicBezTo>
                  <a:pt x="1123950" y="211542"/>
                  <a:pt x="1106892" y="228600"/>
                  <a:pt x="1085849" y="228600"/>
                </a:cubicBezTo>
                <a:lnTo>
                  <a:pt x="38101" y="228600"/>
                </a:lnTo>
                <a:cubicBezTo>
                  <a:pt x="17072" y="228600"/>
                  <a:pt x="0" y="211528"/>
                  <a:pt x="0" y="190499"/>
                </a:cubicBezTo>
                <a:lnTo>
                  <a:pt x="0" y="38101"/>
                </a:lnTo>
                <a:cubicBezTo>
                  <a:pt x="0" y="17072"/>
                  <a:pt x="17072" y="0"/>
                  <a:pt x="38101" y="0"/>
                </a:cubicBezTo>
                <a:close/>
              </a:path>
            </a:pathLst>
          </a:custGeom>
          <a:solidFill>
            <a:srgbClr val="4A6D8C">
              <a:alpha val="30196"/>
            </a:srgbClr>
          </a:solidFill>
          <a:ln/>
        </p:spPr>
      </p:sp>
      <p:sp>
        <p:nvSpPr>
          <p:cNvPr id="31" name="Text 29"/>
          <p:cNvSpPr/>
          <p:nvPr/>
        </p:nvSpPr>
        <p:spPr>
          <a:xfrm>
            <a:off x="6334125" y="3307556"/>
            <a:ext cx="1181100" cy="228600"/>
          </a:xfrm>
          <a:prstGeom prst="rect">
            <a:avLst/>
          </a:prstGeom>
          <a:noFill/>
          <a:ln/>
        </p:spPr>
        <p:txBody>
          <a:bodyPr wrap="square" lIns="76200" tIns="38100" rIns="76200" bIns="3810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E0E2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Atención al cliente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7494091" y="3307556"/>
            <a:ext cx="533400" cy="228600"/>
          </a:xfrm>
          <a:custGeom>
            <a:avLst/>
            <a:gdLst/>
            <a:ahLst/>
            <a:cxnLst/>
            <a:rect l="l" t="t" r="r" b="b"/>
            <a:pathLst>
              <a:path w="533400" h="228600">
                <a:moveTo>
                  <a:pt x="38101" y="0"/>
                </a:moveTo>
                <a:lnTo>
                  <a:pt x="495299" y="0"/>
                </a:lnTo>
                <a:cubicBezTo>
                  <a:pt x="516342" y="0"/>
                  <a:pt x="533400" y="17058"/>
                  <a:pt x="533400" y="38101"/>
                </a:cubicBezTo>
                <a:lnTo>
                  <a:pt x="533400" y="190499"/>
                </a:lnTo>
                <a:cubicBezTo>
                  <a:pt x="533400" y="211542"/>
                  <a:pt x="516342" y="228600"/>
                  <a:pt x="495299" y="228600"/>
                </a:cubicBezTo>
                <a:lnTo>
                  <a:pt x="38101" y="228600"/>
                </a:lnTo>
                <a:cubicBezTo>
                  <a:pt x="17072" y="228600"/>
                  <a:pt x="0" y="211528"/>
                  <a:pt x="0" y="190499"/>
                </a:cubicBezTo>
                <a:lnTo>
                  <a:pt x="0" y="38101"/>
                </a:lnTo>
                <a:cubicBezTo>
                  <a:pt x="0" y="17072"/>
                  <a:pt x="17072" y="0"/>
                  <a:pt x="38101" y="0"/>
                </a:cubicBezTo>
                <a:close/>
              </a:path>
            </a:pathLst>
          </a:custGeom>
          <a:solidFill>
            <a:srgbClr val="4A6D8C">
              <a:alpha val="30196"/>
            </a:srgbClr>
          </a:solidFill>
          <a:ln/>
        </p:spPr>
      </p:sp>
      <p:sp>
        <p:nvSpPr>
          <p:cNvPr id="33" name="Text 31"/>
          <p:cNvSpPr/>
          <p:nvPr/>
        </p:nvSpPr>
        <p:spPr>
          <a:xfrm>
            <a:off x="7494091" y="3307556"/>
            <a:ext cx="590550" cy="228600"/>
          </a:xfrm>
          <a:prstGeom prst="rect">
            <a:avLst/>
          </a:prstGeom>
          <a:noFill/>
          <a:ln/>
        </p:spPr>
        <p:txBody>
          <a:bodyPr wrap="square" lIns="76200" tIns="38100" rIns="76200" bIns="3810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E0E2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Medios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9072563" y="1990725"/>
            <a:ext cx="2733675" cy="1704975"/>
          </a:xfrm>
          <a:custGeom>
            <a:avLst/>
            <a:gdLst/>
            <a:ahLst/>
            <a:cxnLst/>
            <a:rect l="l" t="t" r="r" b="b"/>
            <a:pathLst>
              <a:path w="2733675" h="1704975">
                <a:moveTo>
                  <a:pt x="114302" y="0"/>
                </a:moveTo>
                <a:lnTo>
                  <a:pt x="2619373" y="0"/>
                </a:lnTo>
                <a:cubicBezTo>
                  <a:pt x="2682500" y="0"/>
                  <a:pt x="2733675" y="51175"/>
                  <a:pt x="2733675" y="114302"/>
                </a:cubicBezTo>
                <a:lnTo>
                  <a:pt x="2733675" y="1590673"/>
                </a:lnTo>
                <a:cubicBezTo>
                  <a:pt x="2733675" y="1653800"/>
                  <a:pt x="2682500" y="1704975"/>
                  <a:pt x="2619373" y="1704975"/>
                </a:cubicBezTo>
                <a:lnTo>
                  <a:pt x="114302" y="1704975"/>
                </a:lnTo>
                <a:cubicBezTo>
                  <a:pt x="51175" y="1704975"/>
                  <a:pt x="0" y="1653800"/>
                  <a:pt x="0" y="1590673"/>
                </a:cubicBezTo>
                <a:lnTo>
                  <a:pt x="0" y="114302"/>
                </a:lnTo>
                <a:cubicBezTo>
                  <a:pt x="0" y="51217"/>
                  <a:pt x="51217" y="0"/>
                  <a:pt x="114302" y="0"/>
                </a:cubicBezTo>
                <a:close/>
              </a:path>
            </a:pathLst>
          </a:custGeom>
          <a:solidFill>
            <a:srgbClr val="4A6D8C">
              <a:alpha val="10196"/>
            </a:srgbClr>
          </a:solidFill>
          <a:ln w="12700">
            <a:solidFill>
              <a:srgbClr val="4A6D8C">
                <a:alpha val="30196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9229725" y="2147888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76200" y="0"/>
                </a:moveTo>
                <a:lnTo>
                  <a:pt x="304800" y="0"/>
                </a:lnTo>
                <a:cubicBezTo>
                  <a:pt x="346856" y="0"/>
                  <a:pt x="381000" y="34144"/>
                  <a:pt x="381000" y="76200"/>
                </a:cubicBezTo>
                <a:lnTo>
                  <a:pt x="381000" y="304800"/>
                </a:lnTo>
                <a:cubicBezTo>
                  <a:pt x="381000" y="346856"/>
                  <a:pt x="346856" y="381000"/>
                  <a:pt x="304800" y="381000"/>
                </a:cubicBezTo>
                <a:lnTo>
                  <a:pt x="76200" y="381000"/>
                </a:lnTo>
                <a:cubicBezTo>
                  <a:pt x="34144" y="381000"/>
                  <a:pt x="0" y="346856"/>
                  <a:pt x="0" y="304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C8A265"/>
          </a:solidFill>
          <a:ln/>
        </p:spPr>
      </p:sp>
      <p:sp>
        <p:nvSpPr>
          <p:cNvPr id="36" name="Text 34"/>
          <p:cNvSpPr/>
          <p:nvPr/>
        </p:nvSpPr>
        <p:spPr>
          <a:xfrm>
            <a:off x="9327654" y="2224088"/>
            <a:ext cx="2571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1A1D2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04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9686925" y="2205038"/>
            <a:ext cx="3238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E0E2E6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CV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9229725" y="2643188"/>
            <a:ext cx="2486025" cy="552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050" dirty="0">
                <a:solidFill>
                  <a:srgbClr val="788A9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Sistemas de seguridad, control de calidad, diagnóstico por imagen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9229725" y="3307556"/>
            <a:ext cx="685800" cy="228600"/>
          </a:xfrm>
          <a:custGeom>
            <a:avLst/>
            <a:gdLst/>
            <a:ahLst/>
            <a:cxnLst/>
            <a:rect l="l" t="t" r="r" b="b"/>
            <a:pathLst>
              <a:path w="685800" h="228600">
                <a:moveTo>
                  <a:pt x="38101" y="0"/>
                </a:moveTo>
                <a:lnTo>
                  <a:pt x="647699" y="0"/>
                </a:lnTo>
                <a:cubicBezTo>
                  <a:pt x="668742" y="0"/>
                  <a:pt x="685800" y="17058"/>
                  <a:pt x="685800" y="38101"/>
                </a:cubicBezTo>
                <a:lnTo>
                  <a:pt x="685800" y="190499"/>
                </a:lnTo>
                <a:cubicBezTo>
                  <a:pt x="685800" y="211542"/>
                  <a:pt x="668742" y="228600"/>
                  <a:pt x="647699" y="228600"/>
                </a:cubicBezTo>
                <a:lnTo>
                  <a:pt x="38101" y="228600"/>
                </a:lnTo>
                <a:cubicBezTo>
                  <a:pt x="17072" y="228600"/>
                  <a:pt x="0" y="211528"/>
                  <a:pt x="0" y="190499"/>
                </a:cubicBezTo>
                <a:lnTo>
                  <a:pt x="0" y="38101"/>
                </a:lnTo>
                <a:cubicBezTo>
                  <a:pt x="0" y="17072"/>
                  <a:pt x="17072" y="0"/>
                  <a:pt x="38101" y="0"/>
                </a:cubicBezTo>
                <a:close/>
              </a:path>
            </a:pathLst>
          </a:custGeom>
          <a:solidFill>
            <a:srgbClr val="4A6D8C">
              <a:alpha val="30196"/>
            </a:srgbClr>
          </a:solidFill>
          <a:ln/>
        </p:spPr>
      </p:sp>
      <p:sp>
        <p:nvSpPr>
          <p:cNvPr id="40" name="Text 38"/>
          <p:cNvSpPr/>
          <p:nvPr/>
        </p:nvSpPr>
        <p:spPr>
          <a:xfrm>
            <a:off x="9229725" y="3307556"/>
            <a:ext cx="742950" cy="228600"/>
          </a:xfrm>
          <a:prstGeom prst="rect">
            <a:avLst/>
          </a:prstGeom>
          <a:noFill/>
          <a:ln/>
        </p:spPr>
        <p:txBody>
          <a:bodyPr wrap="square" lIns="76200" tIns="38100" rIns="76200" bIns="3810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E0E2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Seguridad</a:t>
            </a:r>
            <a:endParaRPr lang="en-US" sz="1600" dirty="0"/>
          </a:p>
        </p:txBody>
      </p:sp>
      <p:sp>
        <p:nvSpPr>
          <p:cNvPr id="41" name="Shape 39"/>
          <p:cNvSpPr/>
          <p:nvPr/>
        </p:nvSpPr>
        <p:spPr>
          <a:xfrm>
            <a:off x="9955262" y="3307556"/>
            <a:ext cx="819150" cy="228600"/>
          </a:xfrm>
          <a:custGeom>
            <a:avLst/>
            <a:gdLst/>
            <a:ahLst/>
            <a:cxnLst/>
            <a:rect l="l" t="t" r="r" b="b"/>
            <a:pathLst>
              <a:path w="819150" h="228600">
                <a:moveTo>
                  <a:pt x="38101" y="0"/>
                </a:moveTo>
                <a:lnTo>
                  <a:pt x="781049" y="0"/>
                </a:lnTo>
                <a:cubicBezTo>
                  <a:pt x="802092" y="0"/>
                  <a:pt x="819150" y="17058"/>
                  <a:pt x="819150" y="38101"/>
                </a:cubicBezTo>
                <a:lnTo>
                  <a:pt x="819150" y="190499"/>
                </a:lnTo>
                <a:cubicBezTo>
                  <a:pt x="819150" y="211542"/>
                  <a:pt x="802092" y="228600"/>
                  <a:pt x="781049" y="228600"/>
                </a:cubicBezTo>
                <a:lnTo>
                  <a:pt x="38101" y="228600"/>
                </a:lnTo>
                <a:cubicBezTo>
                  <a:pt x="17072" y="228600"/>
                  <a:pt x="0" y="211528"/>
                  <a:pt x="0" y="190499"/>
                </a:cubicBezTo>
                <a:lnTo>
                  <a:pt x="0" y="38101"/>
                </a:lnTo>
                <a:cubicBezTo>
                  <a:pt x="0" y="17072"/>
                  <a:pt x="17072" y="0"/>
                  <a:pt x="38101" y="0"/>
                </a:cubicBezTo>
                <a:close/>
              </a:path>
            </a:pathLst>
          </a:custGeom>
          <a:solidFill>
            <a:srgbClr val="4A6D8C">
              <a:alpha val="30196"/>
            </a:srgbClr>
          </a:solidFill>
          <a:ln/>
        </p:spPr>
      </p:sp>
      <p:sp>
        <p:nvSpPr>
          <p:cNvPr id="42" name="Text 40"/>
          <p:cNvSpPr/>
          <p:nvPr/>
        </p:nvSpPr>
        <p:spPr>
          <a:xfrm>
            <a:off x="9955262" y="3307556"/>
            <a:ext cx="876300" cy="228600"/>
          </a:xfrm>
          <a:prstGeom prst="rect">
            <a:avLst/>
          </a:prstGeom>
          <a:noFill/>
          <a:ln/>
        </p:spPr>
        <p:txBody>
          <a:bodyPr wrap="square" lIns="76200" tIns="38100" rIns="76200" bIns="3810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E0E2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Manufactura</a:t>
            </a:r>
            <a:endParaRPr lang="en-US" sz="1600" dirty="0"/>
          </a:p>
        </p:txBody>
      </p:sp>
      <p:sp>
        <p:nvSpPr>
          <p:cNvPr id="43" name="Shape 41"/>
          <p:cNvSpPr/>
          <p:nvPr/>
        </p:nvSpPr>
        <p:spPr>
          <a:xfrm>
            <a:off x="385763" y="3855244"/>
            <a:ext cx="2733675" cy="1524000"/>
          </a:xfrm>
          <a:custGeom>
            <a:avLst/>
            <a:gdLst/>
            <a:ahLst/>
            <a:cxnLst/>
            <a:rect l="l" t="t" r="r" b="b"/>
            <a:pathLst>
              <a:path w="2733675" h="1524000">
                <a:moveTo>
                  <a:pt x="114300" y="0"/>
                </a:moveTo>
                <a:lnTo>
                  <a:pt x="2619375" y="0"/>
                </a:lnTo>
                <a:cubicBezTo>
                  <a:pt x="2682459" y="0"/>
                  <a:pt x="2733675" y="51216"/>
                  <a:pt x="2733675" y="114300"/>
                </a:cubicBezTo>
                <a:lnTo>
                  <a:pt x="2733675" y="1409700"/>
                </a:lnTo>
                <a:cubicBezTo>
                  <a:pt x="2733675" y="1472784"/>
                  <a:pt x="2682459" y="1524000"/>
                  <a:pt x="2619375" y="1524000"/>
                </a:cubicBezTo>
                <a:lnTo>
                  <a:pt x="114300" y="1524000"/>
                </a:lnTo>
                <a:cubicBezTo>
                  <a:pt x="51216" y="1524000"/>
                  <a:pt x="0" y="1472784"/>
                  <a:pt x="0" y="14097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4A6D8C">
              <a:alpha val="10196"/>
            </a:srgbClr>
          </a:solidFill>
          <a:ln w="12700">
            <a:solidFill>
              <a:srgbClr val="4A6D8C">
                <a:alpha val="30196"/>
              </a:srgbClr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542925" y="4012406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76200" y="0"/>
                </a:moveTo>
                <a:lnTo>
                  <a:pt x="304800" y="0"/>
                </a:lnTo>
                <a:cubicBezTo>
                  <a:pt x="346856" y="0"/>
                  <a:pt x="381000" y="34144"/>
                  <a:pt x="381000" y="76200"/>
                </a:cubicBezTo>
                <a:lnTo>
                  <a:pt x="381000" y="304800"/>
                </a:lnTo>
                <a:cubicBezTo>
                  <a:pt x="381000" y="346856"/>
                  <a:pt x="346856" y="381000"/>
                  <a:pt x="304800" y="381000"/>
                </a:cubicBezTo>
                <a:lnTo>
                  <a:pt x="76200" y="381000"/>
                </a:lnTo>
                <a:cubicBezTo>
                  <a:pt x="34144" y="381000"/>
                  <a:pt x="0" y="346856"/>
                  <a:pt x="0" y="304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C8A265"/>
          </a:solidFill>
          <a:ln/>
        </p:spPr>
      </p:sp>
      <p:sp>
        <p:nvSpPr>
          <p:cNvPr id="45" name="Text 43"/>
          <p:cNvSpPr/>
          <p:nvPr/>
        </p:nvSpPr>
        <p:spPr>
          <a:xfrm>
            <a:off x="640110" y="4088606"/>
            <a:ext cx="2667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1A1D2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05</a:t>
            </a:r>
            <a:endParaRPr lang="en-US" sz="1600" dirty="0"/>
          </a:p>
        </p:txBody>
      </p:sp>
      <p:sp>
        <p:nvSpPr>
          <p:cNvPr id="46" name="Text 44"/>
          <p:cNvSpPr/>
          <p:nvPr/>
        </p:nvSpPr>
        <p:spPr>
          <a:xfrm>
            <a:off x="1000125" y="4069556"/>
            <a:ext cx="12192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E0E2E6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Sist. Expertos</a:t>
            </a:r>
            <a:endParaRPr lang="en-US" sz="1600" dirty="0"/>
          </a:p>
        </p:txBody>
      </p:sp>
      <p:sp>
        <p:nvSpPr>
          <p:cNvPr id="47" name="Text 45"/>
          <p:cNvSpPr/>
          <p:nvPr/>
        </p:nvSpPr>
        <p:spPr>
          <a:xfrm>
            <a:off x="542925" y="4507706"/>
            <a:ext cx="2486025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050" dirty="0">
                <a:solidFill>
                  <a:srgbClr val="788A9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Diagnóstico médico, soporte técnico, toma de decisiones complejas</a:t>
            </a:r>
            <a:endParaRPr lang="en-US" sz="1600" dirty="0"/>
          </a:p>
        </p:txBody>
      </p:sp>
      <p:sp>
        <p:nvSpPr>
          <p:cNvPr id="48" name="Shape 46"/>
          <p:cNvSpPr/>
          <p:nvPr/>
        </p:nvSpPr>
        <p:spPr>
          <a:xfrm>
            <a:off x="542925" y="4988719"/>
            <a:ext cx="628650" cy="228600"/>
          </a:xfrm>
          <a:custGeom>
            <a:avLst/>
            <a:gdLst/>
            <a:ahLst/>
            <a:cxnLst/>
            <a:rect l="l" t="t" r="r" b="b"/>
            <a:pathLst>
              <a:path w="628650" h="228600">
                <a:moveTo>
                  <a:pt x="38101" y="0"/>
                </a:moveTo>
                <a:lnTo>
                  <a:pt x="590549" y="0"/>
                </a:lnTo>
                <a:cubicBezTo>
                  <a:pt x="611592" y="0"/>
                  <a:pt x="628650" y="17058"/>
                  <a:pt x="628650" y="38101"/>
                </a:cubicBezTo>
                <a:lnTo>
                  <a:pt x="628650" y="190499"/>
                </a:lnTo>
                <a:cubicBezTo>
                  <a:pt x="628650" y="211542"/>
                  <a:pt x="611592" y="228600"/>
                  <a:pt x="590549" y="228600"/>
                </a:cubicBezTo>
                <a:lnTo>
                  <a:pt x="38101" y="228600"/>
                </a:lnTo>
                <a:cubicBezTo>
                  <a:pt x="17072" y="228600"/>
                  <a:pt x="0" y="211528"/>
                  <a:pt x="0" y="190499"/>
                </a:cubicBezTo>
                <a:lnTo>
                  <a:pt x="0" y="38101"/>
                </a:lnTo>
                <a:cubicBezTo>
                  <a:pt x="0" y="17072"/>
                  <a:pt x="17072" y="0"/>
                  <a:pt x="38101" y="0"/>
                </a:cubicBezTo>
                <a:close/>
              </a:path>
            </a:pathLst>
          </a:custGeom>
          <a:solidFill>
            <a:srgbClr val="4A6D8C">
              <a:alpha val="30196"/>
            </a:srgbClr>
          </a:solidFill>
          <a:ln/>
        </p:spPr>
      </p:sp>
      <p:sp>
        <p:nvSpPr>
          <p:cNvPr id="49" name="Text 47"/>
          <p:cNvSpPr/>
          <p:nvPr/>
        </p:nvSpPr>
        <p:spPr>
          <a:xfrm>
            <a:off x="542925" y="4988719"/>
            <a:ext cx="685800" cy="228600"/>
          </a:xfrm>
          <a:prstGeom prst="rect">
            <a:avLst/>
          </a:prstGeom>
          <a:noFill/>
          <a:ln/>
        </p:spPr>
        <p:txBody>
          <a:bodyPr wrap="square" lIns="76200" tIns="38100" rIns="76200" bIns="3810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E0E2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Medicina</a:t>
            </a:r>
            <a:endParaRPr lang="en-US" sz="1600" dirty="0"/>
          </a:p>
        </p:txBody>
      </p:sp>
      <p:sp>
        <p:nvSpPr>
          <p:cNvPr id="50" name="Shape 48"/>
          <p:cNvSpPr/>
          <p:nvPr/>
        </p:nvSpPr>
        <p:spPr>
          <a:xfrm>
            <a:off x="1208336" y="4988719"/>
            <a:ext cx="247650" cy="228600"/>
          </a:xfrm>
          <a:custGeom>
            <a:avLst/>
            <a:gdLst/>
            <a:ahLst/>
            <a:cxnLst/>
            <a:rect l="l" t="t" r="r" b="b"/>
            <a:pathLst>
              <a:path w="247650" h="228600">
                <a:moveTo>
                  <a:pt x="38101" y="0"/>
                </a:moveTo>
                <a:lnTo>
                  <a:pt x="209549" y="0"/>
                </a:lnTo>
                <a:cubicBezTo>
                  <a:pt x="230592" y="0"/>
                  <a:pt x="247650" y="17058"/>
                  <a:pt x="247650" y="38101"/>
                </a:cubicBezTo>
                <a:lnTo>
                  <a:pt x="247650" y="190499"/>
                </a:lnTo>
                <a:cubicBezTo>
                  <a:pt x="247650" y="211542"/>
                  <a:pt x="230592" y="228600"/>
                  <a:pt x="209549" y="228600"/>
                </a:cubicBezTo>
                <a:lnTo>
                  <a:pt x="38101" y="228600"/>
                </a:lnTo>
                <a:cubicBezTo>
                  <a:pt x="17072" y="228600"/>
                  <a:pt x="0" y="211528"/>
                  <a:pt x="0" y="190499"/>
                </a:cubicBezTo>
                <a:lnTo>
                  <a:pt x="0" y="38101"/>
                </a:lnTo>
                <a:cubicBezTo>
                  <a:pt x="0" y="17072"/>
                  <a:pt x="17072" y="0"/>
                  <a:pt x="38101" y="0"/>
                </a:cubicBezTo>
                <a:close/>
              </a:path>
            </a:pathLst>
          </a:custGeom>
          <a:solidFill>
            <a:srgbClr val="4A6D8C">
              <a:alpha val="30196"/>
            </a:srgbClr>
          </a:solidFill>
          <a:ln/>
        </p:spPr>
      </p:sp>
      <p:sp>
        <p:nvSpPr>
          <p:cNvPr id="51" name="Text 49"/>
          <p:cNvSpPr/>
          <p:nvPr/>
        </p:nvSpPr>
        <p:spPr>
          <a:xfrm>
            <a:off x="1208336" y="4988719"/>
            <a:ext cx="304800" cy="228600"/>
          </a:xfrm>
          <a:prstGeom prst="rect">
            <a:avLst/>
          </a:prstGeom>
          <a:noFill/>
          <a:ln/>
        </p:spPr>
        <p:txBody>
          <a:bodyPr wrap="square" lIns="76200" tIns="38100" rIns="76200" bIns="3810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E0E2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IT</a:t>
            </a:r>
            <a:endParaRPr lang="en-US" sz="1600" dirty="0"/>
          </a:p>
        </p:txBody>
      </p:sp>
      <p:sp>
        <p:nvSpPr>
          <p:cNvPr id="52" name="Shape 50"/>
          <p:cNvSpPr/>
          <p:nvPr/>
        </p:nvSpPr>
        <p:spPr>
          <a:xfrm>
            <a:off x="3281363" y="3855244"/>
            <a:ext cx="2733675" cy="1524000"/>
          </a:xfrm>
          <a:custGeom>
            <a:avLst/>
            <a:gdLst/>
            <a:ahLst/>
            <a:cxnLst/>
            <a:rect l="l" t="t" r="r" b="b"/>
            <a:pathLst>
              <a:path w="2733675" h="1524000">
                <a:moveTo>
                  <a:pt x="114300" y="0"/>
                </a:moveTo>
                <a:lnTo>
                  <a:pt x="2619375" y="0"/>
                </a:lnTo>
                <a:cubicBezTo>
                  <a:pt x="2682459" y="0"/>
                  <a:pt x="2733675" y="51216"/>
                  <a:pt x="2733675" y="114300"/>
                </a:cubicBezTo>
                <a:lnTo>
                  <a:pt x="2733675" y="1409700"/>
                </a:lnTo>
                <a:cubicBezTo>
                  <a:pt x="2733675" y="1472784"/>
                  <a:pt x="2682459" y="1524000"/>
                  <a:pt x="2619375" y="1524000"/>
                </a:cubicBezTo>
                <a:lnTo>
                  <a:pt x="114300" y="1524000"/>
                </a:lnTo>
                <a:cubicBezTo>
                  <a:pt x="51216" y="1524000"/>
                  <a:pt x="0" y="1472784"/>
                  <a:pt x="0" y="14097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4A6D8C">
              <a:alpha val="10196"/>
            </a:srgbClr>
          </a:solidFill>
          <a:ln w="12700">
            <a:solidFill>
              <a:srgbClr val="4A6D8C">
                <a:alpha val="30196"/>
              </a:srgbClr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3438525" y="4012406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76200" y="0"/>
                </a:moveTo>
                <a:lnTo>
                  <a:pt x="304800" y="0"/>
                </a:lnTo>
                <a:cubicBezTo>
                  <a:pt x="346856" y="0"/>
                  <a:pt x="381000" y="34144"/>
                  <a:pt x="381000" y="76200"/>
                </a:cubicBezTo>
                <a:lnTo>
                  <a:pt x="381000" y="304800"/>
                </a:lnTo>
                <a:cubicBezTo>
                  <a:pt x="381000" y="346856"/>
                  <a:pt x="346856" y="381000"/>
                  <a:pt x="304800" y="381000"/>
                </a:cubicBezTo>
                <a:lnTo>
                  <a:pt x="76200" y="381000"/>
                </a:lnTo>
                <a:cubicBezTo>
                  <a:pt x="34144" y="381000"/>
                  <a:pt x="0" y="346856"/>
                  <a:pt x="0" y="304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C8A265"/>
          </a:solidFill>
          <a:ln/>
        </p:spPr>
      </p:sp>
      <p:sp>
        <p:nvSpPr>
          <p:cNvPr id="54" name="Text 52"/>
          <p:cNvSpPr/>
          <p:nvPr/>
        </p:nvSpPr>
        <p:spPr>
          <a:xfrm>
            <a:off x="3535412" y="4088606"/>
            <a:ext cx="2667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1A1D2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06</a:t>
            </a:r>
            <a:endParaRPr lang="en-US" sz="1600" dirty="0"/>
          </a:p>
        </p:txBody>
      </p:sp>
      <p:sp>
        <p:nvSpPr>
          <p:cNvPr id="55" name="Text 53"/>
          <p:cNvSpPr/>
          <p:nvPr/>
        </p:nvSpPr>
        <p:spPr>
          <a:xfrm>
            <a:off x="3895725" y="4069556"/>
            <a:ext cx="8001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E0E2E6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Robótica</a:t>
            </a:r>
            <a:endParaRPr lang="en-US" sz="1600" dirty="0"/>
          </a:p>
        </p:txBody>
      </p:sp>
      <p:sp>
        <p:nvSpPr>
          <p:cNvPr id="56" name="Text 54"/>
          <p:cNvSpPr/>
          <p:nvPr/>
        </p:nvSpPr>
        <p:spPr>
          <a:xfrm>
            <a:off x="3438525" y="4507706"/>
            <a:ext cx="2486025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050" dirty="0">
                <a:solidFill>
                  <a:srgbClr val="788A9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Automatización industrial, navegación autónoma, cirugía robótica</a:t>
            </a:r>
            <a:endParaRPr lang="en-US" sz="1600" dirty="0"/>
          </a:p>
        </p:txBody>
      </p:sp>
      <p:sp>
        <p:nvSpPr>
          <p:cNvPr id="57" name="Shape 55"/>
          <p:cNvSpPr/>
          <p:nvPr/>
        </p:nvSpPr>
        <p:spPr>
          <a:xfrm>
            <a:off x="3438525" y="4988719"/>
            <a:ext cx="609600" cy="228600"/>
          </a:xfrm>
          <a:custGeom>
            <a:avLst/>
            <a:gdLst/>
            <a:ahLst/>
            <a:cxnLst/>
            <a:rect l="l" t="t" r="r" b="b"/>
            <a:pathLst>
              <a:path w="609600" h="228600">
                <a:moveTo>
                  <a:pt x="38101" y="0"/>
                </a:moveTo>
                <a:lnTo>
                  <a:pt x="571499" y="0"/>
                </a:lnTo>
                <a:cubicBezTo>
                  <a:pt x="592542" y="0"/>
                  <a:pt x="609600" y="17058"/>
                  <a:pt x="609600" y="38101"/>
                </a:cubicBezTo>
                <a:lnTo>
                  <a:pt x="609600" y="190499"/>
                </a:lnTo>
                <a:cubicBezTo>
                  <a:pt x="609600" y="211542"/>
                  <a:pt x="592542" y="228600"/>
                  <a:pt x="571499" y="228600"/>
                </a:cubicBezTo>
                <a:lnTo>
                  <a:pt x="38101" y="228600"/>
                </a:lnTo>
                <a:cubicBezTo>
                  <a:pt x="17072" y="228600"/>
                  <a:pt x="0" y="211528"/>
                  <a:pt x="0" y="190499"/>
                </a:cubicBezTo>
                <a:lnTo>
                  <a:pt x="0" y="38101"/>
                </a:lnTo>
                <a:cubicBezTo>
                  <a:pt x="0" y="17072"/>
                  <a:pt x="17072" y="0"/>
                  <a:pt x="38101" y="0"/>
                </a:cubicBezTo>
                <a:close/>
              </a:path>
            </a:pathLst>
          </a:custGeom>
          <a:solidFill>
            <a:srgbClr val="4A6D8C">
              <a:alpha val="30196"/>
            </a:srgbClr>
          </a:solidFill>
          <a:ln/>
        </p:spPr>
      </p:sp>
      <p:sp>
        <p:nvSpPr>
          <p:cNvPr id="58" name="Text 56"/>
          <p:cNvSpPr/>
          <p:nvPr/>
        </p:nvSpPr>
        <p:spPr>
          <a:xfrm>
            <a:off x="3438525" y="4988719"/>
            <a:ext cx="666750" cy="228600"/>
          </a:xfrm>
          <a:prstGeom prst="rect">
            <a:avLst/>
          </a:prstGeom>
          <a:noFill/>
          <a:ln/>
        </p:spPr>
        <p:txBody>
          <a:bodyPr wrap="square" lIns="76200" tIns="38100" rIns="76200" bIns="3810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E0E2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Industria</a:t>
            </a:r>
            <a:endParaRPr lang="en-US" sz="1600" dirty="0"/>
          </a:p>
        </p:txBody>
      </p:sp>
      <p:sp>
        <p:nvSpPr>
          <p:cNvPr id="59" name="Shape 57"/>
          <p:cNvSpPr/>
          <p:nvPr/>
        </p:nvSpPr>
        <p:spPr>
          <a:xfrm>
            <a:off x="4081463" y="4988719"/>
            <a:ext cx="619125" cy="228600"/>
          </a:xfrm>
          <a:custGeom>
            <a:avLst/>
            <a:gdLst/>
            <a:ahLst/>
            <a:cxnLst/>
            <a:rect l="l" t="t" r="r" b="b"/>
            <a:pathLst>
              <a:path w="619125" h="228600">
                <a:moveTo>
                  <a:pt x="38101" y="0"/>
                </a:moveTo>
                <a:lnTo>
                  <a:pt x="581024" y="0"/>
                </a:lnTo>
                <a:cubicBezTo>
                  <a:pt x="602067" y="0"/>
                  <a:pt x="619125" y="17058"/>
                  <a:pt x="619125" y="38101"/>
                </a:cubicBezTo>
                <a:lnTo>
                  <a:pt x="619125" y="190499"/>
                </a:lnTo>
                <a:cubicBezTo>
                  <a:pt x="619125" y="211542"/>
                  <a:pt x="602067" y="228600"/>
                  <a:pt x="581024" y="228600"/>
                </a:cubicBezTo>
                <a:lnTo>
                  <a:pt x="38101" y="228600"/>
                </a:lnTo>
                <a:cubicBezTo>
                  <a:pt x="17072" y="228600"/>
                  <a:pt x="0" y="211528"/>
                  <a:pt x="0" y="190499"/>
                </a:cubicBezTo>
                <a:lnTo>
                  <a:pt x="0" y="38101"/>
                </a:lnTo>
                <a:cubicBezTo>
                  <a:pt x="0" y="17072"/>
                  <a:pt x="17072" y="0"/>
                  <a:pt x="38101" y="0"/>
                </a:cubicBezTo>
                <a:close/>
              </a:path>
            </a:pathLst>
          </a:custGeom>
          <a:solidFill>
            <a:srgbClr val="4A6D8C">
              <a:alpha val="30196"/>
            </a:srgbClr>
          </a:solidFill>
          <a:ln/>
        </p:spPr>
      </p:sp>
      <p:sp>
        <p:nvSpPr>
          <p:cNvPr id="60" name="Text 58"/>
          <p:cNvSpPr/>
          <p:nvPr/>
        </p:nvSpPr>
        <p:spPr>
          <a:xfrm>
            <a:off x="4081463" y="4988719"/>
            <a:ext cx="676275" cy="228600"/>
          </a:xfrm>
          <a:prstGeom prst="rect">
            <a:avLst/>
          </a:prstGeom>
          <a:noFill/>
          <a:ln/>
        </p:spPr>
        <p:txBody>
          <a:bodyPr wrap="square" lIns="76200" tIns="38100" rIns="76200" bIns="3810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E0E2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Logística</a:t>
            </a:r>
            <a:endParaRPr lang="en-US" sz="1600" dirty="0"/>
          </a:p>
        </p:txBody>
      </p:sp>
      <p:sp>
        <p:nvSpPr>
          <p:cNvPr id="61" name="Shape 59"/>
          <p:cNvSpPr/>
          <p:nvPr/>
        </p:nvSpPr>
        <p:spPr>
          <a:xfrm>
            <a:off x="6176963" y="3855244"/>
            <a:ext cx="2733675" cy="1524000"/>
          </a:xfrm>
          <a:custGeom>
            <a:avLst/>
            <a:gdLst/>
            <a:ahLst/>
            <a:cxnLst/>
            <a:rect l="l" t="t" r="r" b="b"/>
            <a:pathLst>
              <a:path w="2733675" h="1524000">
                <a:moveTo>
                  <a:pt x="114300" y="0"/>
                </a:moveTo>
                <a:lnTo>
                  <a:pt x="2619375" y="0"/>
                </a:lnTo>
                <a:cubicBezTo>
                  <a:pt x="2682459" y="0"/>
                  <a:pt x="2733675" y="51216"/>
                  <a:pt x="2733675" y="114300"/>
                </a:cubicBezTo>
                <a:lnTo>
                  <a:pt x="2733675" y="1409700"/>
                </a:lnTo>
                <a:cubicBezTo>
                  <a:pt x="2733675" y="1472784"/>
                  <a:pt x="2682459" y="1524000"/>
                  <a:pt x="2619375" y="1524000"/>
                </a:cubicBezTo>
                <a:lnTo>
                  <a:pt x="114300" y="1524000"/>
                </a:lnTo>
                <a:cubicBezTo>
                  <a:pt x="51216" y="1524000"/>
                  <a:pt x="0" y="1472784"/>
                  <a:pt x="0" y="14097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4A6D8C">
              <a:alpha val="10196"/>
            </a:srgbClr>
          </a:solidFill>
          <a:ln w="12700">
            <a:solidFill>
              <a:srgbClr val="4A6D8C">
                <a:alpha val="30196"/>
              </a:srgbClr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6334125" y="4012406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76200" y="0"/>
                </a:moveTo>
                <a:lnTo>
                  <a:pt x="304800" y="0"/>
                </a:lnTo>
                <a:cubicBezTo>
                  <a:pt x="346856" y="0"/>
                  <a:pt x="381000" y="34144"/>
                  <a:pt x="381000" y="76200"/>
                </a:cubicBezTo>
                <a:lnTo>
                  <a:pt x="381000" y="304800"/>
                </a:lnTo>
                <a:cubicBezTo>
                  <a:pt x="381000" y="346856"/>
                  <a:pt x="346856" y="381000"/>
                  <a:pt x="304800" y="381000"/>
                </a:cubicBezTo>
                <a:lnTo>
                  <a:pt x="76200" y="381000"/>
                </a:lnTo>
                <a:cubicBezTo>
                  <a:pt x="34144" y="381000"/>
                  <a:pt x="0" y="346856"/>
                  <a:pt x="0" y="304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C8A265"/>
          </a:solidFill>
          <a:ln/>
        </p:spPr>
      </p:sp>
      <p:sp>
        <p:nvSpPr>
          <p:cNvPr id="63" name="Text 61"/>
          <p:cNvSpPr/>
          <p:nvPr/>
        </p:nvSpPr>
        <p:spPr>
          <a:xfrm>
            <a:off x="6437263" y="4088606"/>
            <a:ext cx="2476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1A1D2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07</a:t>
            </a:r>
            <a:endParaRPr lang="en-US" sz="1600" dirty="0"/>
          </a:p>
        </p:txBody>
      </p:sp>
      <p:sp>
        <p:nvSpPr>
          <p:cNvPr id="64" name="Text 62"/>
          <p:cNvSpPr/>
          <p:nvPr/>
        </p:nvSpPr>
        <p:spPr>
          <a:xfrm>
            <a:off x="6791325" y="4069556"/>
            <a:ext cx="6858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E0E2E6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IA Gen.</a:t>
            </a:r>
            <a:endParaRPr lang="en-US" sz="1600" dirty="0"/>
          </a:p>
        </p:txBody>
      </p:sp>
      <p:sp>
        <p:nvSpPr>
          <p:cNvPr id="65" name="Text 63"/>
          <p:cNvSpPr/>
          <p:nvPr/>
        </p:nvSpPr>
        <p:spPr>
          <a:xfrm>
            <a:off x="6334125" y="4507706"/>
            <a:ext cx="2486025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050" dirty="0">
                <a:solidFill>
                  <a:srgbClr val="788A9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Creación de contenido, diseño, arte, música, programación asistida</a:t>
            </a:r>
            <a:endParaRPr lang="en-US" sz="1600" dirty="0"/>
          </a:p>
        </p:txBody>
      </p:sp>
      <p:sp>
        <p:nvSpPr>
          <p:cNvPr id="66" name="Shape 64"/>
          <p:cNvSpPr/>
          <p:nvPr/>
        </p:nvSpPr>
        <p:spPr>
          <a:xfrm>
            <a:off x="6334125" y="4988719"/>
            <a:ext cx="752475" cy="228600"/>
          </a:xfrm>
          <a:custGeom>
            <a:avLst/>
            <a:gdLst/>
            <a:ahLst/>
            <a:cxnLst/>
            <a:rect l="l" t="t" r="r" b="b"/>
            <a:pathLst>
              <a:path w="752475" h="228600">
                <a:moveTo>
                  <a:pt x="38101" y="0"/>
                </a:moveTo>
                <a:lnTo>
                  <a:pt x="714374" y="0"/>
                </a:lnTo>
                <a:cubicBezTo>
                  <a:pt x="735417" y="0"/>
                  <a:pt x="752475" y="17058"/>
                  <a:pt x="752475" y="38101"/>
                </a:cubicBezTo>
                <a:lnTo>
                  <a:pt x="752475" y="190499"/>
                </a:lnTo>
                <a:cubicBezTo>
                  <a:pt x="752475" y="211542"/>
                  <a:pt x="735417" y="228600"/>
                  <a:pt x="714374" y="228600"/>
                </a:cubicBezTo>
                <a:lnTo>
                  <a:pt x="38101" y="228600"/>
                </a:lnTo>
                <a:cubicBezTo>
                  <a:pt x="17072" y="228600"/>
                  <a:pt x="0" y="211528"/>
                  <a:pt x="0" y="190499"/>
                </a:cubicBezTo>
                <a:lnTo>
                  <a:pt x="0" y="38101"/>
                </a:lnTo>
                <a:cubicBezTo>
                  <a:pt x="0" y="17072"/>
                  <a:pt x="17072" y="0"/>
                  <a:pt x="38101" y="0"/>
                </a:cubicBezTo>
                <a:close/>
              </a:path>
            </a:pathLst>
          </a:custGeom>
          <a:solidFill>
            <a:srgbClr val="4A6D8C">
              <a:alpha val="30196"/>
            </a:srgbClr>
          </a:solidFill>
          <a:ln/>
        </p:spPr>
      </p:sp>
      <p:sp>
        <p:nvSpPr>
          <p:cNvPr id="67" name="Text 65"/>
          <p:cNvSpPr/>
          <p:nvPr/>
        </p:nvSpPr>
        <p:spPr>
          <a:xfrm>
            <a:off x="6334125" y="4988719"/>
            <a:ext cx="809625" cy="228600"/>
          </a:xfrm>
          <a:prstGeom prst="rect">
            <a:avLst/>
          </a:prstGeom>
          <a:noFill/>
          <a:ln/>
        </p:spPr>
        <p:txBody>
          <a:bodyPr wrap="square" lIns="76200" tIns="38100" rIns="76200" bIns="3810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E0E2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Creatividad</a:t>
            </a:r>
            <a:endParaRPr lang="en-US" sz="1600" dirty="0"/>
          </a:p>
        </p:txBody>
      </p:sp>
      <p:sp>
        <p:nvSpPr>
          <p:cNvPr id="68" name="Shape 66"/>
          <p:cNvSpPr/>
          <p:nvPr/>
        </p:nvSpPr>
        <p:spPr>
          <a:xfrm>
            <a:off x="7122319" y="4988719"/>
            <a:ext cx="676275" cy="228600"/>
          </a:xfrm>
          <a:custGeom>
            <a:avLst/>
            <a:gdLst/>
            <a:ahLst/>
            <a:cxnLst/>
            <a:rect l="l" t="t" r="r" b="b"/>
            <a:pathLst>
              <a:path w="676275" h="228600">
                <a:moveTo>
                  <a:pt x="38101" y="0"/>
                </a:moveTo>
                <a:lnTo>
                  <a:pt x="638174" y="0"/>
                </a:lnTo>
                <a:cubicBezTo>
                  <a:pt x="659217" y="0"/>
                  <a:pt x="676275" y="17058"/>
                  <a:pt x="676275" y="38101"/>
                </a:cubicBezTo>
                <a:lnTo>
                  <a:pt x="676275" y="190499"/>
                </a:lnTo>
                <a:cubicBezTo>
                  <a:pt x="676275" y="211542"/>
                  <a:pt x="659217" y="228600"/>
                  <a:pt x="638174" y="228600"/>
                </a:cubicBezTo>
                <a:lnTo>
                  <a:pt x="38101" y="228600"/>
                </a:lnTo>
                <a:cubicBezTo>
                  <a:pt x="17072" y="228600"/>
                  <a:pt x="0" y="211528"/>
                  <a:pt x="0" y="190499"/>
                </a:cubicBezTo>
                <a:lnTo>
                  <a:pt x="0" y="38101"/>
                </a:lnTo>
                <a:cubicBezTo>
                  <a:pt x="0" y="17072"/>
                  <a:pt x="17072" y="0"/>
                  <a:pt x="38101" y="0"/>
                </a:cubicBezTo>
                <a:close/>
              </a:path>
            </a:pathLst>
          </a:custGeom>
          <a:solidFill>
            <a:srgbClr val="4A6D8C">
              <a:alpha val="30196"/>
            </a:srgbClr>
          </a:solidFill>
          <a:ln/>
        </p:spPr>
      </p:sp>
      <p:sp>
        <p:nvSpPr>
          <p:cNvPr id="69" name="Text 67"/>
          <p:cNvSpPr/>
          <p:nvPr/>
        </p:nvSpPr>
        <p:spPr>
          <a:xfrm>
            <a:off x="7122319" y="4988719"/>
            <a:ext cx="733425" cy="228600"/>
          </a:xfrm>
          <a:prstGeom prst="rect">
            <a:avLst/>
          </a:prstGeom>
          <a:noFill/>
          <a:ln/>
        </p:spPr>
        <p:txBody>
          <a:bodyPr wrap="square" lIns="76200" tIns="38100" rIns="76200" bIns="3810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E0E2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Marketing</a:t>
            </a:r>
            <a:endParaRPr lang="en-US" sz="1600" dirty="0"/>
          </a:p>
        </p:txBody>
      </p:sp>
      <p:sp>
        <p:nvSpPr>
          <p:cNvPr id="70" name="Shape 68"/>
          <p:cNvSpPr/>
          <p:nvPr/>
        </p:nvSpPr>
        <p:spPr>
          <a:xfrm>
            <a:off x="9072563" y="3855244"/>
            <a:ext cx="2733675" cy="1524000"/>
          </a:xfrm>
          <a:custGeom>
            <a:avLst/>
            <a:gdLst/>
            <a:ahLst/>
            <a:cxnLst/>
            <a:rect l="l" t="t" r="r" b="b"/>
            <a:pathLst>
              <a:path w="2733675" h="1524000">
                <a:moveTo>
                  <a:pt x="114300" y="0"/>
                </a:moveTo>
                <a:lnTo>
                  <a:pt x="2619375" y="0"/>
                </a:lnTo>
                <a:cubicBezTo>
                  <a:pt x="2682459" y="0"/>
                  <a:pt x="2733675" y="51216"/>
                  <a:pt x="2733675" y="114300"/>
                </a:cubicBezTo>
                <a:lnTo>
                  <a:pt x="2733675" y="1409700"/>
                </a:lnTo>
                <a:cubicBezTo>
                  <a:pt x="2733675" y="1472784"/>
                  <a:pt x="2682459" y="1524000"/>
                  <a:pt x="2619375" y="1524000"/>
                </a:cubicBezTo>
                <a:lnTo>
                  <a:pt x="114300" y="1524000"/>
                </a:lnTo>
                <a:cubicBezTo>
                  <a:pt x="51216" y="1524000"/>
                  <a:pt x="0" y="1472784"/>
                  <a:pt x="0" y="14097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4A6D8C">
              <a:alpha val="10196"/>
            </a:srgbClr>
          </a:solidFill>
          <a:ln w="12700">
            <a:solidFill>
              <a:srgbClr val="4A6D8C">
                <a:alpha val="30196"/>
              </a:srgbClr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9229725" y="4012406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76200" y="0"/>
                </a:moveTo>
                <a:lnTo>
                  <a:pt x="304800" y="0"/>
                </a:lnTo>
                <a:cubicBezTo>
                  <a:pt x="346856" y="0"/>
                  <a:pt x="381000" y="34144"/>
                  <a:pt x="381000" y="76200"/>
                </a:cubicBezTo>
                <a:lnTo>
                  <a:pt x="381000" y="304800"/>
                </a:lnTo>
                <a:cubicBezTo>
                  <a:pt x="381000" y="346856"/>
                  <a:pt x="346856" y="381000"/>
                  <a:pt x="304800" y="381000"/>
                </a:cubicBezTo>
                <a:lnTo>
                  <a:pt x="76200" y="381000"/>
                </a:lnTo>
                <a:cubicBezTo>
                  <a:pt x="34144" y="381000"/>
                  <a:pt x="0" y="346856"/>
                  <a:pt x="0" y="304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C8A265"/>
          </a:solidFill>
          <a:ln/>
        </p:spPr>
      </p:sp>
      <p:sp>
        <p:nvSpPr>
          <p:cNvPr id="72" name="Text 70"/>
          <p:cNvSpPr/>
          <p:nvPr/>
        </p:nvSpPr>
        <p:spPr>
          <a:xfrm>
            <a:off x="9324975" y="4088606"/>
            <a:ext cx="2667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1A1D2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08</a:t>
            </a:r>
            <a:endParaRPr lang="en-US" sz="1600" dirty="0"/>
          </a:p>
        </p:txBody>
      </p:sp>
      <p:sp>
        <p:nvSpPr>
          <p:cNvPr id="73" name="Text 71"/>
          <p:cNvSpPr/>
          <p:nvPr/>
        </p:nvSpPr>
        <p:spPr>
          <a:xfrm>
            <a:off x="9686925" y="4069556"/>
            <a:ext cx="3810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E0E2E6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XAI</a:t>
            </a:r>
            <a:endParaRPr lang="en-US" sz="1600" dirty="0"/>
          </a:p>
        </p:txBody>
      </p:sp>
      <p:sp>
        <p:nvSpPr>
          <p:cNvPr id="74" name="Text 72"/>
          <p:cNvSpPr/>
          <p:nvPr/>
        </p:nvSpPr>
        <p:spPr>
          <a:xfrm>
            <a:off x="9229725" y="4507706"/>
            <a:ext cx="2486025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050" dirty="0">
                <a:solidFill>
                  <a:srgbClr val="788A9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Transparencia en decisiones críticas, cumplimiento regulatorio, ética</a:t>
            </a:r>
            <a:endParaRPr lang="en-US" sz="1600" dirty="0"/>
          </a:p>
        </p:txBody>
      </p:sp>
      <p:sp>
        <p:nvSpPr>
          <p:cNvPr id="75" name="Shape 73"/>
          <p:cNvSpPr/>
          <p:nvPr/>
        </p:nvSpPr>
        <p:spPr>
          <a:xfrm>
            <a:off x="9229725" y="4988719"/>
            <a:ext cx="438150" cy="228600"/>
          </a:xfrm>
          <a:custGeom>
            <a:avLst/>
            <a:gdLst/>
            <a:ahLst/>
            <a:cxnLst/>
            <a:rect l="l" t="t" r="r" b="b"/>
            <a:pathLst>
              <a:path w="438150" h="228600">
                <a:moveTo>
                  <a:pt x="38101" y="0"/>
                </a:moveTo>
                <a:lnTo>
                  <a:pt x="400049" y="0"/>
                </a:lnTo>
                <a:cubicBezTo>
                  <a:pt x="421092" y="0"/>
                  <a:pt x="438150" y="17058"/>
                  <a:pt x="438150" y="38101"/>
                </a:cubicBezTo>
                <a:lnTo>
                  <a:pt x="438150" y="190499"/>
                </a:lnTo>
                <a:cubicBezTo>
                  <a:pt x="438150" y="211542"/>
                  <a:pt x="421092" y="228600"/>
                  <a:pt x="400049" y="228600"/>
                </a:cubicBezTo>
                <a:lnTo>
                  <a:pt x="38101" y="228600"/>
                </a:lnTo>
                <a:cubicBezTo>
                  <a:pt x="17072" y="228600"/>
                  <a:pt x="0" y="211528"/>
                  <a:pt x="0" y="190499"/>
                </a:cubicBezTo>
                <a:lnTo>
                  <a:pt x="0" y="38101"/>
                </a:lnTo>
                <a:cubicBezTo>
                  <a:pt x="0" y="17072"/>
                  <a:pt x="17072" y="0"/>
                  <a:pt x="38101" y="0"/>
                </a:cubicBezTo>
                <a:close/>
              </a:path>
            </a:pathLst>
          </a:custGeom>
          <a:solidFill>
            <a:srgbClr val="4A6D8C">
              <a:alpha val="30196"/>
            </a:srgbClr>
          </a:solidFill>
          <a:ln/>
        </p:spPr>
      </p:sp>
      <p:sp>
        <p:nvSpPr>
          <p:cNvPr id="76" name="Text 74"/>
          <p:cNvSpPr/>
          <p:nvPr/>
        </p:nvSpPr>
        <p:spPr>
          <a:xfrm>
            <a:off x="9229725" y="4988719"/>
            <a:ext cx="495300" cy="228600"/>
          </a:xfrm>
          <a:prstGeom prst="rect">
            <a:avLst/>
          </a:prstGeom>
          <a:noFill/>
          <a:ln/>
        </p:spPr>
        <p:txBody>
          <a:bodyPr wrap="square" lIns="76200" tIns="38100" rIns="76200" bIns="3810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E0E2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Legal</a:t>
            </a:r>
            <a:endParaRPr lang="en-US" sz="1600" dirty="0"/>
          </a:p>
        </p:txBody>
      </p:sp>
      <p:sp>
        <p:nvSpPr>
          <p:cNvPr id="77" name="Shape 75"/>
          <p:cNvSpPr/>
          <p:nvPr/>
        </p:nvSpPr>
        <p:spPr>
          <a:xfrm>
            <a:off x="9705529" y="4988719"/>
            <a:ext cx="476250" cy="228600"/>
          </a:xfrm>
          <a:custGeom>
            <a:avLst/>
            <a:gdLst/>
            <a:ahLst/>
            <a:cxnLst/>
            <a:rect l="l" t="t" r="r" b="b"/>
            <a:pathLst>
              <a:path w="476250" h="228600">
                <a:moveTo>
                  <a:pt x="38101" y="0"/>
                </a:moveTo>
                <a:lnTo>
                  <a:pt x="438149" y="0"/>
                </a:lnTo>
                <a:cubicBezTo>
                  <a:pt x="459192" y="0"/>
                  <a:pt x="476250" y="17058"/>
                  <a:pt x="476250" y="38101"/>
                </a:cubicBezTo>
                <a:lnTo>
                  <a:pt x="476250" y="190499"/>
                </a:lnTo>
                <a:cubicBezTo>
                  <a:pt x="476250" y="211542"/>
                  <a:pt x="459192" y="228600"/>
                  <a:pt x="438149" y="228600"/>
                </a:cubicBezTo>
                <a:lnTo>
                  <a:pt x="38101" y="228600"/>
                </a:lnTo>
                <a:cubicBezTo>
                  <a:pt x="17072" y="228600"/>
                  <a:pt x="0" y="211528"/>
                  <a:pt x="0" y="190499"/>
                </a:cubicBezTo>
                <a:lnTo>
                  <a:pt x="0" y="38101"/>
                </a:lnTo>
                <a:cubicBezTo>
                  <a:pt x="0" y="17072"/>
                  <a:pt x="17072" y="0"/>
                  <a:pt x="38101" y="0"/>
                </a:cubicBezTo>
                <a:close/>
              </a:path>
            </a:pathLst>
          </a:custGeom>
          <a:solidFill>
            <a:srgbClr val="4A6D8C">
              <a:alpha val="30196"/>
            </a:srgbClr>
          </a:solidFill>
          <a:ln/>
        </p:spPr>
      </p:sp>
      <p:sp>
        <p:nvSpPr>
          <p:cNvPr id="78" name="Text 76"/>
          <p:cNvSpPr/>
          <p:nvPr/>
        </p:nvSpPr>
        <p:spPr>
          <a:xfrm>
            <a:off x="9705529" y="4988719"/>
            <a:ext cx="533400" cy="228600"/>
          </a:xfrm>
          <a:prstGeom prst="rect">
            <a:avLst/>
          </a:prstGeom>
          <a:noFill/>
          <a:ln/>
        </p:spPr>
        <p:txBody>
          <a:bodyPr wrap="square" lIns="76200" tIns="38100" rIns="76200" bIns="3810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E0E2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Banca</a:t>
            </a:r>
            <a:endParaRPr lang="en-US" sz="1600" dirty="0"/>
          </a:p>
        </p:txBody>
      </p:sp>
      <p:sp>
        <p:nvSpPr>
          <p:cNvPr id="79" name="Shape 77"/>
          <p:cNvSpPr/>
          <p:nvPr/>
        </p:nvSpPr>
        <p:spPr>
          <a:xfrm>
            <a:off x="385763" y="5536406"/>
            <a:ext cx="3695700" cy="1152525"/>
          </a:xfrm>
          <a:custGeom>
            <a:avLst/>
            <a:gdLst/>
            <a:ahLst/>
            <a:cxnLst/>
            <a:rect l="l" t="t" r="r" b="b"/>
            <a:pathLst>
              <a:path w="3695700" h="1152525">
                <a:moveTo>
                  <a:pt x="76205" y="0"/>
                </a:moveTo>
                <a:lnTo>
                  <a:pt x="3619495" y="0"/>
                </a:lnTo>
                <a:cubicBezTo>
                  <a:pt x="3661582" y="0"/>
                  <a:pt x="3695700" y="34118"/>
                  <a:pt x="3695700" y="76205"/>
                </a:cubicBezTo>
                <a:lnTo>
                  <a:pt x="3695700" y="1076320"/>
                </a:lnTo>
                <a:cubicBezTo>
                  <a:pt x="3695700" y="1118407"/>
                  <a:pt x="3661582" y="1152525"/>
                  <a:pt x="3619495" y="1152525"/>
                </a:cubicBezTo>
                <a:lnTo>
                  <a:pt x="76205" y="1152525"/>
                </a:lnTo>
                <a:cubicBezTo>
                  <a:pt x="34118" y="1152525"/>
                  <a:pt x="0" y="1118407"/>
                  <a:pt x="0" y="1076320"/>
                </a:cubicBezTo>
                <a:lnTo>
                  <a:pt x="0" y="76205"/>
                </a:lnTo>
                <a:cubicBezTo>
                  <a:pt x="0" y="34146"/>
                  <a:pt x="34146" y="0"/>
                  <a:pt x="76205" y="0"/>
                </a:cubicBezTo>
                <a:close/>
              </a:path>
            </a:pathLst>
          </a:custGeom>
          <a:solidFill>
            <a:srgbClr val="C8A265">
              <a:alpha val="10196"/>
            </a:srgbClr>
          </a:solidFill>
          <a:ln w="12700">
            <a:solidFill>
              <a:srgbClr val="C8A265">
                <a:alpha val="30196"/>
              </a:srgbClr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471488" y="5693569"/>
            <a:ext cx="352425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250" b="1" dirty="0">
                <a:solidFill>
                  <a:srgbClr val="C8A26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$15.7T</a:t>
            </a:r>
            <a:endParaRPr lang="en-US" sz="1600" dirty="0"/>
          </a:p>
        </p:txBody>
      </p:sp>
      <p:sp>
        <p:nvSpPr>
          <p:cNvPr id="81" name="Text 79"/>
          <p:cNvSpPr/>
          <p:nvPr/>
        </p:nvSpPr>
        <p:spPr>
          <a:xfrm>
            <a:off x="504825" y="6074569"/>
            <a:ext cx="345757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dirty="0">
                <a:solidFill>
                  <a:srgbClr val="E0E2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Contribución económica esperada de IA para 2030</a:t>
            </a:r>
            <a:endParaRPr lang="en-US" sz="1600" dirty="0"/>
          </a:p>
        </p:txBody>
      </p:sp>
      <p:sp>
        <p:nvSpPr>
          <p:cNvPr id="82" name="Shape 80"/>
          <p:cNvSpPr/>
          <p:nvPr/>
        </p:nvSpPr>
        <p:spPr>
          <a:xfrm>
            <a:off x="4246513" y="5536406"/>
            <a:ext cx="3695700" cy="1152525"/>
          </a:xfrm>
          <a:custGeom>
            <a:avLst/>
            <a:gdLst/>
            <a:ahLst/>
            <a:cxnLst/>
            <a:rect l="l" t="t" r="r" b="b"/>
            <a:pathLst>
              <a:path w="3695700" h="1152525">
                <a:moveTo>
                  <a:pt x="76205" y="0"/>
                </a:moveTo>
                <a:lnTo>
                  <a:pt x="3619495" y="0"/>
                </a:lnTo>
                <a:cubicBezTo>
                  <a:pt x="3661582" y="0"/>
                  <a:pt x="3695700" y="34118"/>
                  <a:pt x="3695700" y="76205"/>
                </a:cubicBezTo>
                <a:lnTo>
                  <a:pt x="3695700" y="1076320"/>
                </a:lnTo>
                <a:cubicBezTo>
                  <a:pt x="3695700" y="1118407"/>
                  <a:pt x="3661582" y="1152525"/>
                  <a:pt x="3619495" y="1152525"/>
                </a:cubicBezTo>
                <a:lnTo>
                  <a:pt x="76205" y="1152525"/>
                </a:lnTo>
                <a:cubicBezTo>
                  <a:pt x="34118" y="1152525"/>
                  <a:pt x="0" y="1118407"/>
                  <a:pt x="0" y="1076320"/>
                </a:cubicBezTo>
                <a:lnTo>
                  <a:pt x="0" y="76205"/>
                </a:lnTo>
                <a:cubicBezTo>
                  <a:pt x="0" y="34146"/>
                  <a:pt x="34146" y="0"/>
                  <a:pt x="76205" y="0"/>
                </a:cubicBezTo>
                <a:close/>
              </a:path>
            </a:pathLst>
          </a:custGeom>
          <a:solidFill>
            <a:srgbClr val="C8A265">
              <a:alpha val="10196"/>
            </a:srgbClr>
          </a:solidFill>
          <a:ln w="12700">
            <a:solidFill>
              <a:srgbClr val="C8A265">
                <a:alpha val="30196"/>
              </a:srgbClr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4332238" y="5693569"/>
            <a:ext cx="352425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250" b="1" dirty="0">
                <a:solidFill>
                  <a:srgbClr val="C8A26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97M</a:t>
            </a:r>
            <a:endParaRPr lang="en-US" sz="1600" dirty="0"/>
          </a:p>
        </p:txBody>
      </p:sp>
      <p:sp>
        <p:nvSpPr>
          <p:cNvPr id="84" name="Text 82"/>
          <p:cNvSpPr/>
          <p:nvPr/>
        </p:nvSpPr>
        <p:spPr>
          <a:xfrm>
            <a:off x="4365575" y="6074569"/>
            <a:ext cx="34575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dirty="0">
                <a:solidFill>
                  <a:srgbClr val="E0E2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Nuevos empleos relacionados con IA para 2025</a:t>
            </a:r>
            <a:endParaRPr lang="en-US" sz="1600" dirty="0"/>
          </a:p>
        </p:txBody>
      </p:sp>
      <p:sp>
        <p:nvSpPr>
          <p:cNvPr id="85" name="Shape 83"/>
          <p:cNvSpPr/>
          <p:nvPr/>
        </p:nvSpPr>
        <p:spPr>
          <a:xfrm>
            <a:off x="8107263" y="5536406"/>
            <a:ext cx="3695700" cy="1152525"/>
          </a:xfrm>
          <a:custGeom>
            <a:avLst/>
            <a:gdLst/>
            <a:ahLst/>
            <a:cxnLst/>
            <a:rect l="l" t="t" r="r" b="b"/>
            <a:pathLst>
              <a:path w="3695700" h="1152525">
                <a:moveTo>
                  <a:pt x="76205" y="0"/>
                </a:moveTo>
                <a:lnTo>
                  <a:pt x="3619495" y="0"/>
                </a:lnTo>
                <a:cubicBezTo>
                  <a:pt x="3661582" y="0"/>
                  <a:pt x="3695700" y="34118"/>
                  <a:pt x="3695700" y="76205"/>
                </a:cubicBezTo>
                <a:lnTo>
                  <a:pt x="3695700" y="1076320"/>
                </a:lnTo>
                <a:cubicBezTo>
                  <a:pt x="3695700" y="1118407"/>
                  <a:pt x="3661582" y="1152525"/>
                  <a:pt x="3619495" y="1152525"/>
                </a:cubicBezTo>
                <a:lnTo>
                  <a:pt x="76205" y="1152525"/>
                </a:lnTo>
                <a:cubicBezTo>
                  <a:pt x="34118" y="1152525"/>
                  <a:pt x="0" y="1118407"/>
                  <a:pt x="0" y="1076320"/>
                </a:cubicBezTo>
                <a:lnTo>
                  <a:pt x="0" y="76205"/>
                </a:lnTo>
                <a:cubicBezTo>
                  <a:pt x="0" y="34146"/>
                  <a:pt x="34146" y="0"/>
                  <a:pt x="76205" y="0"/>
                </a:cubicBezTo>
                <a:close/>
              </a:path>
            </a:pathLst>
          </a:custGeom>
          <a:solidFill>
            <a:srgbClr val="C8A265">
              <a:alpha val="10196"/>
            </a:srgbClr>
          </a:solidFill>
          <a:ln w="12700">
            <a:solidFill>
              <a:srgbClr val="C8A265">
                <a:alpha val="30196"/>
              </a:srgbClr>
            </a:solidFill>
            <a:prstDash val="solid"/>
          </a:ln>
        </p:spPr>
      </p:sp>
      <p:sp>
        <p:nvSpPr>
          <p:cNvPr id="86" name="Text 84"/>
          <p:cNvSpPr/>
          <p:nvPr/>
        </p:nvSpPr>
        <p:spPr>
          <a:xfrm>
            <a:off x="8192988" y="5693569"/>
            <a:ext cx="352425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250" b="1" dirty="0">
                <a:solidFill>
                  <a:srgbClr val="C8A26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37%</a:t>
            </a:r>
            <a:endParaRPr lang="en-US" sz="1600" dirty="0"/>
          </a:p>
        </p:txBody>
      </p:sp>
      <p:sp>
        <p:nvSpPr>
          <p:cNvPr id="87" name="Text 85"/>
          <p:cNvSpPr/>
          <p:nvPr/>
        </p:nvSpPr>
        <p:spPr>
          <a:xfrm>
            <a:off x="8226326" y="6074569"/>
            <a:ext cx="34575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dirty="0">
                <a:solidFill>
                  <a:srgbClr val="E0E2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Tasa de crecimiento anual del mercado de IA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A1D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www.shutterstock.com/cb0884a48c00abf32a2b673e014b14491e4380e4.jpg">    </p:cNvPr>
          <p:cNvPicPr>
            <a:picLocks noChangeAspect="1"/>
          </p:cNvPicPr>
          <p:nvPr/>
        </p:nvPicPr>
        <p:blipFill>
          <a:blip r:embed="rId1">
            <a:alphaModFix amt="30000"/>
          </a:blip>
          <a:srcRect l="2137" r="2137" t="0" b="0"/>
          <a:stretch/>
        </p:blipFill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 rotWithShape="1" flip="none">
            <a:gsLst>
              <a:gs pos="0">
                <a:srgbClr val="1A1D23">
                  <a:alpha val="95000"/>
                </a:srgbClr>
              </a:gs>
              <a:gs pos="50000">
                <a:srgbClr val="1A1D23">
                  <a:alpha val="90000"/>
                </a:srgbClr>
              </a:gs>
              <a:gs pos="100000">
                <a:srgbClr val="4A6D8C">
                  <a:alpha val="50000"/>
                </a:srgbClr>
              </a:gs>
            </a:gsLst>
            <a:lin ang="2700000" scaled="1"/>
          </a:gradFill>
          <a:ln/>
        </p:spPr>
      </p:sp>
      <p:sp>
        <p:nvSpPr>
          <p:cNvPr id="4" name="Shape 1"/>
          <p:cNvSpPr/>
          <p:nvPr/>
        </p:nvSpPr>
        <p:spPr>
          <a:xfrm>
            <a:off x="4873578" y="-192741"/>
            <a:ext cx="2447365" cy="403412"/>
          </a:xfrm>
          <a:custGeom>
            <a:avLst/>
            <a:gdLst/>
            <a:ahLst/>
            <a:cxnLst/>
            <a:rect l="l" t="t" r="r" b="b"/>
            <a:pathLst>
              <a:path w="2447365" h="403412">
                <a:moveTo>
                  <a:pt x="201706" y="0"/>
                </a:moveTo>
                <a:lnTo>
                  <a:pt x="2245659" y="0"/>
                </a:lnTo>
                <a:cubicBezTo>
                  <a:pt x="2357058" y="0"/>
                  <a:pt x="2447365" y="90307"/>
                  <a:pt x="2447365" y="201706"/>
                </a:cubicBezTo>
                <a:lnTo>
                  <a:pt x="2447365" y="201706"/>
                </a:lnTo>
                <a:cubicBezTo>
                  <a:pt x="2447365" y="313105"/>
                  <a:pt x="2357058" y="403412"/>
                  <a:pt x="2245659" y="403412"/>
                </a:cubicBezTo>
                <a:lnTo>
                  <a:pt x="201706" y="403412"/>
                </a:lnTo>
                <a:cubicBezTo>
                  <a:pt x="90307" y="403412"/>
                  <a:pt x="0" y="313105"/>
                  <a:pt x="0" y="201706"/>
                </a:cubicBezTo>
                <a:lnTo>
                  <a:pt x="0" y="201706"/>
                </a:lnTo>
                <a:cubicBezTo>
                  <a:pt x="0" y="90307"/>
                  <a:pt x="90307" y="0"/>
                  <a:pt x="201706" y="0"/>
                </a:cubicBezTo>
                <a:close/>
              </a:path>
            </a:pathLst>
          </a:custGeom>
          <a:solidFill>
            <a:srgbClr val="C8A265">
              <a:alpha val="20000"/>
            </a:srgbClr>
          </a:solidFill>
          <a:ln w="12700">
            <a:solidFill>
              <a:srgbClr val="C8A265">
                <a:alpha val="50196"/>
              </a:srgbClr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5052872" y="-98612"/>
            <a:ext cx="2086255" cy="2151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71" b="1" spc="127" kern="0" dirty="0">
                <a:solidFill>
                  <a:srgbClr val="C8A26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EL FUTURO ES AHORA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1918447" y="430306"/>
            <a:ext cx="8355106" cy="16136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5082" b="1" dirty="0">
                <a:solidFill>
                  <a:srgbClr val="E0E2E6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El Futuro de la</a:t>
            </a:r>
            <a:endParaRPr lang="en-US" sz="1600" dirty="0"/>
          </a:p>
          <a:p>
            <a:pPr algn="ctr">
              <a:lnSpc>
                <a:spcPct val="100000"/>
              </a:lnSpc>
            </a:pPr>
            <a:r>
              <a:rPr lang="en-US" sz="5082" b="1" dirty="0">
                <a:solidFill>
                  <a:srgbClr val="E0E2E6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Inteligencia Artificial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5522259" y="2259106"/>
            <a:ext cx="1147482" cy="35859"/>
          </a:xfrm>
          <a:custGeom>
            <a:avLst/>
            <a:gdLst/>
            <a:ahLst/>
            <a:cxnLst/>
            <a:rect l="l" t="t" r="r" b="b"/>
            <a:pathLst>
              <a:path w="1147482" h="35859">
                <a:moveTo>
                  <a:pt x="0" y="0"/>
                </a:moveTo>
                <a:lnTo>
                  <a:pt x="1147482" y="0"/>
                </a:lnTo>
                <a:lnTo>
                  <a:pt x="1147482" y="35859"/>
                </a:lnTo>
                <a:lnTo>
                  <a:pt x="0" y="35859"/>
                </a:lnTo>
                <a:lnTo>
                  <a:pt x="0" y="0"/>
                </a:lnTo>
                <a:close/>
              </a:path>
            </a:pathLst>
          </a:custGeom>
          <a:solidFill>
            <a:srgbClr val="C8A265"/>
          </a:solidFill>
          <a:ln/>
        </p:spPr>
      </p:sp>
      <p:sp>
        <p:nvSpPr>
          <p:cNvPr id="8" name="Text 5"/>
          <p:cNvSpPr/>
          <p:nvPr/>
        </p:nvSpPr>
        <p:spPr>
          <a:xfrm>
            <a:off x="2026024" y="2581835"/>
            <a:ext cx="8139953" cy="104887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1694" dirty="0">
                <a:solidFill>
                  <a:srgbClr val="788A9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La IA continúa evolucionando rápidamente, integrando estas ramas para crear </a:t>
            </a:r>
            <a:pPr algn="ctr">
              <a:lnSpc>
                <a:spcPct val="140000"/>
              </a:lnSpc>
            </a:pPr>
            <a:r>
              <a:rPr lang="en-US" sz="1694" b="1" dirty="0">
                <a:solidFill>
                  <a:srgbClr val="C8A26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sistemas más potentes, éticos y accesibles</a:t>
            </a:r>
            <a:pPr algn="ctr">
              <a:lnSpc>
                <a:spcPct val="140000"/>
              </a:lnSpc>
            </a:pPr>
            <a:r>
              <a:rPr lang="en-US" sz="1694" dirty="0">
                <a:solidFill>
                  <a:srgbClr val="788A9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que transformarán cada aspecto de nuestra sociedad.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1510553" y="4352365"/>
            <a:ext cx="2859741" cy="1694329"/>
          </a:xfrm>
          <a:custGeom>
            <a:avLst/>
            <a:gdLst/>
            <a:ahLst/>
            <a:cxnLst/>
            <a:rect l="l" t="t" r="r" b="b"/>
            <a:pathLst>
              <a:path w="2859741" h="1694329">
                <a:moveTo>
                  <a:pt x="107573" y="0"/>
                </a:moveTo>
                <a:lnTo>
                  <a:pt x="2752168" y="0"/>
                </a:lnTo>
                <a:cubicBezTo>
                  <a:pt x="2811579" y="0"/>
                  <a:pt x="2859741" y="48162"/>
                  <a:pt x="2859741" y="107573"/>
                </a:cubicBezTo>
                <a:lnTo>
                  <a:pt x="2859741" y="1586756"/>
                </a:lnTo>
                <a:cubicBezTo>
                  <a:pt x="2859741" y="1646167"/>
                  <a:pt x="2811579" y="1694329"/>
                  <a:pt x="2752168" y="1694329"/>
                </a:cubicBezTo>
                <a:lnTo>
                  <a:pt x="107573" y="1694329"/>
                </a:lnTo>
                <a:cubicBezTo>
                  <a:pt x="48162" y="1694329"/>
                  <a:pt x="0" y="1646167"/>
                  <a:pt x="0" y="1586756"/>
                </a:cubicBezTo>
                <a:lnTo>
                  <a:pt x="0" y="107573"/>
                </a:lnTo>
                <a:cubicBezTo>
                  <a:pt x="0" y="48202"/>
                  <a:pt x="48202" y="0"/>
                  <a:pt x="107573" y="0"/>
                </a:cubicBezTo>
                <a:close/>
              </a:path>
            </a:pathLst>
          </a:custGeom>
          <a:solidFill>
            <a:srgbClr val="4A6D8C">
              <a:alpha val="20000"/>
            </a:srgbClr>
          </a:solidFill>
          <a:ln w="12700">
            <a:solidFill>
              <a:srgbClr val="4A6D8C">
                <a:alpha val="40000"/>
              </a:srgbClr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2779059" y="4572000"/>
            <a:ext cx="322729" cy="322729"/>
          </a:xfrm>
          <a:custGeom>
            <a:avLst/>
            <a:gdLst/>
            <a:ahLst/>
            <a:cxnLst/>
            <a:rect l="l" t="t" r="r" b="b"/>
            <a:pathLst>
              <a:path w="322729" h="322729">
                <a:moveTo>
                  <a:pt x="80682" y="201706"/>
                </a:moveTo>
                <a:lnTo>
                  <a:pt x="15443" y="201706"/>
                </a:lnTo>
                <a:cubicBezTo>
                  <a:pt x="-252" y="201706"/>
                  <a:pt x="-9896" y="184624"/>
                  <a:pt x="-1828" y="171135"/>
                </a:cubicBezTo>
                <a:lnTo>
                  <a:pt x="31517" y="115540"/>
                </a:lnTo>
                <a:cubicBezTo>
                  <a:pt x="37000" y="106400"/>
                  <a:pt x="46834" y="100853"/>
                  <a:pt x="57486" y="100853"/>
                </a:cubicBezTo>
                <a:lnTo>
                  <a:pt x="117368" y="100853"/>
                </a:lnTo>
                <a:cubicBezTo>
                  <a:pt x="165336" y="19603"/>
                  <a:pt x="236878" y="15506"/>
                  <a:pt x="284720" y="22503"/>
                </a:cubicBezTo>
                <a:cubicBezTo>
                  <a:pt x="292789" y="23700"/>
                  <a:pt x="299092" y="30004"/>
                  <a:pt x="300227" y="38009"/>
                </a:cubicBezTo>
                <a:cubicBezTo>
                  <a:pt x="307223" y="85851"/>
                  <a:pt x="303126" y="157394"/>
                  <a:pt x="221876" y="205362"/>
                </a:cubicBezTo>
                <a:lnTo>
                  <a:pt x="221876" y="265243"/>
                </a:lnTo>
                <a:cubicBezTo>
                  <a:pt x="221876" y="275896"/>
                  <a:pt x="216330" y="285729"/>
                  <a:pt x="207190" y="291213"/>
                </a:cubicBezTo>
                <a:lnTo>
                  <a:pt x="151595" y="324557"/>
                </a:lnTo>
                <a:cubicBezTo>
                  <a:pt x="138169" y="332626"/>
                  <a:pt x="121024" y="322919"/>
                  <a:pt x="121024" y="307286"/>
                </a:cubicBezTo>
                <a:lnTo>
                  <a:pt x="121024" y="242047"/>
                </a:lnTo>
                <a:cubicBezTo>
                  <a:pt x="121024" y="219796"/>
                  <a:pt x="102933" y="201706"/>
                  <a:pt x="80682" y="201706"/>
                </a:cubicBezTo>
                <a:lnTo>
                  <a:pt x="80619" y="201706"/>
                </a:lnTo>
                <a:close/>
                <a:moveTo>
                  <a:pt x="252132" y="100853"/>
                </a:moveTo>
                <a:cubicBezTo>
                  <a:pt x="252132" y="84154"/>
                  <a:pt x="238575" y="70597"/>
                  <a:pt x="221876" y="70597"/>
                </a:cubicBezTo>
                <a:cubicBezTo>
                  <a:pt x="205178" y="70597"/>
                  <a:pt x="191621" y="84154"/>
                  <a:pt x="191621" y="100853"/>
                </a:cubicBezTo>
                <a:cubicBezTo>
                  <a:pt x="191621" y="117552"/>
                  <a:pt x="205178" y="131109"/>
                  <a:pt x="221876" y="131109"/>
                </a:cubicBezTo>
                <a:cubicBezTo>
                  <a:pt x="238575" y="131109"/>
                  <a:pt x="252132" y="117552"/>
                  <a:pt x="252132" y="100853"/>
                </a:cubicBezTo>
                <a:close/>
              </a:path>
            </a:pathLst>
          </a:custGeom>
          <a:solidFill>
            <a:srgbClr val="C8A265"/>
          </a:solidFill>
          <a:ln/>
        </p:spPr>
      </p:sp>
      <p:sp>
        <p:nvSpPr>
          <p:cNvPr id="11" name="Text 8"/>
          <p:cNvSpPr/>
          <p:nvPr/>
        </p:nvSpPr>
        <p:spPr>
          <a:xfrm>
            <a:off x="1676400" y="5038165"/>
            <a:ext cx="2528047" cy="28687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694" b="1" dirty="0">
                <a:solidFill>
                  <a:srgbClr val="E0E2E6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Innovación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1694329" y="5396753"/>
            <a:ext cx="2492188" cy="4303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129" dirty="0">
                <a:solidFill>
                  <a:srgbClr val="788A9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Avances constantes en algoritmos y arquitecturas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4666129" y="4352365"/>
            <a:ext cx="2859741" cy="1694329"/>
          </a:xfrm>
          <a:custGeom>
            <a:avLst/>
            <a:gdLst/>
            <a:ahLst/>
            <a:cxnLst/>
            <a:rect l="l" t="t" r="r" b="b"/>
            <a:pathLst>
              <a:path w="2859741" h="1694329">
                <a:moveTo>
                  <a:pt x="107573" y="0"/>
                </a:moveTo>
                <a:lnTo>
                  <a:pt x="2752168" y="0"/>
                </a:lnTo>
                <a:cubicBezTo>
                  <a:pt x="2811579" y="0"/>
                  <a:pt x="2859741" y="48162"/>
                  <a:pt x="2859741" y="107573"/>
                </a:cubicBezTo>
                <a:lnTo>
                  <a:pt x="2859741" y="1586756"/>
                </a:lnTo>
                <a:cubicBezTo>
                  <a:pt x="2859741" y="1646167"/>
                  <a:pt x="2811579" y="1694329"/>
                  <a:pt x="2752168" y="1694329"/>
                </a:cubicBezTo>
                <a:lnTo>
                  <a:pt x="107573" y="1694329"/>
                </a:lnTo>
                <a:cubicBezTo>
                  <a:pt x="48162" y="1694329"/>
                  <a:pt x="0" y="1646167"/>
                  <a:pt x="0" y="1586756"/>
                </a:cubicBezTo>
                <a:lnTo>
                  <a:pt x="0" y="107573"/>
                </a:lnTo>
                <a:cubicBezTo>
                  <a:pt x="0" y="48202"/>
                  <a:pt x="48202" y="0"/>
                  <a:pt x="107573" y="0"/>
                </a:cubicBezTo>
                <a:close/>
              </a:path>
            </a:pathLst>
          </a:custGeom>
          <a:solidFill>
            <a:srgbClr val="4A6D8C">
              <a:alpha val="20000"/>
            </a:srgbClr>
          </a:solidFill>
          <a:ln w="12700">
            <a:solidFill>
              <a:srgbClr val="4A6D8C">
                <a:alpha val="40000"/>
              </a:srgbClr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5894294" y="4572000"/>
            <a:ext cx="403412" cy="322729"/>
          </a:xfrm>
          <a:custGeom>
            <a:avLst/>
            <a:gdLst/>
            <a:ahLst/>
            <a:cxnLst/>
            <a:rect l="l" t="t" r="r" b="b"/>
            <a:pathLst>
              <a:path w="403412" h="322729">
                <a:moveTo>
                  <a:pt x="201706" y="10085"/>
                </a:moveTo>
                <a:cubicBezTo>
                  <a:pt x="237886" y="10085"/>
                  <a:pt x="267260" y="39459"/>
                  <a:pt x="267260" y="75640"/>
                </a:cubicBezTo>
                <a:cubicBezTo>
                  <a:pt x="267260" y="111820"/>
                  <a:pt x="237886" y="141194"/>
                  <a:pt x="201706" y="141194"/>
                </a:cubicBezTo>
                <a:cubicBezTo>
                  <a:pt x="165525" y="141194"/>
                  <a:pt x="136151" y="111820"/>
                  <a:pt x="136151" y="75640"/>
                </a:cubicBezTo>
                <a:cubicBezTo>
                  <a:pt x="136151" y="39459"/>
                  <a:pt x="165525" y="10085"/>
                  <a:pt x="201706" y="10085"/>
                </a:cubicBezTo>
                <a:close/>
                <a:moveTo>
                  <a:pt x="60512" y="55469"/>
                </a:moveTo>
                <a:cubicBezTo>
                  <a:pt x="85560" y="55469"/>
                  <a:pt x="105896" y="75805"/>
                  <a:pt x="105896" y="100853"/>
                </a:cubicBezTo>
                <a:cubicBezTo>
                  <a:pt x="105896" y="125901"/>
                  <a:pt x="85560" y="146237"/>
                  <a:pt x="60512" y="146237"/>
                </a:cubicBezTo>
                <a:cubicBezTo>
                  <a:pt x="35464" y="146237"/>
                  <a:pt x="15128" y="125901"/>
                  <a:pt x="15128" y="100853"/>
                </a:cubicBezTo>
                <a:cubicBezTo>
                  <a:pt x="15128" y="75805"/>
                  <a:pt x="35464" y="55469"/>
                  <a:pt x="60512" y="55469"/>
                </a:cubicBezTo>
                <a:close/>
                <a:moveTo>
                  <a:pt x="0" y="262218"/>
                </a:moveTo>
                <a:cubicBezTo>
                  <a:pt x="0" y="217653"/>
                  <a:pt x="36118" y="181535"/>
                  <a:pt x="80682" y="181535"/>
                </a:cubicBezTo>
                <a:cubicBezTo>
                  <a:pt x="88751" y="181535"/>
                  <a:pt x="96567" y="182733"/>
                  <a:pt x="103942" y="184939"/>
                </a:cubicBezTo>
                <a:cubicBezTo>
                  <a:pt x="83204" y="208135"/>
                  <a:pt x="70597" y="238769"/>
                  <a:pt x="70597" y="272303"/>
                </a:cubicBezTo>
                <a:lnTo>
                  <a:pt x="70597" y="282388"/>
                </a:lnTo>
                <a:cubicBezTo>
                  <a:pt x="70597" y="289574"/>
                  <a:pt x="72110" y="296382"/>
                  <a:pt x="74820" y="302559"/>
                </a:cubicBezTo>
                <a:lnTo>
                  <a:pt x="20171" y="302559"/>
                </a:lnTo>
                <a:cubicBezTo>
                  <a:pt x="9014" y="302559"/>
                  <a:pt x="0" y="293545"/>
                  <a:pt x="0" y="282388"/>
                </a:cubicBezTo>
                <a:lnTo>
                  <a:pt x="0" y="262218"/>
                </a:lnTo>
                <a:close/>
                <a:moveTo>
                  <a:pt x="328591" y="302559"/>
                </a:moveTo>
                <a:cubicBezTo>
                  <a:pt x="331302" y="296382"/>
                  <a:pt x="332815" y="289574"/>
                  <a:pt x="332815" y="282388"/>
                </a:cubicBezTo>
                <a:lnTo>
                  <a:pt x="332815" y="272303"/>
                </a:lnTo>
                <a:cubicBezTo>
                  <a:pt x="332815" y="238769"/>
                  <a:pt x="320208" y="208135"/>
                  <a:pt x="299470" y="184939"/>
                </a:cubicBezTo>
                <a:cubicBezTo>
                  <a:pt x="306845" y="182733"/>
                  <a:pt x="314661" y="181535"/>
                  <a:pt x="322729" y="181535"/>
                </a:cubicBezTo>
                <a:cubicBezTo>
                  <a:pt x="367294" y="181535"/>
                  <a:pt x="403412" y="217653"/>
                  <a:pt x="403412" y="262218"/>
                </a:cubicBezTo>
                <a:lnTo>
                  <a:pt x="403412" y="282388"/>
                </a:lnTo>
                <a:cubicBezTo>
                  <a:pt x="403412" y="293545"/>
                  <a:pt x="394398" y="302559"/>
                  <a:pt x="383241" y="302559"/>
                </a:cubicBezTo>
                <a:lnTo>
                  <a:pt x="328591" y="302559"/>
                </a:lnTo>
                <a:close/>
                <a:moveTo>
                  <a:pt x="297516" y="100853"/>
                </a:moveTo>
                <a:cubicBezTo>
                  <a:pt x="297516" y="75805"/>
                  <a:pt x="317852" y="55469"/>
                  <a:pt x="342900" y="55469"/>
                </a:cubicBezTo>
                <a:cubicBezTo>
                  <a:pt x="367948" y="55469"/>
                  <a:pt x="388284" y="75805"/>
                  <a:pt x="388284" y="100853"/>
                </a:cubicBezTo>
                <a:cubicBezTo>
                  <a:pt x="388284" y="125901"/>
                  <a:pt x="367948" y="146237"/>
                  <a:pt x="342900" y="146237"/>
                </a:cubicBezTo>
                <a:cubicBezTo>
                  <a:pt x="317852" y="146237"/>
                  <a:pt x="297516" y="125901"/>
                  <a:pt x="297516" y="100853"/>
                </a:cubicBezTo>
                <a:close/>
                <a:moveTo>
                  <a:pt x="100853" y="272303"/>
                </a:moveTo>
                <a:cubicBezTo>
                  <a:pt x="100853" y="216582"/>
                  <a:pt x="145985" y="171450"/>
                  <a:pt x="201706" y="171450"/>
                </a:cubicBezTo>
                <a:cubicBezTo>
                  <a:pt x="257427" y="171450"/>
                  <a:pt x="302559" y="216582"/>
                  <a:pt x="302559" y="272303"/>
                </a:cubicBezTo>
                <a:lnTo>
                  <a:pt x="302559" y="282388"/>
                </a:lnTo>
                <a:cubicBezTo>
                  <a:pt x="302559" y="293545"/>
                  <a:pt x="293545" y="302559"/>
                  <a:pt x="282388" y="302559"/>
                </a:cubicBezTo>
                <a:lnTo>
                  <a:pt x="121024" y="302559"/>
                </a:lnTo>
                <a:cubicBezTo>
                  <a:pt x="109867" y="302559"/>
                  <a:pt x="100853" y="293545"/>
                  <a:pt x="100853" y="282388"/>
                </a:cubicBezTo>
                <a:lnTo>
                  <a:pt x="100853" y="272303"/>
                </a:lnTo>
                <a:close/>
              </a:path>
            </a:pathLst>
          </a:custGeom>
          <a:solidFill>
            <a:srgbClr val="C8A265"/>
          </a:solidFill>
          <a:ln/>
        </p:spPr>
      </p:sp>
      <p:sp>
        <p:nvSpPr>
          <p:cNvPr id="15" name="Text 12"/>
          <p:cNvSpPr/>
          <p:nvPr/>
        </p:nvSpPr>
        <p:spPr>
          <a:xfrm>
            <a:off x="4831976" y="5038165"/>
            <a:ext cx="2528047" cy="28687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694" b="1" dirty="0">
                <a:solidFill>
                  <a:srgbClr val="E0E2E6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Accesibilidad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4849906" y="5396753"/>
            <a:ext cx="2492188" cy="4303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129" dirty="0">
                <a:solidFill>
                  <a:srgbClr val="788A9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Democratización de herramientas de IA</a:t>
            </a:r>
            <a:endParaRPr lang="en-US" sz="1600" dirty="0"/>
          </a:p>
        </p:txBody>
      </p:sp>
      <p:sp>
        <p:nvSpPr>
          <p:cNvPr id="17" name="Shape 14"/>
          <p:cNvSpPr/>
          <p:nvPr/>
        </p:nvSpPr>
        <p:spPr>
          <a:xfrm>
            <a:off x="7821706" y="4352365"/>
            <a:ext cx="2859741" cy="1694329"/>
          </a:xfrm>
          <a:custGeom>
            <a:avLst/>
            <a:gdLst/>
            <a:ahLst/>
            <a:cxnLst/>
            <a:rect l="l" t="t" r="r" b="b"/>
            <a:pathLst>
              <a:path w="2859741" h="1694329">
                <a:moveTo>
                  <a:pt x="107573" y="0"/>
                </a:moveTo>
                <a:lnTo>
                  <a:pt x="2752168" y="0"/>
                </a:lnTo>
                <a:cubicBezTo>
                  <a:pt x="2811579" y="0"/>
                  <a:pt x="2859741" y="48162"/>
                  <a:pt x="2859741" y="107573"/>
                </a:cubicBezTo>
                <a:lnTo>
                  <a:pt x="2859741" y="1586756"/>
                </a:lnTo>
                <a:cubicBezTo>
                  <a:pt x="2859741" y="1646167"/>
                  <a:pt x="2811579" y="1694329"/>
                  <a:pt x="2752168" y="1694329"/>
                </a:cubicBezTo>
                <a:lnTo>
                  <a:pt x="107573" y="1694329"/>
                </a:lnTo>
                <a:cubicBezTo>
                  <a:pt x="48162" y="1694329"/>
                  <a:pt x="0" y="1646167"/>
                  <a:pt x="0" y="1586756"/>
                </a:cubicBezTo>
                <a:lnTo>
                  <a:pt x="0" y="107573"/>
                </a:lnTo>
                <a:cubicBezTo>
                  <a:pt x="0" y="48202"/>
                  <a:pt x="48202" y="0"/>
                  <a:pt x="107573" y="0"/>
                </a:cubicBezTo>
                <a:close/>
              </a:path>
            </a:pathLst>
          </a:custGeom>
          <a:solidFill>
            <a:srgbClr val="4A6D8C">
              <a:alpha val="20000"/>
            </a:srgbClr>
          </a:solidFill>
          <a:ln w="12700">
            <a:solidFill>
              <a:srgbClr val="4A6D8C">
                <a:alpha val="40000"/>
              </a:srgbClr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9049871" y="4572000"/>
            <a:ext cx="403412" cy="322729"/>
          </a:xfrm>
          <a:custGeom>
            <a:avLst/>
            <a:gdLst/>
            <a:ahLst/>
            <a:cxnLst/>
            <a:rect l="l" t="t" r="r" b="b"/>
            <a:pathLst>
              <a:path w="403412" h="322729">
                <a:moveTo>
                  <a:pt x="242047" y="20171"/>
                </a:moveTo>
                <a:lnTo>
                  <a:pt x="322729" y="20171"/>
                </a:lnTo>
                <a:cubicBezTo>
                  <a:pt x="333886" y="20171"/>
                  <a:pt x="342900" y="29184"/>
                  <a:pt x="342900" y="40341"/>
                </a:cubicBezTo>
                <a:cubicBezTo>
                  <a:pt x="342900" y="51498"/>
                  <a:pt x="333886" y="60512"/>
                  <a:pt x="322729" y="60512"/>
                </a:cubicBezTo>
                <a:lnTo>
                  <a:pt x="251124" y="60512"/>
                </a:lnTo>
                <a:cubicBezTo>
                  <a:pt x="247846" y="76774"/>
                  <a:pt x="236689" y="90200"/>
                  <a:pt x="221876" y="96630"/>
                </a:cubicBezTo>
                <a:lnTo>
                  <a:pt x="221876" y="282388"/>
                </a:lnTo>
                <a:lnTo>
                  <a:pt x="322729" y="282388"/>
                </a:lnTo>
                <a:cubicBezTo>
                  <a:pt x="333886" y="282388"/>
                  <a:pt x="342900" y="291402"/>
                  <a:pt x="342900" y="302559"/>
                </a:cubicBezTo>
                <a:cubicBezTo>
                  <a:pt x="342900" y="313716"/>
                  <a:pt x="333886" y="322729"/>
                  <a:pt x="322729" y="322729"/>
                </a:cubicBezTo>
                <a:lnTo>
                  <a:pt x="80682" y="322729"/>
                </a:lnTo>
                <a:cubicBezTo>
                  <a:pt x="69525" y="322729"/>
                  <a:pt x="60512" y="313716"/>
                  <a:pt x="60512" y="302559"/>
                </a:cubicBezTo>
                <a:cubicBezTo>
                  <a:pt x="60512" y="291402"/>
                  <a:pt x="69525" y="282388"/>
                  <a:pt x="80682" y="282388"/>
                </a:cubicBezTo>
                <a:lnTo>
                  <a:pt x="181535" y="282388"/>
                </a:lnTo>
                <a:lnTo>
                  <a:pt x="181535" y="96630"/>
                </a:lnTo>
                <a:cubicBezTo>
                  <a:pt x="166723" y="90137"/>
                  <a:pt x="155566" y="76711"/>
                  <a:pt x="152288" y="60512"/>
                </a:cubicBezTo>
                <a:lnTo>
                  <a:pt x="80682" y="60512"/>
                </a:lnTo>
                <a:cubicBezTo>
                  <a:pt x="69525" y="60512"/>
                  <a:pt x="60512" y="51498"/>
                  <a:pt x="60512" y="40341"/>
                </a:cubicBezTo>
                <a:cubicBezTo>
                  <a:pt x="60512" y="29184"/>
                  <a:pt x="69525" y="20171"/>
                  <a:pt x="80682" y="20171"/>
                </a:cubicBezTo>
                <a:lnTo>
                  <a:pt x="161365" y="20171"/>
                </a:lnTo>
                <a:cubicBezTo>
                  <a:pt x="170568" y="7942"/>
                  <a:pt x="185191" y="0"/>
                  <a:pt x="201706" y="0"/>
                </a:cubicBezTo>
                <a:cubicBezTo>
                  <a:pt x="218221" y="0"/>
                  <a:pt x="232844" y="7942"/>
                  <a:pt x="242047" y="20171"/>
                </a:cubicBezTo>
                <a:close/>
                <a:moveTo>
                  <a:pt x="277093" y="201706"/>
                </a:moveTo>
                <a:lnTo>
                  <a:pt x="368365" y="201706"/>
                </a:lnTo>
                <a:lnTo>
                  <a:pt x="322729" y="123419"/>
                </a:lnTo>
                <a:lnTo>
                  <a:pt x="277093" y="201706"/>
                </a:lnTo>
                <a:close/>
                <a:moveTo>
                  <a:pt x="322729" y="262218"/>
                </a:moveTo>
                <a:cubicBezTo>
                  <a:pt x="283082" y="262218"/>
                  <a:pt x="250115" y="240786"/>
                  <a:pt x="243308" y="212485"/>
                </a:cubicBezTo>
                <a:cubicBezTo>
                  <a:pt x="241669" y="205551"/>
                  <a:pt x="243938" y="198428"/>
                  <a:pt x="247531" y="192251"/>
                </a:cubicBezTo>
                <a:lnTo>
                  <a:pt x="307538" y="89381"/>
                </a:lnTo>
                <a:cubicBezTo>
                  <a:pt x="310690" y="83960"/>
                  <a:pt x="316489" y="80682"/>
                  <a:pt x="322729" y="80682"/>
                </a:cubicBezTo>
                <a:cubicBezTo>
                  <a:pt x="328970" y="80682"/>
                  <a:pt x="334769" y="84023"/>
                  <a:pt x="337920" y="89381"/>
                </a:cubicBezTo>
                <a:lnTo>
                  <a:pt x="397928" y="192251"/>
                </a:lnTo>
                <a:cubicBezTo>
                  <a:pt x="401521" y="198428"/>
                  <a:pt x="403790" y="205551"/>
                  <a:pt x="402151" y="212485"/>
                </a:cubicBezTo>
                <a:cubicBezTo>
                  <a:pt x="395344" y="240723"/>
                  <a:pt x="362377" y="262218"/>
                  <a:pt x="322729" y="262218"/>
                </a:cubicBezTo>
                <a:close/>
                <a:moveTo>
                  <a:pt x="79926" y="123419"/>
                </a:moveTo>
                <a:lnTo>
                  <a:pt x="34290" y="201706"/>
                </a:lnTo>
                <a:lnTo>
                  <a:pt x="125625" y="201706"/>
                </a:lnTo>
                <a:lnTo>
                  <a:pt x="79926" y="123419"/>
                </a:lnTo>
                <a:close/>
                <a:moveTo>
                  <a:pt x="567" y="212485"/>
                </a:moveTo>
                <a:cubicBezTo>
                  <a:pt x="-1072" y="205551"/>
                  <a:pt x="1198" y="198428"/>
                  <a:pt x="4791" y="192251"/>
                </a:cubicBezTo>
                <a:lnTo>
                  <a:pt x="64798" y="89381"/>
                </a:lnTo>
                <a:cubicBezTo>
                  <a:pt x="67950" y="83960"/>
                  <a:pt x="73749" y="80682"/>
                  <a:pt x="79989" y="80682"/>
                </a:cubicBezTo>
                <a:cubicBezTo>
                  <a:pt x="86229" y="80682"/>
                  <a:pt x="92028" y="84023"/>
                  <a:pt x="95180" y="89381"/>
                </a:cubicBezTo>
                <a:lnTo>
                  <a:pt x="155187" y="192251"/>
                </a:lnTo>
                <a:cubicBezTo>
                  <a:pt x="158780" y="198428"/>
                  <a:pt x="161050" y="205551"/>
                  <a:pt x="159411" y="212485"/>
                </a:cubicBezTo>
                <a:cubicBezTo>
                  <a:pt x="152603" y="240723"/>
                  <a:pt x="119637" y="262218"/>
                  <a:pt x="79989" y="262218"/>
                </a:cubicBezTo>
                <a:cubicBezTo>
                  <a:pt x="40341" y="262218"/>
                  <a:pt x="7375" y="240786"/>
                  <a:pt x="567" y="212485"/>
                </a:cubicBezTo>
                <a:close/>
              </a:path>
            </a:pathLst>
          </a:custGeom>
          <a:solidFill>
            <a:srgbClr val="C8A265"/>
          </a:solidFill>
          <a:ln/>
        </p:spPr>
      </p:sp>
      <p:sp>
        <p:nvSpPr>
          <p:cNvPr id="19" name="Text 16"/>
          <p:cNvSpPr/>
          <p:nvPr/>
        </p:nvSpPr>
        <p:spPr>
          <a:xfrm>
            <a:off x="7987553" y="5038165"/>
            <a:ext cx="2528047" cy="28687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694" b="1" dirty="0">
                <a:solidFill>
                  <a:srgbClr val="E0E2E6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Ética</a:t>
            </a:r>
            <a:endParaRPr lang="en-US" sz="1600" dirty="0"/>
          </a:p>
        </p:txBody>
      </p:sp>
      <p:sp>
        <p:nvSpPr>
          <p:cNvPr id="20" name="Text 17"/>
          <p:cNvSpPr/>
          <p:nvPr/>
        </p:nvSpPr>
        <p:spPr>
          <a:xfrm>
            <a:off x="8005482" y="5396753"/>
            <a:ext cx="2492188" cy="4303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129" dirty="0">
                <a:solidFill>
                  <a:srgbClr val="788A9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Desarrollo responsable y transparente</a:t>
            </a:r>
            <a:endParaRPr lang="en-US" sz="1600" dirty="0"/>
          </a:p>
        </p:txBody>
      </p:sp>
      <p:sp>
        <p:nvSpPr>
          <p:cNvPr id="21" name="Text 18"/>
          <p:cNvSpPr/>
          <p:nvPr/>
        </p:nvSpPr>
        <p:spPr>
          <a:xfrm>
            <a:off x="5182581" y="6481482"/>
            <a:ext cx="1828800" cy="2510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71" dirty="0">
                <a:solidFill>
                  <a:srgbClr val="788A9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Gracias por su atención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5178098" y="6804212"/>
            <a:ext cx="1837765" cy="2510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12" b="1" dirty="0">
                <a:solidFill>
                  <a:srgbClr val="C8A26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¿Preguntas?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theme/theme1.xml><?xml version="1.0" encoding="utf-8"?>
<a:theme xmlns:a="http://schemas.openxmlformats.org/drawingml/2006/main" name="Custom Theme">
  <a:themeElements>
    <a:clrScheme name="Custom">
      <a:dk1>
        <a:srgbClr val="000000"/>
      </a:dk1>
      <a:lt1>
        <a:srgbClr val="ffffff"/>
      </a:lt1>
      <a:dk2>
        <a:srgbClr val="333333"/>
      </a:dk2>
      <a:lt2>
        <a:srgbClr val="eeeeee"/>
      </a:lt2>
      <a:accent1>
        <a:srgbClr val="8daac2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Moonshot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Ramas y Algoritmos de Inteligencia Artificial</dc:title>
  <dc:subject>Ramas y Algoritmos de Inteligencia Artificial</dc:subject>
  <dc:creator>Kimi</dc:creator>
  <cp:lastModifiedBy>Kimi</cp:lastModifiedBy>
  <cp:revision>1</cp:revision>
  <dcterms:created xsi:type="dcterms:W3CDTF">2026-02-17T16:13:32Z</dcterms:created>
  <dcterms:modified xsi:type="dcterms:W3CDTF">2026-02-17T16:13:32Z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4" name="AIGC">
    <vt:lpwstr>{"Label":"Ramas y Algoritmos de Inteligencia Artificial","ContentProducer":"001191110108MACG2KBH8F10000","ProduceID":"19c6c5cf-5222-8e08-8000-0000e2a56aa2","ReservedCode1":"","ContentPropagator":"001191110108MACG2KBH8F20000","PropagateID":"19c6c5cf-5222-8e08-8000-0000e2a56aa2","ReservedCode2":""}</vt:lpwstr>
  </property>
</Properties>
</file>