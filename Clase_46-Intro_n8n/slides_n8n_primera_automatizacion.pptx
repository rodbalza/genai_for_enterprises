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02920" y="6492240"/>
            <a:ext cx="11155680" cy="0"/>
          </a:xfrm>
          <a:prstGeom prst="line">
            <a:avLst/>
          </a:prstGeom>
          <a:noFill/>
          <a:ln w="9525">
            <a:solidFill>
              <a:srgbClr val="D8DEE9"/>
            </a:solidFill>
            <a:prstDash val="solid"/>
          </a:ln>
        </p:spPr>
      </p:sp>
      <p:sp>
        <p:nvSpPr>
          <p:cNvPr id="3" name="Text 1"/>
          <p:cNvSpPr/>
          <p:nvPr/>
        </p:nvSpPr>
        <p:spPr>
          <a:xfrm>
            <a:off x="566928" y="6565392"/>
            <a:ext cx="3657600" cy="164592"/>
          </a:xfrm>
          <a:prstGeom prst="rect">
            <a:avLst/>
          </a:prstGeom>
          <a:noFill/>
          <a:ln/>
        </p:spPr>
        <p:txBody>
          <a:bodyPr wrap="square" rtlCol="0" anchor="ctr"/>
          <a:lstStyle/>
          <a:p>
            <a:pPr indent="0" marL="0">
              <a:buNone/>
            </a:pPr>
            <a:r>
              <a:rPr lang="en-US" sz="750" dirty="0">
                <a:solidFill>
                  <a:srgbClr val="6B7280"/>
                </a:solidFill>
                <a:latin typeface="Arial" pitchFamily="34" charset="0"/>
                <a:ea typeface="Arial" pitchFamily="34" charset="-122"/>
                <a:cs typeface="Arial" pitchFamily="34" charset="-120"/>
              </a:rPr>
              <a:t>n8n | Automatizaciones</a:t>
            </a:r>
            <a:endParaRPr lang="en-US" sz="750" dirty="0"/>
          </a:p>
        </p:txBody>
      </p:sp>
      <p:sp>
        <p:nvSpPr>
          <p:cNvPr id="4" name="Text 2"/>
          <p:cNvSpPr/>
          <p:nvPr/>
        </p:nvSpPr>
        <p:spPr>
          <a:xfrm>
            <a:off x="9418320" y="6565392"/>
            <a:ext cx="2194560" cy="164592"/>
          </a:xfrm>
          <a:prstGeom prst="rect">
            <a:avLst/>
          </a:prstGeom>
          <a:noFill/>
          <a:ln/>
        </p:spPr>
        <p:txBody>
          <a:bodyPr wrap="square" rtlCol="0" anchor="ctr"/>
          <a:lstStyle/>
          <a:p>
            <a:pPr algn="r" indent="0" marL="0">
              <a:buNone/>
            </a:pPr>
            <a:r>
              <a:rPr lang="en-US" sz="750" dirty="0">
                <a:solidFill>
                  <a:srgbClr val="6B7280"/>
                </a:solidFill>
                <a:latin typeface="Arial" pitchFamily="34" charset="0"/>
                <a:ea typeface="Arial" pitchFamily="34" charset="-122"/>
                <a:cs typeface="Arial" pitchFamily="34" charset="-120"/>
              </a:rPr>
              <a:t>Curso introductorio</a:t>
            </a:r>
            <a:endParaRPr lang="en-US" sz="75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Shape 0"/>
          <p:cNvSpPr/>
          <p:nvPr/>
        </p:nvSpPr>
        <p:spPr>
          <a:xfrm>
            <a:off x="7498080" y="0"/>
            <a:ext cx="4690872" cy="6858000"/>
          </a:xfrm>
          <a:prstGeom prst="rect">
            <a:avLst/>
          </a:prstGeom>
          <a:solidFill>
            <a:srgbClr val="F7F9FC"/>
          </a:solidFill>
          <a:ln w="12700">
            <a:solidFill>
              <a:srgbClr val="F7F9FC"/>
            </a:solidFill>
            <a:prstDash val="solid"/>
          </a:ln>
        </p:spPr>
      </p:sp>
      <p:sp>
        <p:nvSpPr>
          <p:cNvPr id="3" name="Shape 1"/>
          <p:cNvSpPr/>
          <p:nvPr/>
        </p:nvSpPr>
        <p:spPr>
          <a:xfrm>
            <a:off x="-1097280" y="-1005840"/>
            <a:ext cx="4389120" cy="4389120"/>
          </a:xfrm>
          <a:prstGeom prst="arc">
            <a:avLst/>
          </a:prstGeom>
          <a:solidFill>
            <a:srgbClr val="635BFF">
              <a:alpha val="85000"/>
            </a:srgbClr>
          </a:solidFill>
          <a:ln w="12700">
            <a:solidFill>
              <a:srgbClr val="635BFF">
                <a:alpha val="0"/>
              </a:srgbClr>
            </a:solidFill>
            <a:prstDash val="solid"/>
          </a:ln>
        </p:spPr>
      </p:sp>
      <p:sp>
        <p:nvSpPr>
          <p:cNvPr id="4" name="Text 2"/>
          <p:cNvSpPr/>
          <p:nvPr/>
        </p:nvSpPr>
        <p:spPr>
          <a:xfrm>
            <a:off x="685800" y="658368"/>
            <a:ext cx="1188720" cy="384048"/>
          </a:xfrm>
          <a:prstGeom prst="rect">
            <a:avLst/>
          </a:prstGeom>
          <a:noFill/>
          <a:ln/>
        </p:spPr>
        <p:txBody>
          <a:bodyPr wrap="square" lIns="0" tIns="0" rIns="0" bIns="0" rtlCol="0" anchor="ctr"/>
          <a:lstStyle/>
          <a:p>
            <a:pPr indent="0" marL="0">
              <a:buNone/>
            </a:pPr>
            <a:r>
              <a:rPr lang="en-US" sz="2000" b="1" dirty="0">
                <a:solidFill>
                  <a:srgbClr val="FF7A1A"/>
                </a:solidFill>
              </a:rPr>
              <a:t>n8n</a:t>
            </a:r>
            <a:endParaRPr lang="en-US" sz="2000" dirty="0"/>
          </a:p>
        </p:txBody>
      </p:sp>
      <p:sp>
        <p:nvSpPr>
          <p:cNvPr id="5" name="Text 3"/>
          <p:cNvSpPr/>
          <p:nvPr/>
        </p:nvSpPr>
        <p:spPr>
          <a:xfrm>
            <a:off x="685800" y="1828800"/>
            <a:ext cx="6126480" cy="1645920"/>
          </a:xfrm>
          <a:prstGeom prst="rect">
            <a:avLst/>
          </a:prstGeom>
          <a:noFill/>
          <a:ln/>
        </p:spPr>
        <p:txBody>
          <a:bodyPr wrap="square" lIns="0" tIns="0" rIns="0" bIns="0" rtlCol="0" anchor="ctr">
            <a:normAutofit/>
          </a:bodyPr>
          <a:lstStyle/>
          <a:p>
            <a:pPr indent="0" marL="0">
              <a:buNone/>
            </a:pPr>
            <a:r>
              <a:rPr lang="en-US" sz="4400" b="1" dirty="0">
                <a:solidFill>
                  <a:srgbClr val="FFFFFF"/>
                </a:solidFill>
              </a:rPr>
              <a:t>Primera</a:t>
            </a:r>
            <a:endParaRPr lang="en-US" sz="4400" dirty="0"/>
          </a:p>
          <a:p>
            <a:pPr indent="0" marL="0">
              <a:buNone/>
            </a:pPr>
            <a:r>
              <a:rPr lang="en-US" sz="4400" b="1" dirty="0">
                <a:solidFill>
                  <a:srgbClr val="FFFFFF"/>
                </a:solidFill>
              </a:rPr>
              <a:t>automatización</a:t>
            </a:r>
            <a:endParaRPr lang="en-US" sz="4400" dirty="0"/>
          </a:p>
        </p:txBody>
      </p:sp>
      <p:sp>
        <p:nvSpPr>
          <p:cNvPr id="6" name="Text 4"/>
          <p:cNvSpPr/>
          <p:nvPr/>
        </p:nvSpPr>
        <p:spPr>
          <a:xfrm>
            <a:off x="713232" y="3675888"/>
            <a:ext cx="5897880" cy="658368"/>
          </a:xfrm>
          <a:prstGeom prst="rect">
            <a:avLst/>
          </a:prstGeom>
          <a:noFill/>
          <a:ln/>
        </p:spPr>
        <p:txBody>
          <a:bodyPr wrap="square" lIns="0" tIns="0" rIns="0" bIns="0" rtlCol="0" anchor="ctr">
            <a:normAutofit/>
          </a:bodyPr>
          <a:lstStyle/>
          <a:p>
            <a:pPr indent="0" marL="0">
              <a:buNone/>
            </a:pPr>
            <a:r>
              <a:rPr lang="en-US" sz="1500" dirty="0">
                <a:solidFill>
                  <a:srgbClr val="D1D5DB"/>
                </a:solidFill>
              </a:rPr>
              <a:t>Introducción práctica a los tipos de nodos y a la lógica básica de un flujo automatizado.</a:t>
            </a:r>
            <a:endParaRPr lang="en-US" sz="1500" dirty="0"/>
          </a:p>
        </p:txBody>
      </p:sp>
      <p:sp>
        <p:nvSpPr>
          <p:cNvPr id="7" name="Shape 5"/>
          <p:cNvSpPr/>
          <p:nvPr/>
        </p:nvSpPr>
        <p:spPr>
          <a:xfrm>
            <a:off x="713232" y="4617720"/>
            <a:ext cx="2926080" cy="457200"/>
          </a:xfrm>
          <a:prstGeom prst="roundRect">
            <a:avLst>
              <a:gd name="adj" fmla="val 16000"/>
            </a:avLst>
          </a:prstGeom>
          <a:solidFill>
            <a:srgbClr val="FF7A1A"/>
          </a:solidFill>
          <a:ln w="12700">
            <a:solidFill>
              <a:srgbClr val="FF7A1A"/>
            </a:solidFill>
            <a:prstDash val="solid"/>
          </a:ln>
        </p:spPr>
      </p:sp>
      <p:sp>
        <p:nvSpPr>
          <p:cNvPr id="8" name="Text 6"/>
          <p:cNvSpPr/>
          <p:nvPr/>
        </p:nvSpPr>
        <p:spPr>
          <a:xfrm>
            <a:off x="713232" y="4745736"/>
            <a:ext cx="2926080" cy="164592"/>
          </a:xfrm>
          <a:prstGeom prst="rect">
            <a:avLst/>
          </a:prstGeom>
          <a:noFill/>
          <a:ln/>
        </p:spPr>
        <p:txBody>
          <a:bodyPr wrap="square" lIns="0" tIns="0" rIns="0" bIns="0" rtlCol="0" anchor="ctr"/>
          <a:lstStyle/>
          <a:p>
            <a:pPr algn="ctr" indent="0" marL="0">
              <a:buNone/>
            </a:pPr>
            <a:r>
              <a:rPr lang="en-US" sz="1050" b="1" dirty="0">
                <a:solidFill>
                  <a:srgbClr val="FFFFFF"/>
                </a:solidFill>
              </a:rPr>
              <a:t>Clase introductoria</a:t>
            </a:r>
            <a:endParaRPr lang="en-US" sz="1050" dirty="0"/>
          </a:p>
        </p:txBody>
      </p:sp>
      <p:pic>
        <p:nvPicPr>
          <p:cNvPr id="9" name="Image 0" descr="/mnt/data/n8n_1_extract/part1/image.png">    </p:cNvPr>
          <p:cNvPicPr>
            <a:picLocks noChangeAspect="1"/>
          </p:cNvPicPr>
          <p:nvPr/>
        </p:nvPicPr>
        <p:blipFill>
          <a:blip r:embed="rId1"/>
          <a:stretch>
            <a:fillRect/>
          </a:stretch>
        </p:blipFill>
        <p:spPr>
          <a:xfrm>
            <a:off x="7818120" y="1965960"/>
            <a:ext cx="3794760" cy="1737360"/>
          </a:xfrm>
          <a:prstGeom prst="rect">
            <a:avLst/>
          </a:prstGeom>
        </p:spPr>
      </p:pic>
      <p:sp>
        <p:nvSpPr>
          <p:cNvPr id="10" name="Shape 7"/>
          <p:cNvSpPr/>
          <p:nvPr/>
        </p:nvSpPr>
        <p:spPr>
          <a:xfrm>
            <a:off x="7818120" y="1965960"/>
            <a:ext cx="3794760" cy="1737360"/>
          </a:xfrm>
          <a:prstGeom prst="roundRect">
            <a:avLst>
              <a:gd name="adj" fmla="val 3158"/>
            </a:avLst>
          </a:prstGeom>
          <a:solidFill>
            <a:srgbClr val="FFFFFF">
              <a:alpha val="0"/>
            </a:srgbClr>
          </a:solidFill>
          <a:ln w="12700">
            <a:solidFill>
              <a:srgbClr val="E5E7EB"/>
            </a:solidFill>
            <a:prstDash val="solid"/>
          </a:ln>
        </p:spPr>
      </p:sp>
      <p:sp>
        <p:nvSpPr>
          <p:cNvPr id="11" name="Text 8"/>
          <p:cNvSpPr/>
          <p:nvPr/>
        </p:nvSpPr>
        <p:spPr>
          <a:xfrm>
            <a:off x="7882128" y="3950208"/>
            <a:ext cx="3611880" cy="256032"/>
          </a:xfrm>
          <a:prstGeom prst="rect">
            <a:avLst/>
          </a:prstGeom>
          <a:noFill/>
          <a:ln/>
        </p:spPr>
        <p:txBody>
          <a:bodyPr wrap="square" lIns="0" tIns="0" rIns="0" bIns="0" rtlCol="0" anchor="ctr"/>
          <a:lstStyle/>
          <a:p>
            <a:pPr algn="ctr" indent="0" marL="0">
              <a:buNone/>
            </a:pPr>
            <a:r>
              <a:rPr lang="en-US" sz="1200" b="1" dirty="0">
                <a:solidFill>
                  <a:srgbClr val="111827"/>
                </a:solidFill>
              </a:rPr>
              <a:t>Del diagrama de flujo al workflow en n8n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Objetivos de aprendizaje</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Al finalizar, el estudiante podrá interpretar y construir un flujo sencillo en n8n.</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685800" y="1508760"/>
            <a:ext cx="4983480" cy="1417320"/>
          </a:xfrm>
          <a:prstGeom prst="roundRect">
            <a:avLst>
              <a:gd name="adj" fmla="val 516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6" name="Shape 4"/>
          <p:cNvSpPr/>
          <p:nvPr/>
        </p:nvSpPr>
        <p:spPr>
          <a:xfrm>
            <a:off x="1005840" y="1828800"/>
            <a:ext cx="475488" cy="475488"/>
          </a:xfrm>
          <a:prstGeom prst="ellipse">
            <a:avLst/>
          </a:prstGeom>
          <a:solidFill>
            <a:srgbClr val="635BFF"/>
          </a:solidFill>
          <a:ln w="12700">
            <a:solidFill>
              <a:srgbClr val="635BFF">
                <a:alpha val="0"/>
              </a:srgbClr>
            </a:solidFill>
            <a:prstDash val="solid"/>
          </a:ln>
        </p:spPr>
      </p:sp>
      <p:sp>
        <p:nvSpPr>
          <p:cNvPr id="7" name="Text 5"/>
          <p:cNvSpPr/>
          <p:nvPr/>
        </p:nvSpPr>
        <p:spPr>
          <a:xfrm>
            <a:off x="1005840" y="193852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6"/>
          <p:cNvSpPr/>
          <p:nvPr/>
        </p:nvSpPr>
        <p:spPr>
          <a:xfrm>
            <a:off x="1645920" y="1801368"/>
            <a:ext cx="3566160" cy="237744"/>
          </a:xfrm>
          <a:prstGeom prst="rect">
            <a:avLst/>
          </a:prstGeom>
          <a:noFill/>
          <a:ln/>
        </p:spPr>
        <p:txBody>
          <a:bodyPr wrap="square" lIns="0" tIns="0" rIns="0" bIns="0" rtlCol="0" anchor="ctr"/>
          <a:lstStyle/>
          <a:p>
            <a:pPr indent="0" marL="0">
              <a:buNone/>
            </a:pPr>
            <a:r>
              <a:rPr lang="en-US" sz="1500" b="1" dirty="0">
                <a:solidFill>
                  <a:srgbClr val="111827"/>
                </a:solidFill>
              </a:rPr>
              <a:t>Reconocer</a:t>
            </a:r>
            <a:endParaRPr lang="en-US" sz="1500" dirty="0"/>
          </a:p>
        </p:txBody>
      </p:sp>
      <p:sp>
        <p:nvSpPr>
          <p:cNvPr id="9" name="Text 7"/>
          <p:cNvSpPr/>
          <p:nvPr/>
        </p:nvSpPr>
        <p:spPr>
          <a:xfrm>
            <a:off x="1645920" y="2194560"/>
            <a:ext cx="3566160" cy="347472"/>
          </a:xfrm>
          <a:prstGeom prst="rect">
            <a:avLst/>
          </a:prstGeom>
          <a:noFill/>
          <a:ln/>
        </p:spPr>
        <p:txBody>
          <a:bodyPr wrap="square" lIns="0" tIns="0" rIns="0" bIns="0" rtlCol="0" anchor="ctr">
            <a:normAutofit/>
          </a:bodyPr>
          <a:lstStyle/>
          <a:p>
            <a:pPr indent="0" marL="0">
              <a:buNone/>
            </a:pPr>
            <a:r>
              <a:rPr lang="en-US" sz="1150" dirty="0">
                <a:solidFill>
                  <a:srgbClr val="6B7280"/>
                </a:solidFill>
              </a:rPr>
              <a:t>los tipos de nodos principales en n8n.</a:t>
            </a:r>
            <a:endParaRPr lang="en-US" sz="1150" dirty="0"/>
          </a:p>
        </p:txBody>
      </p:sp>
      <p:sp>
        <p:nvSpPr>
          <p:cNvPr id="10" name="Shape 8"/>
          <p:cNvSpPr/>
          <p:nvPr/>
        </p:nvSpPr>
        <p:spPr>
          <a:xfrm>
            <a:off x="6217920" y="1508760"/>
            <a:ext cx="4983480" cy="1417320"/>
          </a:xfrm>
          <a:prstGeom prst="roundRect">
            <a:avLst>
              <a:gd name="adj" fmla="val 516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1" name="Shape 9"/>
          <p:cNvSpPr/>
          <p:nvPr/>
        </p:nvSpPr>
        <p:spPr>
          <a:xfrm>
            <a:off x="6537960" y="1828800"/>
            <a:ext cx="475488" cy="475488"/>
          </a:xfrm>
          <a:prstGeom prst="ellipse">
            <a:avLst/>
          </a:prstGeom>
          <a:solidFill>
            <a:srgbClr val="2563EB"/>
          </a:solidFill>
          <a:ln w="12700">
            <a:solidFill>
              <a:srgbClr val="2563EB">
                <a:alpha val="0"/>
              </a:srgbClr>
            </a:solidFill>
            <a:prstDash val="solid"/>
          </a:ln>
        </p:spPr>
      </p:sp>
      <p:sp>
        <p:nvSpPr>
          <p:cNvPr id="12" name="Text 10"/>
          <p:cNvSpPr/>
          <p:nvPr/>
        </p:nvSpPr>
        <p:spPr>
          <a:xfrm>
            <a:off x="6537960" y="193852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p:nvPr/>
        </p:nvSpPr>
        <p:spPr>
          <a:xfrm>
            <a:off x="7178040" y="1801368"/>
            <a:ext cx="3566160" cy="237744"/>
          </a:xfrm>
          <a:prstGeom prst="rect">
            <a:avLst/>
          </a:prstGeom>
          <a:noFill/>
          <a:ln/>
        </p:spPr>
        <p:txBody>
          <a:bodyPr wrap="square" lIns="0" tIns="0" rIns="0" bIns="0" rtlCol="0" anchor="ctr"/>
          <a:lstStyle/>
          <a:p>
            <a:pPr indent="0" marL="0">
              <a:buNone/>
            </a:pPr>
            <a:r>
              <a:rPr lang="en-US" sz="1500" b="1" dirty="0">
                <a:solidFill>
                  <a:srgbClr val="111827"/>
                </a:solidFill>
              </a:rPr>
              <a:t>Explicar</a:t>
            </a:r>
            <a:endParaRPr lang="en-US" sz="1500" dirty="0"/>
          </a:p>
        </p:txBody>
      </p:sp>
      <p:sp>
        <p:nvSpPr>
          <p:cNvPr id="14" name="Text 12"/>
          <p:cNvSpPr/>
          <p:nvPr/>
        </p:nvSpPr>
        <p:spPr>
          <a:xfrm>
            <a:off x="7178040" y="2194560"/>
            <a:ext cx="3566160" cy="347472"/>
          </a:xfrm>
          <a:prstGeom prst="rect">
            <a:avLst/>
          </a:prstGeom>
          <a:noFill/>
          <a:ln/>
        </p:spPr>
        <p:txBody>
          <a:bodyPr wrap="square" lIns="0" tIns="0" rIns="0" bIns="0" rtlCol="0" anchor="ctr">
            <a:normAutofit/>
          </a:bodyPr>
          <a:lstStyle/>
          <a:p>
            <a:pPr indent="0" marL="0">
              <a:buNone/>
            </a:pPr>
            <a:r>
              <a:rPr lang="en-US" sz="1150" dirty="0">
                <a:solidFill>
                  <a:srgbClr val="6B7280"/>
                </a:solidFill>
              </a:rPr>
              <a:t>cómo un trigger inicia una automatización.</a:t>
            </a:r>
            <a:endParaRPr lang="en-US" sz="1150" dirty="0"/>
          </a:p>
        </p:txBody>
      </p:sp>
      <p:sp>
        <p:nvSpPr>
          <p:cNvPr id="15" name="Shape 13"/>
          <p:cNvSpPr/>
          <p:nvPr/>
        </p:nvSpPr>
        <p:spPr>
          <a:xfrm>
            <a:off x="685800" y="3474720"/>
            <a:ext cx="4983480" cy="1417320"/>
          </a:xfrm>
          <a:prstGeom prst="roundRect">
            <a:avLst>
              <a:gd name="adj" fmla="val 516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6" name="Shape 14"/>
          <p:cNvSpPr/>
          <p:nvPr/>
        </p:nvSpPr>
        <p:spPr>
          <a:xfrm>
            <a:off x="1005840" y="3794760"/>
            <a:ext cx="475488" cy="475488"/>
          </a:xfrm>
          <a:prstGeom prst="ellipse">
            <a:avLst/>
          </a:prstGeom>
          <a:solidFill>
            <a:srgbClr val="10B981"/>
          </a:solidFill>
          <a:ln w="12700">
            <a:solidFill>
              <a:srgbClr val="10B981">
                <a:alpha val="0"/>
              </a:srgbClr>
            </a:solidFill>
            <a:prstDash val="solid"/>
          </a:ln>
        </p:spPr>
      </p:sp>
      <p:sp>
        <p:nvSpPr>
          <p:cNvPr id="17" name="Text 15"/>
          <p:cNvSpPr/>
          <p:nvPr/>
        </p:nvSpPr>
        <p:spPr>
          <a:xfrm>
            <a:off x="1005840" y="390448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p:nvPr/>
        </p:nvSpPr>
        <p:spPr>
          <a:xfrm>
            <a:off x="1645920" y="3767328"/>
            <a:ext cx="3566160" cy="237744"/>
          </a:xfrm>
          <a:prstGeom prst="rect">
            <a:avLst/>
          </a:prstGeom>
          <a:noFill/>
          <a:ln/>
        </p:spPr>
        <p:txBody>
          <a:bodyPr wrap="square" lIns="0" tIns="0" rIns="0" bIns="0" rtlCol="0" anchor="ctr"/>
          <a:lstStyle/>
          <a:p>
            <a:pPr indent="0" marL="0">
              <a:buNone/>
            </a:pPr>
            <a:r>
              <a:rPr lang="en-US" sz="1500" b="1" dirty="0">
                <a:solidFill>
                  <a:srgbClr val="111827"/>
                </a:solidFill>
              </a:rPr>
              <a:t>Distinguir</a:t>
            </a:r>
            <a:endParaRPr lang="en-US" sz="1500" dirty="0"/>
          </a:p>
        </p:txBody>
      </p:sp>
      <p:sp>
        <p:nvSpPr>
          <p:cNvPr id="19" name="Text 17"/>
          <p:cNvSpPr/>
          <p:nvPr/>
        </p:nvSpPr>
        <p:spPr>
          <a:xfrm>
            <a:off x="1645920" y="4160520"/>
            <a:ext cx="3566160" cy="347472"/>
          </a:xfrm>
          <a:prstGeom prst="rect">
            <a:avLst/>
          </a:prstGeom>
          <a:noFill/>
          <a:ln/>
        </p:spPr>
        <p:txBody>
          <a:bodyPr wrap="square" lIns="0" tIns="0" rIns="0" bIns="0" rtlCol="0" anchor="ctr">
            <a:normAutofit/>
          </a:bodyPr>
          <a:lstStyle/>
          <a:p>
            <a:pPr indent="0" marL="0">
              <a:buNone/>
            </a:pPr>
            <a:r>
              <a:rPr lang="en-US" sz="1150" dirty="0">
                <a:solidFill>
                  <a:srgbClr val="6B7280"/>
                </a:solidFill>
              </a:rPr>
              <a:t>acciones, condiciones, transformación y control.</a:t>
            </a:r>
            <a:endParaRPr lang="en-US" sz="1150" dirty="0"/>
          </a:p>
        </p:txBody>
      </p:sp>
      <p:sp>
        <p:nvSpPr>
          <p:cNvPr id="20" name="Shape 18"/>
          <p:cNvSpPr/>
          <p:nvPr/>
        </p:nvSpPr>
        <p:spPr>
          <a:xfrm>
            <a:off x="6217920" y="3474720"/>
            <a:ext cx="4983480" cy="1417320"/>
          </a:xfrm>
          <a:prstGeom prst="roundRect">
            <a:avLst>
              <a:gd name="adj" fmla="val 516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21" name="Shape 19"/>
          <p:cNvSpPr/>
          <p:nvPr/>
        </p:nvSpPr>
        <p:spPr>
          <a:xfrm>
            <a:off x="6537960" y="3794760"/>
            <a:ext cx="475488" cy="475488"/>
          </a:xfrm>
          <a:prstGeom prst="ellipse">
            <a:avLst/>
          </a:prstGeom>
          <a:solidFill>
            <a:srgbClr val="FF7A1A"/>
          </a:solidFill>
          <a:ln w="12700">
            <a:solidFill>
              <a:srgbClr val="FF7A1A">
                <a:alpha val="0"/>
              </a:srgbClr>
            </a:solidFill>
            <a:prstDash val="solid"/>
          </a:ln>
        </p:spPr>
      </p:sp>
      <p:sp>
        <p:nvSpPr>
          <p:cNvPr id="22" name="Text 20"/>
          <p:cNvSpPr/>
          <p:nvPr/>
        </p:nvSpPr>
        <p:spPr>
          <a:xfrm>
            <a:off x="6537960" y="390448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Text 21"/>
          <p:cNvSpPr/>
          <p:nvPr/>
        </p:nvSpPr>
        <p:spPr>
          <a:xfrm>
            <a:off x="7178040" y="3767328"/>
            <a:ext cx="3566160" cy="237744"/>
          </a:xfrm>
          <a:prstGeom prst="rect">
            <a:avLst/>
          </a:prstGeom>
          <a:noFill/>
          <a:ln/>
        </p:spPr>
        <p:txBody>
          <a:bodyPr wrap="square" lIns="0" tIns="0" rIns="0" bIns="0" rtlCol="0" anchor="ctr"/>
          <a:lstStyle/>
          <a:p>
            <a:pPr indent="0" marL="0">
              <a:buNone/>
            </a:pPr>
            <a:r>
              <a:rPr lang="en-US" sz="1500" b="1" dirty="0">
                <a:solidFill>
                  <a:srgbClr val="111827"/>
                </a:solidFill>
              </a:rPr>
              <a:t>Diseñar</a:t>
            </a:r>
            <a:endParaRPr lang="en-US" sz="1500" dirty="0"/>
          </a:p>
        </p:txBody>
      </p:sp>
      <p:sp>
        <p:nvSpPr>
          <p:cNvPr id="24" name="Text 22"/>
          <p:cNvSpPr/>
          <p:nvPr/>
        </p:nvSpPr>
        <p:spPr>
          <a:xfrm>
            <a:off x="7178040" y="4160520"/>
            <a:ext cx="3566160" cy="347472"/>
          </a:xfrm>
          <a:prstGeom prst="rect">
            <a:avLst/>
          </a:prstGeom>
          <a:noFill/>
          <a:ln/>
        </p:spPr>
        <p:txBody>
          <a:bodyPr wrap="square" lIns="0" tIns="0" rIns="0" bIns="0" rtlCol="0" anchor="ctr">
            <a:normAutofit/>
          </a:bodyPr>
          <a:lstStyle/>
          <a:p>
            <a:pPr indent="0" marL="0">
              <a:buNone/>
            </a:pPr>
            <a:r>
              <a:rPr lang="en-US" sz="1150" dirty="0">
                <a:solidFill>
                  <a:srgbClr val="6B7280"/>
                </a:solidFill>
              </a:rPr>
              <a:t>una automatización básica a partir de un diagrama de flujo.</a:t>
            </a:r>
            <a:endParaRPr lang="en-US" sz="115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Del flowchart al flujo automatizado</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Un workflow en n8n puede entenderse como un diagrama de flujo ejecutable.</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685800" y="1417320"/>
            <a:ext cx="6400800" cy="4343400"/>
          </a:xfrm>
          <a:prstGeom prst="roundRect">
            <a:avLst>
              <a:gd name="adj" fmla="val 1684"/>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pic>
        <p:nvPicPr>
          <p:cNvPr id="6" name="Image 0" descr="/mnt/data/n8n_1_extract/part1/image.png">    </p:cNvPr>
          <p:cNvPicPr>
            <a:picLocks noChangeAspect="1"/>
          </p:cNvPicPr>
          <p:nvPr/>
        </p:nvPicPr>
        <p:blipFill>
          <a:blip r:embed="rId1"/>
          <a:stretch>
            <a:fillRect/>
          </a:stretch>
        </p:blipFill>
        <p:spPr>
          <a:xfrm>
            <a:off x="960120" y="1920240"/>
            <a:ext cx="5852160" cy="2651760"/>
          </a:xfrm>
          <a:prstGeom prst="rect">
            <a:avLst/>
          </a:prstGeom>
        </p:spPr>
      </p:pic>
      <p:sp>
        <p:nvSpPr>
          <p:cNvPr id="7" name="Shape 4"/>
          <p:cNvSpPr/>
          <p:nvPr/>
        </p:nvSpPr>
        <p:spPr>
          <a:xfrm>
            <a:off x="960120" y="1920240"/>
            <a:ext cx="5852160" cy="2651760"/>
          </a:xfrm>
          <a:prstGeom prst="roundRect">
            <a:avLst>
              <a:gd name="adj" fmla="val 2069"/>
            </a:avLst>
          </a:prstGeom>
          <a:solidFill>
            <a:srgbClr val="FFFFFF">
              <a:alpha val="0"/>
            </a:srgbClr>
          </a:solidFill>
          <a:ln w="12700">
            <a:solidFill>
              <a:srgbClr val="E5E7EB"/>
            </a:solidFill>
            <a:prstDash val="solid"/>
          </a:ln>
        </p:spPr>
      </p:sp>
      <p:sp>
        <p:nvSpPr>
          <p:cNvPr id="8" name="Text 5"/>
          <p:cNvSpPr/>
          <p:nvPr/>
        </p:nvSpPr>
        <p:spPr>
          <a:xfrm>
            <a:off x="1005840" y="4773168"/>
            <a:ext cx="5715000" cy="411480"/>
          </a:xfrm>
          <a:prstGeom prst="rect">
            <a:avLst/>
          </a:prstGeom>
          <a:noFill/>
          <a:ln/>
        </p:spPr>
        <p:txBody>
          <a:bodyPr wrap="square" lIns="0" tIns="0" rIns="0" bIns="0" rtlCol="0" anchor="ctr">
            <a:normAutofit/>
          </a:bodyPr>
          <a:lstStyle/>
          <a:p>
            <a:pPr indent="0" marL="0">
              <a:buNone/>
            </a:pPr>
            <a:r>
              <a:rPr lang="en-US" sz="1250" b="1" dirty="0">
                <a:solidFill>
                  <a:srgbClr val="111827"/>
                </a:solidFill>
              </a:rPr>
              <a:t>La idea central: cada bloque del diagrama se convierte en un nodo o en un conjunto de nodos.</a:t>
            </a:r>
            <a:endParaRPr lang="en-US" sz="1250" dirty="0"/>
          </a:p>
        </p:txBody>
      </p:sp>
      <p:sp>
        <p:nvSpPr>
          <p:cNvPr id="9" name="Shape 6"/>
          <p:cNvSpPr/>
          <p:nvPr/>
        </p:nvSpPr>
        <p:spPr>
          <a:xfrm>
            <a:off x="7452360" y="1417320"/>
            <a:ext cx="4023360" cy="4343400"/>
          </a:xfrm>
          <a:prstGeom prst="roundRect">
            <a:avLst>
              <a:gd name="adj" fmla="val 1818"/>
            </a:avLst>
          </a:prstGeom>
          <a:solidFill>
            <a:srgbClr val="EEF2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0" name="Text 7"/>
          <p:cNvSpPr/>
          <p:nvPr/>
        </p:nvSpPr>
        <p:spPr>
          <a:xfrm>
            <a:off x="7754112" y="1783080"/>
            <a:ext cx="3291840" cy="274320"/>
          </a:xfrm>
          <a:prstGeom prst="rect">
            <a:avLst/>
          </a:prstGeom>
          <a:noFill/>
          <a:ln/>
        </p:spPr>
        <p:txBody>
          <a:bodyPr wrap="square" lIns="0" tIns="0" rIns="0" bIns="0" rtlCol="0" anchor="ctr"/>
          <a:lstStyle/>
          <a:p>
            <a:pPr indent="0" marL="0">
              <a:buNone/>
            </a:pPr>
            <a:r>
              <a:rPr lang="en-US" sz="1800" b="1" dirty="0">
                <a:solidFill>
                  <a:srgbClr val="111827"/>
                </a:solidFill>
              </a:rPr>
              <a:t>Lectura del flujo</a:t>
            </a:r>
            <a:endParaRPr lang="en-US" sz="1800" dirty="0"/>
          </a:p>
        </p:txBody>
      </p:sp>
      <p:sp>
        <p:nvSpPr>
          <p:cNvPr id="11" name="Text 8"/>
          <p:cNvSpPr/>
          <p:nvPr/>
        </p:nvSpPr>
        <p:spPr>
          <a:xfrm>
            <a:off x="7754112" y="2331720"/>
            <a:ext cx="3383280" cy="2194560"/>
          </a:xfrm>
          <a:prstGeom prst="rect">
            <a:avLst/>
          </a:prstGeom>
          <a:noFill/>
          <a:ln/>
        </p:spPr>
        <p:txBody>
          <a:bodyPr wrap="square" lIns="762" tIns="762" rIns="762" bIns="762" rtlCol="0" anchor="ctr">
            <a:normAutofit/>
          </a:bodyPr>
          <a:lstStyle/>
          <a:p>
            <a:r>
              <a:rPr lang="en-US" sz="1250" dirty="0">
                <a:solidFill>
                  <a:srgbClr val="111827"/>
                </a:solidFill>
              </a:rPr>
              <a:t>Entrada o evento que inicia el proceso.
</a:t>
            </a:r>
            <a:endParaRPr lang="en-US" sz="1250" dirty="0"/>
          </a:p>
          <a:p>
            <a:r>
              <a:rPr lang="en-US" sz="1250" dirty="0">
                <a:solidFill>
                  <a:srgbClr val="111827"/>
                </a:solidFill>
              </a:rPr>
              <a:t>Procesamiento de datos paso a paso.
</a:t>
            </a:r>
            <a:endParaRPr lang="en-US" sz="1250" dirty="0"/>
          </a:p>
          <a:p>
            <a:r>
              <a:rPr lang="en-US" sz="1250" dirty="0">
                <a:solidFill>
                  <a:srgbClr val="111827"/>
                </a:solidFill>
              </a:rPr>
              <a:t>Decisiones condicionales si hay varias rutas.
</a:t>
            </a:r>
            <a:endParaRPr lang="en-US" sz="1250" dirty="0"/>
          </a:p>
          <a:p>
            <a:r>
              <a:rPr lang="en-US" sz="1250" dirty="0">
                <a:solidFill>
                  <a:srgbClr val="111827"/>
                </a:solidFill>
              </a:rPr>
              <a:t>Acciones finales: enviar, guardar, notificar o actualizar.</a:t>
            </a:r>
            <a:endParaRPr lang="en-US" sz="1250" dirty="0"/>
          </a:p>
        </p:txBody>
      </p:sp>
      <p:sp>
        <p:nvSpPr>
          <p:cNvPr id="12" name="Text 9"/>
          <p:cNvSpPr/>
          <p:nvPr/>
        </p:nvSpPr>
        <p:spPr>
          <a:xfrm>
            <a:off x="7754112" y="4846320"/>
            <a:ext cx="3246120" cy="347472"/>
          </a:xfrm>
          <a:prstGeom prst="rect">
            <a:avLst/>
          </a:prstGeom>
          <a:noFill/>
          <a:ln/>
        </p:spPr>
        <p:txBody>
          <a:bodyPr wrap="square" lIns="0" tIns="0" rIns="0" bIns="0" rtlCol="0" anchor="ctr"/>
          <a:lstStyle/>
          <a:p>
            <a:pPr indent="0" marL="0">
              <a:buNone/>
            </a:pPr>
            <a:r>
              <a:rPr lang="en-US" sz="1150" dirty="0">
                <a:solidFill>
                  <a:srgbClr val="6B7280"/>
                </a:solidFill>
              </a:rPr>
              <a:t>En n8n, esta lógica se implementa conectando nodos.</a:t>
            </a:r>
            <a:endParaRPr lang="en-US" sz="115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Cinco tipos de nodos en n8n</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Los nodos son las piezas que permiten construir automatizaciones.</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640080" y="1325880"/>
            <a:ext cx="5074920" cy="4526280"/>
          </a:xfrm>
          <a:prstGeom prst="roundRect">
            <a:avLst>
              <a:gd name="adj" fmla="val 1616"/>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pic>
        <p:nvPicPr>
          <p:cNvPr id="6" name="Image 0" descr="/mnt/data/n8n_1_extract/part1/image 1.png">    </p:cNvPr>
          <p:cNvPicPr>
            <a:picLocks noChangeAspect="1"/>
          </p:cNvPicPr>
          <p:nvPr/>
        </p:nvPicPr>
        <p:blipFill>
          <a:blip r:embed="rId1"/>
          <a:stretch>
            <a:fillRect/>
          </a:stretch>
        </p:blipFill>
        <p:spPr>
          <a:xfrm>
            <a:off x="960120" y="1828800"/>
            <a:ext cx="4434840" cy="2286000"/>
          </a:xfrm>
          <a:prstGeom prst="rect">
            <a:avLst/>
          </a:prstGeom>
        </p:spPr>
      </p:pic>
      <p:sp>
        <p:nvSpPr>
          <p:cNvPr id="7" name="Shape 4"/>
          <p:cNvSpPr/>
          <p:nvPr/>
        </p:nvSpPr>
        <p:spPr>
          <a:xfrm>
            <a:off x="960120" y="1828800"/>
            <a:ext cx="4434840" cy="2286000"/>
          </a:xfrm>
          <a:prstGeom prst="roundRect">
            <a:avLst>
              <a:gd name="adj" fmla="val 2400"/>
            </a:avLst>
          </a:prstGeom>
          <a:solidFill>
            <a:srgbClr val="FFFFFF">
              <a:alpha val="0"/>
            </a:srgbClr>
          </a:solidFill>
          <a:ln w="12700">
            <a:solidFill>
              <a:srgbClr val="E5E7EB"/>
            </a:solidFill>
            <a:prstDash val="solid"/>
          </a:ln>
        </p:spPr>
      </p:sp>
      <p:sp>
        <p:nvSpPr>
          <p:cNvPr id="8" name="Text 5"/>
          <p:cNvSpPr/>
          <p:nvPr/>
        </p:nvSpPr>
        <p:spPr>
          <a:xfrm>
            <a:off x="960120" y="4407408"/>
            <a:ext cx="4480560" cy="320040"/>
          </a:xfrm>
          <a:prstGeom prst="rect">
            <a:avLst/>
          </a:prstGeom>
          <a:noFill/>
          <a:ln/>
        </p:spPr>
        <p:txBody>
          <a:bodyPr wrap="square" lIns="0" tIns="0" rIns="0" bIns="0" rtlCol="0" anchor="ctr"/>
          <a:lstStyle/>
          <a:p>
            <a:pPr algn="ctr" indent="0" marL="0">
              <a:buNone/>
            </a:pPr>
            <a:r>
              <a:rPr lang="en-US" sz="1250" b="1" dirty="0">
                <a:solidFill>
                  <a:srgbClr val="111827"/>
                </a:solidFill>
              </a:rPr>
              <a:t>Clasificación general usada en esta clase</a:t>
            </a:r>
            <a:endParaRPr lang="en-US" sz="1250" dirty="0"/>
          </a:p>
        </p:txBody>
      </p:sp>
      <p:sp>
        <p:nvSpPr>
          <p:cNvPr id="9" name="Shape 6"/>
          <p:cNvSpPr/>
          <p:nvPr/>
        </p:nvSpPr>
        <p:spPr>
          <a:xfrm>
            <a:off x="6172200" y="1417320"/>
            <a:ext cx="2331720" cy="822960"/>
          </a:xfrm>
          <a:prstGeom prst="roundRect">
            <a:avLst>
              <a:gd name="adj" fmla="val 888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0" name="Shape 7"/>
          <p:cNvSpPr/>
          <p:nvPr/>
        </p:nvSpPr>
        <p:spPr>
          <a:xfrm>
            <a:off x="6355080" y="1618488"/>
            <a:ext cx="384048" cy="384048"/>
          </a:xfrm>
          <a:prstGeom prst="ellipse">
            <a:avLst/>
          </a:prstGeom>
          <a:solidFill>
            <a:srgbClr val="FF7A1A"/>
          </a:solidFill>
          <a:ln w="12700">
            <a:solidFill>
              <a:srgbClr val="FF7A1A"/>
            </a:solidFill>
            <a:prstDash val="solid"/>
          </a:ln>
        </p:spPr>
      </p:sp>
      <p:sp>
        <p:nvSpPr>
          <p:cNvPr id="11" name="Text 8"/>
          <p:cNvSpPr/>
          <p:nvPr/>
        </p:nvSpPr>
        <p:spPr>
          <a:xfrm>
            <a:off x="6885432" y="1691640"/>
            <a:ext cx="1417320" cy="201168"/>
          </a:xfrm>
          <a:prstGeom prst="rect">
            <a:avLst/>
          </a:prstGeom>
          <a:noFill/>
          <a:ln/>
        </p:spPr>
        <p:txBody>
          <a:bodyPr wrap="square" lIns="0" tIns="0" rIns="0" bIns="0" rtlCol="0" anchor="ctr"/>
          <a:lstStyle/>
          <a:p>
            <a:pPr indent="0" marL="0">
              <a:buNone/>
            </a:pPr>
            <a:r>
              <a:rPr lang="en-US" sz="1250" b="1" dirty="0">
                <a:solidFill>
                  <a:srgbClr val="111827"/>
                </a:solidFill>
              </a:rPr>
              <a:t>Trigger</a:t>
            </a:r>
            <a:endParaRPr lang="en-US" sz="1250" dirty="0"/>
          </a:p>
        </p:txBody>
      </p:sp>
      <p:sp>
        <p:nvSpPr>
          <p:cNvPr id="12" name="Shape 9"/>
          <p:cNvSpPr/>
          <p:nvPr/>
        </p:nvSpPr>
        <p:spPr>
          <a:xfrm>
            <a:off x="8778240" y="1417320"/>
            <a:ext cx="2331720" cy="822960"/>
          </a:xfrm>
          <a:prstGeom prst="roundRect">
            <a:avLst>
              <a:gd name="adj" fmla="val 888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3" name="Shape 10"/>
          <p:cNvSpPr/>
          <p:nvPr/>
        </p:nvSpPr>
        <p:spPr>
          <a:xfrm>
            <a:off x="8961120" y="1618488"/>
            <a:ext cx="384048" cy="384048"/>
          </a:xfrm>
          <a:prstGeom prst="ellipse">
            <a:avLst/>
          </a:prstGeom>
          <a:solidFill>
            <a:srgbClr val="2563EB"/>
          </a:solidFill>
          <a:ln w="12700">
            <a:solidFill>
              <a:srgbClr val="2563EB"/>
            </a:solidFill>
            <a:prstDash val="solid"/>
          </a:ln>
        </p:spPr>
      </p:sp>
      <p:sp>
        <p:nvSpPr>
          <p:cNvPr id="14" name="Text 11"/>
          <p:cNvSpPr/>
          <p:nvPr/>
        </p:nvSpPr>
        <p:spPr>
          <a:xfrm>
            <a:off x="9491472" y="1691640"/>
            <a:ext cx="1417320" cy="201168"/>
          </a:xfrm>
          <a:prstGeom prst="rect">
            <a:avLst/>
          </a:prstGeom>
          <a:noFill/>
          <a:ln/>
        </p:spPr>
        <p:txBody>
          <a:bodyPr wrap="square" lIns="0" tIns="0" rIns="0" bIns="0" rtlCol="0" anchor="ctr"/>
          <a:lstStyle/>
          <a:p>
            <a:pPr indent="0" marL="0">
              <a:buNone/>
            </a:pPr>
            <a:r>
              <a:rPr lang="en-US" sz="1250" b="1" dirty="0">
                <a:solidFill>
                  <a:srgbClr val="111827"/>
                </a:solidFill>
              </a:rPr>
              <a:t>Acción</a:t>
            </a:r>
            <a:endParaRPr lang="en-US" sz="1250" dirty="0"/>
          </a:p>
        </p:txBody>
      </p:sp>
      <p:sp>
        <p:nvSpPr>
          <p:cNvPr id="15" name="Shape 12"/>
          <p:cNvSpPr/>
          <p:nvPr/>
        </p:nvSpPr>
        <p:spPr>
          <a:xfrm>
            <a:off x="6172200" y="2743200"/>
            <a:ext cx="2331720" cy="822960"/>
          </a:xfrm>
          <a:prstGeom prst="roundRect">
            <a:avLst>
              <a:gd name="adj" fmla="val 888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6" name="Shape 13"/>
          <p:cNvSpPr/>
          <p:nvPr/>
        </p:nvSpPr>
        <p:spPr>
          <a:xfrm>
            <a:off x="6355080" y="2944368"/>
            <a:ext cx="384048" cy="384048"/>
          </a:xfrm>
          <a:prstGeom prst="ellipse">
            <a:avLst/>
          </a:prstGeom>
          <a:solidFill>
            <a:srgbClr val="635BFF"/>
          </a:solidFill>
          <a:ln w="12700">
            <a:solidFill>
              <a:srgbClr val="635BFF"/>
            </a:solidFill>
            <a:prstDash val="solid"/>
          </a:ln>
        </p:spPr>
      </p:sp>
      <p:sp>
        <p:nvSpPr>
          <p:cNvPr id="17" name="Text 14"/>
          <p:cNvSpPr/>
          <p:nvPr/>
        </p:nvSpPr>
        <p:spPr>
          <a:xfrm>
            <a:off x="6885432" y="3017520"/>
            <a:ext cx="1417320" cy="201168"/>
          </a:xfrm>
          <a:prstGeom prst="rect">
            <a:avLst/>
          </a:prstGeom>
          <a:noFill/>
          <a:ln/>
        </p:spPr>
        <p:txBody>
          <a:bodyPr wrap="square" lIns="0" tIns="0" rIns="0" bIns="0" rtlCol="0" anchor="ctr"/>
          <a:lstStyle/>
          <a:p>
            <a:pPr indent="0" marL="0">
              <a:buNone/>
            </a:pPr>
            <a:r>
              <a:rPr lang="en-US" sz="1250" b="1" dirty="0">
                <a:solidFill>
                  <a:srgbClr val="111827"/>
                </a:solidFill>
              </a:rPr>
              <a:t>Condición</a:t>
            </a:r>
            <a:endParaRPr lang="en-US" sz="1250" dirty="0"/>
          </a:p>
        </p:txBody>
      </p:sp>
      <p:sp>
        <p:nvSpPr>
          <p:cNvPr id="18" name="Shape 15"/>
          <p:cNvSpPr/>
          <p:nvPr/>
        </p:nvSpPr>
        <p:spPr>
          <a:xfrm>
            <a:off x="8778240" y="2743200"/>
            <a:ext cx="2331720" cy="822960"/>
          </a:xfrm>
          <a:prstGeom prst="roundRect">
            <a:avLst>
              <a:gd name="adj" fmla="val 888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9" name="Shape 16"/>
          <p:cNvSpPr/>
          <p:nvPr/>
        </p:nvSpPr>
        <p:spPr>
          <a:xfrm>
            <a:off x="8961120" y="2944368"/>
            <a:ext cx="384048" cy="384048"/>
          </a:xfrm>
          <a:prstGeom prst="ellipse">
            <a:avLst/>
          </a:prstGeom>
          <a:solidFill>
            <a:srgbClr val="10B981"/>
          </a:solidFill>
          <a:ln w="12700">
            <a:solidFill>
              <a:srgbClr val="10B981"/>
            </a:solidFill>
            <a:prstDash val="solid"/>
          </a:ln>
        </p:spPr>
      </p:sp>
      <p:sp>
        <p:nvSpPr>
          <p:cNvPr id="20" name="Text 17"/>
          <p:cNvSpPr/>
          <p:nvPr/>
        </p:nvSpPr>
        <p:spPr>
          <a:xfrm>
            <a:off x="9491472" y="3017520"/>
            <a:ext cx="1417320" cy="201168"/>
          </a:xfrm>
          <a:prstGeom prst="rect">
            <a:avLst/>
          </a:prstGeom>
          <a:noFill/>
          <a:ln/>
        </p:spPr>
        <p:txBody>
          <a:bodyPr wrap="square" lIns="0" tIns="0" rIns="0" bIns="0" rtlCol="0" anchor="ctr"/>
          <a:lstStyle/>
          <a:p>
            <a:pPr indent="0" marL="0">
              <a:buNone/>
            </a:pPr>
            <a:r>
              <a:rPr lang="en-US" sz="1250" b="1" dirty="0">
                <a:solidFill>
                  <a:srgbClr val="111827"/>
                </a:solidFill>
              </a:rPr>
              <a:t>Transformación</a:t>
            </a:r>
            <a:endParaRPr lang="en-US" sz="1250" dirty="0"/>
          </a:p>
        </p:txBody>
      </p:sp>
      <p:sp>
        <p:nvSpPr>
          <p:cNvPr id="21" name="Shape 18"/>
          <p:cNvSpPr/>
          <p:nvPr/>
        </p:nvSpPr>
        <p:spPr>
          <a:xfrm>
            <a:off x="6172200" y="4069080"/>
            <a:ext cx="2331720" cy="822960"/>
          </a:xfrm>
          <a:prstGeom prst="roundRect">
            <a:avLst>
              <a:gd name="adj" fmla="val 888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22" name="Shape 19"/>
          <p:cNvSpPr/>
          <p:nvPr/>
        </p:nvSpPr>
        <p:spPr>
          <a:xfrm>
            <a:off x="6355080" y="4270248"/>
            <a:ext cx="384048" cy="384048"/>
          </a:xfrm>
          <a:prstGeom prst="ellipse">
            <a:avLst/>
          </a:prstGeom>
          <a:solidFill>
            <a:srgbClr val="EF4444"/>
          </a:solidFill>
          <a:ln w="12700">
            <a:solidFill>
              <a:srgbClr val="EF4444"/>
            </a:solidFill>
            <a:prstDash val="solid"/>
          </a:ln>
        </p:spPr>
      </p:sp>
      <p:sp>
        <p:nvSpPr>
          <p:cNvPr id="23" name="Text 20"/>
          <p:cNvSpPr/>
          <p:nvPr/>
        </p:nvSpPr>
        <p:spPr>
          <a:xfrm>
            <a:off x="6885432" y="4343400"/>
            <a:ext cx="1417320" cy="201168"/>
          </a:xfrm>
          <a:prstGeom prst="rect">
            <a:avLst/>
          </a:prstGeom>
          <a:noFill/>
          <a:ln/>
        </p:spPr>
        <p:txBody>
          <a:bodyPr wrap="square" lIns="0" tIns="0" rIns="0" bIns="0" rtlCol="0" anchor="ctr"/>
          <a:lstStyle/>
          <a:p>
            <a:pPr indent="0" marL="0">
              <a:buNone/>
            </a:pPr>
            <a:r>
              <a:rPr lang="en-US" sz="1250" b="1" dirty="0">
                <a:solidFill>
                  <a:srgbClr val="111827"/>
                </a:solidFill>
              </a:rPr>
              <a:t>Control</a:t>
            </a:r>
            <a:endParaRPr lang="en-US" sz="1250" dirty="0"/>
          </a:p>
        </p:txBody>
      </p:sp>
      <p:sp>
        <p:nvSpPr>
          <p:cNvPr id="24" name="Text 21"/>
          <p:cNvSpPr/>
          <p:nvPr/>
        </p:nvSpPr>
        <p:spPr>
          <a:xfrm>
            <a:off x="6172200" y="5394960"/>
            <a:ext cx="5212080" cy="320040"/>
          </a:xfrm>
          <a:prstGeom prst="rect">
            <a:avLst/>
          </a:prstGeom>
          <a:noFill/>
          <a:ln/>
        </p:spPr>
        <p:txBody>
          <a:bodyPr wrap="square" lIns="0" tIns="0" rIns="0" bIns="0" rtlCol="0" anchor="ctr">
            <a:normAutofit/>
          </a:bodyPr>
          <a:lstStyle/>
          <a:p>
            <a:pPr indent="0" marL="0">
              <a:buNone/>
            </a:pPr>
            <a:r>
              <a:rPr lang="en-US" sz="1250" dirty="0">
                <a:solidFill>
                  <a:srgbClr val="6B7280"/>
                </a:solidFill>
              </a:rPr>
              <a:t>Combinándolos puedes construir desde automatizaciones sencillas hasta procesos empresariales complejos.</a:t>
            </a:r>
            <a:endParaRPr lang="en-US" sz="125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7A1A"/>
        </a:solidFill>
      </p:bgPr>
    </p:bg>
    <p:spTree>
      <p:nvGrpSpPr>
        <p:cNvPr id="1" name=""/>
        <p:cNvGrpSpPr/>
        <p:nvPr/>
      </p:nvGrpSpPr>
      <p:grpSpPr>
        <a:xfrm>
          <a:off x="0" y="0"/>
          <a:ext cx="0" cy="0"/>
          <a:chOff x="0" y="0"/>
          <a:chExt cx="0" cy="0"/>
        </a:xfrm>
      </p:grpSpPr>
      <p:sp>
        <p:nvSpPr>
          <p:cNvPr id="2" name="Text 0"/>
          <p:cNvSpPr/>
          <p:nvPr/>
        </p:nvSpPr>
        <p:spPr>
          <a:xfrm>
            <a:off x="640080" y="685800"/>
            <a:ext cx="1188720" cy="502920"/>
          </a:xfrm>
          <a:prstGeom prst="rect">
            <a:avLst/>
          </a:prstGeom>
          <a:noFill/>
          <a:ln/>
        </p:spPr>
        <p:txBody>
          <a:bodyPr wrap="square" lIns="0" tIns="0" rIns="0" bIns="0" rtlCol="0" anchor="ctr"/>
          <a:lstStyle/>
          <a:p>
            <a:pPr indent="0" marL="0">
              <a:buNone/>
            </a:pPr>
            <a:r>
              <a:rPr lang="en-US" sz="2400" b="1" dirty="0">
                <a:solidFill>
                  <a:srgbClr val="FFFFFF">
                    <a:alpha val="85000"/>
                  </a:srgbClr>
                </a:solidFill>
              </a:rPr>
              <a:t>01</a:t>
            </a:r>
            <a:endParaRPr lang="en-US" sz="2400" dirty="0"/>
          </a:p>
        </p:txBody>
      </p:sp>
      <p:sp>
        <p:nvSpPr>
          <p:cNvPr id="3" name="Text 1"/>
          <p:cNvSpPr/>
          <p:nvPr/>
        </p:nvSpPr>
        <p:spPr>
          <a:xfrm>
            <a:off x="640080" y="1965960"/>
            <a:ext cx="10698480" cy="777240"/>
          </a:xfrm>
          <a:prstGeom prst="rect">
            <a:avLst/>
          </a:prstGeom>
          <a:noFill/>
          <a:ln/>
        </p:spPr>
        <p:txBody>
          <a:bodyPr wrap="square" lIns="0" tIns="0" rIns="0" bIns="0" rtlCol="0" anchor="ctr"/>
          <a:lstStyle/>
          <a:p>
            <a:pPr indent="0" marL="0">
              <a:buNone/>
            </a:pPr>
            <a:r>
              <a:rPr lang="en-US" sz="3400" b="1" dirty="0">
                <a:solidFill>
                  <a:srgbClr val="FFFFFF"/>
                </a:solidFill>
              </a:rPr>
              <a:t>Nodos Trigger</a:t>
            </a:r>
            <a:endParaRPr lang="en-US" sz="3400" dirty="0"/>
          </a:p>
        </p:txBody>
      </p:sp>
      <p:sp>
        <p:nvSpPr>
          <p:cNvPr id="4" name="Shape 2"/>
          <p:cNvSpPr/>
          <p:nvPr/>
        </p:nvSpPr>
        <p:spPr>
          <a:xfrm>
            <a:off x="658368" y="2907792"/>
            <a:ext cx="1920240" cy="0"/>
          </a:xfrm>
          <a:prstGeom prst="line">
            <a:avLst/>
          </a:prstGeom>
          <a:noFill/>
          <a:ln w="38100">
            <a:solidFill>
              <a:srgbClr val="FFFFFF"/>
            </a:solidFill>
            <a:prstDash val="solid"/>
          </a:ln>
        </p:spPr>
      </p:sp>
      <p:sp>
        <p:nvSpPr>
          <p:cNvPr id="5" name="Text 3"/>
          <p:cNvSpPr/>
          <p:nvPr/>
        </p:nvSpPr>
        <p:spPr>
          <a:xfrm>
            <a:off x="658368" y="3246120"/>
            <a:ext cx="8412480" cy="594360"/>
          </a:xfrm>
          <a:prstGeom prst="rect">
            <a:avLst/>
          </a:prstGeom>
          <a:noFill/>
          <a:ln/>
        </p:spPr>
        <p:txBody>
          <a:bodyPr wrap="square" lIns="0" tIns="0" rIns="0" bIns="0" rtlCol="0" anchor="ctr">
            <a:normAutofit/>
          </a:bodyPr>
          <a:lstStyle/>
          <a:p>
            <a:pPr indent="0" marL="0">
              <a:buNone/>
            </a:pPr>
            <a:r>
              <a:rPr lang="en-US" sz="1600" dirty="0">
                <a:solidFill>
                  <a:srgbClr val="FFFFFF">
                    <a:alpha val="95000"/>
                  </a:srgbClr>
                </a:solidFill>
              </a:rPr>
              <a:t>El punto de partida de una automatización: detectan un evento y arrancan el workflow.</a:t>
            </a:r>
            <a:endParaRPr lang="en-US" sz="160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¿Cómo funcionan los nodos Trigger?</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Su rol es iniciar el flujo sin intervención manual.</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731520" y="1463040"/>
            <a:ext cx="2880360" cy="3474720"/>
          </a:xfrm>
          <a:prstGeom prst="roundRect">
            <a:avLst>
              <a:gd name="adj" fmla="val 2540"/>
            </a:avLst>
          </a:prstGeom>
          <a:solidFill>
            <a:srgbClr val="FFF7ED"/>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6" name="Text 4"/>
          <p:cNvSpPr/>
          <p:nvPr/>
        </p:nvSpPr>
        <p:spPr>
          <a:xfrm>
            <a:off x="960120" y="1783080"/>
            <a:ext cx="2377440" cy="320040"/>
          </a:xfrm>
          <a:prstGeom prst="rect">
            <a:avLst/>
          </a:prstGeom>
          <a:noFill/>
          <a:ln/>
        </p:spPr>
        <p:txBody>
          <a:bodyPr wrap="square" lIns="0" tIns="0" rIns="0" bIns="0" rtlCol="0" anchor="ctr"/>
          <a:lstStyle/>
          <a:p>
            <a:pPr algn="ctr" indent="0" marL="0">
              <a:buNone/>
            </a:pPr>
            <a:r>
              <a:rPr lang="en-US" sz="1700" b="1" dirty="0">
                <a:solidFill>
                  <a:srgbClr val="111827"/>
                </a:solidFill>
              </a:rPr>
              <a:t>Detectan eventos</a:t>
            </a:r>
            <a:endParaRPr lang="en-US" sz="1700" dirty="0"/>
          </a:p>
        </p:txBody>
      </p:sp>
      <p:sp>
        <p:nvSpPr>
          <p:cNvPr id="7" name="Text 5"/>
          <p:cNvSpPr/>
          <p:nvPr/>
        </p:nvSpPr>
        <p:spPr>
          <a:xfrm>
            <a:off x="987552" y="2331720"/>
            <a:ext cx="2331720" cy="914400"/>
          </a:xfrm>
          <a:prstGeom prst="rect">
            <a:avLst/>
          </a:prstGeom>
          <a:noFill/>
          <a:ln/>
        </p:spPr>
        <p:txBody>
          <a:bodyPr wrap="square" lIns="0" tIns="0" rIns="0" bIns="0" rtlCol="0" anchor="ctr">
            <a:normAutofit/>
          </a:bodyPr>
          <a:lstStyle/>
          <a:p>
            <a:pPr algn="ctr" indent="0" marL="0">
              <a:buNone/>
            </a:pPr>
            <a:r>
              <a:rPr lang="en-US" sz="1300" dirty="0">
                <a:solidFill>
                  <a:srgbClr val="111827"/>
                </a:solidFill>
              </a:rPr>
              <a:t>Cuando ocurre algo, el trigger activa el workflow y pasa los datos al siguiente nodo.</a:t>
            </a:r>
            <a:endParaRPr lang="en-US" sz="1300" dirty="0"/>
          </a:p>
        </p:txBody>
      </p:sp>
      <p:sp>
        <p:nvSpPr>
          <p:cNvPr id="8" name="Shape 6"/>
          <p:cNvSpPr/>
          <p:nvPr/>
        </p:nvSpPr>
        <p:spPr>
          <a:xfrm>
            <a:off x="1078992" y="4069080"/>
            <a:ext cx="2148840" cy="329184"/>
          </a:xfrm>
          <a:prstGeom prst="roundRect">
            <a:avLst>
              <a:gd name="adj" fmla="val 22222"/>
            </a:avLst>
          </a:prstGeom>
          <a:solidFill>
            <a:srgbClr val="FF7A1A"/>
          </a:solidFill>
          <a:ln w="12700">
            <a:solidFill>
              <a:srgbClr val="FF7A1A">
                <a:alpha val="0"/>
              </a:srgbClr>
            </a:solidFill>
            <a:prstDash val="solid"/>
          </a:ln>
        </p:spPr>
      </p:sp>
      <p:sp>
        <p:nvSpPr>
          <p:cNvPr id="9" name="Text 7"/>
          <p:cNvSpPr/>
          <p:nvPr/>
        </p:nvSpPr>
        <p:spPr>
          <a:xfrm>
            <a:off x="1078992" y="4137660"/>
            <a:ext cx="2148840" cy="146304"/>
          </a:xfrm>
          <a:prstGeom prst="rect">
            <a:avLst/>
          </a:prstGeom>
          <a:noFill/>
          <a:ln/>
        </p:spPr>
        <p:txBody>
          <a:bodyPr wrap="square" lIns="0" tIns="0" rIns="0" bIns="0" rtlCol="0" anchor="ctr"/>
          <a:lstStyle/>
          <a:p>
            <a:pPr algn="ctr" indent="0" marL="0">
              <a:buNone/>
            </a:pPr>
            <a:r>
              <a:rPr lang="en-US" sz="800" b="1" dirty="0">
                <a:solidFill>
                  <a:srgbClr val="FFFFFF"/>
                </a:solidFill>
              </a:rPr>
              <a:t>Inicio automático</a:t>
            </a:r>
            <a:endParaRPr lang="en-US" sz="800" dirty="0"/>
          </a:p>
        </p:txBody>
      </p:sp>
      <p:sp>
        <p:nvSpPr>
          <p:cNvPr id="10" name="Shape 8"/>
          <p:cNvSpPr/>
          <p:nvPr/>
        </p:nvSpPr>
        <p:spPr>
          <a:xfrm>
            <a:off x="4160520" y="1508760"/>
            <a:ext cx="717804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1" name="Shape 9"/>
          <p:cNvSpPr/>
          <p:nvPr/>
        </p:nvSpPr>
        <p:spPr>
          <a:xfrm>
            <a:off x="4407408" y="1691640"/>
            <a:ext cx="475488" cy="475488"/>
          </a:xfrm>
          <a:prstGeom prst="ellipse">
            <a:avLst/>
          </a:prstGeom>
          <a:solidFill>
            <a:srgbClr val="FF7A1A"/>
          </a:solidFill>
          <a:ln w="12700">
            <a:solidFill>
              <a:srgbClr val="FF7A1A">
                <a:alpha val="0"/>
              </a:srgbClr>
            </a:solidFill>
            <a:prstDash val="solid"/>
          </a:ln>
        </p:spPr>
      </p:sp>
      <p:sp>
        <p:nvSpPr>
          <p:cNvPr id="12" name="Text 10"/>
          <p:cNvSpPr/>
          <p:nvPr/>
        </p:nvSpPr>
        <p:spPr>
          <a:xfrm>
            <a:off x="4407408" y="180136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3" name="Text 11"/>
          <p:cNvSpPr/>
          <p:nvPr/>
        </p:nvSpPr>
        <p:spPr>
          <a:xfrm>
            <a:off x="5074920" y="1709928"/>
            <a:ext cx="2377440" cy="228600"/>
          </a:xfrm>
          <a:prstGeom prst="rect">
            <a:avLst/>
          </a:prstGeom>
          <a:noFill/>
          <a:ln/>
        </p:spPr>
        <p:txBody>
          <a:bodyPr wrap="square" lIns="0" tIns="0" rIns="0" bIns="0" rtlCol="0" anchor="ctr"/>
          <a:lstStyle/>
          <a:p>
            <a:pPr indent="0" marL="0">
              <a:buNone/>
            </a:pPr>
            <a:r>
              <a:rPr lang="en-US" sz="1400" b="1" dirty="0">
                <a:solidFill>
                  <a:srgbClr val="111827"/>
                </a:solidFill>
              </a:rPr>
              <a:t>Formulario enviado</a:t>
            </a:r>
            <a:endParaRPr lang="en-US" sz="1400" dirty="0"/>
          </a:p>
        </p:txBody>
      </p:sp>
      <p:sp>
        <p:nvSpPr>
          <p:cNvPr id="14" name="Text 12"/>
          <p:cNvSpPr/>
          <p:nvPr/>
        </p:nvSpPr>
        <p:spPr>
          <a:xfrm>
            <a:off x="7498080" y="1719072"/>
            <a:ext cx="3337560" cy="228600"/>
          </a:xfrm>
          <a:prstGeom prst="rect">
            <a:avLst/>
          </a:prstGeom>
          <a:noFill/>
          <a:ln/>
        </p:spPr>
        <p:txBody>
          <a:bodyPr wrap="square" lIns="0" tIns="0" rIns="0" bIns="0" rtlCol="0" anchor="ctr"/>
          <a:lstStyle/>
          <a:p>
            <a:pPr indent="0" marL="0">
              <a:buNone/>
            </a:pPr>
            <a:r>
              <a:rPr lang="en-US" sz="1150" dirty="0">
                <a:solidFill>
                  <a:srgbClr val="6B7280"/>
                </a:solidFill>
              </a:rPr>
              <a:t>Se ejecuta al recibir una respuesta.</a:t>
            </a:r>
            <a:endParaRPr lang="en-US" sz="1150" dirty="0"/>
          </a:p>
        </p:txBody>
      </p:sp>
      <p:sp>
        <p:nvSpPr>
          <p:cNvPr id="15" name="Shape 13"/>
          <p:cNvSpPr/>
          <p:nvPr/>
        </p:nvSpPr>
        <p:spPr>
          <a:xfrm>
            <a:off x="4160520" y="2743200"/>
            <a:ext cx="717804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6" name="Shape 14"/>
          <p:cNvSpPr/>
          <p:nvPr/>
        </p:nvSpPr>
        <p:spPr>
          <a:xfrm>
            <a:off x="4407408" y="2926080"/>
            <a:ext cx="475488" cy="475488"/>
          </a:xfrm>
          <a:prstGeom prst="ellipse">
            <a:avLst/>
          </a:prstGeom>
          <a:solidFill>
            <a:srgbClr val="FF7A1A"/>
          </a:solidFill>
          <a:ln w="12700">
            <a:solidFill>
              <a:srgbClr val="FF7A1A">
                <a:alpha val="0"/>
              </a:srgbClr>
            </a:solidFill>
            <a:prstDash val="solid"/>
          </a:ln>
        </p:spPr>
      </p:sp>
      <p:sp>
        <p:nvSpPr>
          <p:cNvPr id="17" name="Text 15"/>
          <p:cNvSpPr/>
          <p:nvPr/>
        </p:nvSpPr>
        <p:spPr>
          <a:xfrm>
            <a:off x="4407408" y="303580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8" name="Text 16"/>
          <p:cNvSpPr/>
          <p:nvPr/>
        </p:nvSpPr>
        <p:spPr>
          <a:xfrm>
            <a:off x="5074920" y="2944368"/>
            <a:ext cx="2377440" cy="228600"/>
          </a:xfrm>
          <a:prstGeom prst="rect">
            <a:avLst/>
          </a:prstGeom>
          <a:noFill/>
          <a:ln/>
        </p:spPr>
        <p:txBody>
          <a:bodyPr wrap="square" lIns="0" tIns="0" rIns="0" bIns="0" rtlCol="0" anchor="ctr"/>
          <a:lstStyle/>
          <a:p>
            <a:pPr indent="0" marL="0">
              <a:buNone/>
            </a:pPr>
            <a:r>
              <a:rPr lang="en-US" sz="1400" b="1" dirty="0">
                <a:solidFill>
                  <a:srgbClr val="111827"/>
                </a:solidFill>
              </a:rPr>
              <a:t>Correo recibido</a:t>
            </a:r>
            <a:endParaRPr lang="en-US" sz="1400" dirty="0"/>
          </a:p>
        </p:txBody>
      </p:sp>
      <p:sp>
        <p:nvSpPr>
          <p:cNvPr id="19" name="Text 17"/>
          <p:cNvSpPr/>
          <p:nvPr/>
        </p:nvSpPr>
        <p:spPr>
          <a:xfrm>
            <a:off x="7498080" y="2953512"/>
            <a:ext cx="3337560" cy="228600"/>
          </a:xfrm>
          <a:prstGeom prst="rect">
            <a:avLst/>
          </a:prstGeom>
          <a:noFill/>
          <a:ln/>
        </p:spPr>
        <p:txBody>
          <a:bodyPr wrap="square" lIns="0" tIns="0" rIns="0" bIns="0" rtlCol="0" anchor="ctr"/>
          <a:lstStyle/>
          <a:p>
            <a:pPr indent="0" marL="0">
              <a:buNone/>
            </a:pPr>
            <a:r>
              <a:rPr lang="en-US" sz="1150" dirty="0">
                <a:solidFill>
                  <a:srgbClr val="6B7280"/>
                </a:solidFill>
              </a:rPr>
              <a:t>Arranca cuando llega un email.</a:t>
            </a:r>
            <a:endParaRPr lang="en-US" sz="1150" dirty="0"/>
          </a:p>
        </p:txBody>
      </p:sp>
      <p:sp>
        <p:nvSpPr>
          <p:cNvPr id="20" name="Shape 18"/>
          <p:cNvSpPr/>
          <p:nvPr/>
        </p:nvSpPr>
        <p:spPr>
          <a:xfrm>
            <a:off x="4160520" y="3977640"/>
            <a:ext cx="717804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21" name="Shape 19"/>
          <p:cNvSpPr/>
          <p:nvPr/>
        </p:nvSpPr>
        <p:spPr>
          <a:xfrm>
            <a:off x="4407408" y="4160520"/>
            <a:ext cx="475488" cy="475488"/>
          </a:xfrm>
          <a:prstGeom prst="ellipse">
            <a:avLst/>
          </a:prstGeom>
          <a:solidFill>
            <a:srgbClr val="FF7A1A"/>
          </a:solidFill>
          <a:ln w="12700">
            <a:solidFill>
              <a:srgbClr val="FF7A1A">
                <a:alpha val="0"/>
              </a:srgbClr>
            </a:solidFill>
            <a:prstDash val="solid"/>
          </a:ln>
        </p:spPr>
      </p:sp>
      <p:sp>
        <p:nvSpPr>
          <p:cNvPr id="22" name="Text 20"/>
          <p:cNvSpPr/>
          <p:nvPr/>
        </p:nvSpPr>
        <p:spPr>
          <a:xfrm>
            <a:off x="4407408" y="427024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3" name="Text 21"/>
          <p:cNvSpPr/>
          <p:nvPr/>
        </p:nvSpPr>
        <p:spPr>
          <a:xfrm>
            <a:off x="5074920" y="4178808"/>
            <a:ext cx="2377440" cy="228600"/>
          </a:xfrm>
          <a:prstGeom prst="rect">
            <a:avLst/>
          </a:prstGeom>
          <a:noFill/>
          <a:ln/>
        </p:spPr>
        <p:txBody>
          <a:bodyPr wrap="square" lIns="0" tIns="0" rIns="0" bIns="0" rtlCol="0" anchor="ctr"/>
          <a:lstStyle/>
          <a:p>
            <a:pPr indent="0" marL="0">
              <a:buNone/>
            </a:pPr>
            <a:r>
              <a:rPr lang="en-US" sz="1400" b="1" dirty="0">
                <a:solidFill>
                  <a:srgbClr val="111827"/>
                </a:solidFill>
              </a:rPr>
              <a:t>Hora específica</a:t>
            </a:r>
            <a:endParaRPr lang="en-US" sz="1400" dirty="0"/>
          </a:p>
        </p:txBody>
      </p:sp>
      <p:sp>
        <p:nvSpPr>
          <p:cNvPr id="24" name="Text 22"/>
          <p:cNvSpPr/>
          <p:nvPr/>
        </p:nvSpPr>
        <p:spPr>
          <a:xfrm>
            <a:off x="7498080" y="4187952"/>
            <a:ext cx="3337560" cy="228600"/>
          </a:xfrm>
          <a:prstGeom prst="rect">
            <a:avLst/>
          </a:prstGeom>
          <a:noFill/>
          <a:ln/>
        </p:spPr>
        <p:txBody>
          <a:bodyPr wrap="square" lIns="0" tIns="0" rIns="0" bIns="0" rtlCol="0" anchor="ctr"/>
          <a:lstStyle/>
          <a:p>
            <a:pPr indent="0" marL="0">
              <a:buNone/>
            </a:pPr>
            <a:r>
              <a:rPr lang="en-US" sz="1150" dirty="0">
                <a:solidFill>
                  <a:srgbClr val="6B7280"/>
                </a:solidFill>
              </a:rPr>
              <a:t>Se programa para una fecha u hora.</a:t>
            </a:r>
            <a:endParaRPr lang="en-US" sz="115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563EB"/>
        </a:solidFill>
      </p:bgPr>
    </p:bg>
    <p:spTree>
      <p:nvGrpSpPr>
        <p:cNvPr id="1" name=""/>
        <p:cNvGrpSpPr/>
        <p:nvPr/>
      </p:nvGrpSpPr>
      <p:grpSpPr>
        <a:xfrm>
          <a:off x="0" y="0"/>
          <a:ext cx="0" cy="0"/>
          <a:chOff x="0" y="0"/>
          <a:chExt cx="0" cy="0"/>
        </a:xfrm>
      </p:grpSpPr>
      <p:sp>
        <p:nvSpPr>
          <p:cNvPr id="2" name="Text 0"/>
          <p:cNvSpPr/>
          <p:nvPr/>
        </p:nvSpPr>
        <p:spPr>
          <a:xfrm>
            <a:off x="640080" y="685800"/>
            <a:ext cx="1188720" cy="502920"/>
          </a:xfrm>
          <a:prstGeom prst="rect">
            <a:avLst/>
          </a:prstGeom>
          <a:noFill/>
          <a:ln/>
        </p:spPr>
        <p:txBody>
          <a:bodyPr wrap="square" lIns="0" tIns="0" rIns="0" bIns="0" rtlCol="0" anchor="ctr"/>
          <a:lstStyle/>
          <a:p>
            <a:pPr indent="0" marL="0">
              <a:buNone/>
            </a:pPr>
            <a:r>
              <a:rPr lang="en-US" sz="2400" b="1" dirty="0">
                <a:solidFill>
                  <a:srgbClr val="FFFFFF">
                    <a:alpha val="85000"/>
                  </a:srgbClr>
                </a:solidFill>
              </a:rPr>
              <a:t>02</a:t>
            </a:r>
            <a:endParaRPr lang="en-US" sz="2400" dirty="0"/>
          </a:p>
        </p:txBody>
      </p:sp>
      <p:sp>
        <p:nvSpPr>
          <p:cNvPr id="3" name="Text 1"/>
          <p:cNvSpPr/>
          <p:nvPr/>
        </p:nvSpPr>
        <p:spPr>
          <a:xfrm>
            <a:off x="640080" y="1965960"/>
            <a:ext cx="10698480" cy="777240"/>
          </a:xfrm>
          <a:prstGeom prst="rect">
            <a:avLst/>
          </a:prstGeom>
          <a:noFill/>
          <a:ln/>
        </p:spPr>
        <p:txBody>
          <a:bodyPr wrap="square" lIns="0" tIns="0" rIns="0" bIns="0" rtlCol="0" anchor="ctr"/>
          <a:lstStyle/>
          <a:p>
            <a:pPr indent="0" marL="0">
              <a:buNone/>
            </a:pPr>
            <a:r>
              <a:rPr lang="en-US" sz="3400" b="1" dirty="0">
                <a:solidFill>
                  <a:srgbClr val="FFFFFF"/>
                </a:solidFill>
              </a:rPr>
              <a:t>Nodos de Acción</a:t>
            </a:r>
            <a:endParaRPr lang="en-US" sz="3400" dirty="0"/>
          </a:p>
        </p:txBody>
      </p:sp>
      <p:sp>
        <p:nvSpPr>
          <p:cNvPr id="4" name="Shape 2"/>
          <p:cNvSpPr/>
          <p:nvPr/>
        </p:nvSpPr>
        <p:spPr>
          <a:xfrm>
            <a:off x="658368" y="2907792"/>
            <a:ext cx="1920240" cy="0"/>
          </a:xfrm>
          <a:prstGeom prst="line">
            <a:avLst/>
          </a:prstGeom>
          <a:noFill/>
          <a:ln w="38100">
            <a:solidFill>
              <a:srgbClr val="FFFFFF"/>
            </a:solidFill>
            <a:prstDash val="solid"/>
          </a:ln>
        </p:spPr>
      </p:sp>
      <p:sp>
        <p:nvSpPr>
          <p:cNvPr id="5" name="Text 3"/>
          <p:cNvSpPr/>
          <p:nvPr/>
        </p:nvSpPr>
        <p:spPr>
          <a:xfrm>
            <a:off x="658368" y="3246120"/>
            <a:ext cx="8412480" cy="594360"/>
          </a:xfrm>
          <a:prstGeom prst="rect">
            <a:avLst/>
          </a:prstGeom>
          <a:noFill/>
          <a:ln/>
        </p:spPr>
        <p:txBody>
          <a:bodyPr wrap="square" lIns="0" tIns="0" rIns="0" bIns="0" rtlCol="0" anchor="ctr">
            <a:normAutofit/>
          </a:bodyPr>
          <a:lstStyle/>
          <a:p>
            <a:pPr indent="0" marL="0">
              <a:buNone/>
            </a:pPr>
            <a:r>
              <a:rPr lang="en-US" sz="1600" dirty="0">
                <a:solidFill>
                  <a:srgbClr val="FFFFFF">
                    <a:alpha val="95000"/>
                  </a:srgbClr>
                </a:solidFill>
              </a:rPr>
              <a:t>Ejecutan tareas concretas una vez iniciado el flujo.</a:t>
            </a:r>
            <a:endParaRPr lang="en-US" sz="160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¿Qué hacen los nodos de Acción?</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Realizan la operación que necesitas: comunicar, guardar, crear, actualizar o consultar.</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685800" y="1417320"/>
            <a:ext cx="5120640" cy="4434840"/>
          </a:xfrm>
          <a:prstGeom prst="roundRect">
            <a:avLst>
              <a:gd name="adj" fmla="val 164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pic>
        <p:nvPicPr>
          <p:cNvPr id="6" name="Image 0" descr="/mnt/data/n8n_1_extract/part1/image 2.png">    </p:cNvPr>
          <p:cNvPicPr>
            <a:picLocks noChangeAspect="1"/>
          </p:cNvPicPr>
          <p:nvPr/>
        </p:nvPicPr>
        <p:blipFill>
          <a:blip r:embed="rId1"/>
          <a:stretch>
            <a:fillRect/>
          </a:stretch>
        </p:blipFill>
        <p:spPr>
          <a:xfrm>
            <a:off x="1234440" y="1828800"/>
            <a:ext cx="4023360" cy="2487168"/>
          </a:xfrm>
          <a:prstGeom prst="rect">
            <a:avLst/>
          </a:prstGeom>
        </p:spPr>
      </p:pic>
      <p:sp>
        <p:nvSpPr>
          <p:cNvPr id="7" name="Shape 4"/>
          <p:cNvSpPr/>
          <p:nvPr/>
        </p:nvSpPr>
        <p:spPr>
          <a:xfrm>
            <a:off x="1234440" y="1828800"/>
            <a:ext cx="4023360" cy="2487168"/>
          </a:xfrm>
          <a:prstGeom prst="roundRect">
            <a:avLst>
              <a:gd name="adj" fmla="val 2206"/>
            </a:avLst>
          </a:prstGeom>
          <a:solidFill>
            <a:srgbClr val="FFFFFF">
              <a:alpha val="0"/>
            </a:srgbClr>
          </a:solidFill>
          <a:ln w="12700">
            <a:solidFill>
              <a:srgbClr val="E5E7EB"/>
            </a:solidFill>
            <a:prstDash val="solid"/>
          </a:ln>
        </p:spPr>
      </p:sp>
      <p:sp>
        <p:nvSpPr>
          <p:cNvPr id="8" name="Text 5"/>
          <p:cNvSpPr/>
          <p:nvPr/>
        </p:nvSpPr>
        <p:spPr>
          <a:xfrm>
            <a:off x="1005840" y="4617720"/>
            <a:ext cx="4572000" cy="347472"/>
          </a:xfrm>
          <a:prstGeom prst="rect">
            <a:avLst/>
          </a:prstGeom>
          <a:noFill/>
          <a:ln/>
        </p:spPr>
        <p:txBody>
          <a:bodyPr wrap="square" lIns="0" tIns="0" rIns="0" bIns="0" rtlCol="0" anchor="ctr"/>
          <a:lstStyle/>
          <a:p>
            <a:pPr algn="ctr" indent="0" marL="0">
              <a:buNone/>
            </a:pPr>
            <a:r>
              <a:rPr lang="en-US" sz="1250" b="1" dirty="0">
                <a:solidFill>
                  <a:srgbClr val="111827"/>
                </a:solidFill>
              </a:rPr>
              <a:t>Después del trigger, los nodos de acción producen un resultado visible.</a:t>
            </a:r>
            <a:endParaRPr lang="en-US" sz="1250" dirty="0"/>
          </a:p>
        </p:txBody>
      </p:sp>
      <p:sp>
        <p:nvSpPr>
          <p:cNvPr id="9" name="Shape 6"/>
          <p:cNvSpPr/>
          <p:nvPr/>
        </p:nvSpPr>
        <p:spPr>
          <a:xfrm>
            <a:off x="6263640" y="1481328"/>
            <a:ext cx="489204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0" name="Shape 7"/>
          <p:cNvSpPr/>
          <p:nvPr/>
        </p:nvSpPr>
        <p:spPr>
          <a:xfrm>
            <a:off x="6483096" y="1664208"/>
            <a:ext cx="475488" cy="475488"/>
          </a:xfrm>
          <a:prstGeom prst="ellipse">
            <a:avLst/>
          </a:prstGeom>
          <a:solidFill>
            <a:srgbClr val="2563EB"/>
          </a:solidFill>
          <a:ln w="12700">
            <a:solidFill>
              <a:srgbClr val="2563EB">
                <a:alpha val="0"/>
              </a:srgbClr>
            </a:solidFill>
            <a:prstDash val="solid"/>
          </a:ln>
        </p:spPr>
      </p:sp>
      <p:sp>
        <p:nvSpPr>
          <p:cNvPr id="11" name="Text 8"/>
          <p:cNvSpPr/>
          <p:nvPr/>
        </p:nvSpPr>
        <p:spPr>
          <a:xfrm>
            <a:off x="6483096" y="1773936"/>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2" name="Text 9"/>
          <p:cNvSpPr/>
          <p:nvPr/>
        </p:nvSpPr>
        <p:spPr>
          <a:xfrm>
            <a:off x="7086600" y="1682496"/>
            <a:ext cx="1874520" cy="201168"/>
          </a:xfrm>
          <a:prstGeom prst="rect">
            <a:avLst/>
          </a:prstGeom>
          <a:noFill/>
          <a:ln/>
        </p:spPr>
        <p:txBody>
          <a:bodyPr wrap="square" lIns="0" tIns="0" rIns="0" bIns="0" rtlCol="0" anchor="ctr"/>
          <a:lstStyle/>
          <a:p>
            <a:pPr indent="0" marL="0">
              <a:buNone/>
            </a:pPr>
            <a:r>
              <a:rPr lang="en-US" sz="1350" b="1" dirty="0">
                <a:solidFill>
                  <a:srgbClr val="111827"/>
                </a:solidFill>
              </a:rPr>
              <a:t>Enviar correo</a:t>
            </a:r>
            <a:endParaRPr lang="en-US" sz="1350" dirty="0"/>
          </a:p>
        </p:txBody>
      </p:sp>
      <p:sp>
        <p:nvSpPr>
          <p:cNvPr id="13" name="Text 10"/>
          <p:cNvSpPr/>
          <p:nvPr/>
        </p:nvSpPr>
        <p:spPr>
          <a:xfrm>
            <a:off x="9006840" y="1682496"/>
            <a:ext cx="1828800" cy="292608"/>
          </a:xfrm>
          <a:prstGeom prst="rect">
            <a:avLst/>
          </a:prstGeom>
          <a:noFill/>
          <a:ln/>
        </p:spPr>
        <p:txBody>
          <a:bodyPr wrap="square" lIns="0" tIns="0" rIns="0" bIns="0" rtlCol="0" anchor="ctr">
            <a:normAutofit/>
          </a:bodyPr>
          <a:lstStyle/>
          <a:p>
            <a:pPr indent="0" marL="0">
              <a:buNone/>
            </a:pPr>
            <a:r>
              <a:rPr lang="en-US" sz="1060" dirty="0">
                <a:solidFill>
                  <a:srgbClr val="6B7280"/>
                </a:solidFill>
              </a:rPr>
              <a:t>Notificar a una persona o equipo.</a:t>
            </a:r>
            <a:endParaRPr lang="en-US" sz="1060" dirty="0"/>
          </a:p>
        </p:txBody>
      </p:sp>
      <p:sp>
        <p:nvSpPr>
          <p:cNvPr id="14" name="Shape 11"/>
          <p:cNvSpPr/>
          <p:nvPr/>
        </p:nvSpPr>
        <p:spPr>
          <a:xfrm>
            <a:off x="6263640" y="2743200"/>
            <a:ext cx="4892040" cy="868680"/>
          </a:xfrm>
          <a:prstGeom prst="roundRect">
            <a:avLst>
              <a:gd name="adj" fmla="val 8421"/>
            </a:avLst>
          </a:prstGeom>
          <a:solidFill>
            <a:srgbClr val="EFF6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5" name="Shape 12"/>
          <p:cNvSpPr/>
          <p:nvPr/>
        </p:nvSpPr>
        <p:spPr>
          <a:xfrm>
            <a:off x="6483096" y="2926080"/>
            <a:ext cx="475488" cy="475488"/>
          </a:xfrm>
          <a:prstGeom prst="ellipse">
            <a:avLst/>
          </a:prstGeom>
          <a:solidFill>
            <a:srgbClr val="2563EB"/>
          </a:solidFill>
          <a:ln w="12700">
            <a:solidFill>
              <a:srgbClr val="2563EB">
                <a:alpha val="0"/>
              </a:srgbClr>
            </a:solidFill>
            <a:prstDash val="solid"/>
          </a:ln>
        </p:spPr>
      </p:sp>
      <p:sp>
        <p:nvSpPr>
          <p:cNvPr id="16" name="Text 13"/>
          <p:cNvSpPr/>
          <p:nvPr/>
        </p:nvSpPr>
        <p:spPr>
          <a:xfrm>
            <a:off x="6483096" y="303580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7" name="Text 14"/>
          <p:cNvSpPr/>
          <p:nvPr/>
        </p:nvSpPr>
        <p:spPr>
          <a:xfrm>
            <a:off x="7086600" y="2944368"/>
            <a:ext cx="1874520" cy="201168"/>
          </a:xfrm>
          <a:prstGeom prst="rect">
            <a:avLst/>
          </a:prstGeom>
          <a:noFill/>
          <a:ln/>
        </p:spPr>
        <p:txBody>
          <a:bodyPr wrap="square" lIns="0" tIns="0" rIns="0" bIns="0" rtlCol="0" anchor="ctr"/>
          <a:lstStyle/>
          <a:p>
            <a:pPr indent="0" marL="0">
              <a:buNone/>
            </a:pPr>
            <a:r>
              <a:rPr lang="en-US" sz="1350" b="1" dirty="0">
                <a:solidFill>
                  <a:srgbClr val="111827"/>
                </a:solidFill>
              </a:rPr>
              <a:t>Crear una fila</a:t>
            </a:r>
            <a:endParaRPr lang="en-US" sz="1350" dirty="0"/>
          </a:p>
        </p:txBody>
      </p:sp>
      <p:sp>
        <p:nvSpPr>
          <p:cNvPr id="18" name="Text 15"/>
          <p:cNvSpPr/>
          <p:nvPr/>
        </p:nvSpPr>
        <p:spPr>
          <a:xfrm>
            <a:off x="9006840" y="2944368"/>
            <a:ext cx="1828800" cy="292608"/>
          </a:xfrm>
          <a:prstGeom prst="rect">
            <a:avLst/>
          </a:prstGeom>
          <a:noFill/>
          <a:ln/>
        </p:spPr>
        <p:txBody>
          <a:bodyPr wrap="square" lIns="0" tIns="0" rIns="0" bIns="0" rtlCol="0" anchor="ctr">
            <a:normAutofit/>
          </a:bodyPr>
          <a:lstStyle/>
          <a:p>
            <a:pPr indent="0" marL="0">
              <a:buNone/>
            </a:pPr>
            <a:r>
              <a:rPr lang="en-US" sz="1060" dirty="0">
                <a:solidFill>
                  <a:srgbClr val="6B7280"/>
                </a:solidFill>
              </a:rPr>
              <a:t>Guardar datos en una hoja de cálculo.</a:t>
            </a:r>
            <a:endParaRPr lang="en-US" sz="1060" dirty="0"/>
          </a:p>
        </p:txBody>
      </p:sp>
      <p:sp>
        <p:nvSpPr>
          <p:cNvPr id="19" name="Shape 16"/>
          <p:cNvSpPr/>
          <p:nvPr/>
        </p:nvSpPr>
        <p:spPr>
          <a:xfrm>
            <a:off x="6263640" y="4005072"/>
            <a:ext cx="489204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20" name="Shape 17"/>
          <p:cNvSpPr/>
          <p:nvPr/>
        </p:nvSpPr>
        <p:spPr>
          <a:xfrm>
            <a:off x="6483096" y="4187952"/>
            <a:ext cx="475488" cy="475488"/>
          </a:xfrm>
          <a:prstGeom prst="ellipse">
            <a:avLst/>
          </a:prstGeom>
          <a:solidFill>
            <a:srgbClr val="2563EB"/>
          </a:solidFill>
          <a:ln w="12700">
            <a:solidFill>
              <a:srgbClr val="2563EB">
                <a:alpha val="0"/>
              </a:srgbClr>
            </a:solidFill>
            <a:prstDash val="solid"/>
          </a:ln>
        </p:spPr>
      </p:sp>
      <p:sp>
        <p:nvSpPr>
          <p:cNvPr id="21" name="Text 18"/>
          <p:cNvSpPr/>
          <p:nvPr/>
        </p:nvSpPr>
        <p:spPr>
          <a:xfrm>
            <a:off x="6483096" y="4297680"/>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2" name="Text 19"/>
          <p:cNvSpPr/>
          <p:nvPr/>
        </p:nvSpPr>
        <p:spPr>
          <a:xfrm>
            <a:off x="7086600" y="4206240"/>
            <a:ext cx="1874520" cy="201168"/>
          </a:xfrm>
          <a:prstGeom prst="rect">
            <a:avLst/>
          </a:prstGeom>
          <a:noFill/>
          <a:ln/>
        </p:spPr>
        <p:txBody>
          <a:bodyPr wrap="square" lIns="0" tIns="0" rIns="0" bIns="0" rtlCol="0" anchor="ctr"/>
          <a:lstStyle/>
          <a:p>
            <a:pPr indent="0" marL="0">
              <a:buNone/>
            </a:pPr>
            <a:r>
              <a:rPr lang="en-US" sz="1350" b="1" dirty="0">
                <a:solidFill>
                  <a:srgbClr val="111827"/>
                </a:solidFill>
              </a:rPr>
              <a:t>Enviar mensaje</a:t>
            </a:r>
            <a:endParaRPr lang="en-US" sz="1350" dirty="0"/>
          </a:p>
        </p:txBody>
      </p:sp>
      <p:sp>
        <p:nvSpPr>
          <p:cNvPr id="23" name="Text 20"/>
          <p:cNvSpPr/>
          <p:nvPr/>
        </p:nvSpPr>
        <p:spPr>
          <a:xfrm>
            <a:off x="9006840" y="4206240"/>
            <a:ext cx="1828800" cy="292608"/>
          </a:xfrm>
          <a:prstGeom prst="rect">
            <a:avLst/>
          </a:prstGeom>
          <a:noFill/>
          <a:ln/>
        </p:spPr>
        <p:txBody>
          <a:bodyPr wrap="square" lIns="0" tIns="0" rIns="0" bIns="0" rtlCol="0" anchor="ctr">
            <a:normAutofit/>
          </a:bodyPr>
          <a:lstStyle/>
          <a:p>
            <a:pPr indent="0" marL="0">
              <a:buNone/>
            </a:pPr>
            <a:r>
              <a:rPr lang="en-US" sz="1060" dirty="0">
                <a:solidFill>
                  <a:srgbClr val="6B7280"/>
                </a:solidFill>
              </a:rPr>
              <a:t>Avisar por Slack, Teams u otra app.</a:t>
            </a:r>
            <a:endParaRPr lang="en-US" sz="1060" dirty="0"/>
          </a:p>
        </p:txBody>
      </p:sp>
      <p:sp>
        <p:nvSpPr>
          <p:cNvPr id="24" name="Text 21"/>
          <p:cNvSpPr/>
          <p:nvPr/>
        </p:nvSpPr>
        <p:spPr>
          <a:xfrm>
            <a:off x="6400800" y="5074920"/>
            <a:ext cx="4572000" cy="274320"/>
          </a:xfrm>
          <a:prstGeom prst="rect">
            <a:avLst/>
          </a:prstGeom>
          <a:noFill/>
          <a:ln/>
        </p:spPr>
        <p:txBody>
          <a:bodyPr wrap="square" lIns="0" tIns="0" rIns="0" bIns="0" rtlCol="0" anchor="ctr"/>
          <a:lstStyle/>
          <a:p>
            <a:pPr indent="0" marL="0">
              <a:buNone/>
            </a:pPr>
            <a:r>
              <a:rPr lang="en-US" sz="1250" b="1" dirty="0">
                <a:solidFill>
                  <a:srgbClr val="2563EB"/>
                </a:solidFill>
              </a:rPr>
              <a:t>Pregunta guía: ¿qué tarea quiero que el sistema haga por mí?</a:t>
            </a:r>
            <a:endParaRPr lang="en-US" sz="125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35BFF"/>
        </a:solidFill>
      </p:bgPr>
    </p:bg>
    <p:spTree>
      <p:nvGrpSpPr>
        <p:cNvPr id="1" name=""/>
        <p:cNvGrpSpPr/>
        <p:nvPr/>
      </p:nvGrpSpPr>
      <p:grpSpPr>
        <a:xfrm>
          <a:off x="0" y="0"/>
          <a:ext cx="0" cy="0"/>
          <a:chOff x="0" y="0"/>
          <a:chExt cx="0" cy="0"/>
        </a:xfrm>
      </p:grpSpPr>
      <p:sp>
        <p:nvSpPr>
          <p:cNvPr id="2" name="Text 0"/>
          <p:cNvSpPr/>
          <p:nvPr/>
        </p:nvSpPr>
        <p:spPr>
          <a:xfrm>
            <a:off x="640080" y="685800"/>
            <a:ext cx="1188720" cy="502920"/>
          </a:xfrm>
          <a:prstGeom prst="rect">
            <a:avLst/>
          </a:prstGeom>
          <a:noFill/>
          <a:ln/>
        </p:spPr>
        <p:txBody>
          <a:bodyPr wrap="square" lIns="0" tIns="0" rIns="0" bIns="0" rtlCol="0" anchor="ctr"/>
          <a:lstStyle/>
          <a:p>
            <a:pPr indent="0" marL="0">
              <a:buNone/>
            </a:pPr>
            <a:r>
              <a:rPr lang="en-US" sz="2400" b="1" dirty="0">
                <a:solidFill>
                  <a:srgbClr val="FFFFFF">
                    <a:alpha val="85000"/>
                  </a:srgbClr>
                </a:solidFill>
              </a:rPr>
              <a:t>03</a:t>
            </a:r>
            <a:endParaRPr lang="en-US" sz="2400" dirty="0"/>
          </a:p>
        </p:txBody>
      </p:sp>
      <p:sp>
        <p:nvSpPr>
          <p:cNvPr id="3" name="Text 1"/>
          <p:cNvSpPr/>
          <p:nvPr/>
        </p:nvSpPr>
        <p:spPr>
          <a:xfrm>
            <a:off x="640080" y="1965960"/>
            <a:ext cx="10698480" cy="777240"/>
          </a:xfrm>
          <a:prstGeom prst="rect">
            <a:avLst/>
          </a:prstGeom>
          <a:noFill/>
          <a:ln/>
        </p:spPr>
        <p:txBody>
          <a:bodyPr wrap="square" lIns="0" tIns="0" rIns="0" bIns="0" rtlCol="0" anchor="ctr"/>
          <a:lstStyle/>
          <a:p>
            <a:pPr indent="0" marL="0">
              <a:buNone/>
            </a:pPr>
            <a:r>
              <a:rPr lang="en-US" sz="3400" b="1" dirty="0">
                <a:solidFill>
                  <a:srgbClr val="FFFFFF"/>
                </a:solidFill>
              </a:rPr>
              <a:t>Nodos de Condición</a:t>
            </a:r>
            <a:endParaRPr lang="en-US" sz="3400" dirty="0"/>
          </a:p>
        </p:txBody>
      </p:sp>
      <p:sp>
        <p:nvSpPr>
          <p:cNvPr id="4" name="Shape 2"/>
          <p:cNvSpPr/>
          <p:nvPr/>
        </p:nvSpPr>
        <p:spPr>
          <a:xfrm>
            <a:off x="658368" y="2907792"/>
            <a:ext cx="1920240" cy="0"/>
          </a:xfrm>
          <a:prstGeom prst="line">
            <a:avLst/>
          </a:prstGeom>
          <a:noFill/>
          <a:ln w="38100">
            <a:solidFill>
              <a:srgbClr val="FFFFFF"/>
            </a:solidFill>
            <a:prstDash val="solid"/>
          </a:ln>
        </p:spPr>
      </p:sp>
      <p:sp>
        <p:nvSpPr>
          <p:cNvPr id="5" name="Text 3"/>
          <p:cNvSpPr/>
          <p:nvPr/>
        </p:nvSpPr>
        <p:spPr>
          <a:xfrm>
            <a:off x="658368" y="3246120"/>
            <a:ext cx="8412480" cy="594360"/>
          </a:xfrm>
          <a:prstGeom prst="rect">
            <a:avLst/>
          </a:prstGeom>
          <a:noFill/>
          <a:ln/>
        </p:spPr>
        <p:txBody>
          <a:bodyPr wrap="square" lIns="0" tIns="0" rIns="0" bIns="0" rtlCol="0" anchor="ctr">
            <a:normAutofit/>
          </a:bodyPr>
          <a:lstStyle/>
          <a:p>
            <a:pPr indent="0" marL="0">
              <a:buNone/>
            </a:pPr>
            <a:r>
              <a:rPr lang="en-US" sz="1600" dirty="0">
                <a:solidFill>
                  <a:srgbClr val="FFFFFF">
                    <a:alpha val="95000"/>
                  </a:srgbClr>
                </a:solidFill>
              </a:rPr>
              <a:t>Permiten bifurcar caminos según reglas lógicas.</a:t>
            </a:r>
            <a:endParaRPr lang="en-US" sz="160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¿Cómo deciden los nodos de Condición?</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Con nodos como IF y SWITCH tomas decisiones dentro del workflow.</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713232" y="1417320"/>
            <a:ext cx="4663440" cy="4389120"/>
          </a:xfrm>
          <a:prstGeom prst="roundRect">
            <a:avLst>
              <a:gd name="adj" fmla="val 1667"/>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pic>
        <p:nvPicPr>
          <p:cNvPr id="6" name="Image 0" descr="/mnt/data/n8n_1_extract/part1/image 3.png">    </p:cNvPr>
          <p:cNvPicPr>
            <a:picLocks noChangeAspect="1"/>
          </p:cNvPicPr>
          <p:nvPr/>
        </p:nvPicPr>
        <p:blipFill>
          <a:blip r:embed="rId1"/>
          <a:stretch>
            <a:fillRect/>
          </a:stretch>
        </p:blipFill>
        <p:spPr>
          <a:xfrm>
            <a:off x="1170432" y="1828800"/>
            <a:ext cx="3749040" cy="2331720"/>
          </a:xfrm>
          <a:prstGeom prst="rect">
            <a:avLst/>
          </a:prstGeom>
        </p:spPr>
      </p:pic>
      <p:sp>
        <p:nvSpPr>
          <p:cNvPr id="7" name="Shape 4"/>
          <p:cNvSpPr/>
          <p:nvPr/>
        </p:nvSpPr>
        <p:spPr>
          <a:xfrm>
            <a:off x="1170432" y="1828800"/>
            <a:ext cx="3749040" cy="2331720"/>
          </a:xfrm>
          <a:prstGeom prst="roundRect">
            <a:avLst>
              <a:gd name="adj" fmla="val 2353"/>
            </a:avLst>
          </a:prstGeom>
          <a:solidFill>
            <a:srgbClr val="FFFFFF">
              <a:alpha val="0"/>
            </a:srgbClr>
          </a:solidFill>
          <a:ln w="12700">
            <a:solidFill>
              <a:srgbClr val="E5E7EB"/>
            </a:solidFill>
            <a:prstDash val="solid"/>
          </a:ln>
        </p:spPr>
      </p:sp>
      <p:sp>
        <p:nvSpPr>
          <p:cNvPr id="8" name="Text 5"/>
          <p:cNvSpPr/>
          <p:nvPr/>
        </p:nvSpPr>
        <p:spPr>
          <a:xfrm>
            <a:off x="1051560" y="4480560"/>
            <a:ext cx="3977640" cy="420624"/>
          </a:xfrm>
          <a:prstGeom prst="rect">
            <a:avLst/>
          </a:prstGeom>
          <a:noFill/>
          <a:ln/>
        </p:spPr>
        <p:txBody>
          <a:bodyPr wrap="square" lIns="0" tIns="0" rIns="0" bIns="0" rtlCol="0" anchor="ctr">
            <a:normAutofit/>
          </a:bodyPr>
          <a:lstStyle/>
          <a:p>
            <a:pPr algn="ctr" indent="0" marL="0">
              <a:buNone/>
            </a:pPr>
            <a:r>
              <a:rPr lang="en-US" sz="1220" b="1" dirty="0">
                <a:solidFill>
                  <a:srgbClr val="111827"/>
                </a:solidFill>
              </a:rPr>
              <a:t>La condición evalúa una regla y el flujo continúa por una ruta diferente.</a:t>
            </a:r>
            <a:endParaRPr lang="en-US" sz="1220" dirty="0"/>
          </a:p>
        </p:txBody>
      </p:sp>
      <p:sp>
        <p:nvSpPr>
          <p:cNvPr id="9" name="Shape 6"/>
          <p:cNvSpPr/>
          <p:nvPr/>
        </p:nvSpPr>
        <p:spPr>
          <a:xfrm>
            <a:off x="5760720" y="1417320"/>
            <a:ext cx="5394960" cy="4389120"/>
          </a:xfrm>
          <a:prstGeom prst="roundRect">
            <a:avLst>
              <a:gd name="adj" fmla="val 1667"/>
            </a:avLst>
          </a:prstGeom>
          <a:solidFill>
            <a:srgbClr val="EEF2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0" name="Text 7"/>
          <p:cNvSpPr/>
          <p:nvPr/>
        </p:nvSpPr>
        <p:spPr>
          <a:xfrm>
            <a:off x="6080760" y="1783080"/>
            <a:ext cx="4572000" cy="292608"/>
          </a:xfrm>
          <a:prstGeom prst="rect">
            <a:avLst/>
          </a:prstGeom>
          <a:noFill/>
          <a:ln/>
        </p:spPr>
        <p:txBody>
          <a:bodyPr wrap="square" lIns="0" tIns="0" rIns="0" bIns="0" rtlCol="0" anchor="ctr"/>
          <a:lstStyle/>
          <a:p>
            <a:pPr indent="0" marL="0">
              <a:buNone/>
            </a:pPr>
            <a:r>
              <a:rPr lang="en-US" sz="1800" b="1" dirty="0">
                <a:solidFill>
                  <a:srgbClr val="111827"/>
                </a:solidFill>
              </a:rPr>
              <a:t>Ejemplos de reglas</a:t>
            </a:r>
            <a:endParaRPr lang="en-US" sz="1800" dirty="0"/>
          </a:p>
        </p:txBody>
      </p:sp>
      <p:sp>
        <p:nvSpPr>
          <p:cNvPr id="11" name="Text 8"/>
          <p:cNvSpPr/>
          <p:nvPr/>
        </p:nvSpPr>
        <p:spPr>
          <a:xfrm>
            <a:off x="6080760" y="2331720"/>
            <a:ext cx="4572000" cy="1645920"/>
          </a:xfrm>
          <a:prstGeom prst="rect">
            <a:avLst/>
          </a:prstGeom>
          <a:noFill/>
          <a:ln/>
        </p:spPr>
        <p:txBody>
          <a:bodyPr wrap="square" lIns="762" tIns="762" rIns="762" bIns="762" rtlCol="0" anchor="ctr">
            <a:normAutofit/>
          </a:bodyPr>
          <a:lstStyle/>
          <a:p>
            <a:r>
              <a:rPr lang="en-US" sz="1250" dirty="0">
                <a:solidFill>
                  <a:srgbClr val="111827"/>
                </a:solidFill>
              </a:rPr>
              <a:t>Si el mensaje dice “demo”, sigue por la ruta A.
</a:t>
            </a:r>
            <a:endParaRPr lang="en-US" sz="1250" dirty="0"/>
          </a:p>
          <a:p>
            <a:r>
              <a:rPr lang="en-US" sz="1250" dirty="0">
                <a:solidFill>
                  <a:srgbClr val="111827"/>
                </a:solidFill>
              </a:rPr>
              <a:t>Si el correo contiene “@miempresa.com”, aplica la regla interna.
</a:t>
            </a:r>
            <a:endParaRPr lang="en-US" sz="1250" dirty="0"/>
          </a:p>
          <a:p>
            <a:r>
              <a:rPr lang="en-US" sz="1250" dirty="0">
                <a:solidFill>
                  <a:srgbClr val="111827"/>
                </a:solidFill>
              </a:rPr>
              <a:t>IF se usa para verdadero/falso; SWITCH para múltiples casos.</a:t>
            </a:r>
            <a:endParaRPr lang="en-US" sz="1250" dirty="0"/>
          </a:p>
        </p:txBody>
      </p:sp>
      <p:sp>
        <p:nvSpPr>
          <p:cNvPr id="12" name="Shape 9"/>
          <p:cNvSpPr/>
          <p:nvPr/>
        </p:nvSpPr>
        <p:spPr>
          <a:xfrm>
            <a:off x="6400800" y="4343400"/>
            <a:ext cx="1097280" cy="594360"/>
          </a:xfrm>
          <a:prstGeom prst="chevron">
            <a:avLst/>
          </a:prstGeom>
          <a:solidFill>
            <a:srgbClr val="635BFF"/>
          </a:solidFill>
          <a:ln w="12700">
            <a:solidFill>
              <a:srgbClr val="635BFF"/>
            </a:solidFill>
            <a:prstDash val="solid"/>
          </a:ln>
        </p:spPr>
      </p:sp>
      <p:sp>
        <p:nvSpPr>
          <p:cNvPr id="13" name="Text 10"/>
          <p:cNvSpPr/>
          <p:nvPr/>
        </p:nvSpPr>
        <p:spPr>
          <a:xfrm>
            <a:off x="6400800" y="4544568"/>
            <a:ext cx="1097280" cy="164592"/>
          </a:xfrm>
          <a:prstGeom prst="rect">
            <a:avLst/>
          </a:prstGeom>
          <a:noFill/>
          <a:ln/>
        </p:spPr>
        <p:txBody>
          <a:bodyPr wrap="square" lIns="0" tIns="0" rIns="0" bIns="0" rtlCol="0" anchor="ctr"/>
          <a:lstStyle/>
          <a:p>
            <a:pPr algn="ctr" indent="0" marL="0">
              <a:buNone/>
            </a:pPr>
            <a:r>
              <a:rPr lang="en-US" sz="1200" b="1" dirty="0">
                <a:solidFill>
                  <a:srgbClr val="FFFFFF"/>
                </a:solidFill>
              </a:rPr>
              <a:t>IF</a:t>
            </a:r>
            <a:endParaRPr lang="en-US" sz="1200" dirty="0"/>
          </a:p>
        </p:txBody>
      </p:sp>
      <p:sp>
        <p:nvSpPr>
          <p:cNvPr id="14" name="Shape 11"/>
          <p:cNvSpPr/>
          <p:nvPr/>
        </p:nvSpPr>
        <p:spPr>
          <a:xfrm>
            <a:off x="7909560" y="4343400"/>
            <a:ext cx="1417320" cy="594360"/>
          </a:xfrm>
          <a:prstGeom prst="chevron">
            <a:avLst/>
          </a:prstGeom>
          <a:solidFill>
            <a:srgbClr val="7C3AED"/>
          </a:solidFill>
          <a:ln w="12700">
            <a:solidFill>
              <a:srgbClr val="7C3AED"/>
            </a:solidFill>
            <a:prstDash val="solid"/>
          </a:ln>
        </p:spPr>
      </p:sp>
      <p:sp>
        <p:nvSpPr>
          <p:cNvPr id="15" name="Text 12"/>
          <p:cNvSpPr/>
          <p:nvPr/>
        </p:nvSpPr>
        <p:spPr>
          <a:xfrm>
            <a:off x="7909560" y="4544568"/>
            <a:ext cx="1417320" cy="164592"/>
          </a:xfrm>
          <a:prstGeom prst="rect">
            <a:avLst/>
          </a:prstGeom>
          <a:noFill/>
          <a:ln/>
        </p:spPr>
        <p:txBody>
          <a:bodyPr wrap="square" lIns="0" tIns="0" rIns="0" bIns="0" rtlCol="0" anchor="ctr"/>
          <a:lstStyle/>
          <a:p>
            <a:pPr algn="ctr" indent="0" marL="0">
              <a:buNone/>
            </a:pPr>
            <a:r>
              <a:rPr lang="en-US" sz="1200" b="1" dirty="0">
                <a:solidFill>
                  <a:srgbClr val="FFFFFF"/>
                </a:solidFill>
              </a:rPr>
              <a:t>SWITCH</a:t>
            </a:r>
            <a:endParaRPr lang="en-US" sz="120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B981"/>
        </a:solidFill>
      </p:bgPr>
    </p:bg>
    <p:spTree>
      <p:nvGrpSpPr>
        <p:cNvPr id="1" name=""/>
        <p:cNvGrpSpPr/>
        <p:nvPr/>
      </p:nvGrpSpPr>
      <p:grpSpPr>
        <a:xfrm>
          <a:off x="0" y="0"/>
          <a:ext cx="0" cy="0"/>
          <a:chOff x="0" y="0"/>
          <a:chExt cx="0" cy="0"/>
        </a:xfrm>
      </p:grpSpPr>
      <p:sp>
        <p:nvSpPr>
          <p:cNvPr id="2" name="Text 0"/>
          <p:cNvSpPr/>
          <p:nvPr/>
        </p:nvSpPr>
        <p:spPr>
          <a:xfrm>
            <a:off x="640080" y="685800"/>
            <a:ext cx="1188720" cy="502920"/>
          </a:xfrm>
          <a:prstGeom prst="rect">
            <a:avLst/>
          </a:prstGeom>
          <a:noFill/>
          <a:ln/>
        </p:spPr>
        <p:txBody>
          <a:bodyPr wrap="square" lIns="0" tIns="0" rIns="0" bIns="0" rtlCol="0" anchor="ctr"/>
          <a:lstStyle/>
          <a:p>
            <a:pPr indent="0" marL="0">
              <a:buNone/>
            </a:pPr>
            <a:r>
              <a:rPr lang="en-US" sz="2400" b="1" dirty="0">
                <a:solidFill>
                  <a:srgbClr val="FFFFFF">
                    <a:alpha val="85000"/>
                  </a:srgbClr>
                </a:solidFill>
              </a:rPr>
              <a:t>04</a:t>
            </a:r>
            <a:endParaRPr lang="en-US" sz="2400" dirty="0"/>
          </a:p>
        </p:txBody>
      </p:sp>
      <p:sp>
        <p:nvSpPr>
          <p:cNvPr id="3" name="Text 1"/>
          <p:cNvSpPr/>
          <p:nvPr/>
        </p:nvSpPr>
        <p:spPr>
          <a:xfrm>
            <a:off x="640080" y="1965960"/>
            <a:ext cx="10698480" cy="777240"/>
          </a:xfrm>
          <a:prstGeom prst="rect">
            <a:avLst/>
          </a:prstGeom>
          <a:noFill/>
          <a:ln/>
        </p:spPr>
        <p:txBody>
          <a:bodyPr wrap="square" lIns="0" tIns="0" rIns="0" bIns="0" rtlCol="0" anchor="ctr"/>
          <a:lstStyle/>
          <a:p>
            <a:pPr indent="0" marL="0">
              <a:buNone/>
            </a:pPr>
            <a:r>
              <a:rPr lang="en-US" sz="3400" b="1" dirty="0">
                <a:solidFill>
                  <a:srgbClr val="FFFFFF"/>
                </a:solidFill>
              </a:rPr>
              <a:t>Transformación y Control</a:t>
            </a:r>
            <a:endParaRPr lang="en-US" sz="3400" dirty="0"/>
          </a:p>
        </p:txBody>
      </p:sp>
      <p:sp>
        <p:nvSpPr>
          <p:cNvPr id="4" name="Shape 2"/>
          <p:cNvSpPr/>
          <p:nvPr/>
        </p:nvSpPr>
        <p:spPr>
          <a:xfrm>
            <a:off x="658368" y="2907792"/>
            <a:ext cx="1920240" cy="0"/>
          </a:xfrm>
          <a:prstGeom prst="line">
            <a:avLst/>
          </a:prstGeom>
          <a:noFill/>
          <a:ln w="38100">
            <a:solidFill>
              <a:srgbClr val="FFFFFF"/>
            </a:solidFill>
            <a:prstDash val="solid"/>
          </a:ln>
        </p:spPr>
      </p:sp>
      <p:sp>
        <p:nvSpPr>
          <p:cNvPr id="5" name="Text 3"/>
          <p:cNvSpPr/>
          <p:nvPr/>
        </p:nvSpPr>
        <p:spPr>
          <a:xfrm>
            <a:off x="658368" y="3246120"/>
            <a:ext cx="8412480" cy="594360"/>
          </a:xfrm>
          <a:prstGeom prst="rect">
            <a:avLst/>
          </a:prstGeom>
          <a:noFill/>
          <a:ln/>
        </p:spPr>
        <p:txBody>
          <a:bodyPr wrap="square" lIns="0" tIns="0" rIns="0" bIns="0" rtlCol="0" anchor="ctr">
            <a:normAutofit/>
          </a:bodyPr>
          <a:lstStyle/>
          <a:p>
            <a:pPr indent="0" marL="0">
              <a:buNone/>
            </a:pPr>
            <a:r>
              <a:rPr lang="en-US" sz="1600" dirty="0">
                <a:solidFill>
                  <a:srgbClr val="FFFFFF">
                    <a:alpha val="95000"/>
                  </a:srgbClr>
                </a:solidFill>
              </a:rPr>
              <a:t>Preparar datos, gestionar tiempos, repetir acciones y manejar errores.</a:t>
            </a:r>
            <a:endParaRPr lang="en-US" sz="160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¿Cómo transformar datos con nodos especializados?</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Antes de ejecutar o decidir, muchas veces hay que preparar los datos.</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713232" y="1417320"/>
            <a:ext cx="4663440" cy="4389120"/>
          </a:xfrm>
          <a:prstGeom prst="roundRect">
            <a:avLst>
              <a:gd name="adj" fmla="val 1667"/>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pic>
        <p:nvPicPr>
          <p:cNvPr id="6" name="Image 0" descr="/mnt/data/n8n_1_extract/part1/image 4.png">    </p:cNvPr>
          <p:cNvPicPr>
            <a:picLocks noChangeAspect="1"/>
          </p:cNvPicPr>
          <p:nvPr/>
        </p:nvPicPr>
        <p:blipFill>
          <a:blip r:embed="rId1"/>
          <a:stretch>
            <a:fillRect/>
          </a:stretch>
        </p:blipFill>
        <p:spPr>
          <a:xfrm>
            <a:off x="1143000" y="1783080"/>
            <a:ext cx="3840480" cy="2743200"/>
          </a:xfrm>
          <a:prstGeom prst="rect">
            <a:avLst/>
          </a:prstGeom>
        </p:spPr>
      </p:pic>
      <p:sp>
        <p:nvSpPr>
          <p:cNvPr id="7" name="Shape 4"/>
          <p:cNvSpPr/>
          <p:nvPr/>
        </p:nvSpPr>
        <p:spPr>
          <a:xfrm>
            <a:off x="1143000" y="1783080"/>
            <a:ext cx="3840480" cy="2743200"/>
          </a:xfrm>
          <a:prstGeom prst="roundRect">
            <a:avLst>
              <a:gd name="adj" fmla="val 2000"/>
            </a:avLst>
          </a:prstGeom>
          <a:solidFill>
            <a:srgbClr val="FFFFFF">
              <a:alpha val="0"/>
            </a:srgbClr>
          </a:solidFill>
          <a:ln w="12700">
            <a:solidFill>
              <a:srgbClr val="E5E7EB"/>
            </a:solidFill>
            <a:prstDash val="solid"/>
          </a:ln>
        </p:spPr>
      </p:sp>
      <p:sp>
        <p:nvSpPr>
          <p:cNvPr id="8" name="Text 5"/>
          <p:cNvSpPr/>
          <p:nvPr/>
        </p:nvSpPr>
        <p:spPr>
          <a:xfrm>
            <a:off x="960120" y="4709160"/>
            <a:ext cx="4206240" cy="347472"/>
          </a:xfrm>
          <a:prstGeom prst="rect">
            <a:avLst/>
          </a:prstGeom>
          <a:noFill/>
          <a:ln/>
        </p:spPr>
        <p:txBody>
          <a:bodyPr wrap="square" lIns="0" tIns="0" rIns="0" bIns="0" rtlCol="0" anchor="ctr"/>
          <a:lstStyle/>
          <a:p>
            <a:pPr algn="ctr" indent="0" marL="0">
              <a:buNone/>
            </a:pPr>
            <a:r>
              <a:rPr lang="en-US" sz="1170" b="1" dirty="0">
                <a:solidFill>
                  <a:srgbClr val="111827"/>
                </a:solidFill>
              </a:rPr>
              <a:t>Ejemplo típico: Edit Fields para limpiar, adaptar o estandarizar información.</a:t>
            </a:r>
            <a:endParaRPr lang="en-US" sz="1170" dirty="0"/>
          </a:p>
        </p:txBody>
      </p:sp>
      <p:sp>
        <p:nvSpPr>
          <p:cNvPr id="9" name="Shape 6"/>
          <p:cNvSpPr/>
          <p:nvPr/>
        </p:nvSpPr>
        <p:spPr>
          <a:xfrm>
            <a:off x="5760720" y="1417320"/>
            <a:ext cx="5394960" cy="4389120"/>
          </a:xfrm>
          <a:prstGeom prst="roundRect">
            <a:avLst>
              <a:gd name="adj" fmla="val 1667"/>
            </a:avLst>
          </a:prstGeom>
          <a:solidFill>
            <a:srgbClr val="ECFDF5"/>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0" name="Text 7"/>
          <p:cNvSpPr/>
          <p:nvPr/>
        </p:nvSpPr>
        <p:spPr>
          <a:xfrm>
            <a:off x="6080760" y="1783080"/>
            <a:ext cx="4572000" cy="274320"/>
          </a:xfrm>
          <a:prstGeom prst="rect">
            <a:avLst/>
          </a:prstGeom>
          <a:noFill/>
          <a:ln/>
        </p:spPr>
        <p:txBody>
          <a:bodyPr wrap="square" lIns="0" tIns="0" rIns="0" bIns="0" rtlCol="0" anchor="ctr"/>
          <a:lstStyle/>
          <a:p>
            <a:pPr indent="0" marL="0">
              <a:buNone/>
            </a:pPr>
            <a:r>
              <a:rPr lang="en-US" sz="1800" b="1" dirty="0">
                <a:solidFill>
                  <a:srgbClr val="111827"/>
                </a:solidFill>
              </a:rPr>
              <a:t>Tareas habituales</a:t>
            </a:r>
            <a:endParaRPr lang="en-US" sz="1800" dirty="0"/>
          </a:p>
        </p:txBody>
      </p:sp>
      <p:sp>
        <p:nvSpPr>
          <p:cNvPr id="11" name="Text 8"/>
          <p:cNvSpPr/>
          <p:nvPr/>
        </p:nvSpPr>
        <p:spPr>
          <a:xfrm>
            <a:off x="6080760" y="2331720"/>
            <a:ext cx="4572000" cy="1325880"/>
          </a:xfrm>
          <a:prstGeom prst="rect">
            <a:avLst/>
          </a:prstGeom>
          <a:noFill/>
          <a:ln/>
        </p:spPr>
        <p:txBody>
          <a:bodyPr wrap="square" lIns="762" tIns="762" rIns="762" bIns="762" rtlCol="0" anchor="ctr">
            <a:normAutofit/>
          </a:bodyPr>
          <a:lstStyle/>
          <a:p>
            <a:r>
              <a:rPr lang="en-US" sz="1280" dirty="0">
                <a:solidFill>
                  <a:srgbClr val="111827"/>
                </a:solidFill>
              </a:rPr>
              <a:t>Renombrar campos para mantener consistencia.
</a:t>
            </a:r>
            <a:endParaRPr lang="en-US" sz="1280" dirty="0"/>
          </a:p>
          <a:p>
            <a:r>
              <a:rPr lang="en-US" sz="1280" dirty="0">
                <a:solidFill>
                  <a:srgbClr val="111827"/>
                </a:solidFill>
              </a:rPr>
              <a:t>Cambiar formatos de fechas o números.
</a:t>
            </a:r>
            <a:endParaRPr lang="en-US" sz="1280" dirty="0"/>
          </a:p>
          <a:p>
            <a:r>
              <a:rPr lang="en-US" sz="1280" dirty="0">
                <a:solidFill>
                  <a:srgbClr val="111827"/>
                </a:solidFill>
              </a:rPr>
              <a:t>Dejar datos listos para pasos posteriores.</a:t>
            </a:r>
            <a:endParaRPr lang="en-US" sz="1280" dirty="0"/>
          </a:p>
        </p:txBody>
      </p:sp>
      <p:sp>
        <p:nvSpPr>
          <p:cNvPr id="12" name="Text 9"/>
          <p:cNvSpPr/>
          <p:nvPr/>
        </p:nvSpPr>
        <p:spPr>
          <a:xfrm>
            <a:off x="6080760" y="4069080"/>
            <a:ext cx="4297680" cy="219456"/>
          </a:xfrm>
          <a:prstGeom prst="rect">
            <a:avLst/>
          </a:prstGeom>
          <a:noFill/>
          <a:ln/>
        </p:spPr>
        <p:txBody>
          <a:bodyPr wrap="square" lIns="0" tIns="0" rIns="0" bIns="0" rtlCol="0" anchor="ctr"/>
          <a:lstStyle/>
          <a:p>
            <a:pPr indent="0" marL="0">
              <a:buNone/>
            </a:pPr>
            <a:r>
              <a:rPr lang="en-US" sz="1350" b="1" dirty="0">
                <a:solidFill>
                  <a:srgbClr val="10B981"/>
                </a:solidFill>
              </a:rPr>
              <a:t>Habilidades que ejercitas</a:t>
            </a:r>
            <a:endParaRPr lang="en-US" sz="1350" dirty="0"/>
          </a:p>
        </p:txBody>
      </p:sp>
      <p:sp>
        <p:nvSpPr>
          <p:cNvPr id="13" name="Text 10"/>
          <p:cNvSpPr/>
          <p:nvPr/>
        </p:nvSpPr>
        <p:spPr>
          <a:xfrm>
            <a:off x="6080760" y="4434840"/>
            <a:ext cx="4434840" cy="365760"/>
          </a:xfrm>
          <a:prstGeom prst="rect">
            <a:avLst/>
          </a:prstGeom>
          <a:noFill/>
          <a:ln/>
        </p:spPr>
        <p:txBody>
          <a:bodyPr wrap="square" lIns="0" tIns="0" rIns="0" bIns="0" rtlCol="0" anchor="ctr">
            <a:normAutofit/>
          </a:bodyPr>
          <a:lstStyle/>
          <a:p>
            <a:pPr indent="0" marL="0">
              <a:buNone/>
            </a:pPr>
            <a:r>
              <a:rPr lang="en-US" sz="1150" dirty="0">
                <a:solidFill>
                  <a:srgbClr val="111827"/>
                </a:solidFill>
              </a:rPr>
              <a:t>Normalización de datos · Mapeo de campos · Preparación para integración</a:t>
            </a:r>
            <a:endParaRPr lang="en-US" sz="115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¿Cómo controlar tiempos, repeticiones y errores?</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El control permite decidir cuándo y cuántas veces ejecutar un proceso.</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713232" y="1417320"/>
            <a:ext cx="4663440" cy="4389120"/>
          </a:xfrm>
          <a:prstGeom prst="roundRect">
            <a:avLst>
              <a:gd name="adj" fmla="val 1667"/>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pic>
        <p:nvPicPr>
          <p:cNvPr id="6" name="Image 0" descr="/mnt/data/n8n_1_extract/part1/image 5.png">    </p:cNvPr>
          <p:cNvPicPr>
            <a:picLocks noChangeAspect="1"/>
          </p:cNvPicPr>
          <p:nvPr/>
        </p:nvPicPr>
        <p:blipFill>
          <a:blip r:embed="rId1"/>
          <a:stretch>
            <a:fillRect/>
          </a:stretch>
        </p:blipFill>
        <p:spPr>
          <a:xfrm>
            <a:off x="1143000" y="1828800"/>
            <a:ext cx="3840480" cy="2514600"/>
          </a:xfrm>
          <a:prstGeom prst="rect">
            <a:avLst/>
          </a:prstGeom>
        </p:spPr>
      </p:pic>
      <p:sp>
        <p:nvSpPr>
          <p:cNvPr id="7" name="Shape 4"/>
          <p:cNvSpPr/>
          <p:nvPr/>
        </p:nvSpPr>
        <p:spPr>
          <a:xfrm>
            <a:off x="1143000" y="1828800"/>
            <a:ext cx="3840480" cy="2514600"/>
          </a:xfrm>
          <a:prstGeom prst="roundRect">
            <a:avLst>
              <a:gd name="adj" fmla="val 2182"/>
            </a:avLst>
          </a:prstGeom>
          <a:solidFill>
            <a:srgbClr val="FFFFFF">
              <a:alpha val="0"/>
            </a:srgbClr>
          </a:solidFill>
          <a:ln w="12700">
            <a:solidFill>
              <a:srgbClr val="E5E7EB"/>
            </a:solidFill>
            <a:prstDash val="solid"/>
          </a:ln>
        </p:spPr>
      </p:sp>
      <p:sp>
        <p:nvSpPr>
          <p:cNvPr id="8" name="Text 5"/>
          <p:cNvSpPr/>
          <p:nvPr/>
        </p:nvSpPr>
        <p:spPr>
          <a:xfrm>
            <a:off x="1051560" y="4617720"/>
            <a:ext cx="3931920" cy="329184"/>
          </a:xfrm>
          <a:prstGeom prst="rect">
            <a:avLst/>
          </a:prstGeom>
          <a:noFill/>
          <a:ln/>
        </p:spPr>
        <p:txBody>
          <a:bodyPr wrap="square" lIns="0" tIns="0" rIns="0" bIns="0" rtlCol="0" anchor="ctr"/>
          <a:lstStyle/>
          <a:p>
            <a:pPr algn="ctr" indent="0" marL="0">
              <a:buNone/>
            </a:pPr>
            <a:r>
              <a:rPr lang="en-US" sz="1180" b="1" dirty="0">
                <a:solidFill>
                  <a:srgbClr val="111827"/>
                </a:solidFill>
              </a:rPr>
              <a:t>Controlar el flujo evita procesos frágiles o difíciles de mantener.</a:t>
            </a:r>
            <a:endParaRPr lang="en-US" sz="1180" dirty="0"/>
          </a:p>
        </p:txBody>
      </p:sp>
      <p:sp>
        <p:nvSpPr>
          <p:cNvPr id="9" name="Shape 6"/>
          <p:cNvSpPr/>
          <p:nvPr/>
        </p:nvSpPr>
        <p:spPr>
          <a:xfrm>
            <a:off x="5897880" y="1508760"/>
            <a:ext cx="5074920" cy="822960"/>
          </a:xfrm>
          <a:prstGeom prst="roundRect">
            <a:avLst>
              <a:gd name="adj" fmla="val 888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0" name="Shape 7"/>
          <p:cNvSpPr/>
          <p:nvPr/>
        </p:nvSpPr>
        <p:spPr>
          <a:xfrm>
            <a:off x="6144768" y="1691640"/>
            <a:ext cx="475488" cy="475488"/>
          </a:xfrm>
          <a:prstGeom prst="ellipse">
            <a:avLst/>
          </a:prstGeom>
          <a:solidFill>
            <a:srgbClr val="F59E0B"/>
          </a:solidFill>
          <a:ln w="12700">
            <a:solidFill>
              <a:srgbClr val="F59E0B">
                <a:alpha val="0"/>
              </a:srgbClr>
            </a:solidFill>
            <a:prstDash val="solid"/>
          </a:ln>
        </p:spPr>
      </p:sp>
      <p:sp>
        <p:nvSpPr>
          <p:cNvPr id="11" name="Text 8"/>
          <p:cNvSpPr/>
          <p:nvPr/>
        </p:nvSpPr>
        <p:spPr>
          <a:xfrm>
            <a:off x="6144768" y="180136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2" name="Text 9"/>
          <p:cNvSpPr/>
          <p:nvPr/>
        </p:nvSpPr>
        <p:spPr>
          <a:xfrm>
            <a:off x="6793992" y="1709928"/>
            <a:ext cx="1920240" cy="219456"/>
          </a:xfrm>
          <a:prstGeom prst="rect">
            <a:avLst/>
          </a:prstGeom>
          <a:noFill/>
          <a:ln/>
        </p:spPr>
        <p:txBody>
          <a:bodyPr wrap="square" lIns="0" tIns="0" rIns="0" bIns="0" rtlCol="0" anchor="ctr"/>
          <a:lstStyle/>
          <a:p>
            <a:pPr indent="0" marL="0">
              <a:buNone/>
            </a:pPr>
            <a:r>
              <a:rPr lang="en-US" sz="1350" b="1" dirty="0">
                <a:solidFill>
                  <a:srgbClr val="111827"/>
                </a:solidFill>
              </a:rPr>
              <a:t>Wait</a:t>
            </a:r>
            <a:endParaRPr lang="en-US" sz="1350" dirty="0"/>
          </a:p>
        </p:txBody>
      </p:sp>
      <p:sp>
        <p:nvSpPr>
          <p:cNvPr id="13" name="Text 10"/>
          <p:cNvSpPr/>
          <p:nvPr/>
        </p:nvSpPr>
        <p:spPr>
          <a:xfrm>
            <a:off x="8778240" y="1709928"/>
            <a:ext cx="1828800" cy="310896"/>
          </a:xfrm>
          <a:prstGeom prst="rect">
            <a:avLst/>
          </a:prstGeom>
          <a:noFill/>
          <a:ln/>
        </p:spPr>
        <p:txBody>
          <a:bodyPr wrap="square" lIns="0" tIns="0" rIns="0" bIns="0" rtlCol="0" anchor="ctr">
            <a:normAutofit/>
          </a:bodyPr>
          <a:lstStyle/>
          <a:p>
            <a:pPr indent="0" marL="0">
              <a:buNone/>
            </a:pPr>
            <a:r>
              <a:rPr lang="en-US" sz="1060" dirty="0">
                <a:solidFill>
                  <a:srgbClr val="6B7280"/>
                </a:solidFill>
              </a:rPr>
              <a:t>Esperar antes de continuar.</a:t>
            </a:r>
            <a:endParaRPr lang="en-US" sz="1060" dirty="0"/>
          </a:p>
        </p:txBody>
      </p:sp>
      <p:sp>
        <p:nvSpPr>
          <p:cNvPr id="14" name="Shape 11"/>
          <p:cNvSpPr/>
          <p:nvPr/>
        </p:nvSpPr>
        <p:spPr>
          <a:xfrm>
            <a:off x="5897880" y="2697480"/>
            <a:ext cx="5074920" cy="822960"/>
          </a:xfrm>
          <a:prstGeom prst="roundRect">
            <a:avLst>
              <a:gd name="adj" fmla="val 8889"/>
            </a:avLst>
          </a:prstGeom>
          <a:solidFill>
            <a:srgbClr val="FFF7ED"/>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5" name="Shape 12"/>
          <p:cNvSpPr/>
          <p:nvPr/>
        </p:nvSpPr>
        <p:spPr>
          <a:xfrm>
            <a:off x="6144768" y="2880360"/>
            <a:ext cx="475488" cy="475488"/>
          </a:xfrm>
          <a:prstGeom prst="ellipse">
            <a:avLst/>
          </a:prstGeom>
          <a:solidFill>
            <a:srgbClr val="FF7A1A"/>
          </a:solidFill>
          <a:ln w="12700">
            <a:solidFill>
              <a:srgbClr val="FF7A1A">
                <a:alpha val="0"/>
              </a:srgbClr>
            </a:solidFill>
            <a:prstDash val="solid"/>
          </a:ln>
        </p:spPr>
      </p:sp>
      <p:sp>
        <p:nvSpPr>
          <p:cNvPr id="16" name="Text 13"/>
          <p:cNvSpPr/>
          <p:nvPr/>
        </p:nvSpPr>
        <p:spPr>
          <a:xfrm>
            <a:off x="6144768" y="299008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7" name="Text 14"/>
          <p:cNvSpPr/>
          <p:nvPr/>
        </p:nvSpPr>
        <p:spPr>
          <a:xfrm>
            <a:off x="6793992" y="2898648"/>
            <a:ext cx="1920240" cy="219456"/>
          </a:xfrm>
          <a:prstGeom prst="rect">
            <a:avLst/>
          </a:prstGeom>
          <a:noFill/>
          <a:ln/>
        </p:spPr>
        <p:txBody>
          <a:bodyPr wrap="square" lIns="0" tIns="0" rIns="0" bIns="0" rtlCol="0" anchor="ctr"/>
          <a:lstStyle/>
          <a:p>
            <a:pPr indent="0" marL="0">
              <a:buNone/>
            </a:pPr>
            <a:r>
              <a:rPr lang="en-US" sz="1350" b="1" dirty="0">
                <a:solidFill>
                  <a:srgbClr val="111827"/>
                </a:solidFill>
              </a:rPr>
              <a:t>Loop over items</a:t>
            </a:r>
            <a:endParaRPr lang="en-US" sz="1350" dirty="0"/>
          </a:p>
        </p:txBody>
      </p:sp>
      <p:sp>
        <p:nvSpPr>
          <p:cNvPr id="18" name="Text 15"/>
          <p:cNvSpPr/>
          <p:nvPr/>
        </p:nvSpPr>
        <p:spPr>
          <a:xfrm>
            <a:off x="8778240" y="2898648"/>
            <a:ext cx="1828800" cy="310896"/>
          </a:xfrm>
          <a:prstGeom prst="rect">
            <a:avLst/>
          </a:prstGeom>
          <a:noFill/>
          <a:ln/>
        </p:spPr>
        <p:txBody>
          <a:bodyPr wrap="square" lIns="0" tIns="0" rIns="0" bIns="0" rtlCol="0" anchor="ctr">
            <a:normAutofit/>
          </a:bodyPr>
          <a:lstStyle/>
          <a:p>
            <a:pPr indent="0" marL="0">
              <a:buNone/>
            </a:pPr>
            <a:r>
              <a:rPr lang="en-US" sz="1060" dirty="0">
                <a:solidFill>
                  <a:srgbClr val="6B7280"/>
                </a:solidFill>
              </a:rPr>
              <a:t>Repetir una acción para cada elemento.</a:t>
            </a:r>
            <a:endParaRPr lang="en-US" sz="1060" dirty="0"/>
          </a:p>
        </p:txBody>
      </p:sp>
      <p:sp>
        <p:nvSpPr>
          <p:cNvPr id="19" name="Shape 16"/>
          <p:cNvSpPr/>
          <p:nvPr/>
        </p:nvSpPr>
        <p:spPr>
          <a:xfrm>
            <a:off x="5897880" y="3886200"/>
            <a:ext cx="5074920" cy="822960"/>
          </a:xfrm>
          <a:prstGeom prst="roundRect">
            <a:avLst>
              <a:gd name="adj" fmla="val 888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20" name="Shape 17"/>
          <p:cNvSpPr/>
          <p:nvPr/>
        </p:nvSpPr>
        <p:spPr>
          <a:xfrm>
            <a:off x="6144768" y="4069080"/>
            <a:ext cx="475488" cy="475488"/>
          </a:xfrm>
          <a:prstGeom prst="ellipse">
            <a:avLst/>
          </a:prstGeom>
          <a:solidFill>
            <a:srgbClr val="EF4444"/>
          </a:solidFill>
          <a:ln w="12700">
            <a:solidFill>
              <a:srgbClr val="EF4444">
                <a:alpha val="0"/>
              </a:srgbClr>
            </a:solidFill>
            <a:prstDash val="solid"/>
          </a:ln>
        </p:spPr>
      </p:sp>
      <p:sp>
        <p:nvSpPr>
          <p:cNvPr id="21" name="Text 18"/>
          <p:cNvSpPr/>
          <p:nvPr/>
        </p:nvSpPr>
        <p:spPr>
          <a:xfrm>
            <a:off x="6144768" y="4178808"/>
            <a:ext cx="475488" cy="182880"/>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22" name="Text 19"/>
          <p:cNvSpPr/>
          <p:nvPr/>
        </p:nvSpPr>
        <p:spPr>
          <a:xfrm>
            <a:off x="6793992" y="4087368"/>
            <a:ext cx="1920240" cy="219456"/>
          </a:xfrm>
          <a:prstGeom prst="rect">
            <a:avLst/>
          </a:prstGeom>
          <a:noFill/>
          <a:ln/>
        </p:spPr>
        <p:txBody>
          <a:bodyPr wrap="square" lIns="0" tIns="0" rIns="0" bIns="0" rtlCol="0" anchor="ctr"/>
          <a:lstStyle/>
          <a:p>
            <a:pPr indent="0" marL="0">
              <a:buNone/>
            </a:pPr>
            <a:r>
              <a:rPr lang="en-US" sz="1350" b="1" dirty="0">
                <a:solidFill>
                  <a:srgbClr val="111827"/>
                </a:solidFill>
              </a:rPr>
              <a:t>Error Trigger</a:t>
            </a:r>
            <a:endParaRPr lang="en-US" sz="1350" dirty="0"/>
          </a:p>
        </p:txBody>
      </p:sp>
      <p:sp>
        <p:nvSpPr>
          <p:cNvPr id="23" name="Text 20"/>
          <p:cNvSpPr/>
          <p:nvPr/>
        </p:nvSpPr>
        <p:spPr>
          <a:xfrm>
            <a:off x="8778240" y="4087368"/>
            <a:ext cx="1828800" cy="310896"/>
          </a:xfrm>
          <a:prstGeom prst="rect">
            <a:avLst/>
          </a:prstGeom>
          <a:noFill/>
          <a:ln/>
        </p:spPr>
        <p:txBody>
          <a:bodyPr wrap="square" lIns="0" tIns="0" rIns="0" bIns="0" rtlCol="0" anchor="ctr">
            <a:normAutofit/>
          </a:bodyPr>
          <a:lstStyle/>
          <a:p>
            <a:pPr indent="0" marL="0">
              <a:buNone/>
            </a:pPr>
            <a:r>
              <a:rPr lang="en-US" sz="1060" dirty="0">
                <a:solidFill>
                  <a:srgbClr val="6B7280"/>
                </a:solidFill>
              </a:rPr>
              <a:t>Capturar errores y reaccionar.</a:t>
            </a:r>
            <a:endParaRPr lang="en-US" sz="1060" dirty="0"/>
          </a:p>
        </p:txBody>
      </p:sp>
      <p:sp>
        <p:nvSpPr>
          <p:cNvPr id="24" name="Text 21"/>
          <p:cNvSpPr/>
          <p:nvPr/>
        </p:nvSpPr>
        <p:spPr>
          <a:xfrm>
            <a:off x="5989320" y="5120640"/>
            <a:ext cx="4754880" cy="274320"/>
          </a:xfrm>
          <a:prstGeom prst="rect">
            <a:avLst/>
          </a:prstGeom>
          <a:noFill/>
          <a:ln/>
        </p:spPr>
        <p:txBody>
          <a:bodyPr wrap="square" lIns="0" tIns="0" rIns="0" bIns="0" rtlCol="0" anchor="ctr"/>
          <a:lstStyle/>
          <a:p>
            <a:pPr indent="0" marL="0">
              <a:buNone/>
            </a:pPr>
            <a:r>
              <a:rPr lang="en-US" sz="1200" b="1" dirty="0">
                <a:solidFill>
                  <a:srgbClr val="111827"/>
                </a:solidFill>
              </a:rPr>
              <a:t>Habilidades: control de flujos, manejo de errores y orquestación de procesos.</a:t>
            </a:r>
            <a:endParaRPr lang="en-US" sz="120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Caso resuelto: solicitud de demo comercial</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Ejemplo de flujo que combina los tipos de nodos explicados.</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640080" y="1828800"/>
            <a:ext cx="155448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6" name="Text 4"/>
          <p:cNvSpPr/>
          <p:nvPr/>
        </p:nvSpPr>
        <p:spPr>
          <a:xfrm>
            <a:off x="731520" y="1947672"/>
            <a:ext cx="365760" cy="164592"/>
          </a:xfrm>
          <a:prstGeom prst="rect">
            <a:avLst/>
          </a:prstGeom>
          <a:noFill/>
          <a:ln/>
        </p:spPr>
        <p:txBody>
          <a:bodyPr wrap="square" lIns="0" tIns="0" rIns="0" bIns="0" rtlCol="0" anchor="ctr"/>
          <a:lstStyle/>
          <a:p>
            <a:pPr algn="ctr" indent="0" marL="0">
              <a:buNone/>
            </a:pPr>
            <a:r>
              <a:rPr lang="en-US" sz="1000" b="1" dirty="0">
                <a:solidFill>
                  <a:srgbClr val="FF7A1A"/>
                </a:solidFill>
              </a:rPr>
              <a:t>1</a:t>
            </a:r>
            <a:endParaRPr lang="en-US" sz="1000" dirty="0"/>
          </a:p>
        </p:txBody>
      </p:sp>
      <p:sp>
        <p:nvSpPr>
          <p:cNvPr id="7" name="Text 5"/>
          <p:cNvSpPr/>
          <p:nvPr/>
        </p:nvSpPr>
        <p:spPr>
          <a:xfrm>
            <a:off x="1069848" y="1993392"/>
            <a:ext cx="1005840" cy="182880"/>
          </a:xfrm>
          <a:prstGeom prst="rect">
            <a:avLst/>
          </a:prstGeom>
          <a:noFill/>
          <a:ln/>
        </p:spPr>
        <p:txBody>
          <a:bodyPr wrap="square" lIns="0" tIns="0" rIns="0" bIns="0" rtlCol="0" anchor="ctr">
            <a:normAutofit/>
          </a:bodyPr>
          <a:lstStyle/>
          <a:p>
            <a:pPr indent="0" marL="0">
              <a:buNone/>
            </a:pPr>
            <a:r>
              <a:rPr lang="en-US" sz="950" b="1" dirty="0">
                <a:solidFill>
                  <a:srgbClr val="111827"/>
                </a:solidFill>
              </a:rPr>
              <a:t>Trigger</a:t>
            </a:r>
            <a:endParaRPr lang="en-US" sz="950" dirty="0"/>
          </a:p>
        </p:txBody>
      </p:sp>
      <p:sp>
        <p:nvSpPr>
          <p:cNvPr id="8" name="Text 6"/>
          <p:cNvSpPr/>
          <p:nvPr/>
        </p:nvSpPr>
        <p:spPr>
          <a:xfrm>
            <a:off x="804672" y="2304288"/>
            <a:ext cx="1216152" cy="201168"/>
          </a:xfrm>
          <a:prstGeom prst="rect">
            <a:avLst/>
          </a:prstGeom>
          <a:noFill/>
          <a:ln/>
        </p:spPr>
        <p:txBody>
          <a:bodyPr wrap="square" lIns="0" tIns="0" rIns="0" bIns="0" rtlCol="0" anchor="ctr">
            <a:normAutofit/>
          </a:bodyPr>
          <a:lstStyle/>
          <a:p>
            <a:pPr algn="ctr" indent="0" marL="0">
              <a:buNone/>
            </a:pPr>
            <a:r>
              <a:rPr lang="en-US" sz="850" dirty="0">
                <a:solidFill>
                  <a:srgbClr val="6B7280"/>
                </a:solidFill>
              </a:rPr>
              <a:t>Llega un formulario</a:t>
            </a:r>
            <a:endParaRPr lang="en-US" sz="850" dirty="0"/>
          </a:p>
        </p:txBody>
      </p:sp>
      <p:sp>
        <p:nvSpPr>
          <p:cNvPr id="9" name="Shape 7"/>
          <p:cNvSpPr/>
          <p:nvPr/>
        </p:nvSpPr>
        <p:spPr>
          <a:xfrm>
            <a:off x="2514600" y="1828800"/>
            <a:ext cx="155448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0" name="Text 8"/>
          <p:cNvSpPr/>
          <p:nvPr/>
        </p:nvSpPr>
        <p:spPr>
          <a:xfrm>
            <a:off x="2606040" y="1947672"/>
            <a:ext cx="365760" cy="164592"/>
          </a:xfrm>
          <a:prstGeom prst="rect">
            <a:avLst/>
          </a:prstGeom>
          <a:noFill/>
          <a:ln/>
        </p:spPr>
        <p:txBody>
          <a:bodyPr wrap="square" lIns="0" tIns="0" rIns="0" bIns="0" rtlCol="0" anchor="ctr"/>
          <a:lstStyle/>
          <a:p>
            <a:pPr algn="ctr" indent="0" marL="0">
              <a:buNone/>
            </a:pPr>
            <a:r>
              <a:rPr lang="en-US" sz="1000" b="1" dirty="0">
                <a:solidFill>
                  <a:srgbClr val="10B981"/>
                </a:solidFill>
              </a:rPr>
              <a:t>2</a:t>
            </a:r>
            <a:endParaRPr lang="en-US" sz="1000" dirty="0"/>
          </a:p>
        </p:txBody>
      </p:sp>
      <p:sp>
        <p:nvSpPr>
          <p:cNvPr id="11" name="Text 9"/>
          <p:cNvSpPr/>
          <p:nvPr/>
        </p:nvSpPr>
        <p:spPr>
          <a:xfrm>
            <a:off x="2944368" y="1993392"/>
            <a:ext cx="1005840" cy="182880"/>
          </a:xfrm>
          <a:prstGeom prst="rect">
            <a:avLst/>
          </a:prstGeom>
          <a:noFill/>
          <a:ln/>
        </p:spPr>
        <p:txBody>
          <a:bodyPr wrap="square" lIns="0" tIns="0" rIns="0" bIns="0" rtlCol="0" anchor="ctr">
            <a:normAutofit/>
          </a:bodyPr>
          <a:lstStyle/>
          <a:p>
            <a:pPr indent="0" marL="0">
              <a:buNone/>
            </a:pPr>
            <a:r>
              <a:rPr lang="en-US" sz="950" b="1" dirty="0">
                <a:solidFill>
                  <a:srgbClr val="111827"/>
                </a:solidFill>
              </a:rPr>
              <a:t>Transformación</a:t>
            </a:r>
            <a:endParaRPr lang="en-US" sz="950" dirty="0"/>
          </a:p>
        </p:txBody>
      </p:sp>
      <p:sp>
        <p:nvSpPr>
          <p:cNvPr id="12" name="Text 10"/>
          <p:cNvSpPr/>
          <p:nvPr/>
        </p:nvSpPr>
        <p:spPr>
          <a:xfrm>
            <a:off x="2679192" y="2304288"/>
            <a:ext cx="1216152" cy="201168"/>
          </a:xfrm>
          <a:prstGeom prst="rect">
            <a:avLst/>
          </a:prstGeom>
          <a:noFill/>
          <a:ln/>
        </p:spPr>
        <p:txBody>
          <a:bodyPr wrap="square" lIns="0" tIns="0" rIns="0" bIns="0" rtlCol="0" anchor="ctr">
            <a:normAutofit/>
          </a:bodyPr>
          <a:lstStyle/>
          <a:p>
            <a:pPr algn="ctr" indent="0" marL="0">
              <a:buNone/>
            </a:pPr>
            <a:r>
              <a:rPr lang="en-US" sz="850" dirty="0">
                <a:solidFill>
                  <a:srgbClr val="6B7280"/>
                </a:solidFill>
              </a:rPr>
              <a:t>Estandariza campos</a:t>
            </a:r>
            <a:endParaRPr lang="en-US" sz="850" dirty="0"/>
          </a:p>
        </p:txBody>
      </p:sp>
      <p:sp>
        <p:nvSpPr>
          <p:cNvPr id="13" name="Shape 11"/>
          <p:cNvSpPr/>
          <p:nvPr/>
        </p:nvSpPr>
        <p:spPr>
          <a:xfrm>
            <a:off x="4526280" y="1828800"/>
            <a:ext cx="155448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4" name="Text 12"/>
          <p:cNvSpPr/>
          <p:nvPr/>
        </p:nvSpPr>
        <p:spPr>
          <a:xfrm>
            <a:off x="4617720" y="1947672"/>
            <a:ext cx="365760" cy="164592"/>
          </a:xfrm>
          <a:prstGeom prst="rect">
            <a:avLst/>
          </a:prstGeom>
          <a:noFill/>
          <a:ln/>
        </p:spPr>
        <p:txBody>
          <a:bodyPr wrap="square" lIns="0" tIns="0" rIns="0" bIns="0" rtlCol="0" anchor="ctr"/>
          <a:lstStyle/>
          <a:p>
            <a:pPr algn="ctr" indent="0" marL="0">
              <a:buNone/>
            </a:pPr>
            <a:r>
              <a:rPr lang="en-US" sz="1000" b="1" dirty="0">
                <a:solidFill>
                  <a:srgbClr val="635BFF"/>
                </a:solidFill>
              </a:rPr>
              <a:t>3</a:t>
            </a:r>
            <a:endParaRPr lang="en-US" sz="1000" dirty="0"/>
          </a:p>
        </p:txBody>
      </p:sp>
      <p:sp>
        <p:nvSpPr>
          <p:cNvPr id="15" name="Text 13"/>
          <p:cNvSpPr/>
          <p:nvPr/>
        </p:nvSpPr>
        <p:spPr>
          <a:xfrm>
            <a:off x="4956048" y="1993392"/>
            <a:ext cx="1005840" cy="182880"/>
          </a:xfrm>
          <a:prstGeom prst="rect">
            <a:avLst/>
          </a:prstGeom>
          <a:noFill/>
          <a:ln/>
        </p:spPr>
        <p:txBody>
          <a:bodyPr wrap="square" lIns="0" tIns="0" rIns="0" bIns="0" rtlCol="0" anchor="ctr">
            <a:normAutofit/>
          </a:bodyPr>
          <a:lstStyle/>
          <a:p>
            <a:pPr indent="0" marL="0">
              <a:buNone/>
            </a:pPr>
            <a:r>
              <a:rPr lang="en-US" sz="950" b="1" dirty="0">
                <a:solidFill>
                  <a:srgbClr val="111827"/>
                </a:solidFill>
              </a:rPr>
              <a:t>Condición</a:t>
            </a:r>
            <a:endParaRPr lang="en-US" sz="950" dirty="0"/>
          </a:p>
        </p:txBody>
      </p:sp>
      <p:sp>
        <p:nvSpPr>
          <p:cNvPr id="16" name="Text 14"/>
          <p:cNvSpPr/>
          <p:nvPr/>
        </p:nvSpPr>
        <p:spPr>
          <a:xfrm>
            <a:off x="4690872" y="2304288"/>
            <a:ext cx="1216152" cy="201168"/>
          </a:xfrm>
          <a:prstGeom prst="rect">
            <a:avLst/>
          </a:prstGeom>
          <a:noFill/>
          <a:ln/>
        </p:spPr>
        <p:txBody>
          <a:bodyPr wrap="square" lIns="0" tIns="0" rIns="0" bIns="0" rtlCol="0" anchor="ctr">
            <a:normAutofit/>
          </a:bodyPr>
          <a:lstStyle/>
          <a:p>
            <a:pPr algn="ctr" indent="0" marL="0">
              <a:buNone/>
            </a:pPr>
            <a:r>
              <a:rPr lang="en-US" sz="850" dirty="0">
                <a:solidFill>
                  <a:srgbClr val="6B7280"/>
                </a:solidFill>
              </a:rPr>
              <a:t>¿Pide demo?</a:t>
            </a:r>
            <a:endParaRPr lang="en-US" sz="850" dirty="0"/>
          </a:p>
        </p:txBody>
      </p:sp>
      <p:sp>
        <p:nvSpPr>
          <p:cNvPr id="17" name="Shape 15"/>
          <p:cNvSpPr/>
          <p:nvPr/>
        </p:nvSpPr>
        <p:spPr>
          <a:xfrm>
            <a:off x="6629400" y="1234440"/>
            <a:ext cx="155448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8" name="Text 16"/>
          <p:cNvSpPr/>
          <p:nvPr/>
        </p:nvSpPr>
        <p:spPr>
          <a:xfrm>
            <a:off x="6720840" y="1353312"/>
            <a:ext cx="365760" cy="164592"/>
          </a:xfrm>
          <a:prstGeom prst="rect">
            <a:avLst/>
          </a:prstGeom>
          <a:noFill/>
          <a:ln/>
        </p:spPr>
        <p:txBody>
          <a:bodyPr wrap="square" lIns="0" tIns="0" rIns="0" bIns="0" rtlCol="0" anchor="ctr"/>
          <a:lstStyle/>
          <a:p>
            <a:pPr algn="ctr" indent="0" marL="0">
              <a:buNone/>
            </a:pPr>
            <a:r>
              <a:rPr lang="en-US" sz="1000" b="1" dirty="0">
                <a:solidFill>
                  <a:srgbClr val="2563EB"/>
                </a:solidFill>
              </a:rPr>
              <a:t>4A</a:t>
            </a:r>
            <a:endParaRPr lang="en-US" sz="1000" dirty="0"/>
          </a:p>
        </p:txBody>
      </p:sp>
      <p:sp>
        <p:nvSpPr>
          <p:cNvPr id="19" name="Text 17"/>
          <p:cNvSpPr/>
          <p:nvPr/>
        </p:nvSpPr>
        <p:spPr>
          <a:xfrm>
            <a:off x="7059168" y="1399032"/>
            <a:ext cx="1005840" cy="182880"/>
          </a:xfrm>
          <a:prstGeom prst="rect">
            <a:avLst/>
          </a:prstGeom>
          <a:noFill/>
          <a:ln/>
        </p:spPr>
        <p:txBody>
          <a:bodyPr wrap="square" lIns="0" tIns="0" rIns="0" bIns="0" rtlCol="0" anchor="ctr">
            <a:normAutofit/>
          </a:bodyPr>
          <a:lstStyle/>
          <a:p>
            <a:pPr indent="0" marL="0">
              <a:buNone/>
            </a:pPr>
            <a:r>
              <a:rPr lang="en-US" sz="950" b="1" dirty="0">
                <a:solidFill>
                  <a:srgbClr val="111827"/>
                </a:solidFill>
              </a:rPr>
              <a:t>Acción</a:t>
            </a:r>
            <a:endParaRPr lang="en-US" sz="950" dirty="0"/>
          </a:p>
        </p:txBody>
      </p:sp>
      <p:sp>
        <p:nvSpPr>
          <p:cNvPr id="20" name="Text 18"/>
          <p:cNvSpPr/>
          <p:nvPr/>
        </p:nvSpPr>
        <p:spPr>
          <a:xfrm>
            <a:off x="6793992" y="1709928"/>
            <a:ext cx="1216152" cy="201168"/>
          </a:xfrm>
          <a:prstGeom prst="rect">
            <a:avLst/>
          </a:prstGeom>
          <a:noFill/>
          <a:ln/>
        </p:spPr>
        <p:txBody>
          <a:bodyPr wrap="square" lIns="0" tIns="0" rIns="0" bIns="0" rtlCol="0" anchor="ctr">
            <a:normAutofit/>
          </a:bodyPr>
          <a:lstStyle/>
          <a:p>
            <a:pPr algn="ctr" indent="0" marL="0">
              <a:buNone/>
            </a:pPr>
            <a:r>
              <a:rPr lang="en-US" sz="850" dirty="0">
                <a:solidFill>
                  <a:srgbClr val="6B7280"/>
                </a:solidFill>
              </a:rPr>
              <a:t>Envía email comercial</a:t>
            </a:r>
            <a:endParaRPr lang="en-US" sz="850" dirty="0"/>
          </a:p>
        </p:txBody>
      </p:sp>
      <p:sp>
        <p:nvSpPr>
          <p:cNvPr id="21" name="Shape 19"/>
          <p:cNvSpPr/>
          <p:nvPr/>
        </p:nvSpPr>
        <p:spPr>
          <a:xfrm>
            <a:off x="6629400" y="2743200"/>
            <a:ext cx="155448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22" name="Text 20"/>
          <p:cNvSpPr/>
          <p:nvPr/>
        </p:nvSpPr>
        <p:spPr>
          <a:xfrm>
            <a:off x="6720840" y="2862072"/>
            <a:ext cx="365760" cy="164592"/>
          </a:xfrm>
          <a:prstGeom prst="rect">
            <a:avLst/>
          </a:prstGeom>
          <a:noFill/>
          <a:ln/>
        </p:spPr>
        <p:txBody>
          <a:bodyPr wrap="square" lIns="0" tIns="0" rIns="0" bIns="0" rtlCol="0" anchor="ctr"/>
          <a:lstStyle/>
          <a:p>
            <a:pPr algn="ctr" indent="0" marL="0">
              <a:buNone/>
            </a:pPr>
            <a:r>
              <a:rPr lang="en-US" sz="1000" b="1" dirty="0">
                <a:solidFill>
                  <a:srgbClr val="2563EB"/>
                </a:solidFill>
              </a:rPr>
              <a:t>4B</a:t>
            </a:r>
            <a:endParaRPr lang="en-US" sz="1000" dirty="0"/>
          </a:p>
        </p:txBody>
      </p:sp>
      <p:sp>
        <p:nvSpPr>
          <p:cNvPr id="23" name="Text 21"/>
          <p:cNvSpPr/>
          <p:nvPr/>
        </p:nvSpPr>
        <p:spPr>
          <a:xfrm>
            <a:off x="7059168" y="2907792"/>
            <a:ext cx="1005840" cy="182880"/>
          </a:xfrm>
          <a:prstGeom prst="rect">
            <a:avLst/>
          </a:prstGeom>
          <a:noFill/>
          <a:ln/>
        </p:spPr>
        <p:txBody>
          <a:bodyPr wrap="square" lIns="0" tIns="0" rIns="0" bIns="0" rtlCol="0" anchor="ctr">
            <a:normAutofit/>
          </a:bodyPr>
          <a:lstStyle/>
          <a:p>
            <a:pPr indent="0" marL="0">
              <a:buNone/>
            </a:pPr>
            <a:r>
              <a:rPr lang="en-US" sz="950" b="1" dirty="0">
                <a:solidFill>
                  <a:srgbClr val="111827"/>
                </a:solidFill>
              </a:rPr>
              <a:t>Acción</a:t>
            </a:r>
            <a:endParaRPr lang="en-US" sz="950" dirty="0"/>
          </a:p>
        </p:txBody>
      </p:sp>
      <p:sp>
        <p:nvSpPr>
          <p:cNvPr id="24" name="Text 22"/>
          <p:cNvSpPr/>
          <p:nvPr/>
        </p:nvSpPr>
        <p:spPr>
          <a:xfrm>
            <a:off x="6793992" y="3218688"/>
            <a:ext cx="1216152" cy="201168"/>
          </a:xfrm>
          <a:prstGeom prst="rect">
            <a:avLst/>
          </a:prstGeom>
          <a:noFill/>
          <a:ln/>
        </p:spPr>
        <p:txBody>
          <a:bodyPr wrap="square" lIns="0" tIns="0" rIns="0" bIns="0" rtlCol="0" anchor="ctr">
            <a:normAutofit/>
          </a:bodyPr>
          <a:lstStyle/>
          <a:p>
            <a:pPr algn="ctr" indent="0" marL="0">
              <a:buNone/>
            </a:pPr>
            <a:r>
              <a:rPr lang="en-US" sz="850" dirty="0">
                <a:solidFill>
                  <a:srgbClr val="6B7280"/>
                </a:solidFill>
              </a:rPr>
              <a:t>Guarda lead informativo</a:t>
            </a:r>
            <a:endParaRPr lang="en-US" sz="850" dirty="0"/>
          </a:p>
        </p:txBody>
      </p:sp>
      <p:sp>
        <p:nvSpPr>
          <p:cNvPr id="25" name="Shape 23"/>
          <p:cNvSpPr/>
          <p:nvPr/>
        </p:nvSpPr>
        <p:spPr>
          <a:xfrm>
            <a:off x="8915400" y="1984248"/>
            <a:ext cx="1554480" cy="868680"/>
          </a:xfrm>
          <a:prstGeom prst="roundRect">
            <a:avLst>
              <a:gd name="adj" fmla="val 8421"/>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26" name="Text 24"/>
          <p:cNvSpPr/>
          <p:nvPr/>
        </p:nvSpPr>
        <p:spPr>
          <a:xfrm>
            <a:off x="9006840" y="2103120"/>
            <a:ext cx="365760" cy="164592"/>
          </a:xfrm>
          <a:prstGeom prst="rect">
            <a:avLst/>
          </a:prstGeom>
          <a:noFill/>
          <a:ln/>
        </p:spPr>
        <p:txBody>
          <a:bodyPr wrap="square" lIns="0" tIns="0" rIns="0" bIns="0" rtlCol="0" anchor="ctr"/>
          <a:lstStyle/>
          <a:p>
            <a:pPr algn="ctr" indent="0" marL="0">
              <a:buNone/>
            </a:pPr>
            <a:r>
              <a:rPr lang="en-US" sz="1000" b="1" dirty="0">
                <a:solidFill>
                  <a:srgbClr val="EF4444"/>
                </a:solidFill>
              </a:rPr>
              <a:t>5</a:t>
            </a:r>
            <a:endParaRPr lang="en-US" sz="1000" dirty="0"/>
          </a:p>
        </p:txBody>
      </p:sp>
      <p:sp>
        <p:nvSpPr>
          <p:cNvPr id="27" name="Text 25"/>
          <p:cNvSpPr/>
          <p:nvPr/>
        </p:nvSpPr>
        <p:spPr>
          <a:xfrm>
            <a:off x="9345168" y="2148840"/>
            <a:ext cx="1005840" cy="182880"/>
          </a:xfrm>
          <a:prstGeom prst="rect">
            <a:avLst/>
          </a:prstGeom>
          <a:noFill/>
          <a:ln/>
        </p:spPr>
        <p:txBody>
          <a:bodyPr wrap="square" lIns="0" tIns="0" rIns="0" bIns="0" rtlCol="0" anchor="ctr">
            <a:normAutofit/>
          </a:bodyPr>
          <a:lstStyle/>
          <a:p>
            <a:pPr indent="0" marL="0">
              <a:buNone/>
            </a:pPr>
            <a:r>
              <a:rPr lang="en-US" sz="950" b="1" dirty="0">
                <a:solidFill>
                  <a:srgbClr val="111827"/>
                </a:solidFill>
              </a:rPr>
              <a:t>Control</a:t>
            </a:r>
            <a:endParaRPr lang="en-US" sz="950" dirty="0"/>
          </a:p>
        </p:txBody>
      </p:sp>
      <p:sp>
        <p:nvSpPr>
          <p:cNvPr id="28" name="Text 26"/>
          <p:cNvSpPr/>
          <p:nvPr/>
        </p:nvSpPr>
        <p:spPr>
          <a:xfrm>
            <a:off x="9079992" y="2459736"/>
            <a:ext cx="1216152" cy="201168"/>
          </a:xfrm>
          <a:prstGeom prst="rect">
            <a:avLst/>
          </a:prstGeom>
          <a:noFill/>
          <a:ln/>
        </p:spPr>
        <p:txBody>
          <a:bodyPr wrap="square" lIns="0" tIns="0" rIns="0" bIns="0" rtlCol="0" anchor="ctr">
            <a:normAutofit/>
          </a:bodyPr>
          <a:lstStyle/>
          <a:p>
            <a:pPr algn="ctr" indent="0" marL="0">
              <a:buNone/>
            </a:pPr>
            <a:r>
              <a:rPr lang="en-US" sz="850" dirty="0">
                <a:solidFill>
                  <a:srgbClr val="6B7280"/>
                </a:solidFill>
              </a:rPr>
              <a:t>Registra errores</a:t>
            </a:r>
            <a:endParaRPr lang="en-US" sz="850" dirty="0"/>
          </a:p>
        </p:txBody>
      </p:sp>
      <p:sp>
        <p:nvSpPr>
          <p:cNvPr id="29" name="Shape 27"/>
          <p:cNvSpPr/>
          <p:nvPr/>
        </p:nvSpPr>
        <p:spPr>
          <a:xfrm>
            <a:off x="2194560" y="2258568"/>
            <a:ext cx="292608" cy="0"/>
          </a:xfrm>
          <a:prstGeom prst="line">
            <a:avLst/>
          </a:prstGeom>
          <a:noFill/>
          <a:ln w="22860">
            <a:solidFill>
              <a:srgbClr val="9CA3AF"/>
            </a:solidFill>
            <a:prstDash val="solid"/>
            <a:headEnd type="none"/>
            <a:tailEnd type="triangle"/>
          </a:ln>
        </p:spPr>
      </p:sp>
      <p:sp>
        <p:nvSpPr>
          <p:cNvPr id="30" name="Shape 28"/>
          <p:cNvSpPr/>
          <p:nvPr/>
        </p:nvSpPr>
        <p:spPr>
          <a:xfrm>
            <a:off x="4069080" y="2258568"/>
            <a:ext cx="429768" cy="0"/>
          </a:xfrm>
          <a:prstGeom prst="line">
            <a:avLst/>
          </a:prstGeom>
          <a:noFill/>
          <a:ln w="22860">
            <a:solidFill>
              <a:srgbClr val="9CA3AF"/>
            </a:solidFill>
            <a:prstDash val="solid"/>
            <a:headEnd type="none"/>
            <a:tailEnd type="triangle"/>
          </a:ln>
        </p:spPr>
      </p:sp>
      <p:sp>
        <p:nvSpPr>
          <p:cNvPr id="31" name="Shape 29"/>
          <p:cNvSpPr/>
          <p:nvPr/>
        </p:nvSpPr>
        <p:spPr>
          <a:xfrm>
            <a:off x="6080760" y="2148840"/>
            <a:ext cx="521208" cy="-502920"/>
          </a:xfrm>
          <a:prstGeom prst="line">
            <a:avLst/>
          </a:prstGeom>
          <a:noFill/>
          <a:ln w="22860">
            <a:solidFill>
              <a:srgbClr val="9CA3AF"/>
            </a:solidFill>
            <a:prstDash val="solid"/>
            <a:headEnd type="none"/>
            <a:tailEnd type="triangle"/>
          </a:ln>
        </p:spPr>
      </p:sp>
      <p:sp>
        <p:nvSpPr>
          <p:cNvPr id="32" name="Shape 30"/>
          <p:cNvSpPr/>
          <p:nvPr/>
        </p:nvSpPr>
        <p:spPr>
          <a:xfrm>
            <a:off x="6080760" y="2395728"/>
            <a:ext cx="521208" cy="713232"/>
          </a:xfrm>
          <a:prstGeom prst="line">
            <a:avLst/>
          </a:prstGeom>
          <a:noFill/>
          <a:ln w="22860">
            <a:solidFill>
              <a:srgbClr val="9CA3AF"/>
            </a:solidFill>
            <a:prstDash val="solid"/>
            <a:headEnd type="none"/>
            <a:tailEnd type="triangle"/>
          </a:ln>
        </p:spPr>
      </p:sp>
      <p:sp>
        <p:nvSpPr>
          <p:cNvPr id="33" name="Shape 31"/>
          <p:cNvSpPr/>
          <p:nvPr/>
        </p:nvSpPr>
        <p:spPr>
          <a:xfrm>
            <a:off x="8183880" y="1664208"/>
            <a:ext cx="685800" cy="530352"/>
          </a:xfrm>
          <a:prstGeom prst="line">
            <a:avLst/>
          </a:prstGeom>
          <a:noFill/>
          <a:ln w="22860">
            <a:solidFill>
              <a:srgbClr val="9CA3AF"/>
            </a:solidFill>
            <a:prstDash val="solid"/>
            <a:headEnd type="none"/>
            <a:tailEnd type="triangle"/>
          </a:ln>
        </p:spPr>
      </p:sp>
      <p:sp>
        <p:nvSpPr>
          <p:cNvPr id="34" name="Shape 32"/>
          <p:cNvSpPr/>
          <p:nvPr/>
        </p:nvSpPr>
        <p:spPr>
          <a:xfrm>
            <a:off x="8183880" y="3154680"/>
            <a:ext cx="685800" cy="-822960"/>
          </a:xfrm>
          <a:prstGeom prst="line">
            <a:avLst/>
          </a:prstGeom>
          <a:noFill/>
          <a:ln w="22860">
            <a:solidFill>
              <a:srgbClr val="9CA3AF"/>
            </a:solidFill>
            <a:prstDash val="solid"/>
            <a:headEnd type="none"/>
            <a:tailEnd type="triangle"/>
          </a:ln>
        </p:spPr>
      </p:sp>
      <p:sp>
        <p:nvSpPr>
          <p:cNvPr id="35" name="Text 33"/>
          <p:cNvSpPr/>
          <p:nvPr/>
        </p:nvSpPr>
        <p:spPr>
          <a:xfrm>
            <a:off x="822960" y="5074920"/>
            <a:ext cx="10287000" cy="384048"/>
          </a:xfrm>
          <a:prstGeom prst="rect">
            <a:avLst/>
          </a:prstGeom>
          <a:noFill/>
          <a:ln/>
        </p:spPr>
        <p:txBody>
          <a:bodyPr wrap="square" lIns="0" tIns="0" rIns="0" bIns="0" rtlCol="0" anchor="ctr"/>
          <a:lstStyle/>
          <a:p>
            <a:pPr algn="ctr" indent="0" marL="0">
              <a:buNone/>
            </a:pPr>
            <a:r>
              <a:rPr lang="en-US" sz="1300" b="1" dirty="0">
                <a:solidFill>
                  <a:srgbClr val="111827"/>
                </a:solidFill>
              </a:rPr>
              <a:t>Este caso muestra cómo una automatización real no es un único nodo: normalmente combina entrada, preparación, decisión, acción y control.</a:t>
            </a:r>
            <a:endParaRPr lang="en-US" sz="130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Ejercicio propuesto para estudiantes</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Diseñar un workflow de n8n a partir de un problema sencillo.</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731520" y="1417320"/>
            <a:ext cx="5074920" cy="4480560"/>
          </a:xfrm>
          <a:prstGeom prst="roundRect">
            <a:avLst>
              <a:gd name="adj" fmla="val 1633"/>
            </a:avLst>
          </a:prstGeom>
          <a:solidFill>
            <a:srgbClr val="EFF6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6" name="Text 4"/>
          <p:cNvSpPr/>
          <p:nvPr/>
        </p:nvSpPr>
        <p:spPr>
          <a:xfrm>
            <a:off x="1051560" y="1783080"/>
            <a:ext cx="4389120" cy="292608"/>
          </a:xfrm>
          <a:prstGeom prst="rect">
            <a:avLst/>
          </a:prstGeom>
          <a:noFill/>
          <a:ln/>
        </p:spPr>
        <p:txBody>
          <a:bodyPr wrap="square" lIns="0" tIns="0" rIns="0" bIns="0" rtlCol="0" anchor="ctr"/>
          <a:lstStyle/>
          <a:p>
            <a:pPr indent="0" marL="0">
              <a:buNone/>
            </a:pPr>
            <a:r>
              <a:rPr lang="en-US" sz="1800" b="1" dirty="0">
                <a:solidFill>
                  <a:srgbClr val="111827"/>
                </a:solidFill>
              </a:rPr>
              <a:t>Problema</a:t>
            </a:r>
            <a:endParaRPr lang="en-US" sz="1800" dirty="0"/>
          </a:p>
        </p:txBody>
      </p:sp>
      <p:sp>
        <p:nvSpPr>
          <p:cNvPr id="7" name="Text 5"/>
          <p:cNvSpPr/>
          <p:nvPr/>
        </p:nvSpPr>
        <p:spPr>
          <a:xfrm>
            <a:off x="1051560" y="2331720"/>
            <a:ext cx="4343400" cy="1051560"/>
          </a:xfrm>
          <a:prstGeom prst="rect">
            <a:avLst/>
          </a:prstGeom>
          <a:noFill/>
          <a:ln/>
        </p:spPr>
        <p:txBody>
          <a:bodyPr wrap="square" lIns="381" tIns="381" rIns="381" bIns="381" rtlCol="0" anchor="ctr">
            <a:normAutofit/>
          </a:bodyPr>
          <a:lstStyle/>
          <a:p>
            <a:pPr indent="0" marL="0">
              <a:buNone/>
            </a:pPr>
            <a:r>
              <a:rPr lang="en-US" sz="1270" dirty="0">
                <a:solidFill>
                  <a:srgbClr val="111827"/>
                </a:solidFill>
              </a:rPr>
              <a:t>Una academia quiere automatizar la gestión de solicitudes recibidas por un formulario web. Si la solicitud es de información general, debe guardarse en una hoja de cálculo. Si pide una reunión, debe enviarse una notificación al equipo comercial.</a:t>
            </a:r>
            <a:endParaRPr lang="en-US" sz="1270" dirty="0"/>
          </a:p>
        </p:txBody>
      </p:sp>
      <p:sp>
        <p:nvSpPr>
          <p:cNvPr id="8" name="Text 6"/>
          <p:cNvSpPr/>
          <p:nvPr/>
        </p:nvSpPr>
        <p:spPr>
          <a:xfrm>
            <a:off x="1051560" y="3977640"/>
            <a:ext cx="4389120" cy="228600"/>
          </a:xfrm>
          <a:prstGeom prst="rect">
            <a:avLst/>
          </a:prstGeom>
          <a:noFill/>
          <a:ln/>
        </p:spPr>
        <p:txBody>
          <a:bodyPr wrap="square" lIns="0" tIns="0" rIns="0" bIns="0" rtlCol="0" anchor="ctr"/>
          <a:lstStyle/>
          <a:p>
            <a:pPr indent="0" marL="0">
              <a:buNone/>
            </a:pPr>
            <a:r>
              <a:rPr lang="en-US" sz="1400" b="1" dirty="0">
                <a:solidFill>
                  <a:srgbClr val="2563EB"/>
                </a:solidFill>
              </a:rPr>
              <a:t>Entregable</a:t>
            </a:r>
            <a:endParaRPr lang="en-US" sz="1400" dirty="0"/>
          </a:p>
        </p:txBody>
      </p:sp>
      <p:sp>
        <p:nvSpPr>
          <p:cNvPr id="9" name="Text 7"/>
          <p:cNvSpPr/>
          <p:nvPr/>
        </p:nvSpPr>
        <p:spPr>
          <a:xfrm>
            <a:off x="1051560" y="4370832"/>
            <a:ext cx="4343400" cy="320040"/>
          </a:xfrm>
          <a:prstGeom prst="rect">
            <a:avLst/>
          </a:prstGeom>
          <a:noFill/>
          <a:ln/>
        </p:spPr>
        <p:txBody>
          <a:bodyPr wrap="square" lIns="0" tIns="0" rIns="0" bIns="0" rtlCol="0" anchor="ctr">
            <a:normAutofit/>
          </a:bodyPr>
          <a:lstStyle/>
          <a:p>
            <a:pPr indent="0" marL="0">
              <a:buNone/>
            </a:pPr>
            <a:r>
              <a:rPr lang="en-US" sz="1200" dirty="0">
                <a:solidFill>
                  <a:srgbClr val="111827"/>
                </a:solidFill>
              </a:rPr>
              <a:t>Un diagrama con los nodos necesarios y una breve explicación de cada nodo.</a:t>
            </a:r>
            <a:endParaRPr lang="en-US" sz="1200" dirty="0"/>
          </a:p>
        </p:txBody>
      </p:sp>
      <p:sp>
        <p:nvSpPr>
          <p:cNvPr id="10" name="Shape 8"/>
          <p:cNvSpPr/>
          <p:nvPr/>
        </p:nvSpPr>
        <p:spPr>
          <a:xfrm>
            <a:off x="6172200" y="1417320"/>
            <a:ext cx="5074920" cy="4480560"/>
          </a:xfrm>
          <a:prstGeom prst="roundRect">
            <a:avLst>
              <a:gd name="adj" fmla="val 1633"/>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1" name="Text 9"/>
          <p:cNvSpPr/>
          <p:nvPr/>
        </p:nvSpPr>
        <p:spPr>
          <a:xfrm>
            <a:off x="6492240" y="1783080"/>
            <a:ext cx="4389120" cy="292608"/>
          </a:xfrm>
          <a:prstGeom prst="rect">
            <a:avLst/>
          </a:prstGeom>
          <a:noFill/>
          <a:ln/>
        </p:spPr>
        <p:txBody>
          <a:bodyPr wrap="square" lIns="0" tIns="0" rIns="0" bIns="0" rtlCol="0" anchor="ctr"/>
          <a:lstStyle/>
          <a:p>
            <a:pPr indent="0" marL="0">
              <a:buNone/>
            </a:pPr>
            <a:r>
              <a:rPr lang="en-US" sz="1800" b="1" dirty="0">
                <a:solidFill>
                  <a:srgbClr val="111827"/>
                </a:solidFill>
              </a:rPr>
              <a:t>Guía de trabajo</a:t>
            </a:r>
            <a:endParaRPr lang="en-US" sz="1800" dirty="0"/>
          </a:p>
        </p:txBody>
      </p:sp>
      <p:sp>
        <p:nvSpPr>
          <p:cNvPr id="12" name="Text 10"/>
          <p:cNvSpPr/>
          <p:nvPr/>
        </p:nvSpPr>
        <p:spPr>
          <a:xfrm>
            <a:off x="6492240" y="2331720"/>
            <a:ext cx="4343400" cy="2011680"/>
          </a:xfrm>
          <a:prstGeom prst="rect">
            <a:avLst/>
          </a:prstGeom>
          <a:noFill/>
          <a:ln/>
        </p:spPr>
        <p:txBody>
          <a:bodyPr wrap="square" lIns="762" tIns="762" rIns="762" bIns="762" rtlCol="0" anchor="ctr">
            <a:normAutofit/>
          </a:bodyPr>
          <a:lstStyle/>
          <a:p>
            <a:r>
              <a:rPr lang="en-US" sz="1280" dirty="0">
                <a:solidFill>
                  <a:srgbClr val="111827"/>
                </a:solidFill>
              </a:rPr>
              <a:t>Identifica el trigger.
</a:t>
            </a:r>
            <a:endParaRPr lang="en-US" sz="1280" dirty="0"/>
          </a:p>
          <a:p>
            <a:r>
              <a:rPr lang="en-US" sz="1280" dirty="0">
                <a:solidFill>
                  <a:srgbClr val="111827"/>
                </a:solidFill>
              </a:rPr>
              <a:t>Define qué datos deben transformarse.
</a:t>
            </a:r>
            <a:endParaRPr lang="en-US" sz="1280" dirty="0"/>
          </a:p>
          <a:p>
            <a:r>
              <a:rPr lang="en-US" sz="1280" dirty="0">
                <a:solidFill>
                  <a:srgbClr val="111827"/>
                </a:solidFill>
              </a:rPr>
              <a:t>Crea una condición para separar rutas.
</a:t>
            </a:r>
            <a:endParaRPr lang="en-US" sz="1280" dirty="0"/>
          </a:p>
          <a:p>
            <a:r>
              <a:rPr lang="en-US" sz="1280" dirty="0">
                <a:solidFill>
                  <a:srgbClr val="111827"/>
                </a:solidFill>
              </a:rPr>
              <a:t>Añade las acciones de cada ruta.
</a:t>
            </a:r>
            <a:endParaRPr lang="en-US" sz="1280" dirty="0"/>
          </a:p>
          <a:p>
            <a:r>
              <a:rPr lang="en-US" sz="1280" dirty="0">
                <a:solidFill>
                  <a:srgbClr val="111827"/>
                </a:solidFill>
              </a:rPr>
              <a:t>Incluye un control de errores básico.</a:t>
            </a:r>
            <a:endParaRPr lang="en-US" sz="128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320040"/>
            <a:ext cx="7863840" cy="411480"/>
          </a:xfrm>
          <a:prstGeom prst="rect">
            <a:avLst/>
          </a:prstGeom>
          <a:noFill/>
          <a:ln/>
        </p:spPr>
        <p:txBody>
          <a:bodyPr wrap="square" lIns="0" tIns="0" rIns="0" bIns="0" rtlCol="0" anchor="ctr"/>
          <a:lstStyle/>
          <a:p>
            <a:pPr indent="0" marL="0">
              <a:buNone/>
            </a:pPr>
            <a:r>
              <a:rPr lang="en-US" sz="2400" b="1" dirty="0">
                <a:solidFill>
                  <a:srgbClr val="111827"/>
                </a:solidFill>
              </a:rPr>
              <a:t>Resumen final</a:t>
            </a:r>
            <a:endParaRPr lang="en-US" sz="2400" dirty="0"/>
          </a:p>
        </p:txBody>
      </p:sp>
      <p:sp>
        <p:nvSpPr>
          <p:cNvPr id="3" name="Text 1"/>
          <p:cNvSpPr/>
          <p:nvPr/>
        </p:nvSpPr>
        <p:spPr>
          <a:xfrm>
            <a:off x="612648" y="804672"/>
            <a:ext cx="9692640" cy="256032"/>
          </a:xfrm>
          <a:prstGeom prst="rect">
            <a:avLst/>
          </a:prstGeom>
          <a:noFill/>
          <a:ln/>
        </p:spPr>
        <p:txBody>
          <a:bodyPr wrap="square" lIns="0" tIns="0" rIns="0" bIns="0" rtlCol="0" anchor="ctr"/>
          <a:lstStyle/>
          <a:p>
            <a:pPr indent="0" marL="0">
              <a:buNone/>
            </a:pPr>
            <a:r>
              <a:rPr lang="en-US" sz="1050" dirty="0">
                <a:solidFill>
                  <a:srgbClr val="6B7280"/>
                </a:solidFill>
              </a:rPr>
              <a:t>Idea clave: automatizar es convertir una lógica de proceso en un workflow ejecutable.</a:t>
            </a:r>
            <a:endParaRPr lang="en-US" sz="1050" dirty="0"/>
          </a:p>
        </p:txBody>
      </p:sp>
      <p:sp>
        <p:nvSpPr>
          <p:cNvPr id="4" name="Shape 2"/>
          <p:cNvSpPr/>
          <p:nvPr/>
        </p:nvSpPr>
        <p:spPr>
          <a:xfrm>
            <a:off x="594360" y="1143000"/>
            <a:ext cx="10972800" cy="0"/>
          </a:xfrm>
          <a:prstGeom prst="line">
            <a:avLst/>
          </a:prstGeom>
          <a:noFill/>
          <a:ln w="9525">
            <a:solidFill>
              <a:srgbClr val="E5E7EB"/>
            </a:solidFill>
            <a:prstDash val="solid"/>
          </a:ln>
        </p:spPr>
      </p:sp>
      <p:sp>
        <p:nvSpPr>
          <p:cNvPr id="5" name="Shape 3"/>
          <p:cNvSpPr/>
          <p:nvPr/>
        </p:nvSpPr>
        <p:spPr>
          <a:xfrm>
            <a:off x="868680" y="1600200"/>
            <a:ext cx="3063240" cy="960120"/>
          </a:xfrm>
          <a:prstGeom prst="roundRect">
            <a:avLst>
              <a:gd name="adj" fmla="val 761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6" name="Shape 4"/>
          <p:cNvSpPr/>
          <p:nvPr/>
        </p:nvSpPr>
        <p:spPr>
          <a:xfrm>
            <a:off x="868680" y="1600200"/>
            <a:ext cx="164592" cy="960120"/>
          </a:xfrm>
          <a:prstGeom prst="rect">
            <a:avLst/>
          </a:prstGeom>
          <a:solidFill>
            <a:srgbClr val="FF7A1A"/>
          </a:solidFill>
          <a:ln w="12700">
            <a:solidFill>
              <a:srgbClr val="FF7A1A"/>
            </a:solidFill>
            <a:prstDash val="solid"/>
          </a:ln>
        </p:spPr>
      </p:sp>
      <p:sp>
        <p:nvSpPr>
          <p:cNvPr id="7" name="Text 5"/>
          <p:cNvSpPr/>
          <p:nvPr/>
        </p:nvSpPr>
        <p:spPr>
          <a:xfrm>
            <a:off x="1280160" y="1801368"/>
            <a:ext cx="2103120" cy="201168"/>
          </a:xfrm>
          <a:prstGeom prst="rect">
            <a:avLst/>
          </a:prstGeom>
          <a:noFill/>
          <a:ln/>
        </p:spPr>
        <p:txBody>
          <a:bodyPr wrap="square" lIns="0" tIns="0" rIns="0" bIns="0" rtlCol="0" anchor="ctr"/>
          <a:lstStyle/>
          <a:p>
            <a:pPr indent="0" marL="0">
              <a:buNone/>
            </a:pPr>
            <a:r>
              <a:rPr lang="en-US" sz="1400" b="1" dirty="0">
                <a:solidFill>
                  <a:srgbClr val="111827"/>
                </a:solidFill>
              </a:rPr>
              <a:t>Trigger</a:t>
            </a:r>
            <a:endParaRPr lang="en-US" sz="1400" dirty="0"/>
          </a:p>
        </p:txBody>
      </p:sp>
      <p:sp>
        <p:nvSpPr>
          <p:cNvPr id="8" name="Text 6"/>
          <p:cNvSpPr/>
          <p:nvPr/>
        </p:nvSpPr>
        <p:spPr>
          <a:xfrm>
            <a:off x="1280160" y="2130552"/>
            <a:ext cx="2240280" cy="201168"/>
          </a:xfrm>
          <a:prstGeom prst="rect">
            <a:avLst/>
          </a:prstGeom>
          <a:noFill/>
          <a:ln/>
        </p:spPr>
        <p:txBody>
          <a:bodyPr wrap="square" lIns="0" tIns="0" rIns="0" bIns="0" rtlCol="0" anchor="ctr">
            <a:normAutofit/>
          </a:bodyPr>
          <a:lstStyle/>
          <a:p>
            <a:pPr indent="0" marL="0">
              <a:buNone/>
            </a:pPr>
            <a:r>
              <a:rPr lang="en-US" sz="1080" dirty="0">
                <a:solidFill>
                  <a:srgbClr val="6B7280"/>
                </a:solidFill>
              </a:rPr>
              <a:t>inicia el flujo automáticamente.</a:t>
            </a:r>
            <a:endParaRPr lang="en-US" sz="1080" dirty="0"/>
          </a:p>
        </p:txBody>
      </p:sp>
      <p:sp>
        <p:nvSpPr>
          <p:cNvPr id="9" name="Shape 7"/>
          <p:cNvSpPr/>
          <p:nvPr/>
        </p:nvSpPr>
        <p:spPr>
          <a:xfrm>
            <a:off x="4526280" y="1600200"/>
            <a:ext cx="3063240" cy="960120"/>
          </a:xfrm>
          <a:prstGeom prst="roundRect">
            <a:avLst>
              <a:gd name="adj" fmla="val 761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0" name="Shape 8"/>
          <p:cNvSpPr/>
          <p:nvPr/>
        </p:nvSpPr>
        <p:spPr>
          <a:xfrm>
            <a:off x="4526280" y="1600200"/>
            <a:ext cx="164592" cy="960120"/>
          </a:xfrm>
          <a:prstGeom prst="rect">
            <a:avLst/>
          </a:prstGeom>
          <a:solidFill>
            <a:srgbClr val="2563EB"/>
          </a:solidFill>
          <a:ln w="12700">
            <a:solidFill>
              <a:srgbClr val="2563EB"/>
            </a:solidFill>
            <a:prstDash val="solid"/>
          </a:ln>
        </p:spPr>
      </p:sp>
      <p:sp>
        <p:nvSpPr>
          <p:cNvPr id="11" name="Text 9"/>
          <p:cNvSpPr/>
          <p:nvPr/>
        </p:nvSpPr>
        <p:spPr>
          <a:xfrm>
            <a:off x="4937760" y="1801368"/>
            <a:ext cx="2103120" cy="201168"/>
          </a:xfrm>
          <a:prstGeom prst="rect">
            <a:avLst/>
          </a:prstGeom>
          <a:noFill/>
          <a:ln/>
        </p:spPr>
        <p:txBody>
          <a:bodyPr wrap="square" lIns="0" tIns="0" rIns="0" bIns="0" rtlCol="0" anchor="ctr"/>
          <a:lstStyle/>
          <a:p>
            <a:pPr indent="0" marL="0">
              <a:buNone/>
            </a:pPr>
            <a:r>
              <a:rPr lang="en-US" sz="1400" b="1" dirty="0">
                <a:solidFill>
                  <a:srgbClr val="111827"/>
                </a:solidFill>
              </a:rPr>
              <a:t>Acción</a:t>
            </a:r>
            <a:endParaRPr lang="en-US" sz="1400" dirty="0"/>
          </a:p>
        </p:txBody>
      </p:sp>
      <p:sp>
        <p:nvSpPr>
          <p:cNvPr id="12" name="Text 10"/>
          <p:cNvSpPr/>
          <p:nvPr/>
        </p:nvSpPr>
        <p:spPr>
          <a:xfrm>
            <a:off x="4937760" y="2130552"/>
            <a:ext cx="2240280" cy="201168"/>
          </a:xfrm>
          <a:prstGeom prst="rect">
            <a:avLst/>
          </a:prstGeom>
          <a:noFill/>
          <a:ln/>
        </p:spPr>
        <p:txBody>
          <a:bodyPr wrap="square" lIns="0" tIns="0" rIns="0" bIns="0" rtlCol="0" anchor="ctr">
            <a:normAutofit/>
          </a:bodyPr>
          <a:lstStyle/>
          <a:p>
            <a:pPr indent="0" marL="0">
              <a:buNone/>
            </a:pPr>
            <a:r>
              <a:rPr lang="en-US" sz="1080" dirty="0">
                <a:solidFill>
                  <a:srgbClr val="6B7280"/>
                </a:solidFill>
              </a:rPr>
              <a:t>ejecuta tareas concretas.</a:t>
            </a:r>
            <a:endParaRPr lang="en-US" sz="1080" dirty="0"/>
          </a:p>
        </p:txBody>
      </p:sp>
      <p:sp>
        <p:nvSpPr>
          <p:cNvPr id="13" name="Shape 11"/>
          <p:cNvSpPr/>
          <p:nvPr/>
        </p:nvSpPr>
        <p:spPr>
          <a:xfrm>
            <a:off x="8183880" y="1600200"/>
            <a:ext cx="3063240" cy="960120"/>
          </a:xfrm>
          <a:prstGeom prst="roundRect">
            <a:avLst>
              <a:gd name="adj" fmla="val 761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4" name="Shape 12"/>
          <p:cNvSpPr/>
          <p:nvPr/>
        </p:nvSpPr>
        <p:spPr>
          <a:xfrm>
            <a:off x="8183880" y="1600200"/>
            <a:ext cx="164592" cy="960120"/>
          </a:xfrm>
          <a:prstGeom prst="rect">
            <a:avLst/>
          </a:prstGeom>
          <a:solidFill>
            <a:srgbClr val="635BFF"/>
          </a:solidFill>
          <a:ln w="12700">
            <a:solidFill>
              <a:srgbClr val="635BFF"/>
            </a:solidFill>
            <a:prstDash val="solid"/>
          </a:ln>
        </p:spPr>
      </p:sp>
      <p:sp>
        <p:nvSpPr>
          <p:cNvPr id="15" name="Text 13"/>
          <p:cNvSpPr/>
          <p:nvPr/>
        </p:nvSpPr>
        <p:spPr>
          <a:xfrm>
            <a:off x="8595360" y="1801368"/>
            <a:ext cx="2103120" cy="201168"/>
          </a:xfrm>
          <a:prstGeom prst="rect">
            <a:avLst/>
          </a:prstGeom>
          <a:noFill/>
          <a:ln/>
        </p:spPr>
        <p:txBody>
          <a:bodyPr wrap="square" lIns="0" tIns="0" rIns="0" bIns="0" rtlCol="0" anchor="ctr"/>
          <a:lstStyle/>
          <a:p>
            <a:pPr indent="0" marL="0">
              <a:buNone/>
            </a:pPr>
            <a:r>
              <a:rPr lang="en-US" sz="1400" b="1" dirty="0">
                <a:solidFill>
                  <a:srgbClr val="111827"/>
                </a:solidFill>
              </a:rPr>
              <a:t>Condición</a:t>
            </a:r>
            <a:endParaRPr lang="en-US" sz="1400" dirty="0"/>
          </a:p>
        </p:txBody>
      </p:sp>
      <p:sp>
        <p:nvSpPr>
          <p:cNvPr id="16" name="Text 14"/>
          <p:cNvSpPr/>
          <p:nvPr/>
        </p:nvSpPr>
        <p:spPr>
          <a:xfrm>
            <a:off x="8595360" y="2130552"/>
            <a:ext cx="2240280" cy="201168"/>
          </a:xfrm>
          <a:prstGeom prst="rect">
            <a:avLst/>
          </a:prstGeom>
          <a:noFill/>
          <a:ln/>
        </p:spPr>
        <p:txBody>
          <a:bodyPr wrap="square" lIns="0" tIns="0" rIns="0" bIns="0" rtlCol="0" anchor="ctr">
            <a:normAutofit/>
          </a:bodyPr>
          <a:lstStyle/>
          <a:p>
            <a:pPr indent="0" marL="0">
              <a:buNone/>
            </a:pPr>
            <a:r>
              <a:rPr lang="en-US" sz="1080" dirty="0">
                <a:solidFill>
                  <a:srgbClr val="6B7280"/>
                </a:solidFill>
              </a:rPr>
              <a:t>decide la ruta del proceso.</a:t>
            </a:r>
            <a:endParaRPr lang="en-US" sz="1080" dirty="0"/>
          </a:p>
        </p:txBody>
      </p:sp>
      <p:sp>
        <p:nvSpPr>
          <p:cNvPr id="17" name="Shape 15"/>
          <p:cNvSpPr/>
          <p:nvPr/>
        </p:nvSpPr>
        <p:spPr>
          <a:xfrm>
            <a:off x="868680" y="3154680"/>
            <a:ext cx="3063240" cy="960120"/>
          </a:xfrm>
          <a:prstGeom prst="roundRect">
            <a:avLst>
              <a:gd name="adj" fmla="val 761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18" name="Shape 16"/>
          <p:cNvSpPr/>
          <p:nvPr/>
        </p:nvSpPr>
        <p:spPr>
          <a:xfrm>
            <a:off x="868680" y="3154680"/>
            <a:ext cx="164592" cy="960120"/>
          </a:xfrm>
          <a:prstGeom prst="rect">
            <a:avLst/>
          </a:prstGeom>
          <a:solidFill>
            <a:srgbClr val="10B981"/>
          </a:solidFill>
          <a:ln w="12700">
            <a:solidFill>
              <a:srgbClr val="10B981"/>
            </a:solidFill>
            <a:prstDash val="solid"/>
          </a:ln>
        </p:spPr>
      </p:sp>
      <p:sp>
        <p:nvSpPr>
          <p:cNvPr id="19" name="Text 17"/>
          <p:cNvSpPr/>
          <p:nvPr/>
        </p:nvSpPr>
        <p:spPr>
          <a:xfrm>
            <a:off x="1280160" y="3355848"/>
            <a:ext cx="2103120" cy="201168"/>
          </a:xfrm>
          <a:prstGeom prst="rect">
            <a:avLst/>
          </a:prstGeom>
          <a:noFill/>
          <a:ln/>
        </p:spPr>
        <p:txBody>
          <a:bodyPr wrap="square" lIns="0" tIns="0" rIns="0" bIns="0" rtlCol="0" anchor="ctr"/>
          <a:lstStyle/>
          <a:p>
            <a:pPr indent="0" marL="0">
              <a:buNone/>
            </a:pPr>
            <a:r>
              <a:rPr lang="en-US" sz="1400" b="1" dirty="0">
                <a:solidFill>
                  <a:srgbClr val="111827"/>
                </a:solidFill>
              </a:rPr>
              <a:t>Transformación</a:t>
            </a:r>
            <a:endParaRPr lang="en-US" sz="1400" dirty="0"/>
          </a:p>
        </p:txBody>
      </p:sp>
      <p:sp>
        <p:nvSpPr>
          <p:cNvPr id="20" name="Text 18"/>
          <p:cNvSpPr/>
          <p:nvPr/>
        </p:nvSpPr>
        <p:spPr>
          <a:xfrm>
            <a:off x="1280160" y="3685032"/>
            <a:ext cx="2240280" cy="201168"/>
          </a:xfrm>
          <a:prstGeom prst="rect">
            <a:avLst/>
          </a:prstGeom>
          <a:noFill/>
          <a:ln/>
        </p:spPr>
        <p:txBody>
          <a:bodyPr wrap="square" lIns="0" tIns="0" rIns="0" bIns="0" rtlCol="0" anchor="ctr">
            <a:normAutofit/>
          </a:bodyPr>
          <a:lstStyle/>
          <a:p>
            <a:pPr indent="0" marL="0">
              <a:buNone/>
            </a:pPr>
            <a:r>
              <a:rPr lang="en-US" sz="1080" dirty="0">
                <a:solidFill>
                  <a:srgbClr val="6B7280"/>
                </a:solidFill>
              </a:rPr>
              <a:t>prepara y estandariza datos.</a:t>
            </a:r>
            <a:endParaRPr lang="en-US" sz="1080" dirty="0"/>
          </a:p>
        </p:txBody>
      </p:sp>
      <p:sp>
        <p:nvSpPr>
          <p:cNvPr id="21" name="Shape 19"/>
          <p:cNvSpPr/>
          <p:nvPr/>
        </p:nvSpPr>
        <p:spPr>
          <a:xfrm>
            <a:off x="4526280" y="3154680"/>
            <a:ext cx="3063240" cy="960120"/>
          </a:xfrm>
          <a:prstGeom prst="roundRect">
            <a:avLst>
              <a:gd name="adj" fmla="val 7619"/>
            </a:avLst>
          </a:prstGeom>
          <a:solidFill>
            <a:srgbClr val="FFFFFF"/>
          </a:solidFill>
          <a:ln w="12700">
            <a:solidFill>
              <a:srgbClr val="E5E7EB"/>
            </a:solidFill>
            <a:prstDash val="solid"/>
          </a:ln>
          <a:effectLst>
            <a:outerShdw sx="100000" sy="100000" kx="0" ky="0" algn="bl" rotWithShape="0" blurRad="12700" dist="50800" dir="2700000">
              <a:srgbClr val="D7DCE5">
                <a:alpha val="18000"/>
              </a:srgbClr>
            </a:outerShdw>
          </a:effectLst>
        </p:spPr>
      </p:sp>
      <p:sp>
        <p:nvSpPr>
          <p:cNvPr id="22" name="Shape 20"/>
          <p:cNvSpPr/>
          <p:nvPr/>
        </p:nvSpPr>
        <p:spPr>
          <a:xfrm>
            <a:off x="4526280" y="3154680"/>
            <a:ext cx="164592" cy="960120"/>
          </a:xfrm>
          <a:prstGeom prst="rect">
            <a:avLst/>
          </a:prstGeom>
          <a:solidFill>
            <a:srgbClr val="EF4444"/>
          </a:solidFill>
          <a:ln w="12700">
            <a:solidFill>
              <a:srgbClr val="EF4444"/>
            </a:solidFill>
            <a:prstDash val="solid"/>
          </a:ln>
        </p:spPr>
      </p:sp>
      <p:sp>
        <p:nvSpPr>
          <p:cNvPr id="23" name="Text 21"/>
          <p:cNvSpPr/>
          <p:nvPr/>
        </p:nvSpPr>
        <p:spPr>
          <a:xfrm>
            <a:off x="4937760" y="3355848"/>
            <a:ext cx="2103120" cy="201168"/>
          </a:xfrm>
          <a:prstGeom prst="rect">
            <a:avLst/>
          </a:prstGeom>
          <a:noFill/>
          <a:ln/>
        </p:spPr>
        <p:txBody>
          <a:bodyPr wrap="square" lIns="0" tIns="0" rIns="0" bIns="0" rtlCol="0" anchor="ctr"/>
          <a:lstStyle/>
          <a:p>
            <a:pPr indent="0" marL="0">
              <a:buNone/>
            </a:pPr>
            <a:r>
              <a:rPr lang="en-US" sz="1400" b="1" dirty="0">
                <a:solidFill>
                  <a:srgbClr val="111827"/>
                </a:solidFill>
              </a:rPr>
              <a:t>Control</a:t>
            </a:r>
            <a:endParaRPr lang="en-US" sz="1400" dirty="0"/>
          </a:p>
        </p:txBody>
      </p:sp>
      <p:sp>
        <p:nvSpPr>
          <p:cNvPr id="24" name="Text 22"/>
          <p:cNvSpPr/>
          <p:nvPr/>
        </p:nvSpPr>
        <p:spPr>
          <a:xfrm>
            <a:off x="4937760" y="3685032"/>
            <a:ext cx="2240280" cy="201168"/>
          </a:xfrm>
          <a:prstGeom prst="rect">
            <a:avLst/>
          </a:prstGeom>
          <a:noFill/>
          <a:ln/>
        </p:spPr>
        <p:txBody>
          <a:bodyPr wrap="square" lIns="0" tIns="0" rIns="0" bIns="0" rtlCol="0" anchor="ctr">
            <a:normAutofit/>
          </a:bodyPr>
          <a:lstStyle/>
          <a:p>
            <a:pPr indent="0" marL="0">
              <a:buNone/>
            </a:pPr>
            <a:r>
              <a:rPr lang="en-US" sz="1080" dirty="0">
                <a:solidFill>
                  <a:srgbClr val="6B7280"/>
                </a:solidFill>
              </a:rPr>
              <a:t>gestiona esperas, repeticiones y errores.</a:t>
            </a:r>
            <a:endParaRPr lang="en-US" sz="1080" dirty="0"/>
          </a:p>
        </p:txBody>
      </p:sp>
      <p:sp>
        <p:nvSpPr>
          <p:cNvPr id="25" name="Shape 23"/>
          <p:cNvSpPr/>
          <p:nvPr/>
        </p:nvSpPr>
        <p:spPr>
          <a:xfrm>
            <a:off x="2103120" y="4983480"/>
            <a:ext cx="8001000" cy="594360"/>
          </a:xfrm>
          <a:prstGeom prst="roundRect">
            <a:avLst>
              <a:gd name="adj" fmla="val 12308"/>
            </a:avLst>
          </a:prstGeom>
          <a:solidFill>
            <a:srgbClr val="111827"/>
          </a:solidFill>
          <a:ln w="12700">
            <a:solidFill>
              <a:srgbClr val="111827"/>
            </a:solidFill>
            <a:prstDash val="solid"/>
          </a:ln>
        </p:spPr>
      </p:sp>
      <p:sp>
        <p:nvSpPr>
          <p:cNvPr id="26" name="Text 24"/>
          <p:cNvSpPr/>
          <p:nvPr/>
        </p:nvSpPr>
        <p:spPr>
          <a:xfrm>
            <a:off x="2286000" y="5184648"/>
            <a:ext cx="7635240" cy="182880"/>
          </a:xfrm>
          <a:prstGeom prst="rect">
            <a:avLst/>
          </a:prstGeom>
          <a:noFill/>
          <a:ln/>
        </p:spPr>
        <p:txBody>
          <a:bodyPr wrap="square" lIns="0" tIns="0" rIns="0" bIns="0" rtlCol="0" anchor="ctr"/>
          <a:lstStyle/>
          <a:p>
            <a:pPr algn="ctr" indent="0" marL="0">
              <a:buNone/>
            </a:pPr>
            <a:r>
              <a:rPr lang="en-US" sz="1280" b="1" dirty="0">
                <a:solidFill>
                  <a:srgbClr val="FFFFFF"/>
                </a:solidFill>
              </a:rPr>
              <a:t>Con estos cinco bloques puedes construir casi cualquier flujo y automatizar con confianza.</a:t>
            </a:r>
            <a:endParaRPr lang="en-US" sz="1280" dirty="0"/>
          </a:p>
        </p:txBody>
      </p:sp>
      <p:sp>
        <p:nvSpPr>
          <p:cNvPr id="25" name="Slide Number Placeholder 0"/>
          <p:cNvSpPr>
            <a:spLocks noGrp="1"/>
          </p:cNvSpPr>
          <p:nvPr>
            <p:ph type="sldNum" sz="quarter" idx="4294967295"/>
          </p:nvPr>
        </p:nvSpPr>
        <p:spPr>
          <a:xfrm>
            <a:off x="11658600" y="6565392"/>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6B7280"/>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n8n: Primera automatización</dc:title>
  <dc:subject>Introducción a n8n: primera automatización y tipos de nodos</dc:subject>
  <dc:creator>OpenAI</dc:creator>
  <cp:lastModifiedBy>OpenAI</cp:lastModifiedBy>
  <cp:revision>1</cp:revision>
  <dcterms:created xsi:type="dcterms:W3CDTF">2026-04-30T14:04:02Z</dcterms:created>
  <dcterms:modified xsi:type="dcterms:W3CDTF">2026-04-30T14:04:02Z</dcterms:modified>
</cp:coreProperties>
</file>