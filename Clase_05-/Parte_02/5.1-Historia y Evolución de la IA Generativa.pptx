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embeddedFontLst>
    <p:embeddedFont>
      <p:font typeface="MiSans" charset="-122" pitchFamily="34"/>
      <p:regular r:id="rId24"/>
    </p:embeddedFont>
    <p:embeddedFont>
      <p:font typeface="Alimama ShuHeiTi" charset="-122" pitchFamily="34"/>
      <p:regular r:id="rId25"/>
    </p:embeddedFont>
    <p:embeddedFont>
      <p:font typeface="LXGW Bright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d334e2a6b50e5d7e209c70c6e125a81f813ee8b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50000">
                <a:srgbClr val="0A0E17">
                  <a:alpha val="85000"/>
                </a:srgbClr>
              </a:gs>
              <a:gs pos="100000">
                <a:srgbClr val="00B4D8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2638425" cy="428625"/>
          </a:xfrm>
          <a:custGeom>
            <a:avLst/>
            <a:gdLst/>
            <a:ahLst/>
            <a:cxnLst/>
            <a:rect l="l" t="t" r="r" b="b"/>
            <a:pathLst>
              <a:path w="2638425" h="428625">
                <a:moveTo>
                  <a:pt x="214313" y="0"/>
                </a:moveTo>
                <a:lnTo>
                  <a:pt x="2424113" y="0"/>
                </a:lnTo>
                <a:cubicBezTo>
                  <a:pt x="2542395" y="0"/>
                  <a:pt x="2638425" y="96030"/>
                  <a:pt x="2638425" y="214313"/>
                </a:cubicBezTo>
                <a:lnTo>
                  <a:pt x="2638425" y="214313"/>
                </a:lnTo>
                <a:cubicBezTo>
                  <a:pt x="2638425" y="332595"/>
                  <a:pt x="2542395" y="428625"/>
                  <a:pt x="24241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485775"/>
            <a:ext cx="2335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352550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Historia y Evolución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 la IA Generativa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40995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3771900"/>
            <a:ext cx="86772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Del Test de Turing a los Agentes Autónomos: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Un Viaje de 76 Años de Innovación Tecnológica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6719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733425" y="621030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Febrero 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32397" y="622935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2" name="Shape 9"/>
          <p:cNvSpPr/>
          <p:nvPr/>
        </p:nvSpPr>
        <p:spPr>
          <a:xfrm>
            <a:off x="2294334" y="624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2622947" y="6210300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la Teoría a la Producción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Contenidos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638300"/>
            <a:ext cx="5581650" cy="2076450"/>
          </a:xfrm>
          <a:custGeom>
            <a:avLst/>
            <a:gdLst/>
            <a:ahLst/>
            <a:cxnLst/>
            <a:rect l="l" t="t" r="r" b="b"/>
            <a:pathLst>
              <a:path w="5581650" h="2076450">
                <a:moveTo>
                  <a:pt x="38100" y="0"/>
                </a:moveTo>
                <a:lnTo>
                  <a:pt x="5467341" y="0"/>
                </a:lnTo>
                <a:cubicBezTo>
                  <a:pt x="5530472" y="0"/>
                  <a:pt x="5581650" y="51178"/>
                  <a:pt x="5581650" y="114309"/>
                </a:cubicBezTo>
                <a:lnTo>
                  <a:pt x="5581650" y="1962141"/>
                </a:lnTo>
                <a:cubicBezTo>
                  <a:pt x="5581650" y="2025272"/>
                  <a:pt x="5530472" y="2076450"/>
                  <a:pt x="5467341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638300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83878" y="20002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18669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Los Orígenes Teóricos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47800" y="2286000"/>
            <a:ext cx="4381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1950-2013: Ideas, chatbots básicos, GANs iniciales y los fundamentos teóricos que sentaron las bases de la inteligencia artificial moderna.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75184" y="31718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75009" y="0"/>
                </a:moveTo>
                <a:lnTo>
                  <a:pt x="33337" y="0"/>
                </a:lnTo>
                <a:cubicBezTo>
                  <a:pt x="28728" y="0"/>
                  <a:pt x="25003" y="3724"/>
                  <a:pt x="25003" y="8334"/>
                </a:cubicBezTo>
                <a:cubicBezTo>
                  <a:pt x="25003" y="12944"/>
                  <a:pt x="28728" y="16669"/>
                  <a:pt x="33337" y="16669"/>
                </a:cubicBezTo>
                <a:lnTo>
                  <a:pt x="33337" y="56127"/>
                </a:lnTo>
                <a:lnTo>
                  <a:pt x="1953" y="111030"/>
                </a:lnTo>
                <a:cubicBezTo>
                  <a:pt x="677" y="113295"/>
                  <a:pt x="0" y="115822"/>
                  <a:pt x="0" y="118426"/>
                </a:cubicBezTo>
                <a:cubicBezTo>
                  <a:pt x="0" y="126683"/>
                  <a:pt x="6668" y="133350"/>
                  <a:pt x="14924" y="133350"/>
                </a:cubicBezTo>
                <a:lnTo>
                  <a:pt x="101758" y="133350"/>
                </a:lnTo>
                <a:cubicBezTo>
                  <a:pt x="109988" y="133350"/>
                  <a:pt x="116681" y="126683"/>
                  <a:pt x="116681" y="118426"/>
                </a:cubicBezTo>
                <a:cubicBezTo>
                  <a:pt x="116681" y="115822"/>
                  <a:pt x="116004" y="113269"/>
                  <a:pt x="114728" y="111030"/>
                </a:cubicBezTo>
                <a:lnTo>
                  <a:pt x="83344" y="56127"/>
                </a:lnTo>
                <a:lnTo>
                  <a:pt x="83344" y="16669"/>
                </a:lnTo>
                <a:cubicBezTo>
                  <a:pt x="87954" y="16669"/>
                  <a:pt x="91678" y="12944"/>
                  <a:pt x="91678" y="8334"/>
                </a:cubicBezTo>
                <a:cubicBezTo>
                  <a:pt x="91678" y="3724"/>
                  <a:pt x="87954" y="0"/>
                  <a:pt x="83344" y="0"/>
                </a:cubicBezTo>
                <a:lnTo>
                  <a:pt x="75009" y="0"/>
                </a:lnTo>
                <a:close/>
                <a:moveTo>
                  <a:pt x="50006" y="56127"/>
                </a:moveTo>
                <a:lnTo>
                  <a:pt x="50006" y="16669"/>
                </a:lnTo>
                <a:lnTo>
                  <a:pt x="66675" y="16669"/>
                </a:lnTo>
                <a:lnTo>
                  <a:pt x="66675" y="56127"/>
                </a:lnTo>
                <a:cubicBezTo>
                  <a:pt x="66675" y="59018"/>
                  <a:pt x="67430" y="61883"/>
                  <a:pt x="68863" y="64409"/>
                </a:cubicBezTo>
                <a:lnTo>
                  <a:pt x="79697" y="83344"/>
                </a:lnTo>
                <a:lnTo>
                  <a:pt x="36984" y="83344"/>
                </a:lnTo>
                <a:lnTo>
                  <a:pt x="47818" y="64409"/>
                </a:lnTo>
                <a:cubicBezTo>
                  <a:pt x="49251" y="61883"/>
                  <a:pt x="50006" y="59044"/>
                  <a:pt x="50006" y="56127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1690688" y="31432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Turing, ELIZA, GANs (2014)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9350" y="1638300"/>
            <a:ext cx="5581650" cy="2076450"/>
          </a:xfrm>
          <a:custGeom>
            <a:avLst/>
            <a:gdLst/>
            <a:ahLst/>
            <a:cxnLst/>
            <a:rect l="l" t="t" r="r" b="b"/>
            <a:pathLst>
              <a:path w="5581650" h="2076450">
                <a:moveTo>
                  <a:pt x="38100" y="0"/>
                </a:moveTo>
                <a:lnTo>
                  <a:pt x="5467341" y="0"/>
                </a:lnTo>
                <a:cubicBezTo>
                  <a:pt x="5530472" y="0"/>
                  <a:pt x="5581650" y="51178"/>
                  <a:pt x="5581650" y="114309"/>
                </a:cubicBezTo>
                <a:lnTo>
                  <a:pt x="5581650" y="1962141"/>
                </a:lnTo>
                <a:cubicBezTo>
                  <a:pt x="5581650" y="2025272"/>
                  <a:pt x="5530472" y="2076450"/>
                  <a:pt x="5467341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6229350" y="1638300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7000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13178" y="20002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77100" y="18669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Nacimiento Moderno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77100" y="2286000"/>
            <a:ext cx="4381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2014-2021: Transformers + escalado masivo. La revolución arquitectónica que cambió para siempre el panorama de la IA.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96150" y="3171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7519988" y="3143250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Transformer, GPT-3, DALL·E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050" y="3943350"/>
            <a:ext cx="5581650" cy="2076450"/>
          </a:xfrm>
          <a:custGeom>
            <a:avLst/>
            <a:gdLst/>
            <a:ahLst/>
            <a:cxnLst/>
            <a:rect l="l" t="t" r="r" b="b"/>
            <a:pathLst>
              <a:path w="5581650" h="2076450">
                <a:moveTo>
                  <a:pt x="38100" y="0"/>
                </a:moveTo>
                <a:lnTo>
                  <a:pt x="5467341" y="0"/>
                </a:lnTo>
                <a:cubicBezTo>
                  <a:pt x="5530472" y="0"/>
                  <a:pt x="5581650" y="51178"/>
                  <a:pt x="5581650" y="114309"/>
                </a:cubicBezTo>
                <a:lnTo>
                  <a:pt x="5581650" y="1962141"/>
                </a:lnTo>
                <a:cubicBezTo>
                  <a:pt x="5581650" y="2025272"/>
                  <a:pt x="5530472" y="2076450"/>
                  <a:pt x="5467341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00050" y="3943350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70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83878" y="430530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47800" y="417195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Explosión y Democratización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47800" y="4591050"/>
            <a:ext cx="4381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2022-2024: ChatGPT, Stable Diffusion, multimodalidad. El momento "iPhone" de la IA generativa llega al público masivo.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50181" y="52292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1690688" y="5200650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ChatGPT, Midjourney, Sora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9350" y="3943350"/>
            <a:ext cx="5581650" cy="2076450"/>
          </a:xfrm>
          <a:custGeom>
            <a:avLst/>
            <a:gdLst/>
            <a:ahLst/>
            <a:cxnLst/>
            <a:rect l="l" t="t" r="r" b="b"/>
            <a:pathLst>
              <a:path w="5581650" h="2076450">
                <a:moveTo>
                  <a:pt x="38100" y="0"/>
                </a:moveTo>
                <a:lnTo>
                  <a:pt x="5467341" y="0"/>
                </a:lnTo>
                <a:cubicBezTo>
                  <a:pt x="5530472" y="0"/>
                  <a:pt x="5581650" y="51178"/>
                  <a:pt x="5581650" y="114309"/>
                </a:cubicBezTo>
                <a:lnTo>
                  <a:pt x="5581650" y="1962141"/>
                </a:lnTo>
                <a:cubicBezTo>
                  <a:pt x="5581650" y="2025272"/>
                  <a:pt x="5530472" y="2076450"/>
                  <a:pt x="5467341" y="2076450"/>
                </a:cubicBezTo>
                <a:lnTo>
                  <a:pt x="38100" y="2076450"/>
                </a:lnTo>
                <a:cubicBezTo>
                  <a:pt x="17058" y="2076450"/>
                  <a:pt x="0" y="2059392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229350" y="3943350"/>
            <a:ext cx="38100" cy="2076450"/>
          </a:xfrm>
          <a:custGeom>
            <a:avLst/>
            <a:gdLst/>
            <a:ahLst/>
            <a:cxnLst/>
            <a:rect l="l" t="t" r="r" b="b"/>
            <a:pathLst>
              <a:path w="38100" h="2076450">
                <a:moveTo>
                  <a:pt x="38100" y="0"/>
                </a:moveTo>
                <a:lnTo>
                  <a:pt x="38100" y="0"/>
                </a:lnTo>
                <a:lnTo>
                  <a:pt x="38100" y="2076450"/>
                </a:lnTo>
                <a:lnTo>
                  <a:pt x="38100" y="2076450"/>
                </a:lnTo>
                <a:cubicBezTo>
                  <a:pt x="17072" y="2076450"/>
                  <a:pt x="0" y="2059378"/>
                  <a:pt x="0" y="2038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13178" y="430530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77100" y="417195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Producción y Agentes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77100" y="4591050"/>
            <a:ext cx="4381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2025-2026+: Agentes autónomos, ROI medible, regulación. La IA pasa de experimento a infraestructura empresarial crítica.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96150" y="54768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3724" y="8334"/>
                  <a:pt x="0" y="12059"/>
                  <a:pt x="0" y="16669"/>
                </a:cubicBezTo>
                <a:lnTo>
                  <a:pt x="0" y="112514"/>
                </a:lnTo>
                <a:cubicBezTo>
                  <a:pt x="0" y="119416"/>
                  <a:pt x="5600" y="125016"/>
                  <a:pt x="12502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39640"/>
                </a:lnTo>
                <a:cubicBezTo>
                  <a:pt x="133350" y="34900"/>
                  <a:pt x="128297" y="31905"/>
                  <a:pt x="124130" y="34145"/>
                </a:cubicBezTo>
                <a:lnTo>
                  <a:pt x="83344" y="56101"/>
                </a:lnTo>
                <a:lnTo>
                  <a:pt x="83344" y="39640"/>
                </a:lnTo>
                <a:cubicBezTo>
                  <a:pt x="83344" y="34900"/>
                  <a:pt x="78291" y="31905"/>
                  <a:pt x="74124" y="34145"/>
                </a:cubicBezTo>
                <a:lnTo>
                  <a:pt x="33337" y="56101"/>
                </a:lnTo>
                <a:lnTo>
                  <a:pt x="33337" y="16669"/>
                </a:lnTo>
                <a:cubicBezTo>
                  <a:pt x="33337" y="12059"/>
                  <a:pt x="29613" y="8334"/>
                  <a:pt x="25003" y="8334"/>
                </a:cubicBezTo>
                <a:lnTo>
                  <a:pt x="8334" y="8334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7519988" y="54483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o3, Grok 3, Agentes en empresas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4813" y="6276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709613" y="62484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76 años de evolución tecnológica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02577" y="62769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10185946" y="62484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eras transformadoras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345" y="350345"/>
            <a:ext cx="6840483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spc="11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INTRODUCCIÓN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345" y="630621"/>
            <a:ext cx="6980621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1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¿Qué es la IA Generativa?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345" y="1191172"/>
            <a:ext cx="840828" cy="35034"/>
          </a:xfrm>
          <a:custGeom>
            <a:avLst/>
            <a:gdLst/>
            <a:ahLst/>
            <a:cxnLst/>
            <a:rect l="l" t="t" r="r" b="b"/>
            <a:pathLst>
              <a:path w="840828" h="35034">
                <a:moveTo>
                  <a:pt x="0" y="0"/>
                </a:moveTo>
                <a:lnTo>
                  <a:pt x="840828" y="0"/>
                </a:lnTo>
                <a:lnTo>
                  <a:pt x="840828" y="35034"/>
                </a:lnTo>
                <a:lnTo>
                  <a:pt x="0" y="3503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67862" y="1436414"/>
            <a:ext cx="6752897" cy="1830552"/>
          </a:xfrm>
          <a:custGeom>
            <a:avLst/>
            <a:gdLst/>
            <a:ahLst/>
            <a:cxnLst/>
            <a:rect l="l" t="t" r="r" b="b"/>
            <a:pathLst>
              <a:path w="6752897" h="1830552">
                <a:moveTo>
                  <a:pt x="35034" y="0"/>
                </a:moveTo>
                <a:lnTo>
                  <a:pt x="6647786" y="0"/>
                </a:lnTo>
                <a:cubicBezTo>
                  <a:pt x="6705837" y="0"/>
                  <a:pt x="6752897" y="47059"/>
                  <a:pt x="6752897" y="105110"/>
                </a:cubicBezTo>
                <a:lnTo>
                  <a:pt x="6752897" y="1725441"/>
                </a:lnTo>
                <a:cubicBezTo>
                  <a:pt x="6752897" y="1783492"/>
                  <a:pt x="6705837" y="1830552"/>
                  <a:pt x="6647786" y="1830552"/>
                </a:cubicBezTo>
                <a:lnTo>
                  <a:pt x="35034" y="1830552"/>
                </a:lnTo>
                <a:cubicBezTo>
                  <a:pt x="15685" y="1830552"/>
                  <a:pt x="0" y="1814866"/>
                  <a:pt x="0" y="1795517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67862" y="1436414"/>
            <a:ext cx="35034" cy="1830552"/>
          </a:xfrm>
          <a:custGeom>
            <a:avLst/>
            <a:gdLst/>
            <a:ahLst/>
            <a:cxnLst/>
            <a:rect l="l" t="t" r="r" b="b"/>
            <a:pathLst>
              <a:path w="35034" h="1830552">
                <a:moveTo>
                  <a:pt x="35034" y="0"/>
                </a:moveTo>
                <a:lnTo>
                  <a:pt x="35034" y="0"/>
                </a:lnTo>
                <a:lnTo>
                  <a:pt x="35034" y="1830552"/>
                </a:lnTo>
                <a:lnTo>
                  <a:pt x="35034" y="1830552"/>
                </a:lnTo>
                <a:cubicBezTo>
                  <a:pt x="15685" y="1830552"/>
                  <a:pt x="0" y="1814866"/>
                  <a:pt x="0" y="1795517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64931" y="1681655"/>
            <a:ext cx="262759" cy="262759"/>
          </a:xfrm>
          <a:custGeom>
            <a:avLst/>
            <a:gdLst/>
            <a:ahLst/>
            <a:cxnLst/>
            <a:rect l="l" t="t" r="r" b="b"/>
            <a:pathLst>
              <a:path w="262759" h="262759">
                <a:moveTo>
                  <a:pt x="131379" y="262759"/>
                </a:moveTo>
                <a:cubicBezTo>
                  <a:pt x="203890" y="262759"/>
                  <a:pt x="262759" y="203890"/>
                  <a:pt x="262759" y="131379"/>
                </a:cubicBezTo>
                <a:cubicBezTo>
                  <a:pt x="262759" y="58869"/>
                  <a:pt x="203890" y="0"/>
                  <a:pt x="131379" y="0"/>
                </a:cubicBezTo>
                <a:cubicBezTo>
                  <a:pt x="58869" y="0"/>
                  <a:pt x="0" y="58869"/>
                  <a:pt x="0" y="131379"/>
                </a:cubicBezTo>
                <a:cubicBezTo>
                  <a:pt x="0" y="203890"/>
                  <a:pt x="58869" y="262759"/>
                  <a:pt x="131379" y="262759"/>
                </a:cubicBezTo>
                <a:close/>
                <a:moveTo>
                  <a:pt x="131379" y="69795"/>
                </a:moveTo>
                <a:cubicBezTo>
                  <a:pt x="138205" y="69795"/>
                  <a:pt x="143696" y="75287"/>
                  <a:pt x="143696" y="82112"/>
                </a:cubicBezTo>
                <a:lnTo>
                  <a:pt x="143696" y="139591"/>
                </a:lnTo>
                <a:cubicBezTo>
                  <a:pt x="143696" y="146416"/>
                  <a:pt x="138205" y="151907"/>
                  <a:pt x="131379" y="151907"/>
                </a:cubicBezTo>
                <a:cubicBezTo>
                  <a:pt x="124554" y="151907"/>
                  <a:pt x="119063" y="146416"/>
                  <a:pt x="119063" y="139591"/>
                </a:cubicBezTo>
                <a:lnTo>
                  <a:pt x="119063" y="82112"/>
                </a:lnTo>
                <a:cubicBezTo>
                  <a:pt x="119063" y="75287"/>
                  <a:pt x="124554" y="69795"/>
                  <a:pt x="131379" y="69795"/>
                </a:cubicBezTo>
                <a:close/>
                <a:moveTo>
                  <a:pt x="117677" y="180647"/>
                </a:moveTo>
                <a:cubicBezTo>
                  <a:pt x="117365" y="175560"/>
                  <a:pt x="119902" y="170721"/>
                  <a:pt x="124262" y="168084"/>
                </a:cubicBezTo>
                <a:cubicBezTo>
                  <a:pt x="128622" y="165447"/>
                  <a:pt x="134085" y="165447"/>
                  <a:pt x="138446" y="168084"/>
                </a:cubicBezTo>
                <a:cubicBezTo>
                  <a:pt x="142806" y="170721"/>
                  <a:pt x="145342" y="175560"/>
                  <a:pt x="145030" y="180647"/>
                </a:cubicBezTo>
                <a:cubicBezTo>
                  <a:pt x="145342" y="185733"/>
                  <a:pt x="142806" y="190572"/>
                  <a:pt x="138446" y="193209"/>
                </a:cubicBezTo>
                <a:cubicBezTo>
                  <a:pt x="134085" y="195847"/>
                  <a:pt x="128622" y="195847"/>
                  <a:pt x="124262" y="193209"/>
                </a:cubicBezTo>
                <a:cubicBezTo>
                  <a:pt x="119902" y="190572"/>
                  <a:pt x="117365" y="185733"/>
                  <a:pt x="117677" y="180647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940183" y="1646621"/>
            <a:ext cx="6069724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Mito vs. Realidad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0183" y="2032000"/>
            <a:ext cx="6043448" cy="1024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241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 Generativa no nació en 2022 con ChatGPT</a:t>
            </a:r>
            <a:pPr>
              <a:lnSpc>
                <a:spcPct val="140000"/>
              </a:lnSpc>
            </a:pPr>
            <a:r>
              <a:rPr lang="en-US" sz="12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Sus raíces son mucho más antiguas, extendiéndose por décadas de investigación y desarrollo. Sin embargo, su </a:t>
            </a:r>
            <a:pPr>
              <a:lnSpc>
                <a:spcPct val="140000"/>
              </a:lnSpc>
            </a:pPr>
            <a:r>
              <a:rPr lang="en-US" sz="1241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explosión masiva y accesible</a:t>
            </a:r>
            <a:pPr>
              <a:lnSpc>
                <a:spcPct val="140000"/>
              </a:lnSpc>
            </a:pPr>
            <a:r>
              <a:rPr lang="en-US" sz="124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ocurrió en los últimos años, especialmente para personas sin conocimientos técnicos.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0345" y="3442138"/>
            <a:ext cx="3293241" cy="1821793"/>
          </a:xfrm>
          <a:custGeom>
            <a:avLst/>
            <a:gdLst/>
            <a:ahLst/>
            <a:cxnLst/>
            <a:rect l="l" t="t" r="r" b="b"/>
            <a:pathLst>
              <a:path w="3293241" h="1821793">
                <a:moveTo>
                  <a:pt x="105099" y="0"/>
                </a:moveTo>
                <a:lnTo>
                  <a:pt x="3188142" y="0"/>
                </a:lnTo>
                <a:cubicBezTo>
                  <a:pt x="3246187" y="0"/>
                  <a:pt x="3293241" y="47055"/>
                  <a:pt x="3293241" y="105099"/>
                </a:cubicBezTo>
                <a:lnTo>
                  <a:pt x="3293241" y="1716694"/>
                </a:lnTo>
                <a:cubicBezTo>
                  <a:pt x="3293241" y="1774739"/>
                  <a:pt x="3246187" y="1821793"/>
                  <a:pt x="3188142" y="1821793"/>
                </a:cubicBezTo>
                <a:lnTo>
                  <a:pt x="105099" y="1821793"/>
                </a:lnTo>
                <a:cubicBezTo>
                  <a:pt x="47055" y="1821793"/>
                  <a:pt x="0" y="1774739"/>
                  <a:pt x="0" y="1716694"/>
                </a:cubicBezTo>
                <a:lnTo>
                  <a:pt x="0" y="105099"/>
                </a:lnTo>
                <a:cubicBezTo>
                  <a:pt x="0" y="47093"/>
                  <a:pt x="47093" y="0"/>
                  <a:pt x="1050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5517" y="3617310"/>
            <a:ext cx="420414" cy="420414"/>
          </a:xfrm>
          <a:custGeom>
            <a:avLst/>
            <a:gdLst/>
            <a:ahLst/>
            <a:cxnLst/>
            <a:rect l="l" t="t" r="r" b="b"/>
            <a:pathLst>
              <a:path w="420414" h="420414">
                <a:moveTo>
                  <a:pt x="210207" y="0"/>
                </a:moveTo>
                <a:lnTo>
                  <a:pt x="210207" y="0"/>
                </a:lnTo>
                <a:cubicBezTo>
                  <a:pt x="326223" y="0"/>
                  <a:pt x="420414" y="94191"/>
                  <a:pt x="420414" y="210207"/>
                </a:cubicBezTo>
                <a:lnTo>
                  <a:pt x="420414" y="210207"/>
                </a:lnTo>
                <a:cubicBezTo>
                  <a:pt x="420414" y="326223"/>
                  <a:pt x="326223" y="420414"/>
                  <a:pt x="210207" y="420414"/>
                </a:cubicBezTo>
                <a:lnTo>
                  <a:pt x="210207" y="420414"/>
                </a:lnTo>
                <a:cubicBezTo>
                  <a:pt x="94191" y="420414"/>
                  <a:pt x="0" y="326223"/>
                  <a:pt x="0" y="210207"/>
                </a:cubicBezTo>
                <a:lnTo>
                  <a:pt x="0" y="210207"/>
                </a:lnTo>
                <a:cubicBezTo>
                  <a:pt x="0" y="94191"/>
                  <a:pt x="94191" y="0"/>
                  <a:pt x="210207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7190" y="3739931"/>
            <a:ext cx="197069" cy="175172"/>
          </a:xfrm>
          <a:custGeom>
            <a:avLst/>
            <a:gdLst/>
            <a:ahLst/>
            <a:cxnLst/>
            <a:rect l="l" t="t" r="r" b="b"/>
            <a:pathLst>
              <a:path w="197069" h="175172">
                <a:moveTo>
                  <a:pt x="98534" y="21897"/>
                </a:moveTo>
                <a:cubicBezTo>
                  <a:pt x="134801" y="21897"/>
                  <a:pt x="164224" y="51320"/>
                  <a:pt x="164224" y="87586"/>
                </a:cubicBezTo>
                <a:cubicBezTo>
                  <a:pt x="164224" y="123852"/>
                  <a:pt x="134801" y="153276"/>
                  <a:pt x="98534" y="153276"/>
                </a:cubicBezTo>
                <a:cubicBezTo>
                  <a:pt x="76227" y="153276"/>
                  <a:pt x="56486" y="142157"/>
                  <a:pt x="44614" y="125118"/>
                </a:cubicBezTo>
                <a:cubicBezTo>
                  <a:pt x="41159" y="120157"/>
                  <a:pt x="34316" y="118960"/>
                  <a:pt x="29355" y="122415"/>
                </a:cubicBezTo>
                <a:cubicBezTo>
                  <a:pt x="24394" y="125871"/>
                  <a:pt x="23197" y="132714"/>
                  <a:pt x="26652" y="137675"/>
                </a:cubicBezTo>
                <a:cubicBezTo>
                  <a:pt x="42459" y="160324"/>
                  <a:pt x="68769" y="175172"/>
                  <a:pt x="98534" y="175172"/>
                </a:cubicBezTo>
                <a:cubicBezTo>
                  <a:pt x="146912" y="175172"/>
                  <a:pt x="186121" y="135964"/>
                  <a:pt x="186121" y="87586"/>
                </a:cubicBezTo>
                <a:cubicBezTo>
                  <a:pt x="186121" y="39209"/>
                  <a:pt x="146912" y="0"/>
                  <a:pt x="98534" y="0"/>
                </a:cubicBezTo>
                <a:cubicBezTo>
                  <a:pt x="69214" y="0"/>
                  <a:pt x="43280" y="14404"/>
                  <a:pt x="27371" y="36506"/>
                </a:cubicBezTo>
                <a:lnTo>
                  <a:pt x="27371" y="27371"/>
                </a:lnTo>
                <a:cubicBezTo>
                  <a:pt x="27371" y="21315"/>
                  <a:pt x="22478" y="16422"/>
                  <a:pt x="16422" y="16422"/>
                </a:cubicBezTo>
                <a:cubicBezTo>
                  <a:pt x="10367" y="16422"/>
                  <a:pt x="5474" y="21315"/>
                  <a:pt x="5474" y="27371"/>
                </a:cubicBezTo>
                <a:lnTo>
                  <a:pt x="5474" y="65690"/>
                </a:lnTo>
                <a:cubicBezTo>
                  <a:pt x="5474" y="71745"/>
                  <a:pt x="10367" y="76638"/>
                  <a:pt x="16422" y="76638"/>
                </a:cubicBezTo>
                <a:lnTo>
                  <a:pt x="24839" y="76638"/>
                </a:lnTo>
                <a:cubicBezTo>
                  <a:pt x="25010" y="76638"/>
                  <a:pt x="25181" y="76638"/>
                  <a:pt x="25352" y="76638"/>
                </a:cubicBezTo>
                <a:lnTo>
                  <a:pt x="54776" y="76638"/>
                </a:lnTo>
                <a:cubicBezTo>
                  <a:pt x="60831" y="76638"/>
                  <a:pt x="65724" y="71745"/>
                  <a:pt x="65724" y="65690"/>
                </a:cubicBezTo>
                <a:cubicBezTo>
                  <a:pt x="65724" y="59634"/>
                  <a:pt x="60831" y="54741"/>
                  <a:pt x="54776" y="54741"/>
                </a:cubicBezTo>
                <a:lnTo>
                  <a:pt x="41672" y="54741"/>
                </a:lnTo>
                <a:cubicBezTo>
                  <a:pt x="52996" y="35103"/>
                  <a:pt x="74243" y="21897"/>
                  <a:pt x="98534" y="21897"/>
                </a:cubicBezTo>
                <a:close/>
                <a:moveTo>
                  <a:pt x="106746" y="52004"/>
                </a:moveTo>
                <a:cubicBezTo>
                  <a:pt x="106746" y="47454"/>
                  <a:pt x="103085" y="43793"/>
                  <a:pt x="98534" y="43793"/>
                </a:cubicBezTo>
                <a:cubicBezTo>
                  <a:pt x="93984" y="43793"/>
                  <a:pt x="90323" y="47454"/>
                  <a:pt x="90323" y="52004"/>
                </a:cubicBezTo>
                <a:lnTo>
                  <a:pt x="90323" y="87586"/>
                </a:lnTo>
                <a:cubicBezTo>
                  <a:pt x="90323" y="89776"/>
                  <a:pt x="91179" y="91863"/>
                  <a:pt x="92718" y="93402"/>
                </a:cubicBezTo>
                <a:lnTo>
                  <a:pt x="117352" y="118036"/>
                </a:lnTo>
                <a:cubicBezTo>
                  <a:pt x="120568" y="121252"/>
                  <a:pt x="125768" y="121252"/>
                  <a:pt x="128950" y="118036"/>
                </a:cubicBezTo>
                <a:cubicBezTo>
                  <a:pt x="132132" y="114820"/>
                  <a:pt x="132166" y="109620"/>
                  <a:pt x="128950" y="106438"/>
                </a:cubicBezTo>
                <a:lnTo>
                  <a:pt x="106711" y="84199"/>
                </a:lnTo>
                <a:lnTo>
                  <a:pt x="106711" y="52004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034" y="3704897"/>
            <a:ext cx="1103586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9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Origen Real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517" y="4177862"/>
            <a:ext cx="3012966" cy="91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fundamentos teóricos se remontan a </a:t>
            </a:r>
            <a:pPr>
              <a:lnSpc>
                <a:spcPct val="140000"/>
              </a:lnSpc>
            </a:pPr>
            <a:r>
              <a:rPr lang="en-US" sz="11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1950</a:t>
            </a:r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 el Test de Turing, y los primeros chatbots rudimentarios aparecieron en los años 60.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22180" y="3442138"/>
            <a:ext cx="3293241" cy="1821793"/>
          </a:xfrm>
          <a:custGeom>
            <a:avLst/>
            <a:gdLst/>
            <a:ahLst/>
            <a:cxnLst/>
            <a:rect l="l" t="t" r="r" b="b"/>
            <a:pathLst>
              <a:path w="3293241" h="1821793">
                <a:moveTo>
                  <a:pt x="105099" y="0"/>
                </a:moveTo>
                <a:lnTo>
                  <a:pt x="3188142" y="0"/>
                </a:lnTo>
                <a:cubicBezTo>
                  <a:pt x="3246187" y="0"/>
                  <a:pt x="3293241" y="47055"/>
                  <a:pt x="3293241" y="105099"/>
                </a:cubicBezTo>
                <a:lnTo>
                  <a:pt x="3293241" y="1716694"/>
                </a:lnTo>
                <a:cubicBezTo>
                  <a:pt x="3293241" y="1774739"/>
                  <a:pt x="3246187" y="1821793"/>
                  <a:pt x="3188142" y="1821793"/>
                </a:cubicBezTo>
                <a:lnTo>
                  <a:pt x="105099" y="1821793"/>
                </a:lnTo>
                <a:cubicBezTo>
                  <a:pt x="47055" y="1821793"/>
                  <a:pt x="0" y="1774739"/>
                  <a:pt x="0" y="1716694"/>
                </a:cubicBezTo>
                <a:lnTo>
                  <a:pt x="0" y="105099"/>
                </a:lnTo>
                <a:cubicBezTo>
                  <a:pt x="0" y="47093"/>
                  <a:pt x="47093" y="0"/>
                  <a:pt x="1050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997352" y="3617310"/>
            <a:ext cx="420414" cy="420414"/>
          </a:xfrm>
          <a:custGeom>
            <a:avLst/>
            <a:gdLst/>
            <a:ahLst/>
            <a:cxnLst/>
            <a:rect l="l" t="t" r="r" b="b"/>
            <a:pathLst>
              <a:path w="420414" h="420414">
                <a:moveTo>
                  <a:pt x="210207" y="0"/>
                </a:moveTo>
                <a:lnTo>
                  <a:pt x="210207" y="0"/>
                </a:lnTo>
                <a:cubicBezTo>
                  <a:pt x="326223" y="0"/>
                  <a:pt x="420414" y="94191"/>
                  <a:pt x="420414" y="210207"/>
                </a:cubicBezTo>
                <a:lnTo>
                  <a:pt x="420414" y="210207"/>
                </a:lnTo>
                <a:cubicBezTo>
                  <a:pt x="420414" y="326223"/>
                  <a:pt x="326223" y="420414"/>
                  <a:pt x="210207" y="420414"/>
                </a:cubicBezTo>
                <a:lnTo>
                  <a:pt x="210207" y="420414"/>
                </a:lnTo>
                <a:cubicBezTo>
                  <a:pt x="94191" y="420414"/>
                  <a:pt x="0" y="326223"/>
                  <a:pt x="0" y="210207"/>
                </a:cubicBezTo>
                <a:lnTo>
                  <a:pt x="0" y="210207"/>
                </a:lnTo>
                <a:cubicBezTo>
                  <a:pt x="0" y="94191"/>
                  <a:pt x="94191" y="0"/>
                  <a:pt x="210207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119973" y="3739931"/>
            <a:ext cx="175172" cy="175172"/>
          </a:xfrm>
          <a:custGeom>
            <a:avLst/>
            <a:gdLst/>
            <a:ahLst/>
            <a:cxnLst/>
            <a:rect l="l" t="t" r="r" b="b"/>
            <a:pathLst>
              <a:path w="175172" h="175172">
                <a:moveTo>
                  <a:pt x="43793" y="109483"/>
                </a:moveTo>
                <a:lnTo>
                  <a:pt x="8382" y="109483"/>
                </a:lnTo>
                <a:cubicBezTo>
                  <a:pt x="-137" y="109483"/>
                  <a:pt x="-5371" y="100211"/>
                  <a:pt x="-992" y="92889"/>
                </a:cubicBezTo>
                <a:lnTo>
                  <a:pt x="17107" y="62713"/>
                </a:lnTo>
                <a:cubicBezTo>
                  <a:pt x="20083" y="57752"/>
                  <a:pt x="25421" y="54741"/>
                  <a:pt x="31203" y="54741"/>
                </a:cubicBezTo>
                <a:lnTo>
                  <a:pt x="63705" y="54741"/>
                </a:lnTo>
                <a:cubicBezTo>
                  <a:pt x="89742" y="10640"/>
                  <a:pt x="128574" y="8416"/>
                  <a:pt x="154542" y="12214"/>
                </a:cubicBezTo>
                <a:cubicBezTo>
                  <a:pt x="158921" y="12864"/>
                  <a:pt x="162342" y="16286"/>
                  <a:pt x="162958" y="20631"/>
                </a:cubicBezTo>
                <a:cubicBezTo>
                  <a:pt x="166756" y="46599"/>
                  <a:pt x="164532" y="85431"/>
                  <a:pt x="120431" y="111467"/>
                </a:cubicBezTo>
                <a:lnTo>
                  <a:pt x="120431" y="143970"/>
                </a:lnTo>
                <a:cubicBezTo>
                  <a:pt x="120431" y="149752"/>
                  <a:pt x="117420" y="155089"/>
                  <a:pt x="112459" y="158066"/>
                </a:cubicBezTo>
                <a:lnTo>
                  <a:pt x="82283" y="176165"/>
                </a:lnTo>
                <a:cubicBezTo>
                  <a:pt x="74996" y="180544"/>
                  <a:pt x="65690" y="175275"/>
                  <a:pt x="65690" y="166790"/>
                </a:cubicBezTo>
                <a:lnTo>
                  <a:pt x="65690" y="131379"/>
                </a:lnTo>
                <a:cubicBezTo>
                  <a:pt x="65690" y="119302"/>
                  <a:pt x="55870" y="109483"/>
                  <a:pt x="43793" y="109483"/>
                </a:cubicBezTo>
                <a:lnTo>
                  <a:pt x="43759" y="109483"/>
                </a:lnTo>
                <a:close/>
                <a:moveTo>
                  <a:pt x="136853" y="54741"/>
                </a:moveTo>
                <a:cubicBezTo>
                  <a:pt x="136853" y="45678"/>
                  <a:pt x="129495" y="38319"/>
                  <a:pt x="120431" y="38319"/>
                </a:cubicBezTo>
                <a:cubicBezTo>
                  <a:pt x="111367" y="38319"/>
                  <a:pt x="104009" y="45678"/>
                  <a:pt x="104009" y="54741"/>
                </a:cubicBezTo>
                <a:cubicBezTo>
                  <a:pt x="104009" y="63805"/>
                  <a:pt x="111367" y="71164"/>
                  <a:pt x="120431" y="71164"/>
                </a:cubicBezTo>
                <a:cubicBezTo>
                  <a:pt x="129495" y="71164"/>
                  <a:pt x="136853" y="63805"/>
                  <a:pt x="136853" y="5474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2870" y="3704897"/>
            <a:ext cx="1646621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9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Punto de Inflexión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97352" y="4177862"/>
            <a:ext cx="3012966" cy="68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Noviembre 2022</a:t>
            </a:r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marca el momento "iPhone" de la IA generativa, democratizando el acceso a estas tecnologías.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0345" y="5439103"/>
            <a:ext cx="6770414" cy="1418897"/>
          </a:xfrm>
          <a:custGeom>
            <a:avLst/>
            <a:gdLst/>
            <a:ahLst/>
            <a:cxnLst/>
            <a:rect l="l" t="t" r="r" b="b"/>
            <a:pathLst>
              <a:path w="6770414" h="1418897">
                <a:moveTo>
                  <a:pt x="105098" y="0"/>
                </a:moveTo>
                <a:lnTo>
                  <a:pt x="6665316" y="0"/>
                </a:lnTo>
                <a:cubicBezTo>
                  <a:pt x="6723360" y="0"/>
                  <a:pt x="6770414" y="47054"/>
                  <a:pt x="6770414" y="105098"/>
                </a:cubicBezTo>
                <a:lnTo>
                  <a:pt x="6770414" y="1313799"/>
                </a:lnTo>
                <a:cubicBezTo>
                  <a:pt x="6770414" y="1371843"/>
                  <a:pt x="6723360" y="1418897"/>
                  <a:pt x="6665316" y="1418897"/>
                </a:cubicBezTo>
                <a:lnTo>
                  <a:pt x="105098" y="1418897"/>
                </a:lnTo>
                <a:cubicBezTo>
                  <a:pt x="47054" y="1418897"/>
                  <a:pt x="0" y="1371843"/>
                  <a:pt x="0" y="1313799"/>
                </a:cubicBezTo>
                <a:lnTo>
                  <a:pt x="0" y="105098"/>
                </a:lnTo>
                <a:cubicBezTo>
                  <a:pt x="0" y="47093"/>
                  <a:pt x="47093" y="0"/>
                  <a:pt x="10509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51793" y="5631793"/>
            <a:ext cx="210207" cy="210207"/>
          </a:xfrm>
          <a:custGeom>
            <a:avLst/>
            <a:gdLst/>
            <a:ahLst/>
            <a:cxnLst/>
            <a:rect l="l" t="t" r="r" b="b"/>
            <a:pathLst>
              <a:path w="210207" h="210207">
                <a:moveTo>
                  <a:pt x="26276" y="26276"/>
                </a:moveTo>
                <a:cubicBezTo>
                  <a:pt x="26276" y="19009"/>
                  <a:pt x="20405" y="13138"/>
                  <a:pt x="13138" y="13138"/>
                </a:cubicBezTo>
                <a:cubicBezTo>
                  <a:pt x="5871" y="13138"/>
                  <a:pt x="0" y="19009"/>
                  <a:pt x="0" y="26276"/>
                </a:cubicBezTo>
                <a:lnTo>
                  <a:pt x="0" y="164224"/>
                </a:lnTo>
                <a:cubicBezTo>
                  <a:pt x="0" y="182371"/>
                  <a:pt x="14698" y="197069"/>
                  <a:pt x="32845" y="197069"/>
                </a:cubicBezTo>
                <a:lnTo>
                  <a:pt x="197069" y="197069"/>
                </a:lnTo>
                <a:cubicBezTo>
                  <a:pt x="204336" y="197069"/>
                  <a:pt x="210207" y="191198"/>
                  <a:pt x="210207" y="183931"/>
                </a:cubicBezTo>
                <a:cubicBezTo>
                  <a:pt x="210207" y="176664"/>
                  <a:pt x="204336" y="170793"/>
                  <a:pt x="197069" y="170793"/>
                </a:cubicBezTo>
                <a:lnTo>
                  <a:pt x="32845" y="170793"/>
                </a:lnTo>
                <a:cubicBezTo>
                  <a:pt x="29232" y="170793"/>
                  <a:pt x="26276" y="167837"/>
                  <a:pt x="26276" y="164224"/>
                </a:cubicBezTo>
                <a:lnTo>
                  <a:pt x="26276" y="26276"/>
                </a:lnTo>
                <a:close/>
                <a:moveTo>
                  <a:pt x="193210" y="61830"/>
                </a:moveTo>
                <a:cubicBezTo>
                  <a:pt x="198342" y="56698"/>
                  <a:pt x="198342" y="48364"/>
                  <a:pt x="193210" y="43232"/>
                </a:cubicBezTo>
                <a:cubicBezTo>
                  <a:pt x="188078" y="38100"/>
                  <a:pt x="179743" y="38100"/>
                  <a:pt x="174611" y="43232"/>
                </a:cubicBezTo>
                <a:lnTo>
                  <a:pt x="131379" y="86505"/>
                </a:lnTo>
                <a:lnTo>
                  <a:pt x="107813" y="62980"/>
                </a:lnTo>
                <a:cubicBezTo>
                  <a:pt x="102681" y="57848"/>
                  <a:pt x="94347" y="57848"/>
                  <a:pt x="89215" y="62980"/>
                </a:cubicBezTo>
                <a:lnTo>
                  <a:pt x="49801" y="102394"/>
                </a:lnTo>
                <a:cubicBezTo>
                  <a:pt x="44669" y="107526"/>
                  <a:pt x="44669" y="115860"/>
                  <a:pt x="49801" y="120992"/>
                </a:cubicBezTo>
                <a:cubicBezTo>
                  <a:pt x="54933" y="126124"/>
                  <a:pt x="63267" y="126124"/>
                  <a:pt x="68399" y="120992"/>
                </a:cubicBezTo>
                <a:lnTo>
                  <a:pt x="98534" y="90857"/>
                </a:lnTo>
                <a:lnTo>
                  <a:pt x="122101" y="114423"/>
                </a:lnTo>
                <a:cubicBezTo>
                  <a:pt x="127233" y="119555"/>
                  <a:pt x="135567" y="119555"/>
                  <a:pt x="140699" y="114423"/>
                </a:cubicBezTo>
                <a:lnTo>
                  <a:pt x="193251" y="6187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93379" y="5614276"/>
            <a:ext cx="945931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9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517" y="5999655"/>
            <a:ext cx="6490138" cy="68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de inteligencia artificial capaces de </a:t>
            </a:r>
            <a:pPr>
              <a:lnSpc>
                <a:spcPct val="140000"/>
              </a:lnSpc>
            </a:pPr>
            <a:r>
              <a:rPr lang="en-US" sz="11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crear contenido nuevo y original</a:t>
            </a:r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—texto, imágenes, audio, vídeo y código— aprendiendo patrones de datos existentes, en lugar de simplemente analizar o clasificar información.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33566" y="354724"/>
            <a:ext cx="4501931" cy="4572000"/>
          </a:xfrm>
          <a:custGeom>
            <a:avLst/>
            <a:gdLst/>
            <a:ahLst/>
            <a:cxnLst/>
            <a:rect l="l" t="t" r="r" b="b"/>
            <a:pathLst>
              <a:path w="4501931" h="4572000">
                <a:moveTo>
                  <a:pt x="105120" y="0"/>
                </a:moveTo>
                <a:lnTo>
                  <a:pt x="4396811" y="0"/>
                </a:lnTo>
                <a:cubicBezTo>
                  <a:pt x="4454867" y="0"/>
                  <a:pt x="4501931" y="47064"/>
                  <a:pt x="4501931" y="105120"/>
                </a:cubicBezTo>
                <a:lnTo>
                  <a:pt x="4501931" y="4466880"/>
                </a:lnTo>
                <a:cubicBezTo>
                  <a:pt x="4501931" y="4524936"/>
                  <a:pt x="4454867" y="4572000"/>
                  <a:pt x="4396811" y="4572000"/>
                </a:cubicBezTo>
                <a:lnTo>
                  <a:pt x="105120" y="4572000"/>
                </a:lnTo>
                <a:cubicBezTo>
                  <a:pt x="47064" y="4572000"/>
                  <a:pt x="0" y="4524936"/>
                  <a:pt x="0" y="4466880"/>
                </a:cubicBezTo>
                <a:lnTo>
                  <a:pt x="0" y="105120"/>
                </a:lnTo>
                <a:cubicBezTo>
                  <a:pt x="0" y="47103"/>
                  <a:pt x="47103" y="0"/>
                  <a:pt x="10512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1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pic>
        <p:nvPicPr>
          <p:cNvPr id="25" name="Image 0" descr="https://kimi-web-img.moonshot.cn/img/images.presentationgo.com/158960f170bc5439a79da6ff92dc776529c3d4ff.jpg">    </p:cNvPr>
          <p:cNvPicPr>
            <a:picLocks noChangeAspect="1"/>
          </p:cNvPicPr>
          <p:nvPr/>
        </p:nvPicPr>
        <p:blipFill>
          <a:blip r:embed="rId1"/>
          <a:srcRect l="0" r="0" t="7013" b="7013"/>
          <a:stretch/>
        </p:blipFill>
        <p:spPr>
          <a:xfrm>
            <a:off x="7548152" y="775138"/>
            <a:ext cx="4072759" cy="1961931"/>
          </a:xfrm>
          <a:prstGeom prst="roundRect">
            <a:avLst>
              <a:gd name="adj" fmla="val 3571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7548152" y="3337034"/>
            <a:ext cx="4072759" cy="8759"/>
          </a:xfrm>
          <a:custGeom>
            <a:avLst/>
            <a:gdLst/>
            <a:ahLst/>
            <a:cxnLst/>
            <a:rect l="l" t="t" r="r" b="b"/>
            <a:pathLst>
              <a:path w="4072759" h="8759">
                <a:moveTo>
                  <a:pt x="0" y="0"/>
                </a:moveTo>
                <a:lnTo>
                  <a:pt x="4072759" y="0"/>
                </a:lnTo>
                <a:lnTo>
                  <a:pt x="4072759" y="8759"/>
                </a:lnTo>
                <a:lnTo>
                  <a:pt x="0" y="8759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7" name="Text 24"/>
          <p:cNvSpPr/>
          <p:nvPr/>
        </p:nvSpPr>
        <p:spPr>
          <a:xfrm>
            <a:off x="7548152" y="3017345"/>
            <a:ext cx="735724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Primera IA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312580" y="3017345"/>
            <a:ext cx="376621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1950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548152" y="3906345"/>
            <a:ext cx="4072759" cy="8759"/>
          </a:xfrm>
          <a:custGeom>
            <a:avLst/>
            <a:gdLst/>
            <a:ahLst/>
            <a:cxnLst/>
            <a:rect l="l" t="t" r="r" b="b"/>
            <a:pathLst>
              <a:path w="4072759" h="8759">
                <a:moveTo>
                  <a:pt x="0" y="0"/>
                </a:moveTo>
                <a:lnTo>
                  <a:pt x="4072759" y="0"/>
                </a:lnTo>
                <a:lnTo>
                  <a:pt x="4072759" y="8759"/>
                </a:lnTo>
                <a:lnTo>
                  <a:pt x="0" y="8759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0" name="Text 27"/>
          <p:cNvSpPr/>
          <p:nvPr/>
        </p:nvSpPr>
        <p:spPr>
          <a:xfrm>
            <a:off x="7548152" y="3586655"/>
            <a:ext cx="648138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298484" y="3586655"/>
            <a:ext cx="394138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548152" y="4173483"/>
            <a:ext cx="1243724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Años de evolución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426579" y="4155966"/>
            <a:ext cx="280276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9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76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333566" y="5110655"/>
            <a:ext cx="4501931" cy="1392621"/>
          </a:xfrm>
          <a:custGeom>
            <a:avLst/>
            <a:gdLst/>
            <a:ahLst/>
            <a:cxnLst/>
            <a:rect l="l" t="t" r="r" b="b"/>
            <a:pathLst>
              <a:path w="4501931" h="1392621">
                <a:moveTo>
                  <a:pt x="105101" y="0"/>
                </a:moveTo>
                <a:lnTo>
                  <a:pt x="4396830" y="0"/>
                </a:lnTo>
                <a:cubicBezTo>
                  <a:pt x="4454837" y="0"/>
                  <a:pt x="4501931" y="47094"/>
                  <a:pt x="4501931" y="105101"/>
                </a:cubicBezTo>
                <a:lnTo>
                  <a:pt x="4501931" y="1287520"/>
                </a:lnTo>
                <a:cubicBezTo>
                  <a:pt x="4501931" y="1345526"/>
                  <a:pt x="4454837" y="1392621"/>
                  <a:pt x="4396830" y="1392621"/>
                </a:cubicBezTo>
                <a:lnTo>
                  <a:pt x="105101" y="1392621"/>
                </a:lnTo>
                <a:cubicBezTo>
                  <a:pt x="47094" y="1392621"/>
                  <a:pt x="0" y="1345526"/>
                  <a:pt x="0" y="1287520"/>
                </a:cubicBezTo>
                <a:lnTo>
                  <a:pt x="0" y="105101"/>
                </a:lnTo>
                <a:cubicBezTo>
                  <a:pt x="0" y="47094"/>
                  <a:pt x="47094" y="0"/>
                  <a:pt x="105101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56911" y="5325241"/>
            <a:ext cx="131379" cy="175172"/>
          </a:xfrm>
          <a:custGeom>
            <a:avLst/>
            <a:gdLst/>
            <a:ahLst/>
            <a:cxnLst/>
            <a:rect l="l" t="t" r="r" b="b"/>
            <a:pathLst>
              <a:path w="131379" h="175172">
                <a:moveTo>
                  <a:pt x="100211" y="131379"/>
                </a:moveTo>
                <a:cubicBezTo>
                  <a:pt x="102709" y="123750"/>
                  <a:pt x="107704" y="116839"/>
                  <a:pt x="113349" y="110886"/>
                </a:cubicBezTo>
                <a:cubicBezTo>
                  <a:pt x="124537" y="99116"/>
                  <a:pt x="131379" y="83207"/>
                  <a:pt x="131379" y="65690"/>
                </a:cubicBezTo>
                <a:cubicBezTo>
                  <a:pt x="131379" y="29423"/>
                  <a:pt x="101956" y="0"/>
                  <a:pt x="65690" y="0"/>
                </a:cubicBezTo>
                <a:cubicBezTo>
                  <a:pt x="29423" y="0"/>
                  <a:pt x="0" y="29423"/>
                  <a:pt x="0" y="65690"/>
                </a:cubicBezTo>
                <a:cubicBezTo>
                  <a:pt x="0" y="83207"/>
                  <a:pt x="6843" y="99116"/>
                  <a:pt x="18030" y="110886"/>
                </a:cubicBezTo>
                <a:cubicBezTo>
                  <a:pt x="23676" y="116839"/>
                  <a:pt x="28705" y="123750"/>
                  <a:pt x="31168" y="131379"/>
                </a:cubicBezTo>
                <a:lnTo>
                  <a:pt x="100177" y="131379"/>
                </a:lnTo>
                <a:close/>
                <a:moveTo>
                  <a:pt x="98534" y="147802"/>
                </a:moveTo>
                <a:lnTo>
                  <a:pt x="32845" y="147802"/>
                </a:lnTo>
                <a:lnTo>
                  <a:pt x="32845" y="153276"/>
                </a:lnTo>
                <a:cubicBezTo>
                  <a:pt x="32845" y="168398"/>
                  <a:pt x="45093" y="180647"/>
                  <a:pt x="60216" y="180647"/>
                </a:cubicBezTo>
                <a:lnTo>
                  <a:pt x="71164" y="180647"/>
                </a:lnTo>
                <a:cubicBezTo>
                  <a:pt x="86286" y="180647"/>
                  <a:pt x="98534" y="168398"/>
                  <a:pt x="98534" y="153276"/>
                </a:cubicBezTo>
                <a:lnTo>
                  <a:pt x="98534" y="147802"/>
                </a:lnTo>
                <a:close/>
                <a:moveTo>
                  <a:pt x="62953" y="38319"/>
                </a:moveTo>
                <a:cubicBezTo>
                  <a:pt x="49336" y="38319"/>
                  <a:pt x="38319" y="49336"/>
                  <a:pt x="38319" y="62953"/>
                </a:cubicBezTo>
                <a:cubicBezTo>
                  <a:pt x="38319" y="67503"/>
                  <a:pt x="34658" y="71164"/>
                  <a:pt x="30108" y="71164"/>
                </a:cubicBezTo>
                <a:cubicBezTo>
                  <a:pt x="25557" y="71164"/>
                  <a:pt x="21897" y="67503"/>
                  <a:pt x="21897" y="62953"/>
                </a:cubicBezTo>
                <a:cubicBezTo>
                  <a:pt x="21897" y="40269"/>
                  <a:pt x="40269" y="21897"/>
                  <a:pt x="62953" y="21897"/>
                </a:cubicBezTo>
                <a:cubicBezTo>
                  <a:pt x="67503" y="21897"/>
                  <a:pt x="71164" y="25557"/>
                  <a:pt x="71164" y="30108"/>
                </a:cubicBezTo>
                <a:cubicBezTo>
                  <a:pt x="71164" y="34658"/>
                  <a:pt x="67503" y="38319"/>
                  <a:pt x="62953" y="38319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Text 33"/>
          <p:cNvSpPr/>
          <p:nvPr/>
        </p:nvSpPr>
        <p:spPr>
          <a:xfrm>
            <a:off x="7837186" y="5290207"/>
            <a:ext cx="92841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Dato Clave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513117" y="5640552"/>
            <a:ext cx="4212897" cy="68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ChatGPT alcanzó </a:t>
            </a:r>
            <a:pPr>
              <a:lnSpc>
                <a:spcPct val="140000"/>
              </a:lnSpc>
            </a:pPr>
            <a:r>
              <a:rPr lang="en-US" sz="11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millón de usuarios en 5 días</a:t>
            </a:r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</a:t>
            </a:r>
            <a:pPr>
              <a:lnSpc>
                <a:spcPct val="140000"/>
              </a:lnSpc>
            </a:pPr>
            <a:r>
              <a:rPr lang="en-US" sz="11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 millones en 2 meses</a:t>
            </a:r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convirtiéndose en la aplicación de más rápido crecimiento en la historia.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d99002c817088fe13a9d2a95f5b1f9aa04c721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80" r="18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8000"/>
                </a:srgbClr>
              </a:gs>
              <a:gs pos="50000">
                <a:srgbClr val="0A0E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163241"/>
            <a:ext cx="1543050" cy="428625"/>
          </a:xfrm>
          <a:custGeom>
            <a:avLst/>
            <a:gdLst/>
            <a:ahLst/>
            <a:cxnLst/>
            <a:rect l="l" t="t" r="r" b="b"/>
            <a:pathLst>
              <a:path w="1543050" h="428625">
                <a:moveTo>
                  <a:pt x="214313" y="0"/>
                </a:moveTo>
                <a:lnTo>
                  <a:pt x="1328738" y="0"/>
                </a:lnTo>
                <a:cubicBezTo>
                  <a:pt x="1447020" y="0"/>
                  <a:pt x="1543050" y="96030"/>
                  <a:pt x="1543050" y="214313"/>
                </a:cubicBezTo>
                <a:lnTo>
                  <a:pt x="1543050" y="214313"/>
                </a:lnTo>
                <a:cubicBezTo>
                  <a:pt x="1543050" y="332595"/>
                  <a:pt x="1447020" y="428625"/>
                  <a:pt x="1328738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263253"/>
            <a:ext cx="1235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5228"/>
            <a:ext cx="655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Los Orígenes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Teóricos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82628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244578"/>
            <a:ext cx="62388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1950-2013: Ideas, Chatbots Básicos y Fundamentos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85788" y="528042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147072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Período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5375672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63 años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40297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330797" y="52804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2902297" y="5147072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902297" y="5375672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Teórico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64322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083397" y="528042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4626322" y="5147072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Legado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626322" y="5375672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29" y="318329"/>
            <a:ext cx="1161900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spc="10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1950-1960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329" y="572992"/>
            <a:ext cx="11746339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8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Los Fundamentos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8329" y="1082319"/>
            <a:ext cx="763990" cy="31833"/>
          </a:xfrm>
          <a:custGeom>
            <a:avLst/>
            <a:gdLst/>
            <a:ahLst/>
            <a:cxnLst/>
            <a:rect l="l" t="t" r="r" b="b"/>
            <a:pathLst>
              <a:path w="763990" h="31833">
                <a:moveTo>
                  <a:pt x="0" y="0"/>
                </a:moveTo>
                <a:lnTo>
                  <a:pt x="763990" y="0"/>
                </a:lnTo>
                <a:lnTo>
                  <a:pt x="763990" y="31833"/>
                </a:lnTo>
                <a:lnTo>
                  <a:pt x="0" y="3183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18329" y="1321065"/>
            <a:ext cx="3748324" cy="4090527"/>
          </a:xfrm>
          <a:custGeom>
            <a:avLst/>
            <a:gdLst/>
            <a:ahLst/>
            <a:cxnLst/>
            <a:rect l="l" t="t" r="r" b="b"/>
            <a:pathLst>
              <a:path w="3748324" h="4090527">
                <a:moveTo>
                  <a:pt x="31833" y="0"/>
                </a:moveTo>
                <a:lnTo>
                  <a:pt x="3716491" y="0"/>
                </a:lnTo>
                <a:cubicBezTo>
                  <a:pt x="3734072" y="0"/>
                  <a:pt x="3748324" y="14252"/>
                  <a:pt x="3748324" y="31833"/>
                </a:cubicBezTo>
                <a:lnTo>
                  <a:pt x="3748324" y="3995020"/>
                </a:lnTo>
                <a:cubicBezTo>
                  <a:pt x="3748324" y="4047767"/>
                  <a:pt x="3705564" y="4090527"/>
                  <a:pt x="3652816" y="4090527"/>
                </a:cubicBezTo>
                <a:lnTo>
                  <a:pt x="95507" y="4090527"/>
                </a:lnTo>
                <a:cubicBezTo>
                  <a:pt x="42760" y="4090527"/>
                  <a:pt x="0" y="4047767"/>
                  <a:pt x="0" y="3995020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18329" y="1321065"/>
            <a:ext cx="3748324" cy="31833"/>
          </a:xfrm>
          <a:custGeom>
            <a:avLst/>
            <a:gdLst/>
            <a:ahLst/>
            <a:cxnLst/>
            <a:rect l="l" t="t" r="r" b="b"/>
            <a:pathLst>
              <a:path w="3748324" h="31833">
                <a:moveTo>
                  <a:pt x="31833" y="0"/>
                </a:moveTo>
                <a:lnTo>
                  <a:pt x="3716491" y="0"/>
                </a:lnTo>
                <a:cubicBezTo>
                  <a:pt x="3734072" y="0"/>
                  <a:pt x="3748324" y="14252"/>
                  <a:pt x="3748324" y="31833"/>
                </a:cubicBezTo>
                <a:lnTo>
                  <a:pt x="3748324" y="31833"/>
                </a:lnTo>
                <a:lnTo>
                  <a:pt x="0" y="31833"/>
                </a:ln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09326" y="1527979"/>
            <a:ext cx="509326" cy="509326"/>
          </a:xfrm>
          <a:custGeom>
            <a:avLst/>
            <a:gdLst/>
            <a:ahLst/>
            <a:cxnLst/>
            <a:rect l="l" t="t" r="r" b="b"/>
            <a:pathLst>
              <a:path w="509326" h="509326">
                <a:moveTo>
                  <a:pt x="254663" y="0"/>
                </a:moveTo>
                <a:lnTo>
                  <a:pt x="254663" y="0"/>
                </a:lnTo>
                <a:cubicBezTo>
                  <a:pt x="395310" y="0"/>
                  <a:pt x="509326" y="114017"/>
                  <a:pt x="509326" y="254663"/>
                </a:cubicBezTo>
                <a:lnTo>
                  <a:pt x="509326" y="254663"/>
                </a:lnTo>
                <a:cubicBezTo>
                  <a:pt x="509326" y="395310"/>
                  <a:pt x="395310" y="509326"/>
                  <a:pt x="254663" y="509326"/>
                </a:cubicBezTo>
                <a:lnTo>
                  <a:pt x="254663" y="509326"/>
                </a:lnTo>
                <a:cubicBezTo>
                  <a:pt x="114017" y="509326"/>
                  <a:pt x="0" y="395310"/>
                  <a:pt x="0" y="254663"/>
                </a:cubicBezTo>
                <a:lnTo>
                  <a:pt x="0" y="254663"/>
                </a:lnTo>
                <a:cubicBezTo>
                  <a:pt x="0" y="114017"/>
                  <a:pt x="114017" y="0"/>
                  <a:pt x="254663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2219" y="1639394"/>
            <a:ext cx="684407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8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1950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5984" y="1559812"/>
            <a:ext cx="1432480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Alan Turing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5984" y="1814475"/>
            <a:ext cx="140064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Teóricos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326" y="2196470"/>
            <a:ext cx="3437953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"Computing Machinery and Intelligence"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9326" y="2514799"/>
            <a:ext cx="3429995" cy="413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Publica el artículo seminal que introduce la pregunta fundamental: </a:t>
            </a:r>
            <a:pPr>
              <a:lnSpc>
                <a:spcPct val="140000"/>
              </a:lnSpc>
            </a:pPr>
            <a:r>
              <a:rPr lang="en-US" sz="10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"¿Pueden las máquinas pensar?"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326" y="3358371"/>
            <a:ext cx="3366329" cy="1543896"/>
          </a:xfrm>
          <a:custGeom>
            <a:avLst/>
            <a:gdLst/>
            <a:ahLst/>
            <a:cxnLst/>
            <a:rect l="l" t="t" r="r" b="b"/>
            <a:pathLst>
              <a:path w="3366329" h="1543896">
                <a:moveTo>
                  <a:pt x="63670" y="0"/>
                </a:moveTo>
                <a:lnTo>
                  <a:pt x="3302659" y="0"/>
                </a:lnTo>
                <a:cubicBezTo>
                  <a:pt x="3337823" y="0"/>
                  <a:pt x="3366329" y="28506"/>
                  <a:pt x="3366329" y="63670"/>
                </a:cubicBezTo>
                <a:lnTo>
                  <a:pt x="3366329" y="1480225"/>
                </a:lnTo>
                <a:cubicBezTo>
                  <a:pt x="3366329" y="1515389"/>
                  <a:pt x="3337823" y="1543896"/>
                  <a:pt x="3302659" y="1543896"/>
                </a:cubicBezTo>
                <a:lnTo>
                  <a:pt x="63670" y="1543896"/>
                </a:lnTo>
                <a:cubicBezTo>
                  <a:pt x="28506" y="1543896"/>
                  <a:pt x="0" y="1515389"/>
                  <a:pt x="0" y="1480225"/>
                </a:cubicBezTo>
                <a:lnTo>
                  <a:pt x="0" y="63670"/>
                </a:lnTo>
                <a:cubicBezTo>
                  <a:pt x="0" y="28530"/>
                  <a:pt x="28530" y="0"/>
                  <a:pt x="63670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6658" y="3485702"/>
            <a:ext cx="3175332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de Turing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658" y="3740366"/>
            <a:ext cx="3175332" cy="103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 método para determinar si una máquina puede exhibir comportamiento inteligente equivalente al de un humano. Si un evaluador no puede distinguir entre las respuestas de una máquina y un humano, la máquina pasa la prueba.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1159" y="5061431"/>
            <a:ext cx="95499" cy="127332"/>
          </a:xfrm>
          <a:custGeom>
            <a:avLst/>
            <a:gdLst/>
            <a:ahLst/>
            <a:cxnLst/>
            <a:rect l="l" t="t" r="r" b="b"/>
            <a:pathLst>
              <a:path w="95499" h="127332">
                <a:moveTo>
                  <a:pt x="72843" y="95499"/>
                </a:moveTo>
                <a:cubicBezTo>
                  <a:pt x="74658" y="89953"/>
                  <a:pt x="78289" y="84929"/>
                  <a:pt x="82392" y="80602"/>
                </a:cubicBezTo>
                <a:cubicBezTo>
                  <a:pt x="90525" y="72047"/>
                  <a:pt x="95499" y="60483"/>
                  <a:pt x="95499" y="47749"/>
                </a:cubicBezTo>
                <a:cubicBezTo>
                  <a:pt x="95499" y="21388"/>
                  <a:pt x="74111" y="0"/>
                  <a:pt x="47749" y="0"/>
                </a:cubicBezTo>
                <a:cubicBezTo>
                  <a:pt x="21388" y="0"/>
                  <a:pt x="0" y="21388"/>
                  <a:pt x="0" y="47749"/>
                </a:cubicBezTo>
                <a:cubicBezTo>
                  <a:pt x="0" y="60483"/>
                  <a:pt x="4974" y="72047"/>
                  <a:pt x="13106" y="80602"/>
                </a:cubicBezTo>
                <a:cubicBezTo>
                  <a:pt x="17210" y="84929"/>
                  <a:pt x="20865" y="89953"/>
                  <a:pt x="22656" y="95499"/>
                </a:cubicBezTo>
                <a:lnTo>
                  <a:pt x="72818" y="95499"/>
                </a:lnTo>
                <a:close/>
                <a:moveTo>
                  <a:pt x="71624" y="107436"/>
                </a:moveTo>
                <a:lnTo>
                  <a:pt x="23875" y="107436"/>
                </a:lnTo>
                <a:lnTo>
                  <a:pt x="23875" y="111415"/>
                </a:lnTo>
                <a:cubicBezTo>
                  <a:pt x="23875" y="122407"/>
                  <a:pt x="32778" y="131311"/>
                  <a:pt x="43770" y="131311"/>
                </a:cubicBezTo>
                <a:lnTo>
                  <a:pt x="51728" y="131311"/>
                </a:lnTo>
                <a:cubicBezTo>
                  <a:pt x="62721" y="131311"/>
                  <a:pt x="71624" y="122407"/>
                  <a:pt x="71624" y="111415"/>
                </a:cubicBezTo>
                <a:lnTo>
                  <a:pt x="71624" y="107436"/>
                </a:lnTo>
                <a:close/>
                <a:moveTo>
                  <a:pt x="45760" y="27854"/>
                </a:moveTo>
                <a:cubicBezTo>
                  <a:pt x="35862" y="27854"/>
                  <a:pt x="27854" y="35862"/>
                  <a:pt x="27854" y="45760"/>
                </a:cubicBezTo>
                <a:cubicBezTo>
                  <a:pt x="27854" y="49067"/>
                  <a:pt x="25193" y="51728"/>
                  <a:pt x="21885" y="51728"/>
                </a:cubicBezTo>
                <a:cubicBezTo>
                  <a:pt x="18577" y="51728"/>
                  <a:pt x="15916" y="49067"/>
                  <a:pt x="15916" y="45760"/>
                </a:cubicBezTo>
                <a:cubicBezTo>
                  <a:pt x="15916" y="29271"/>
                  <a:pt x="29271" y="15916"/>
                  <a:pt x="45760" y="15916"/>
                </a:cubicBezTo>
                <a:cubicBezTo>
                  <a:pt x="49067" y="15916"/>
                  <a:pt x="51728" y="18577"/>
                  <a:pt x="51728" y="21885"/>
                </a:cubicBezTo>
                <a:cubicBezTo>
                  <a:pt x="51728" y="25193"/>
                  <a:pt x="49067" y="27854"/>
                  <a:pt x="45760" y="2785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2157" y="5029598"/>
            <a:ext cx="1878141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Legado: Base filosófica de la IA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24325" y="1321065"/>
            <a:ext cx="3748324" cy="4090527"/>
          </a:xfrm>
          <a:custGeom>
            <a:avLst/>
            <a:gdLst/>
            <a:ahLst/>
            <a:cxnLst/>
            <a:rect l="l" t="t" r="r" b="b"/>
            <a:pathLst>
              <a:path w="3748324" h="4090527">
                <a:moveTo>
                  <a:pt x="31833" y="0"/>
                </a:moveTo>
                <a:lnTo>
                  <a:pt x="3716491" y="0"/>
                </a:lnTo>
                <a:cubicBezTo>
                  <a:pt x="3734072" y="0"/>
                  <a:pt x="3748324" y="14252"/>
                  <a:pt x="3748324" y="31833"/>
                </a:cubicBezTo>
                <a:lnTo>
                  <a:pt x="3748324" y="3995020"/>
                </a:lnTo>
                <a:cubicBezTo>
                  <a:pt x="3748324" y="4047767"/>
                  <a:pt x="3705564" y="4090527"/>
                  <a:pt x="3652816" y="4090527"/>
                </a:cubicBezTo>
                <a:lnTo>
                  <a:pt x="95507" y="4090527"/>
                </a:lnTo>
                <a:cubicBezTo>
                  <a:pt x="42760" y="4090527"/>
                  <a:pt x="0" y="4047767"/>
                  <a:pt x="0" y="3995020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4224325" y="1321065"/>
            <a:ext cx="3748324" cy="31833"/>
          </a:xfrm>
          <a:custGeom>
            <a:avLst/>
            <a:gdLst/>
            <a:ahLst/>
            <a:cxnLst/>
            <a:rect l="l" t="t" r="r" b="b"/>
            <a:pathLst>
              <a:path w="3748324" h="31833">
                <a:moveTo>
                  <a:pt x="31833" y="0"/>
                </a:moveTo>
                <a:lnTo>
                  <a:pt x="3716491" y="0"/>
                </a:lnTo>
                <a:cubicBezTo>
                  <a:pt x="3734072" y="0"/>
                  <a:pt x="3748324" y="14252"/>
                  <a:pt x="3748324" y="31833"/>
                </a:cubicBezTo>
                <a:lnTo>
                  <a:pt x="3748324" y="31833"/>
                </a:lnTo>
                <a:lnTo>
                  <a:pt x="0" y="31833"/>
                </a:ln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4415322" y="1527979"/>
            <a:ext cx="509326" cy="509326"/>
          </a:xfrm>
          <a:custGeom>
            <a:avLst/>
            <a:gdLst/>
            <a:ahLst/>
            <a:cxnLst/>
            <a:rect l="l" t="t" r="r" b="b"/>
            <a:pathLst>
              <a:path w="509326" h="509326">
                <a:moveTo>
                  <a:pt x="254663" y="0"/>
                </a:moveTo>
                <a:lnTo>
                  <a:pt x="254663" y="0"/>
                </a:lnTo>
                <a:cubicBezTo>
                  <a:pt x="395310" y="0"/>
                  <a:pt x="509326" y="114017"/>
                  <a:pt x="509326" y="254663"/>
                </a:cubicBezTo>
                <a:lnTo>
                  <a:pt x="509326" y="254663"/>
                </a:lnTo>
                <a:cubicBezTo>
                  <a:pt x="509326" y="395310"/>
                  <a:pt x="395310" y="509326"/>
                  <a:pt x="254663" y="509326"/>
                </a:cubicBezTo>
                <a:lnTo>
                  <a:pt x="254663" y="509326"/>
                </a:lnTo>
                <a:cubicBezTo>
                  <a:pt x="114017" y="509326"/>
                  <a:pt x="0" y="395310"/>
                  <a:pt x="0" y="254663"/>
                </a:cubicBezTo>
                <a:lnTo>
                  <a:pt x="0" y="254663"/>
                </a:lnTo>
                <a:cubicBezTo>
                  <a:pt x="0" y="114017"/>
                  <a:pt x="114017" y="0"/>
                  <a:pt x="254663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388215" y="1639394"/>
            <a:ext cx="684407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8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1956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51980" y="1559812"/>
            <a:ext cx="1169859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Dartmouth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51980" y="1814475"/>
            <a:ext cx="1138026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Nacimiento Oficial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15322" y="2196470"/>
            <a:ext cx="3437953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Conferencia de Dartmouth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15322" y="2514799"/>
            <a:ext cx="3429995" cy="62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John McCarthy, Marvin Minsky, Nathaniel Rochester y Claude Shannon proponen un estudio de </a:t>
            </a:r>
            <a:pPr>
              <a:lnSpc>
                <a:spcPct val="140000"/>
              </a:lnSpc>
            </a:pPr>
            <a:r>
              <a:rPr lang="en-US" sz="10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meses</a:t>
            </a:r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sobre inteligencia artificial.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15322" y="3565285"/>
            <a:ext cx="3366329" cy="1336982"/>
          </a:xfrm>
          <a:custGeom>
            <a:avLst/>
            <a:gdLst/>
            <a:ahLst/>
            <a:cxnLst/>
            <a:rect l="l" t="t" r="r" b="b"/>
            <a:pathLst>
              <a:path w="3366329" h="1336982">
                <a:moveTo>
                  <a:pt x="63667" y="0"/>
                </a:moveTo>
                <a:lnTo>
                  <a:pt x="3302662" y="0"/>
                </a:lnTo>
                <a:cubicBezTo>
                  <a:pt x="3337824" y="0"/>
                  <a:pt x="3366329" y="28505"/>
                  <a:pt x="3366329" y="63667"/>
                </a:cubicBezTo>
                <a:lnTo>
                  <a:pt x="3366329" y="1273315"/>
                </a:lnTo>
                <a:cubicBezTo>
                  <a:pt x="3366329" y="1308477"/>
                  <a:pt x="3337824" y="1336982"/>
                  <a:pt x="3302662" y="1336982"/>
                </a:cubicBezTo>
                <a:lnTo>
                  <a:pt x="63667" y="1336982"/>
                </a:lnTo>
                <a:cubicBezTo>
                  <a:pt x="28505" y="1336982"/>
                  <a:pt x="0" y="1308477"/>
                  <a:pt x="0" y="1273315"/>
                </a:cubicBezTo>
                <a:lnTo>
                  <a:pt x="0" y="63667"/>
                </a:lnTo>
                <a:cubicBezTo>
                  <a:pt x="0" y="28528"/>
                  <a:pt x="28528" y="0"/>
                  <a:pt x="6366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42654" y="3692616"/>
            <a:ext cx="3175332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Histórico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42654" y="3947279"/>
            <a:ext cx="3175332" cy="82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Aunque la conferencia no cumplió todas sus expectativas, acuñó el término </a:t>
            </a:r>
            <a:pPr>
              <a:lnSpc>
                <a:spcPct val="140000"/>
              </a:lnSpc>
            </a:pPr>
            <a:r>
              <a:rPr lang="en-US" sz="10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"Inteligencia Artificial"</a:t>
            </a:r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estableció la IA como campo de investigación independiente.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3281" y="5061431"/>
            <a:ext cx="143248" cy="127332"/>
          </a:xfrm>
          <a:custGeom>
            <a:avLst/>
            <a:gdLst/>
            <a:ahLst/>
            <a:cxnLst/>
            <a:rect l="l" t="t" r="r" b="b"/>
            <a:pathLst>
              <a:path w="143248" h="127332">
                <a:moveTo>
                  <a:pt x="76971" y="-4700"/>
                </a:moveTo>
                <a:cubicBezTo>
                  <a:pt x="75951" y="-6690"/>
                  <a:pt x="73887" y="-7958"/>
                  <a:pt x="71649" y="-7958"/>
                </a:cubicBezTo>
                <a:cubicBezTo>
                  <a:pt x="69411" y="-7958"/>
                  <a:pt x="67346" y="-6690"/>
                  <a:pt x="66327" y="-4700"/>
                </a:cubicBezTo>
                <a:lnTo>
                  <a:pt x="48023" y="31161"/>
                </a:lnTo>
                <a:lnTo>
                  <a:pt x="8257" y="37478"/>
                </a:lnTo>
                <a:cubicBezTo>
                  <a:pt x="6043" y="37826"/>
                  <a:pt x="4203" y="39393"/>
                  <a:pt x="3507" y="41532"/>
                </a:cubicBezTo>
                <a:cubicBezTo>
                  <a:pt x="2810" y="43671"/>
                  <a:pt x="3382" y="46008"/>
                  <a:pt x="4949" y="47600"/>
                </a:cubicBezTo>
                <a:lnTo>
                  <a:pt x="33400" y="76076"/>
                </a:lnTo>
                <a:lnTo>
                  <a:pt x="27133" y="115842"/>
                </a:lnTo>
                <a:cubicBezTo>
                  <a:pt x="26784" y="118055"/>
                  <a:pt x="27705" y="120294"/>
                  <a:pt x="29520" y="121612"/>
                </a:cubicBezTo>
                <a:cubicBezTo>
                  <a:pt x="31336" y="122930"/>
                  <a:pt x="33723" y="123129"/>
                  <a:pt x="35737" y="122109"/>
                </a:cubicBezTo>
                <a:lnTo>
                  <a:pt x="71649" y="103855"/>
                </a:lnTo>
                <a:lnTo>
                  <a:pt x="107536" y="122109"/>
                </a:lnTo>
                <a:cubicBezTo>
                  <a:pt x="109525" y="123129"/>
                  <a:pt x="111937" y="122930"/>
                  <a:pt x="113753" y="121612"/>
                </a:cubicBezTo>
                <a:cubicBezTo>
                  <a:pt x="115568" y="120294"/>
                  <a:pt x="116489" y="118080"/>
                  <a:pt x="116140" y="115842"/>
                </a:cubicBezTo>
                <a:lnTo>
                  <a:pt x="109848" y="76076"/>
                </a:lnTo>
                <a:lnTo>
                  <a:pt x="138299" y="47600"/>
                </a:lnTo>
                <a:cubicBezTo>
                  <a:pt x="139891" y="46008"/>
                  <a:pt x="140438" y="43671"/>
                  <a:pt x="139741" y="41532"/>
                </a:cubicBezTo>
                <a:cubicBezTo>
                  <a:pt x="139045" y="39393"/>
                  <a:pt x="137230" y="37826"/>
                  <a:pt x="134991" y="37478"/>
                </a:cubicBezTo>
                <a:lnTo>
                  <a:pt x="95250" y="31161"/>
                </a:lnTo>
                <a:lnTo>
                  <a:pt x="76971" y="-4700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4638153" y="5029598"/>
            <a:ext cx="1774684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Hitos: Nace el campo de la IA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0321" y="1321065"/>
            <a:ext cx="3748324" cy="4090527"/>
          </a:xfrm>
          <a:custGeom>
            <a:avLst/>
            <a:gdLst/>
            <a:ahLst/>
            <a:cxnLst/>
            <a:rect l="l" t="t" r="r" b="b"/>
            <a:pathLst>
              <a:path w="3748324" h="4090527">
                <a:moveTo>
                  <a:pt x="31833" y="0"/>
                </a:moveTo>
                <a:lnTo>
                  <a:pt x="3716491" y="0"/>
                </a:lnTo>
                <a:cubicBezTo>
                  <a:pt x="3734072" y="0"/>
                  <a:pt x="3748324" y="14252"/>
                  <a:pt x="3748324" y="31833"/>
                </a:cubicBezTo>
                <a:lnTo>
                  <a:pt x="3748324" y="3995020"/>
                </a:lnTo>
                <a:cubicBezTo>
                  <a:pt x="3748324" y="4047767"/>
                  <a:pt x="3705564" y="4090527"/>
                  <a:pt x="3652816" y="4090527"/>
                </a:cubicBezTo>
                <a:lnTo>
                  <a:pt x="95507" y="4090527"/>
                </a:lnTo>
                <a:cubicBezTo>
                  <a:pt x="42760" y="4090527"/>
                  <a:pt x="0" y="4047767"/>
                  <a:pt x="0" y="3995020"/>
                </a:cubicBez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2" name="Shape 30"/>
          <p:cNvSpPr/>
          <p:nvPr/>
        </p:nvSpPr>
        <p:spPr>
          <a:xfrm>
            <a:off x="8130321" y="1321065"/>
            <a:ext cx="3748324" cy="31833"/>
          </a:xfrm>
          <a:custGeom>
            <a:avLst/>
            <a:gdLst/>
            <a:ahLst/>
            <a:cxnLst/>
            <a:rect l="l" t="t" r="r" b="b"/>
            <a:pathLst>
              <a:path w="3748324" h="31833">
                <a:moveTo>
                  <a:pt x="31833" y="0"/>
                </a:moveTo>
                <a:lnTo>
                  <a:pt x="3716491" y="0"/>
                </a:lnTo>
                <a:cubicBezTo>
                  <a:pt x="3734072" y="0"/>
                  <a:pt x="3748324" y="14252"/>
                  <a:pt x="3748324" y="31833"/>
                </a:cubicBezTo>
                <a:lnTo>
                  <a:pt x="3748324" y="31833"/>
                </a:lnTo>
                <a:lnTo>
                  <a:pt x="0" y="31833"/>
                </a:lnTo>
                <a:lnTo>
                  <a:pt x="0" y="31833"/>
                </a:lnTo>
                <a:cubicBezTo>
                  <a:pt x="0" y="14252"/>
                  <a:pt x="14252" y="0"/>
                  <a:pt x="31833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3" name="Shape 31"/>
          <p:cNvSpPr/>
          <p:nvPr/>
        </p:nvSpPr>
        <p:spPr>
          <a:xfrm>
            <a:off x="8321319" y="1527979"/>
            <a:ext cx="509326" cy="509326"/>
          </a:xfrm>
          <a:custGeom>
            <a:avLst/>
            <a:gdLst/>
            <a:ahLst/>
            <a:cxnLst/>
            <a:rect l="l" t="t" r="r" b="b"/>
            <a:pathLst>
              <a:path w="509326" h="509326">
                <a:moveTo>
                  <a:pt x="254663" y="0"/>
                </a:moveTo>
                <a:lnTo>
                  <a:pt x="254663" y="0"/>
                </a:lnTo>
                <a:cubicBezTo>
                  <a:pt x="395310" y="0"/>
                  <a:pt x="509326" y="114017"/>
                  <a:pt x="509326" y="254663"/>
                </a:cubicBezTo>
                <a:lnTo>
                  <a:pt x="509326" y="254663"/>
                </a:lnTo>
                <a:cubicBezTo>
                  <a:pt x="509326" y="395310"/>
                  <a:pt x="395310" y="509326"/>
                  <a:pt x="254663" y="509326"/>
                </a:cubicBezTo>
                <a:lnTo>
                  <a:pt x="254663" y="509326"/>
                </a:lnTo>
                <a:cubicBezTo>
                  <a:pt x="114017" y="509326"/>
                  <a:pt x="0" y="395310"/>
                  <a:pt x="0" y="254663"/>
                </a:cubicBezTo>
                <a:lnTo>
                  <a:pt x="0" y="254663"/>
                </a:lnTo>
                <a:cubicBezTo>
                  <a:pt x="0" y="114017"/>
                  <a:pt x="114017" y="0"/>
                  <a:pt x="254663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94211" y="1639394"/>
            <a:ext cx="684407" cy="286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8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1966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57977" y="1559812"/>
            <a:ext cx="986820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ELIZA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57977" y="1814475"/>
            <a:ext cx="95498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Chatbot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1319" y="2196470"/>
            <a:ext cx="3437953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Joseph Weizenbaum (MIT)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21319" y="2514799"/>
            <a:ext cx="3429995" cy="62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 </a:t>
            </a:r>
            <a:pPr>
              <a:lnSpc>
                <a:spcPct val="140000"/>
              </a:lnSpc>
            </a:pPr>
            <a:r>
              <a:rPr lang="en-US" sz="10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ELIZA</a:t>
            </a:r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un programa que simula una conversación con un psicoterapeuta rogeriano utilizando patrones de coincidencia simple.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21319" y="3565285"/>
            <a:ext cx="3366329" cy="1336982"/>
          </a:xfrm>
          <a:custGeom>
            <a:avLst/>
            <a:gdLst/>
            <a:ahLst/>
            <a:cxnLst/>
            <a:rect l="l" t="t" r="r" b="b"/>
            <a:pathLst>
              <a:path w="3366329" h="1336982">
                <a:moveTo>
                  <a:pt x="63667" y="0"/>
                </a:moveTo>
                <a:lnTo>
                  <a:pt x="3302662" y="0"/>
                </a:lnTo>
                <a:cubicBezTo>
                  <a:pt x="3337824" y="0"/>
                  <a:pt x="3366329" y="28505"/>
                  <a:pt x="3366329" y="63667"/>
                </a:cubicBezTo>
                <a:lnTo>
                  <a:pt x="3366329" y="1273315"/>
                </a:lnTo>
                <a:cubicBezTo>
                  <a:pt x="3366329" y="1308477"/>
                  <a:pt x="3337824" y="1336982"/>
                  <a:pt x="3302662" y="1336982"/>
                </a:cubicBezTo>
                <a:lnTo>
                  <a:pt x="63667" y="1336982"/>
                </a:lnTo>
                <a:cubicBezTo>
                  <a:pt x="28505" y="1336982"/>
                  <a:pt x="0" y="1308477"/>
                  <a:pt x="0" y="1273315"/>
                </a:cubicBezTo>
                <a:lnTo>
                  <a:pt x="0" y="63667"/>
                </a:lnTo>
                <a:cubicBezTo>
                  <a:pt x="0" y="28528"/>
                  <a:pt x="28528" y="0"/>
                  <a:pt x="6366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448650" y="3692616"/>
            <a:ext cx="3175332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Funcionamiento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48650" y="3947279"/>
            <a:ext cx="3175332" cy="82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ELIZA reconoce palabras clave y responde con frases preprogramadas. Aunque rudimentario, demostró que las máquinas podían mantener conversaciones aparentemente inteligentes.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29277" y="5061431"/>
            <a:ext cx="143248" cy="127332"/>
          </a:xfrm>
          <a:custGeom>
            <a:avLst/>
            <a:gdLst/>
            <a:ahLst/>
            <a:cxnLst/>
            <a:rect l="l" t="t" r="r" b="b"/>
            <a:pathLst>
              <a:path w="143248" h="127332">
                <a:moveTo>
                  <a:pt x="95499" y="35812"/>
                </a:moveTo>
                <a:cubicBezTo>
                  <a:pt x="95499" y="59985"/>
                  <a:pt x="74111" y="79582"/>
                  <a:pt x="47749" y="79582"/>
                </a:cubicBezTo>
                <a:cubicBezTo>
                  <a:pt x="41109" y="79582"/>
                  <a:pt x="34792" y="78339"/>
                  <a:pt x="29048" y="76101"/>
                </a:cubicBezTo>
                <a:lnTo>
                  <a:pt x="8754" y="86844"/>
                </a:lnTo>
                <a:cubicBezTo>
                  <a:pt x="6441" y="88063"/>
                  <a:pt x="3606" y="87640"/>
                  <a:pt x="1741" y="85800"/>
                </a:cubicBezTo>
                <a:cubicBezTo>
                  <a:pt x="-124" y="83959"/>
                  <a:pt x="-547" y="81099"/>
                  <a:pt x="696" y="78786"/>
                </a:cubicBezTo>
                <a:lnTo>
                  <a:pt x="9550" y="62074"/>
                </a:lnTo>
                <a:cubicBezTo>
                  <a:pt x="3556" y="54763"/>
                  <a:pt x="0" y="45660"/>
                  <a:pt x="0" y="35812"/>
                </a:cubicBezTo>
                <a:cubicBezTo>
                  <a:pt x="0" y="11639"/>
                  <a:pt x="21388" y="-7958"/>
                  <a:pt x="47749" y="-7958"/>
                </a:cubicBezTo>
                <a:cubicBezTo>
                  <a:pt x="74111" y="-7958"/>
                  <a:pt x="95499" y="11639"/>
                  <a:pt x="95499" y="35812"/>
                </a:cubicBezTo>
                <a:close/>
                <a:moveTo>
                  <a:pt x="95499" y="127332"/>
                </a:moveTo>
                <a:cubicBezTo>
                  <a:pt x="72097" y="127332"/>
                  <a:pt x="52624" y="111888"/>
                  <a:pt x="48545" y="91520"/>
                </a:cubicBezTo>
                <a:cubicBezTo>
                  <a:pt x="78389" y="91147"/>
                  <a:pt x="104327" y="69908"/>
                  <a:pt x="107187" y="41109"/>
                </a:cubicBezTo>
                <a:cubicBezTo>
                  <a:pt x="127904" y="45884"/>
                  <a:pt x="143248" y="63069"/>
                  <a:pt x="143248" y="83561"/>
                </a:cubicBezTo>
                <a:cubicBezTo>
                  <a:pt x="143248" y="93410"/>
                  <a:pt x="139692" y="102512"/>
                  <a:pt x="133698" y="109823"/>
                </a:cubicBezTo>
                <a:lnTo>
                  <a:pt x="142552" y="126536"/>
                </a:lnTo>
                <a:cubicBezTo>
                  <a:pt x="143770" y="128849"/>
                  <a:pt x="143348" y="131684"/>
                  <a:pt x="141507" y="133549"/>
                </a:cubicBezTo>
                <a:cubicBezTo>
                  <a:pt x="139667" y="135414"/>
                  <a:pt x="136807" y="135837"/>
                  <a:pt x="134494" y="134593"/>
                </a:cubicBezTo>
                <a:lnTo>
                  <a:pt x="114201" y="123850"/>
                </a:lnTo>
                <a:cubicBezTo>
                  <a:pt x="108456" y="126088"/>
                  <a:pt x="102139" y="127332"/>
                  <a:pt x="95499" y="127332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8544149" y="5029598"/>
            <a:ext cx="2538674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Innovación: Primer sistema conversacional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2308" y="5574736"/>
            <a:ext cx="11547384" cy="962945"/>
          </a:xfrm>
          <a:custGeom>
            <a:avLst/>
            <a:gdLst/>
            <a:ahLst/>
            <a:cxnLst/>
            <a:rect l="l" t="t" r="r" b="b"/>
            <a:pathLst>
              <a:path w="11547384" h="962945">
                <a:moveTo>
                  <a:pt x="95495" y="0"/>
                </a:moveTo>
                <a:lnTo>
                  <a:pt x="11451889" y="0"/>
                </a:lnTo>
                <a:cubicBezTo>
                  <a:pt x="11504629" y="0"/>
                  <a:pt x="11547384" y="42755"/>
                  <a:pt x="11547384" y="95495"/>
                </a:cubicBezTo>
                <a:lnTo>
                  <a:pt x="11547384" y="867450"/>
                </a:lnTo>
                <a:cubicBezTo>
                  <a:pt x="11547384" y="920190"/>
                  <a:pt x="11504629" y="962945"/>
                  <a:pt x="11451889" y="962945"/>
                </a:cubicBezTo>
                <a:lnTo>
                  <a:pt x="95495" y="962945"/>
                </a:lnTo>
                <a:cubicBezTo>
                  <a:pt x="42755" y="962945"/>
                  <a:pt x="0" y="920190"/>
                  <a:pt x="0" y="867450"/>
                </a:cubicBezTo>
                <a:lnTo>
                  <a:pt x="0" y="95495"/>
                </a:lnTo>
                <a:cubicBezTo>
                  <a:pt x="0" y="42790"/>
                  <a:pt x="42790" y="0"/>
                  <a:pt x="95495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3723" y="5737880"/>
            <a:ext cx="190997" cy="190997"/>
          </a:xfrm>
          <a:custGeom>
            <a:avLst/>
            <a:gdLst/>
            <a:ahLst/>
            <a:cxnLst/>
            <a:rect l="l" t="t" r="r" b="b"/>
            <a:pathLst>
              <a:path w="190997" h="190997">
                <a:moveTo>
                  <a:pt x="95499" y="190997"/>
                </a:moveTo>
                <a:cubicBezTo>
                  <a:pt x="148206" y="190997"/>
                  <a:pt x="190997" y="148206"/>
                  <a:pt x="190997" y="95499"/>
                </a:cubicBezTo>
                <a:cubicBezTo>
                  <a:pt x="190997" y="42792"/>
                  <a:pt x="148206" y="0"/>
                  <a:pt x="95499" y="0"/>
                </a:cubicBezTo>
                <a:cubicBezTo>
                  <a:pt x="42792" y="0"/>
                  <a:pt x="0" y="42792"/>
                  <a:pt x="0" y="95499"/>
                </a:cubicBezTo>
                <a:cubicBezTo>
                  <a:pt x="0" y="148206"/>
                  <a:pt x="42792" y="190997"/>
                  <a:pt x="95499" y="190997"/>
                </a:cubicBezTo>
                <a:close/>
                <a:moveTo>
                  <a:pt x="83561" y="59687"/>
                </a:moveTo>
                <a:cubicBezTo>
                  <a:pt x="83561" y="53098"/>
                  <a:pt x="88910" y="47749"/>
                  <a:pt x="95499" y="47749"/>
                </a:cubicBezTo>
                <a:cubicBezTo>
                  <a:pt x="102087" y="47749"/>
                  <a:pt x="107436" y="53098"/>
                  <a:pt x="107436" y="59687"/>
                </a:cubicBezTo>
                <a:cubicBezTo>
                  <a:pt x="107436" y="66275"/>
                  <a:pt x="102087" y="71624"/>
                  <a:pt x="95499" y="71624"/>
                </a:cubicBezTo>
                <a:cubicBezTo>
                  <a:pt x="88910" y="71624"/>
                  <a:pt x="83561" y="66275"/>
                  <a:pt x="83561" y="59687"/>
                </a:cubicBezTo>
                <a:close/>
                <a:moveTo>
                  <a:pt x="80577" y="83561"/>
                </a:moveTo>
                <a:lnTo>
                  <a:pt x="98483" y="83561"/>
                </a:lnTo>
                <a:cubicBezTo>
                  <a:pt x="103444" y="83561"/>
                  <a:pt x="107436" y="87553"/>
                  <a:pt x="107436" y="92514"/>
                </a:cubicBezTo>
                <a:lnTo>
                  <a:pt x="107436" y="125342"/>
                </a:lnTo>
                <a:lnTo>
                  <a:pt x="110420" y="125342"/>
                </a:lnTo>
                <a:cubicBezTo>
                  <a:pt x="115382" y="125342"/>
                  <a:pt x="119373" y="129334"/>
                  <a:pt x="119373" y="134295"/>
                </a:cubicBezTo>
                <a:cubicBezTo>
                  <a:pt x="119373" y="139256"/>
                  <a:pt x="115382" y="143248"/>
                  <a:pt x="110420" y="143248"/>
                </a:cubicBezTo>
                <a:lnTo>
                  <a:pt x="80577" y="143248"/>
                </a:lnTo>
                <a:cubicBezTo>
                  <a:pt x="75616" y="143248"/>
                  <a:pt x="71624" y="139256"/>
                  <a:pt x="71624" y="134295"/>
                </a:cubicBezTo>
                <a:cubicBezTo>
                  <a:pt x="71624" y="129334"/>
                  <a:pt x="75616" y="125342"/>
                  <a:pt x="80577" y="125342"/>
                </a:cubicBezTo>
                <a:lnTo>
                  <a:pt x="89530" y="125342"/>
                </a:lnTo>
                <a:lnTo>
                  <a:pt x="89530" y="101467"/>
                </a:lnTo>
                <a:lnTo>
                  <a:pt x="80577" y="101467"/>
                </a:lnTo>
                <a:cubicBezTo>
                  <a:pt x="75616" y="101467"/>
                  <a:pt x="71624" y="97476"/>
                  <a:pt x="71624" y="92514"/>
                </a:cubicBezTo>
                <a:cubicBezTo>
                  <a:pt x="71624" y="87553"/>
                  <a:pt x="75616" y="83561"/>
                  <a:pt x="80577" y="8356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730167" y="5706047"/>
            <a:ext cx="11085807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Contexto Histórico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30167" y="5992543"/>
            <a:ext cx="11077849" cy="413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Estas décadas sentaron las </a:t>
            </a:r>
            <a:pPr>
              <a:lnSpc>
                <a:spcPct val="140000"/>
              </a:lnSpc>
            </a:pPr>
            <a:r>
              <a:rPr lang="en-US" sz="10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bases filosóficas y teóricas</a:t>
            </a:r>
            <a:pPr>
              <a:lnSpc>
                <a:spcPct val="140000"/>
              </a:lnSpc>
            </a:pPr>
            <a:r>
              <a:rPr lang="en-US" sz="10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la inteligencia artificial. Aunque la tecnología era extremadamente limitada, los conceptos desarrollados —como el aprendizaje automático, el procesamiento del lenguaje natural y las redes neuronales— siguen siendo fundamentales hoy en día.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1980-1999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Primeros Intentos de Generación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33375" y="1206500"/>
            <a:ext cx="5699125" cy="2381250"/>
          </a:xfrm>
          <a:custGeom>
            <a:avLst/>
            <a:gdLst/>
            <a:ahLst/>
            <a:cxnLst/>
            <a:rect l="l" t="t" r="r" b="b"/>
            <a:pathLst>
              <a:path w="5699125" h="2381250">
                <a:moveTo>
                  <a:pt x="31750" y="0"/>
                </a:moveTo>
                <a:lnTo>
                  <a:pt x="5603875" y="0"/>
                </a:lnTo>
                <a:cubicBezTo>
                  <a:pt x="5656445" y="0"/>
                  <a:pt x="5699125" y="42680"/>
                  <a:pt x="5699125" y="95250"/>
                </a:cubicBezTo>
                <a:lnTo>
                  <a:pt x="5699125" y="2286000"/>
                </a:lnTo>
                <a:cubicBezTo>
                  <a:pt x="5699125" y="2338570"/>
                  <a:pt x="5656445" y="2381250"/>
                  <a:pt x="5603875" y="2381250"/>
                </a:cubicBezTo>
                <a:lnTo>
                  <a:pt x="31750" y="2381250"/>
                </a:lnTo>
                <a:cubicBezTo>
                  <a:pt x="14215" y="2381250"/>
                  <a:pt x="0" y="2367035"/>
                  <a:pt x="0" y="234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3375" y="1206500"/>
            <a:ext cx="31750" cy="2381250"/>
          </a:xfrm>
          <a:custGeom>
            <a:avLst/>
            <a:gdLst/>
            <a:ahLst/>
            <a:cxnLst/>
            <a:rect l="l" t="t" r="r" b="b"/>
            <a:pathLst>
              <a:path w="31750" h="2381250">
                <a:moveTo>
                  <a:pt x="31750" y="0"/>
                </a:moveTo>
                <a:lnTo>
                  <a:pt x="31750" y="0"/>
                </a:lnTo>
                <a:lnTo>
                  <a:pt x="31750" y="2381250"/>
                </a:lnTo>
                <a:lnTo>
                  <a:pt x="31750" y="2381250"/>
                </a:lnTo>
                <a:cubicBezTo>
                  <a:pt x="14227" y="2381250"/>
                  <a:pt x="0" y="2367023"/>
                  <a:pt x="0" y="2349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08000" y="136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9125" y="1476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4805"/>
                </a:moveTo>
                <a:cubicBezTo>
                  <a:pt x="0" y="16588"/>
                  <a:pt x="6666" y="9922"/>
                  <a:pt x="14883" y="9922"/>
                </a:cubicBezTo>
                <a:lnTo>
                  <a:pt x="44648" y="9922"/>
                </a:lnTo>
                <a:cubicBezTo>
                  <a:pt x="52865" y="9922"/>
                  <a:pt x="59531" y="16588"/>
                  <a:pt x="59531" y="24805"/>
                </a:cubicBezTo>
                <a:lnTo>
                  <a:pt x="59531" y="29766"/>
                </a:lnTo>
                <a:lnTo>
                  <a:pt x="99219" y="29766"/>
                </a:lnTo>
                <a:lnTo>
                  <a:pt x="99219" y="24805"/>
                </a:lnTo>
                <a:cubicBezTo>
                  <a:pt x="99219" y="16588"/>
                  <a:pt x="105885" y="9922"/>
                  <a:pt x="114102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54570"/>
                </a:lnTo>
                <a:cubicBezTo>
                  <a:pt x="158750" y="62787"/>
                  <a:pt x="152084" y="69453"/>
                  <a:pt x="143867" y="69453"/>
                </a:cubicBezTo>
                <a:lnTo>
                  <a:pt x="114102" y="69453"/>
                </a:lnTo>
                <a:cubicBezTo>
                  <a:pt x="105885" y="69453"/>
                  <a:pt x="99219" y="62787"/>
                  <a:pt x="99219" y="54570"/>
                </a:cubicBezTo>
                <a:lnTo>
                  <a:pt x="99219" y="49609"/>
                </a:lnTo>
                <a:lnTo>
                  <a:pt x="59531" y="49609"/>
                </a:lnTo>
                <a:lnTo>
                  <a:pt x="59531" y="54570"/>
                </a:lnTo>
                <a:cubicBezTo>
                  <a:pt x="59531" y="56834"/>
                  <a:pt x="59004" y="59004"/>
                  <a:pt x="58105" y="60927"/>
                </a:cubicBezTo>
                <a:lnTo>
                  <a:pt x="79375" y="89297"/>
                </a:lnTo>
                <a:lnTo>
                  <a:pt x="104180" y="89297"/>
                </a:lnTo>
                <a:cubicBezTo>
                  <a:pt x="112396" y="89297"/>
                  <a:pt x="119062" y="95963"/>
                  <a:pt x="119062" y="104180"/>
                </a:cubicBezTo>
                <a:lnTo>
                  <a:pt x="119062" y="133945"/>
                </a:lnTo>
                <a:cubicBezTo>
                  <a:pt x="119062" y="142162"/>
                  <a:pt x="112396" y="148828"/>
                  <a:pt x="104180" y="148828"/>
                </a:cubicBezTo>
                <a:lnTo>
                  <a:pt x="74414" y="148828"/>
                </a:lnTo>
                <a:cubicBezTo>
                  <a:pt x="66198" y="148828"/>
                  <a:pt x="59531" y="142162"/>
                  <a:pt x="59531" y="133945"/>
                </a:cubicBezTo>
                <a:lnTo>
                  <a:pt x="59531" y="104180"/>
                </a:lnTo>
                <a:cubicBezTo>
                  <a:pt x="59531" y="101916"/>
                  <a:pt x="60058" y="99746"/>
                  <a:pt x="60958" y="97823"/>
                </a:cubicBezTo>
                <a:lnTo>
                  <a:pt x="39688" y="69453"/>
                </a:lnTo>
                <a:lnTo>
                  <a:pt x="14883" y="69453"/>
                </a:lnTo>
                <a:cubicBezTo>
                  <a:pt x="6666" y="69453"/>
                  <a:pt x="0" y="62787"/>
                  <a:pt x="0" y="54570"/>
                </a:cubicBezTo>
                <a:lnTo>
                  <a:pt x="0" y="2480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984250" y="1444625"/>
            <a:ext cx="191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Modelos Probabilísticos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1841500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probabilísticos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las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redes neuronales recurrentes (RNN)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comienzan a utilizarse para tareas de procesamiento de lenguaje natural y generación de secuencias.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349500"/>
            <a:ext cx="5365750" cy="1079500"/>
          </a:xfrm>
          <a:custGeom>
            <a:avLst/>
            <a:gdLst/>
            <a:ahLst/>
            <a:cxnLst/>
            <a:rect l="l" t="t" r="r" b="b"/>
            <a:pathLst>
              <a:path w="5365750" h="1079500">
                <a:moveTo>
                  <a:pt x="63496" y="0"/>
                </a:moveTo>
                <a:lnTo>
                  <a:pt x="5302254" y="0"/>
                </a:lnTo>
                <a:cubicBezTo>
                  <a:pt x="5337322" y="0"/>
                  <a:pt x="5365750" y="28428"/>
                  <a:pt x="5365750" y="63496"/>
                </a:cubicBezTo>
                <a:lnTo>
                  <a:pt x="5365750" y="1016004"/>
                </a:lnTo>
                <a:cubicBezTo>
                  <a:pt x="5365750" y="1051072"/>
                  <a:pt x="5337322" y="1079500"/>
                  <a:pt x="530225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" y="2444750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070" y="27305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05656" y="2698750"/>
            <a:ext cx="274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Capacidad de modelar secuencias temporales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070" y="295275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05656" y="2921000"/>
            <a:ext cx="28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de patrones en datos secuenciales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6070" y="317500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805656" y="31432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de la generación de texto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3714750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31750" y="0"/>
                </a:moveTo>
                <a:lnTo>
                  <a:pt x="5603870" y="0"/>
                </a:lnTo>
                <a:cubicBezTo>
                  <a:pt x="5656478" y="0"/>
                  <a:pt x="5699125" y="42647"/>
                  <a:pt x="5699125" y="95255"/>
                </a:cubicBezTo>
                <a:lnTo>
                  <a:pt x="5699125" y="2063745"/>
                </a:lnTo>
                <a:cubicBezTo>
                  <a:pt x="5699125" y="2116353"/>
                  <a:pt x="5656478" y="2159000"/>
                  <a:pt x="5603870" y="2159000"/>
                </a:cubicBezTo>
                <a:lnTo>
                  <a:pt x="31750" y="2159000"/>
                </a:lnTo>
                <a:cubicBezTo>
                  <a:pt x="14227" y="2159000"/>
                  <a:pt x="0" y="2144773"/>
                  <a:pt x="0" y="212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333375" y="3714750"/>
            <a:ext cx="31750" cy="2159000"/>
          </a:xfrm>
          <a:custGeom>
            <a:avLst/>
            <a:gdLst/>
            <a:ahLst/>
            <a:cxnLst/>
            <a:rect l="l" t="t" r="r" b="b"/>
            <a:pathLst>
              <a:path w="31750" h="2159000">
                <a:moveTo>
                  <a:pt x="31750" y="0"/>
                </a:moveTo>
                <a:lnTo>
                  <a:pt x="31750" y="0"/>
                </a:lnTo>
                <a:lnTo>
                  <a:pt x="31750" y="2159000"/>
                </a:lnTo>
                <a:lnTo>
                  <a:pt x="31750" y="2159000"/>
                </a:lnTo>
                <a:cubicBezTo>
                  <a:pt x="14227" y="2159000"/>
                  <a:pt x="0" y="2144773"/>
                  <a:pt x="0" y="212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508000" y="387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9203" y="398462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30070" y="29766"/>
                </a:moveTo>
                <a:cubicBezTo>
                  <a:pt x="124923" y="29766"/>
                  <a:pt x="119931" y="31161"/>
                  <a:pt x="115559" y="33703"/>
                </a:cubicBezTo>
                <a:cubicBezTo>
                  <a:pt x="110660" y="28742"/>
                  <a:pt x="104955" y="24588"/>
                  <a:pt x="98661" y="21456"/>
                </a:cubicBezTo>
                <a:cubicBezTo>
                  <a:pt x="107404" y="14015"/>
                  <a:pt x="118535" y="9922"/>
                  <a:pt x="130070" y="9922"/>
                </a:cubicBezTo>
                <a:cubicBezTo>
                  <a:pt x="156859" y="9922"/>
                  <a:pt x="178594" y="31626"/>
                  <a:pt x="178594" y="58446"/>
                </a:cubicBezTo>
                <a:cubicBezTo>
                  <a:pt x="178594" y="71313"/>
                  <a:pt x="173478" y="83654"/>
                  <a:pt x="164393" y="92739"/>
                </a:cubicBezTo>
                <a:lnTo>
                  <a:pt x="142348" y="114784"/>
                </a:lnTo>
                <a:cubicBezTo>
                  <a:pt x="133263" y="123868"/>
                  <a:pt x="120923" y="128984"/>
                  <a:pt x="108055" y="128984"/>
                </a:cubicBezTo>
                <a:cubicBezTo>
                  <a:pt x="81266" y="128984"/>
                  <a:pt x="59531" y="107280"/>
                  <a:pt x="59531" y="80460"/>
                </a:cubicBezTo>
                <a:cubicBezTo>
                  <a:pt x="59531" y="79995"/>
                  <a:pt x="59531" y="79530"/>
                  <a:pt x="59562" y="79065"/>
                </a:cubicBezTo>
                <a:cubicBezTo>
                  <a:pt x="59717" y="73577"/>
                  <a:pt x="64275" y="69267"/>
                  <a:pt x="69763" y="69422"/>
                </a:cubicBezTo>
                <a:cubicBezTo>
                  <a:pt x="75251" y="69577"/>
                  <a:pt x="79561" y="74135"/>
                  <a:pt x="79406" y="79623"/>
                </a:cubicBezTo>
                <a:cubicBezTo>
                  <a:pt x="79406" y="79902"/>
                  <a:pt x="79406" y="80181"/>
                  <a:pt x="79406" y="80429"/>
                </a:cubicBezTo>
                <a:cubicBezTo>
                  <a:pt x="79406" y="96273"/>
                  <a:pt x="92242" y="109110"/>
                  <a:pt x="108086" y="109110"/>
                </a:cubicBezTo>
                <a:cubicBezTo>
                  <a:pt x="115683" y="109110"/>
                  <a:pt x="122969" y="106102"/>
                  <a:pt x="128364" y="100707"/>
                </a:cubicBezTo>
                <a:lnTo>
                  <a:pt x="150409" y="78662"/>
                </a:lnTo>
                <a:cubicBezTo>
                  <a:pt x="155773" y="73298"/>
                  <a:pt x="158812" y="65980"/>
                  <a:pt x="158812" y="58384"/>
                </a:cubicBezTo>
                <a:cubicBezTo>
                  <a:pt x="158812" y="42540"/>
                  <a:pt x="145976" y="29704"/>
                  <a:pt x="130132" y="29704"/>
                </a:cubicBezTo>
                <a:close/>
                <a:moveTo>
                  <a:pt x="85328" y="53733"/>
                </a:moveTo>
                <a:cubicBezTo>
                  <a:pt x="84739" y="53485"/>
                  <a:pt x="84150" y="53144"/>
                  <a:pt x="83623" y="52772"/>
                </a:cubicBezTo>
                <a:cubicBezTo>
                  <a:pt x="79716" y="50757"/>
                  <a:pt x="75251" y="49609"/>
                  <a:pt x="70569" y="49609"/>
                </a:cubicBezTo>
                <a:cubicBezTo>
                  <a:pt x="62973" y="49609"/>
                  <a:pt x="55687" y="52617"/>
                  <a:pt x="50292" y="58012"/>
                </a:cubicBezTo>
                <a:lnTo>
                  <a:pt x="28246" y="80057"/>
                </a:lnTo>
                <a:cubicBezTo>
                  <a:pt x="22882" y="85421"/>
                  <a:pt x="19844" y="92739"/>
                  <a:pt x="19844" y="100335"/>
                </a:cubicBezTo>
                <a:cubicBezTo>
                  <a:pt x="19844" y="116179"/>
                  <a:pt x="32680" y="129015"/>
                  <a:pt x="48524" y="129015"/>
                </a:cubicBezTo>
                <a:cubicBezTo>
                  <a:pt x="53640" y="129015"/>
                  <a:pt x="58632" y="127651"/>
                  <a:pt x="63004" y="125109"/>
                </a:cubicBezTo>
                <a:cubicBezTo>
                  <a:pt x="67903" y="130070"/>
                  <a:pt x="73608" y="134224"/>
                  <a:pt x="79933" y="137356"/>
                </a:cubicBezTo>
                <a:cubicBezTo>
                  <a:pt x="71189" y="144766"/>
                  <a:pt x="60089" y="148890"/>
                  <a:pt x="48524" y="148890"/>
                </a:cubicBezTo>
                <a:cubicBezTo>
                  <a:pt x="21735" y="148890"/>
                  <a:pt x="0" y="127186"/>
                  <a:pt x="0" y="100366"/>
                </a:cubicBezTo>
                <a:cubicBezTo>
                  <a:pt x="0" y="87499"/>
                  <a:pt x="5116" y="75158"/>
                  <a:pt x="14201" y="66073"/>
                </a:cubicBezTo>
                <a:lnTo>
                  <a:pt x="36246" y="44028"/>
                </a:lnTo>
                <a:cubicBezTo>
                  <a:pt x="45331" y="34944"/>
                  <a:pt x="57671" y="29828"/>
                  <a:pt x="70538" y="29828"/>
                </a:cubicBezTo>
                <a:cubicBezTo>
                  <a:pt x="97389" y="29828"/>
                  <a:pt x="119062" y="51718"/>
                  <a:pt x="119062" y="78476"/>
                </a:cubicBezTo>
                <a:cubicBezTo>
                  <a:pt x="119062" y="78879"/>
                  <a:pt x="119062" y="79282"/>
                  <a:pt x="119062" y="79685"/>
                </a:cubicBezTo>
                <a:cubicBezTo>
                  <a:pt x="118938" y="85173"/>
                  <a:pt x="114381" y="89483"/>
                  <a:pt x="108893" y="89359"/>
                </a:cubicBezTo>
                <a:cubicBezTo>
                  <a:pt x="103405" y="89235"/>
                  <a:pt x="99095" y="84677"/>
                  <a:pt x="99219" y="79189"/>
                </a:cubicBezTo>
                <a:cubicBezTo>
                  <a:pt x="99219" y="78941"/>
                  <a:pt x="99219" y="78724"/>
                  <a:pt x="99219" y="78476"/>
                </a:cubicBezTo>
                <a:cubicBezTo>
                  <a:pt x="99219" y="68027"/>
                  <a:pt x="93638" y="58849"/>
                  <a:pt x="85328" y="5379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984250" y="3952875"/>
            <a:ext cx="122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Markov Chains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8000" y="4349750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cadenas de Markov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 aplican para generar texto simple, modelando la probabilidad de una palabra basándose únicamente en la palabra anterior.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000" y="4857750"/>
            <a:ext cx="5365750" cy="857250"/>
          </a:xfrm>
          <a:custGeom>
            <a:avLst/>
            <a:gdLst/>
            <a:ahLst/>
            <a:cxnLst/>
            <a:rect l="l" t="t" r="r" b="b"/>
            <a:pathLst>
              <a:path w="5365750" h="857250">
                <a:moveTo>
                  <a:pt x="63497" y="0"/>
                </a:moveTo>
                <a:lnTo>
                  <a:pt x="5302253" y="0"/>
                </a:lnTo>
                <a:cubicBezTo>
                  <a:pt x="5337322" y="0"/>
                  <a:pt x="5365750" y="28428"/>
                  <a:pt x="5365750" y="63497"/>
                </a:cubicBezTo>
                <a:lnTo>
                  <a:pt x="5365750" y="793753"/>
                </a:lnTo>
                <a:cubicBezTo>
                  <a:pt x="5365750" y="828822"/>
                  <a:pt x="5337322" y="857250"/>
                  <a:pt x="5302253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3250" y="4953000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250" y="5207000"/>
            <a:ext cx="5238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capturan contexto de largo alcance. El texto generado carece de coherencia global y significado semántico profundo.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75375" y="1206500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31750" y="0"/>
                </a:moveTo>
                <a:lnTo>
                  <a:pt x="5603870" y="0"/>
                </a:lnTo>
                <a:cubicBezTo>
                  <a:pt x="5656478" y="0"/>
                  <a:pt x="5699125" y="42647"/>
                  <a:pt x="5699125" y="95255"/>
                </a:cubicBezTo>
                <a:lnTo>
                  <a:pt x="5699125" y="2063745"/>
                </a:lnTo>
                <a:cubicBezTo>
                  <a:pt x="5699125" y="2116353"/>
                  <a:pt x="5656478" y="2159000"/>
                  <a:pt x="5603870" y="2159000"/>
                </a:cubicBezTo>
                <a:lnTo>
                  <a:pt x="31750" y="2159000"/>
                </a:lnTo>
                <a:cubicBezTo>
                  <a:pt x="14227" y="2159000"/>
                  <a:pt x="0" y="2144773"/>
                  <a:pt x="0" y="212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6175375" y="1206500"/>
            <a:ext cx="31750" cy="2159000"/>
          </a:xfrm>
          <a:custGeom>
            <a:avLst/>
            <a:gdLst/>
            <a:ahLst/>
            <a:cxnLst/>
            <a:rect l="l" t="t" r="r" b="b"/>
            <a:pathLst>
              <a:path w="31750" h="2159000">
                <a:moveTo>
                  <a:pt x="31750" y="0"/>
                </a:moveTo>
                <a:lnTo>
                  <a:pt x="31750" y="0"/>
                </a:lnTo>
                <a:lnTo>
                  <a:pt x="31750" y="2159000"/>
                </a:lnTo>
                <a:lnTo>
                  <a:pt x="31750" y="2159000"/>
                </a:lnTo>
                <a:cubicBezTo>
                  <a:pt x="14227" y="2159000"/>
                  <a:pt x="0" y="2144773"/>
                  <a:pt x="0" y="212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0000" y="136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71047" y="147637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76895"/>
                </a:move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ubicBezTo>
                  <a:pt x="89988" y="2480"/>
                  <a:pt x="106660" y="19152"/>
                  <a:pt x="106660" y="39687"/>
                </a:cubicBezTo>
                <a:cubicBezTo>
                  <a:pt x="106660" y="60223"/>
                  <a:pt x="89988" y="76895"/>
                  <a:pt x="69453" y="76895"/>
                </a:cubicBezTo>
                <a:close/>
                <a:moveTo>
                  <a:pt x="59996" y="94258"/>
                </a:moveTo>
                <a:lnTo>
                  <a:pt x="78910" y="94258"/>
                </a:lnTo>
                <a:cubicBezTo>
                  <a:pt x="81917" y="94258"/>
                  <a:pt x="84336" y="96676"/>
                  <a:pt x="84336" y="99684"/>
                </a:cubicBezTo>
                <a:cubicBezTo>
                  <a:pt x="84336" y="100986"/>
                  <a:pt x="83871" y="102226"/>
                  <a:pt x="83034" y="103219"/>
                </a:cubicBezTo>
                <a:lnTo>
                  <a:pt x="74538" y="113140"/>
                </a:lnTo>
                <a:lnTo>
                  <a:pt x="84150" y="148828"/>
                </a:lnTo>
                <a:lnTo>
                  <a:pt x="84336" y="148828"/>
                </a:lnTo>
                <a:lnTo>
                  <a:pt x="95064" y="105885"/>
                </a:lnTo>
                <a:cubicBezTo>
                  <a:pt x="95746" y="103188"/>
                  <a:pt x="98506" y="101544"/>
                  <a:pt x="101110" y="102536"/>
                </a:cubicBezTo>
                <a:cubicBezTo>
                  <a:pt x="120303" y="109854"/>
                  <a:pt x="133945" y="128457"/>
                  <a:pt x="133945" y="150223"/>
                </a:cubicBezTo>
                <a:cubicBezTo>
                  <a:pt x="133945" y="154905"/>
                  <a:pt x="130132" y="158719"/>
                  <a:pt x="125450" y="158719"/>
                </a:cubicBezTo>
                <a:lnTo>
                  <a:pt x="13457" y="158750"/>
                </a:lnTo>
                <a:cubicBezTo>
                  <a:pt x="8775" y="158750"/>
                  <a:pt x="4961" y="154936"/>
                  <a:pt x="4961" y="150254"/>
                </a:cubicBezTo>
                <a:cubicBezTo>
                  <a:pt x="4961" y="128488"/>
                  <a:pt x="18604" y="109885"/>
                  <a:pt x="37796" y="102567"/>
                </a:cubicBezTo>
                <a:cubicBezTo>
                  <a:pt x="40401" y="101575"/>
                  <a:pt x="43160" y="103219"/>
                  <a:pt x="43842" y="105916"/>
                </a:cubicBezTo>
                <a:lnTo>
                  <a:pt x="54570" y="148859"/>
                </a:lnTo>
                <a:lnTo>
                  <a:pt x="54756" y="148859"/>
                </a:lnTo>
                <a:lnTo>
                  <a:pt x="64368" y="113171"/>
                </a:lnTo>
                <a:lnTo>
                  <a:pt x="55873" y="103250"/>
                </a:lnTo>
                <a:cubicBezTo>
                  <a:pt x="55035" y="102257"/>
                  <a:pt x="54570" y="101017"/>
                  <a:pt x="54570" y="99715"/>
                </a:cubicBezTo>
                <a:cubicBezTo>
                  <a:pt x="54570" y="96707"/>
                  <a:pt x="56989" y="94289"/>
                  <a:pt x="59996" y="94289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6826250" y="1444625"/>
            <a:ext cx="148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Sistemas Expertos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0000" y="1841500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expertos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intentan codificar conocimiento humano en reglas formales para resolver problemas específicos en dominios limitados.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0000" y="2349500"/>
            <a:ext cx="5365750" cy="857250"/>
          </a:xfrm>
          <a:custGeom>
            <a:avLst/>
            <a:gdLst/>
            <a:ahLst/>
            <a:cxnLst/>
            <a:rect l="l" t="t" r="r" b="b"/>
            <a:pathLst>
              <a:path w="5365750" h="857250">
                <a:moveTo>
                  <a:pt x="63497" y="0"/>
                </a:moveTo>
                <a:lnTo>
                  <a:pt x="5302253" y="0"/>
                </a:lnTo>
                <a:cubicBezTo>
                  <a:pt x="5337322" y="0"/>
                  <a:pt x="5365750" y="28428"/>
                  <a:pt x="5365750" y="63497"/>
                </a:cubicBezTo>
                <a:lnTo>
                  <a:pt x="5365750" y="793753"/>
                </a:lnTo>
                <a:cubicBezTo>
                  <a:pt x="5365750" y="828822"/>
                  <a:pt x="5337322" y="857250"/>
                  <a:pt x="5302253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5250" y="2444750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 Notables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1125" y="27305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38199" y="0"/>
                </a:moveTo>
                <a:cubicBezTo>
                  <a:pt x="32448" y="0"/>
                  <a:pt x="27781" y="4666"/>
                  <a:pt x="27781" y="10418"/>
                </a:cubicBezTo>
                <a:lnTo>
                  <a:pt x="27781" y="55563"/>
                </a:lnTo>
                <a:cubicBezTo>
                  <a:pt x="27781" y="61314"/>
                  <a:pt x="32448" y="65980"/>
                  <a:pt x="38199" y="65980"/>
                </a:cubicBezTo>
                <a:lnTo>
                  <a:pt x="52090" y="65980"/>
                </a:lnTo>
                <a:cubicBezTo>
                  <a:pt x="57841" y="65980"/>
                  <a:pt x="62508" y="61314"/>
                  <a:pt x="62508" y="55563"/>
                </a:cubicBezTo>
                <a:lnTo>
                  <a:pt x="62508" y="41672"/>
                </a:lnTo>
                <a:lnTo>
                  <a:pt x="69453" y="41672"/>
                </a:lnTo>
                <a:cubicBezTo>
                  <a:pt x="84798" y="41672"/>
                  <a:pt x="97234" y="54108"/>
                  <a:pt x="97234" y="69453"/>
                </a:cubicBezTo>
                <a:cubicBezTo>
                  <a:pt x="97234" y="84798"/>
                  <a:pt x="84798" y="97234"/>
                  <a:pt x="69453" y="97234"/>
                </a:cubicBezTo>
                <a:lnTo>
                  <a:pt x="6945" y="97234"/>
                </a:lnTo>
                <a:cubicBezTo>
                  <a:pt x="3104" y="97234"/>
                  <a:pt x="0" y="100338"/>
                  <a:pt x="0" y="104180"/>
                </a:cubicBezTo>
                <a:cubicBezTo>
                  <a:pt x="0" y="108021"/>
                  <a:pt x="3104" y="111125"/>
                  <a:pt x="6945" y="111125"/>
                </a:cubicBezTo>
                <a:lnTo>
                  <a:pt x="104180" y="111125"/>
                </a:lnTo>
                <a:cubicBezTo>
                  <a:pt x="108021" y="111125"/>
                  <a:pt x="111125" y="108021"/>
                  <a:pt x="111125" y="104180"/>
                </a:cubicBezTo>
                <a:cubicBezTo>
                  <a:pt x="111125" y="100338"/>
                  <a:pt x="108021" y="97234"/>
                  <a:pt x="104180" y="97234"/>
                </a:cubicBezTo>
                <a:lnTo>
                  <a:pt x="100512" y="97234"/>
                </a:lnTo>
                <a:cubicBezTo>
                  <a:pt x="107110" y="89855"/>
                  <a:pt x="111125" y="80132"/>
                  <a:pt x="111125" y="69453"/>
                </a:cubicBezTo>
                <a:cubicBezTo>
                  <a:pt x="111125" y="46447"/>
                  <a:pt x="92459" y="27781"/>
                  <a:pt x="69453" y="27781"/>
                </a:cubicBezTo>
                <a:lnTo>
                  <a:pt x="62508" y="27781"/>
                </a:lnTo>
                <a:lnTo>
                  <a:pt x="62508" y="10418"/>
                </a:lnTo>
                <a:cubicBezTo>
                  <a:pt x="62508" y="4666"/>
                  <a:pt x="57841" y="0"/>
                  <a:pt x="52090" y="0"/>
                </a:cubicBezTo>
                <a:lnTo>
                  <a:pt x="38199" y="0"/>
                </a:lnTo>
                <a:close/>
                <a:moveTo>
                  <a:pt x="26045" y="76398"/>
                </a:moveTo>
                <a:cubicBezTo>
                  <a:pt x="23158" y="76398"/>
                  <a:pt x="20836" y="78721"/>
                  <a:pt x="20836" y="81607"/>
                </a:cubicBezTo>
                <a:cubicBezTo>
                  <a:pt x="20836" y="84494"/>
                  <a:pt x="23158" y="86816"/>
                  <a:pt x="26045" y="86816"/>
                </a:cubicBezTo>
                <a:lnTo>
                  <a:pt x="64244" y="86816"/>
                </a:lnTo>
                <a:cubicBezTo>
                  <a:pt x="67131" y="86816"/>
                  <a:pt x="69453" y="84494"/>
                  <a:pt x="69453" y="81607"/>
                </a:cubicBezTo>
                <a:cubicBezTo>
                  <a:pt x="69453" y="78721"/>
                  <a:pt x="67131" y="76398"/>
                  <a:pt x="64244" y="76398"/>
                </a:cubicBezTo>
                <a:lnTo>
                  <a:pt x="26045" y="76398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6647656" y="2698750"/>
            <a:ext cx="169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MYCIN: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Diagnóstico médico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7234" y="2952750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90267" y="45687"/>
                </a:moveTo>
                <a:cubicBezTo>
                  <a:pt x="92915" y="44971"/>
                  <a:pt x="95693" y="46230"/>
                  <a:pt x="96887" y="48682"/>
                </a:cubicBezTo>
                <a:lnTo>
                  <a:pt x="100924" y="56843"/>
                </a:lnTo>
                <a:cubicBezTo>
                  <a:pt x="103160" y="57147"/>
                  <a:pt x="105352" y="57755"/>
                  <a:pt x="107414" y="58601"/>
                </a:cubicBezTo>
                <a:lnTo>
                  <a:pt x="115010" y="53544"/>
                </a:lnTo>
                <a:cubicBezTo>
                  <a:pt x="117289" y="52025"/>
                  <a:pt x="120306" y="52329"/>
                  <a:pt x="122237" y="54260"/>
                </a:cubicBezTo>
                <a:lnTo>
                  <a:pt x="126405" y="58427"/>
                </a:lnTo>
                <a:cubicBezTo>
                  <a:pt x="128336" y="60359"/>
                  <a:pt x="128640" y="63398"/>
                  <a:pt x="127121" y="65655"/>
                </a:cubicBezTo>
                <a:lnTo>
                  <a:pt x="122064" y="73230"/>
                </a:lnTo>
                <a:cubicBezTo>
                  <a:pt x="122476" y="74250"/>
                  <a:pt x="122845" y="75313"/>
                  <a:pt x="123149" y="76420"/>
                </a:cubicBezTo>
                <a:cubicBezTo>
                  <a:pt x="123453" y="77527"/>
                  <a:pt x="123648" y="78612"/>
                  <a:pt x="123800" y="79719"/>
                </a:cubicBezTo>
                <a:lnTo>
                  <a:pt x="131983" y="83756"/>
                </a:lnTo>
                <a:cubicBezTo>
                  <a:pt x="134435" y="84972"/>
                  <a:pt x="135694" y="87750"/>
                  <a:pt x="134978" y="90376"/>
                </a:cubicBezTo>
                <a:lnTo>
                  <a:pt x="133459" y="96062"/>
                </a:lnTo>
                <a:cubicBezTo>
                  <a:pt x="132742" y="98689"/>
                  <a:pt x="130290" y="100468"/>
                  <a:pt x="127555" y="100295"/>
                </a:cubicBezTo>
                <a:lnTo>
                  <a:pt x="118439" y="99709"/>
                </a:lnTo>
                <a:cubicBezTo>
                  <a:pt x="117072" y="101467"/>
                  <a:pt x="115488" y="103094"/>
                  <a:pt x="113686" y="104484"/>
                </a:cubicBezTo>
                <a:lnTo>
                  <a:pt x="114272" y="113578"/>
                </a:lnTo>
                <a:cubicBezTo>
                  <a:pt x="114446" y="116312"/>
                  <a:pt x="112666" y="118787"/>
                  <a:pt x="110040" y="119481"/>
                </a:cubicBezTo>
                <a:lnTo>
                  <a:pt x="104353" y="121000"/>
                </a:lnTo>
                <a:cubicBezTo>
                  <a:pt x="101705" y="121717"/>
                  <a:pt x="98949" y="120458"/>
                  <a:pt x="97734" y="118005"/>
                </a:cubicBezTo>
                <a:lnTo>
                  <a:pt x="93697" y="109844"/>
                </a:lnTo>
                <a:cubicBezTo>
                  <a:pt x="91461" y="109541"/>
                  <a:pt x="89269" y="108933"/>
                  <a:pt x="87207" y="108086"/>
                </a:cubicBezTo>
                <a:lnTo>
                  <a:pt x="79611" y="113143"/>
                </a:lnTo>
                <a:cubicBezTo>
                  <a:pt x="77332" y="114663"/>
                  <a:pt x="74315" y="114359"/>
                  <a:pt x="72383" y="112427"/>
                </a:cubicBezTo>
                <a:lnTo>
                  <a:pt x="68216" y="108260"/>
                </a:lnTo>
                <a:cubicBezTo>
                  <a:pt x="66284" y="106328"/>
                  <a:pt x="65980" y="103312"/>
                  <a:pt x="67500" y="101033"/>
                </a:cubicBezTo>
                <a:lnTo>
                  <a:pt x="72557" y="93436"/>
                </a:lnTo>
                <a:cubicBezTo>
                  <a:pt x="72144" y="92416"/>
                  <a:pt x="71775" y="91353"/>
                  <a:pt x="71472" y="90246"/>
                </a:cubicBezTo>
                <a:cubicBezTo>
                  <a:pt x="71168" y="89139"/>
                  <a:pt x="70972" y="88032"/>
                  <a:pt x="70820" y="86947"/>
                </a:cubicBezTo>
                <a:lnTo>
                  <a:pt x="62638" y="82910"/>
                </a:lnTo>
                <a:cubicBezTo>
                  <a:pt x="60185" y="81694"/>
                  <a:pt x="58948" y="78916"/>
                  <a:pt x="59643" y="76290"/>
                </a:cubicBezTo>
                <a:lnTo>
                  <a:pt x="61162" y="70603"/>
                </a:lnTo>
                <a:cubicBezTo>
                  <a:pt x="61878" y="67977"/>
                  <a:pt x="64331" y="66198"/>
                  <a:pt x="67066" y="66371"/>
                </a:cubicBezTo>
                <a:lnTo>
                  <a:pt x="76160" y="66957"/>
                </a:lnTo>
                <a:cubicBezTo>
                  <a:pt x="77527" y="65199"/>
                  <a:pt x="79111" y="63571"/>
                  <a:pt x="80913" y="62182"/>
                </a:cubicBezTo>
                <a:lnTo>
                  <a:pt x="80327" y="53110"/>
                </a:lnTo>
                <a:cubicBezTo>
                  <a:pt x="80153" y="50375"/>
                  <a:pt x="81933" y="47901"/>
                  <a:pt x="84559" y="47206"/>
                </a:cubicBezTo>
                <a:lnTo>
                  <a:pt x="90246" y="45687"/>
                </a:lnTo>
                <a:close/>
                <a:moveTo>
                  <a:pt x="97321" y="73794"/>
                </a:moveTo>
                <a:cubicBezTo>
                  <a:pt x="92051" y="73800"/>
                  <a:pt x="87776" y="78084"/>
                  <a:pt x="87782" y="83355"/>
                </a:cubicBezTo>
                <a:cubicBezTo>
                  <a:pt x="87788" y="88625"/>
                  <a:pt x="92072" y="92900"/>
                  <a:pt x="97343" y="92894"/>
                </a:cubicBezTo>
                <a:cubicBezTo>
                  <a:pt x="102614" y="92888"/>
                  <a:pt x="106888" y="88604"/>
                  <a:pt x="106882" y="83333"/>
                </a:cubicBezTo>
                <a:cubicBezTo>
                  <a:pt x="106876" y="78062"/>
                  <a:pt x="102592" y="73788"/>
                  <a:pt x="97321" y="73794"/>
                </a:cubicBezTo>
                <a:close/>
                <a:moveTo>
                  <a:pt x="48813" y="-9875"/>
                </a:moveTo>
                <a:lnTo>
                  <a:pt x="54499" y="-8356"/>
                </a:lnTo>
                <a:cubicBezTo>
                  <a:pt x="57125" y="-7640"/>
                  <a:pt x="58905" y="-5166"/>
                  <a:pt x="58731" y="-2453"/>
                </a:cubicBezTo>
                <a:lnTo>
                  <a:pt x="58145" y="6620"/>
                </a:lnTo>
                <a:cubicBezTo>
                  <a:pt x="59947" y="8009"/>
                  <a:pt x="61531" y="9615"/>
                  <a:pt x="62898" y="11395"/>
                </a:cubicBezTo>
                <a:lnTo>
                  <a:pt x="72014" y="10809"/>
                </a:lnTo>
                <a:cubicBezTo>
                  <a:pt x="74727" y="10635"/>
                  <a:pt x="77201" y="12415"/>
                  <a:pt x="77918" y="15041"/>
                </a:cubicBezTo>
                <a:lnTo>
                  <a:pt x="79437" y="20727"/>
                </a:lnTo>
                <a:cubicBezTo>
                  <a:pt x="80132" y="23354"/>
                  <a:pt x="78894" y="26132"/>
                  <a:pt x="76442" y="27347"/>
                </a:cubicBezTo>
                <a:lnTo>
                  <a:pt x="68259" y="31384"/>
                </a:lnTo>
                <a:cubicBezTo>
                  <a:pt x="68107" y="32491"/>
                  <a:pt x="67890" y="33598"/>
                  <a:pt x="67608" y="34683"/>
                </a:cubicBezTo>
                <a:cubicBezTo>
                  <a:pt x="67326" y="35768"/>
                  <a:pt x="66935" y="36854"/>
                  <a:pt x="66523" y="37874"/>
                </a:cubicBezTo>
                <a:lnTo>
                  <a:pt x="71580" y="45470"/>
                </a:lnTo>
                <a:cubicBezTo>
                  <a:pt x="73099" y="47749"/>
                  <a:pt x="72796" y="50766"/>
                  <a:pt x="70864" y="52698"/>
                </a:cubicBezTo>
                <a:lnTo>
                  <a:pt x="66697" y="56865"/>
                </a:lnTo>
                <a:cubicBezTo>
                  <a:pt x="64765" y="58796"/>
                  <a:pt x="61748" y="59100"/>
                  <a:pt x="59469" y="57581"/>
                </a:cubicBezTo>
                <a:lnTo>
                  <a:pt x="51873" y="52524"/>
                </a:lnTo>
                <a:cubicBezTo>
                  <a:pt x="49811" y="53370"/>
                  <a:pt x="47619" y="53978"/>
                  <a:pt x="45383" y="54282"/>
                </a:cubicBezTo>
                <a:lnTo>
                  <a:pt x="41346" y="62443"/>
                </a:lnTo>
                <a:cubicBezTo>
                  <a:pt x="40131" y="64895"/>
                  <a:pt x="37353" y="66132"/>
                  <a:pt x="34727" y="65438"/>
                </a:cubicBezTo>
                <a:lnTo>
                  <a:pt x="29040" y="63919"/>
                </a:lnTo>
                <a:cubicBezTo>
                  <a:pt x="26392" y="63202"/>
                  <a:pt x="24634" y="60728"/>
                  <a:pt x="24808" y="58015"/>
                </a:cubicBezTo>
                <a:lnTo>
                  <a:pt x="25394" y="48921"/>
                </a:lnTo>
                <a:cubicBezTo>
                  <a:pt x="23592" y="47532"/>
                  <a:pt x="22008" y="45926"/>
                  <a:pt x="20641" y="44146"/>
                </a:cubicBezTo>
                <a:lnTo>
                  <a:pt x="11525" y="44732"/>
                </a:lnTo>
                <a:cubicBezTo>
                  <a:pt x="8812" y="44906"/>
                  <a:pt x="6338" y="43126"/>
                  <a:pt x="5621" y="40500"/>
                </a:cubicBezTo>
                <a:lnTo>
                  <a:pt x="4102" y="34813"/>
                </a:lnTo>
                <a:cubicBezTo>
                  <a:pt x="3408" y="32187"/>
                  <a:pt x="4645" y="29409"/>
                  <a:pt x="7097" y="28194"/>
                </a:cubicBezTo>
                <a:lnTo>
                  <a:pt x="15280" y="24157"/>
                </a:lnTo>
                <a:cubicBezTo>
                  <a:pt x="15432" y="23050"/>
                  <a:pt x="15649" y="21965"/>
                  <a:pt x="15931" y="20858"/>
                </a:cubicBezTo>
                <a:cubicBezTo>
                  <a:pt x="16235" y="19751"/>
                  <a:pt x="16582" y="18687"/>
                  <a:pt x="17016" y="17667"/>
                </a:cubicBezTo>
                <a:lnTo>
                  <a:pt x="11959" y="10092"/>
                </a:lnTo>
                <a:cubicBezTo>
                  <a:pt x="10440" y="7813"/>
                  <a:pt x="10744" y="4797"/>
                  <a:pt x="12675" y="2865"/>
                </a:cubicBezTo>
                <a:lnTo>
                  <a:pt x="16842" y="-1302"/>
                </a:lnTo>
                <a:cubicBezTo>
                  <a:pt x="18774" y="-3234"/>
                  <a:pt x="21791" y="-3538"/>
                  <a:pt x="24070" y="-2018"/>
                </a:cubicBezTo>
                <a:lnTo>
                  <a:pt x="31666" y="3039"/>
                </a:lnTo>
                <a:cubicBezTo>
                  <a:pt x="33728" y="2192"/>
                  <a:pt x="35920" y="1584"/>
                  <a:pt x="38156" y="1281"/>
                </a:cubicBezTo>
                <a:lnTo>
                  <a:pt x="42193" y="-6880"/>
                </a:lnTo>
                <a:cubicBezTo>
                  <a:pt x="43408" y="-9333"/>
                  <a:pt x="46165" y="-10570"/>
                  <a:pt x="48813" y="-9875"/>
                </a:cubicBezTo>
                <a:close/>
                <a:moveTo>
                  <a:pt x="41759" y="18231"/>
                </a:moveTo>
                <a:cubicBezTo>
                  <a:pt x="36488" y="18231"/>
                  <a:pt x="32209" y="22511"/>
                  <a:pt x="32209" y="27781"/>
                </a:cubicBezTo>
                <a:cubicBezTo>
                  <a:pt x="32209" y="33052"/>
                  <a:pt x="36488" y="37331"/>
                  <a:pt x="41759" y="37331"/>
                </a:cubicBezTo>
                <a:cubicBezTo>
                  <a:pt x="47029" y="37331"/>
                  <a:pt x="51308" y="33052"/>
                  <a:pt x="51308" y="27781"/>
                </a:cubicBezTo>
                <a:cubicBezTo>
                  <a:pt x="51308" y="22511"/>
                  <a:pt x="47029" y="18231"/>
                  <a:pt x="4175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6647656" y="2921000"/>
            <a:ext cx="1658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DENDRAL: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Análisis químico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63469" y="3496469"/>
            <a:ext cx="5707063" cy="2516188"/>
          </a:xfrm>
          <a:custGeom>
            <a:avLst/>
            <a:gdLst/>
            <a:ahLst/>
            <a:cxnLst/>
            <a:rect l="l" t="t" r="r" b="b"/>
            <a:pathLst>
              <a:path w="5707063" h="2516188">
                <a:moveTo>
                  <a:pt x="95238" y="0"/>
                </a:moveTo>
                <a:lnTo>
                  <a:pt x="5611825" y="0"/>
                </a:lnTo>
                <a:cubicBezTo>
                  <a:pt x="5664423" y="0"/>
                  <a:pt x="5707063" y="42639"/>
                  <a:pt x="5707063" y="95238"/>
                </a:cubicBezTo>
                <a:lnTo>
                  <a:pt x="5707063" y="2420950"/>
                </a:lnTo>
                <a:cubicBezTo>
                  <a:pt x="5707063" y="2473548"/>
                  <a:pt x="5664423" y="2516187"/>
                  <a:pt x="5611825" y="2516188"/>
                </a:cubicBezTo>
                <a:lnTo>
                  <a:pt x="95238" y="2516188"/>
                </a:lnTo>
                <a:cubicBezTo>
                  <a:pt x="42639" y="2516188"/>
                  <a:pt x="0" y="2473548"/>
                  <a:pt x="0" y="2420950"/>
                </a:cubicBezTo>
                <a:lnTo>
                  <a:pt x="0" y="95238"/>
                </a:lnTo>
                <a:cubicBezTo>
                  <a:pt x="0" y="42639"/>
                  <a:pt x="42639" y="0"/>
                  <a:pt x="9523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0000" y="3770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6659563" y="3754438"/>
            <a:ext cx="165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Limitaciones Críticas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6188" y="40719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416718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6738938" y="4071938"/>
            <a:ext cx="462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Escasez de Datos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38938" y="4294188"/>
            <a:ext cx="4627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existían grandes corpus de texto digitales para entrenar modelos efectivos.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6188" y="4595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1438" y="4691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3656" y="5953"/>
                </a:moveTo>
                <a:cubicBezTo>
                  <a:pt x="43656" y="2654"/>
                  <a:pt x="41002" y="0"/>
                  <a:pt x="37703" y="0"/>
                </a:cubicBezTo>
                <a:cubicBezTo>
                  <a:pt x="34404" y="0"/>
                  <a:pt x="31750" y="2654"/>
                  <a:pt x="31750" y="5953"/>
                </a:cubicBezTo>
                <a:lnTo>
                  <a:pt x="31750" y="15875"/>
                </a:lnTo>
                <a:cubicBezTo>
                  <a:pt x="22994" y="15875"/>
                  <a:pt x="15875" y="22994"/>
                  <a:pt x="15875" y="31750"/>
                </a:cubicBezTo>
                <a:lnTo>
                  <a:pt x="5953" y="31750"/>
                </a:lnTo>
                <a:cubicBezTo>
                  <a:pt x="2654" y="31750"/>
                  <a:pt x="0" y="34404"/>
                  <a:pt x="0" y="37703"/>
                </a:cubicBezTo>
                <a:cubicBezTo>
                  <a:pt x="0" y="41002"/>
                  <a:pt x="2654" y="43656"/>
                  <a:pt x="5953" y="43656"/>
                </a:cubicBezTo>
                <a:lnTo>
                  <a:pt x="15875" y="43656"/>
                </a:lnTo>
                <a:lnTo>
                  <a:pt x="15875" y="57547"/>
                </a:lnTo>
                <a:lnTo>
                  <a:pt x="5953" y="57547"/>
                </a:lnTo>
                <a:cubicBezTo>
                  <a:pt x="2654" y="57547"/>
                  <a:pt x="0" y="60201"/>
                  <a:pt x="0" y="63500"/>
                </a:cubicBezTo>
                <a:cubicBezTo>
                  <a:pt x="0" y="66799"/>
                  <a:pt x="2654" y="69453"/>
                  <a:pt x="5953" y="69453"/>
                </a:cubicBezTo>
                <a:lnTo>
                  <a:pt x="15875" y="69453"/>
                </a:lnTo>
                <a:lnTo>
                  <a:pt x="15875" y="83344"/>
                </a:lnTo>
                <a:lnTo>
                  <a:pt x="5953" y="83344"/>
                </a:lnTo>
                <a:cubicBezTo>
                  <a:pt x="2654" y="83344"/>
                  <a:pt x="0" y="85998"/>
                  <a:pt x="0" y="89297"/>
                </a:cubicBezTo>
                <a:cubicBezTo>
                  <a:pt x="0" y="92596"/>
                  <a:pt x="2654" y="95250"/>
                  <a:pt x="5953" y="95250"/>
                </a:cubicBezTo>
                <a:lnTo>
                  <a:pt x="15875" y="95250"/>
                </a:lnTo>
                <a:cubicBezTo>
                  <a:pt x="15875" y="104006"/>
                  <a:pt x="22994" y="111125"/>
                  <a:pt x="31750" y="111125"/>
                </a:cubicBezTo>
                <a:lnTo>
                  <a:pt x="31750" y="121047"/>
                </a:lnTo>
                <a:cubicBezTo>
                  <a:pt x="31750" y="124346"/>
                  <a:pt x="34404" y="127000"/>
                  <a:pt x="37703" y="127000"/>
                </a:cubicBezTo>
                <a:cubicBezTo>
                  <a:pt x="41002" y="127000"/>
                  <a:pt x="43656" y="124346"/>
                  <a:pt x="43656" y="121047"/>
                </a:cubicBezTo>
                <a:lnTo>
                  <a:pt x="43656" y="111125"/>
                </a:lnTo>
                <a:lnTo>
                  <a:pt x="57547" y="111125"/>
                </a:lnTo>
                <a:lnTo>
                  <a:pt x="57547" y="121047"/>
                </a:lnTo>
                <a:cubicBezTo>
                  <a:pt x="57547" y="124346"/>
                  <a:pt x="60201" y="127000"/>
                  <a:pt x="63500" y="127000"/>
                </a:cubicBezTo>
                <a:cubicBezTo>
                  <a:pt x="66799" y="127000"/>
                  <a:pt x="69453" y="124346"/>
                  <a:pt x="69453" y="121047"/>
                </a:cubicBezTo>
                <a:lnTo>
                  <a:pt x="69453" y="111125"/>
                </a:lnTo>
                <a:lnTo>
                  <a:pt x="83344" y="111125"/>
                </a:lnTo>
                <a:lnTo>
                  <a:pt x="83344" y="121047"/>
                </a:lnTo>
                <a:cubicBezTo>
                  <a:pt x="83344" y="124346"/>
                  <a:pt x="85998" y="127000"/>
                  <a:pt x="89297" y="127000"/>
                </a:cubicBezTo>
                <a:cubicBezTo>
                  <a:pt x="92596" y="127000"/>
                  <a:pt x="95250" y="124346"/>
                  <a:pt x="95250" y="121047"/>
                </a:cubicBezTo>
                <a:lnTo>
                  <a:pt x="95250" y="111125"/>
                </a:lnTo>
                <a:cubicBezTo>
                  <a:pt x="104006" y="111125"/>
                  <a:pt x="111125" y="104006"/>
                  <a:pt x="111125" y="95250"/>
                </a:cubicBezTo>
                <a:lnTo>
                  <a:pt x="121047" y="95250"/>
                </a:lnTo>
                <a:cubicBezTo>
                  <a:pt x="124346" y="95250"/>
                  <a:pt x="127000" y="92596"/>
                  <a:pt x="127000" y="89297"/>
                </a:cubicBezTo>
                <a:cubicBezTo>
                  <a:pt x="127000" y="85998"/>
                  <a:pt x="124346" y="83344"/>
                  <a:pt x="121047" y="83344"/>
                </a:cubicBezTo>
                <a:lnTo>
                  <a:pt x="111125" y="83344"/>
                </a:lnTo>
                <a:lnTo>
                  <a:pt x="111125" y="69453"/>
                </a:lnTo>
                <a:lnTo>
                  <a:pt x="121047" y="69453"/>
                </a:lnTo>
                <a:cubicBezTo>
                  <a:pt x="124346" y="69453"/>
                  <a:pt x="127000" y="66799"/>
                  <a:pt x="127000" y="63500"/>
                </a:cubicBezTo>
                <a:cubicBezTo>
                  <a:pt x="127000" y="60201"/>
                  <a:pt x="124346" y="57547"/>
                  <a:pt x="121047" y="57547"/>
                </a:cubicBezTo>
                <a:lnTo>
                  <a:pt x="111125" y="57547"/>
                </a:lnTo>
                <a:lnTo>
                  <a:pt x="111125" y="43656"/>
                </a:lnTo>
                <a:lnTo>
                  <a:pt x="121047" y="43656"/>
                </a:lnTo>
                <a:cubicBezTo>
                  <a:pt x="124346" y="43656"/>
                  <a:pt x="127000" y="41002"/>
                  <a:pt x="127000" y="37703"/>
                </a:cubicBezTo>
                <a:cubicBezTo>
                  <a:pt x="127000" y="34404"/>
                  <a:pt x="124346" y="31750"/>
                  <a:pt x="121047" y="31750"/>
                </a:cubicBezTo>
                <a:lnTo>
                  <a:pt x="111125" y="31750"/>
                </a:lnTo>
                <a:cubicBezTo>
                  <a:pt x="111125" y="22994"/>
                  <a:pt x="104006" y="15875"/>
                  <a:pt x="95250" y="15875"/>
                </a:cubicBezTo>
                <a:lnTo>
                  <a:pt x="95250" y="5953"/>
                </a:lnTo>
                <a:cubicBezTo>
                  <a:pt x="95250" y="2654"/>
                  <a:pt x="92596" y="0"/>
                  <a:pt x="89297" y="0"/>
                </a:cubicBezTo>
                <a:cubicBezTo>
                  <a:pt x="85998" y="0"/>
                  <a:pt x="83344" y="2654"/>
                  <a:pt x="83344" y="5953"/>
                </a:cubicBezTo>
                <a:lnTo>
                  <a:pt x="83344" y="15875"/>
                </a:lnTo>
                <a:lnTo>
                  <a:pt x="69453" y="15875"/>
                </a:lnTo>
                <a:lnTo>
                  <a:pt x="69453" y="5953"/>
                </a:lnTo>
                <a:cubicBezTo>
                  <a:pt x="69453" y="2654"/>
                  <a:pt x="66799" y="0"/>
                  <a:pt x="63500" y="0"/>
                </a:cubicBezTo>
                <a:cubicBezTo>
                  <a:pt x="60201" y="0"/>
                  <a:pt x="57547" y="2654"/>
                  <a:pt x="57547" y="5953"/>
                </a:cubicBezTo>
                <a:lnTo>
                  <a:pt x="57547" y="15875"/>
                </a:lnTo>
                <a:lnTo>
                  <a:pt x="43656" y="15875"/>
                </a:lnTo>
                <a:lnTo>
                  <a:pt x="43656" y="5953"/>
                </a:lnTo>
                <a:close/>
                <a:moveTo>
                  <a:pt x="39688" y="31750"/>
                </a:moveTo>
                <a:lnTo>
                  <a:pt x="87313" y="31750"/>
                </a:lnTo>
                <a:cubicBezTo>
                  <a:pt x="91703" y="31750"/>
                  <a:pt x="95250" y="35297"/>
                  <a:pt x="95250" y="39688"/>
                </a:cubicBezTo>
                <a:lnTo>
                  <a:pt x="95250" y="87313"/>
                </a:lnTo>
                <a:cubicBezTo>
                  <a:pt x="95250" y="91703"/>
                  <a:pt x="91703" y="95250"/>
                  <a:pt x="87313" y="95250"/>
                </a:cubicBezTo>
                <a:lnTo>
                  <a:pt x="39688" y="95250"/>
                </a:lnTo>
                <a:cubicBezTo>
                  <a:pt x="35297" y="95250"/>
                  <a:pt x="31750" y="91703"/>
                  <a:pt x="31750" y="87313"/>
                </a:cubicBezTo>
                <a:lnTo>
                  <a:pt x="31750" y="39688"/>
                </a:lnTo>
                <a:cubicBezTo>
                  <a:pt x="31750" y="35297"/>
                  <a:pt x="35297" y="31750"/>
                  <a:pt x="39688" y="31750"/>
                </a:cubicBezTo>
                <a:close/>
                <a:moveTo>
                  <a:pt x="43656" y="43656"/>
                </a:moveTo>
                <a:lnTo>
                  <a:pt x="43656" y="83344"/>
                </a:lnTo>
                <a:lnTo>
                  <a:pt x="83344" y="83344"/>
                </a:lnTo>
                <a:lnTo>
                  <a:pt x="83344" y="43656"/>
                </a:lnTo>
                <a:lnTo>
                  <a:pt x="43656" y="4365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9" name="Text 47"/>
          <p:cNvSpPr/>
          <p:nvPr/>
        </p:nvSpPr>
        <p:spPr>
          <a:xfrm>
            <a:off x="6738938" y="4595813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Potencia de Cómputo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38938" y="4818063"/>
            <a:ext cx="5032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hardware de la época eran insuficientes para entrenar redes neuronales complejas.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26188" y="5326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1438" y="5421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3" name="Text 51"/>
          <p:cNvSpPr/>
          <p:nvPr/>
        </p:nvSpPr>
        <p:spPr>
          <a:xfrm>
            <a:off x="6738938" y="5326063"/>
            <a:ext cx="446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Comprensión Contextual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38938" y="5548313"/>
            <a:ext cx="44688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modelos no podían capturar dependencias de largo alcance en el texto.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1469" y="6147594"/>
            <a:ext cx="11549063" cy="388938"/>
          </a:xfrm>
          <a:custGeom>
            <a:avLst/>
            <a:gdLst/>
            <a:ahLst/>
            <a:cxnLst/>
            <a:rect l="l" t="t" r="r" b="b"/>
            <a:pathLst>
              <a:path w="11549063" h="388938">
                <a:moveTo>
                  <a:pt x="95251" y="0"/>
                </a:moveTo>
                <a:lnTo>
                  <a:pt x="11453812" y="0"/>
                </a:lnTo>
                <a:cubicBezTo>
                  <a:pt x="11506417" y="0"/>
                  <a:pt x="11549063" y="42645"/>
                  <a:pt x="11549063" y="95251"/>
                </a:cubicBezTo>
                <a:lnTo>
                  <a:pt x="11549063" y="293687"/>
                </a:lnTo>
                <a:cubicBezTo>
                  <a:pt x="11549063" y="346292"/>
                  <a:pt x="11506417" y="388938"/>
                  <a:pt x="11453812" y="388938"/>
                </a:cubicBezTo>
                <a:lnTo>
                  <a:pt x="95251" y="388938"/>
                </a:lnTo>
                <a:cubicBezTo>
                  <a:pt x="42645" y="388938"/>
                  <a:pt x="0" y="346292"/>
                  <a:pt x="0" y="293687"/>
                </a:cubicBezTo>
                <a:lnTo>
                  <a:pt x="0" y="95251"/>
                </a:lnTo>
                <a:cubicBezTo>
                  <a:pt x="0" y="42680"/>
                  <a:pt x="42680" y="0"/>
                  <a:pt x="95251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0531" y="6262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7" name="Text 55"/>
          <p:cNvSpPr/>
          <p:nvPr/>
        </p:nvSpPr>
        <p:spPr>
          <a:xfrm>
            <a:off x="714375" y="6246813"/>
            <a:ext cx="1057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Resultado: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Aunque estos intentos fueron limitados, establecieron metodologías y algoritmos fundamentales que resurgirían décadas después con el poder computacional adecuado.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28e8dde4648595ce006d4a71191ec81a4fc64d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8000"/>
                </a:srgbClr>
              </a:gs>
              <a:gs pos="50000">
                <a:srgbClr val="0A0E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163241"/>
            <a:ext cx="1571625" cy="428625"/>
          </a:xfrm>
          <a:custGeom>
            <a:avLst/>
            <a:gdLst/>
            <a:ahLst/>
            <a:cxnLst/>
            <a:rect l="l" t="t" r="r" b="b"/>
            <a:pathLst>
              <a:path w="1571625" h="428625">
                <a:moveTo>
                  <a:pt x="214313" y="0"/>
                </a:moveTo>
                <a:lnTo>
                  <a:pt x="1357313" y="0"/>
                </a:lnTo>
                <a:cubicBezTo>
                  <a:pt x="1475595" y="0"/>
                  <a:pt x="1571625" y="96030"/>
                  <a:pt x="1571625" y="214313"/>
                </a:cubicBezTo>
                <a:lnTo>
                  <a:pt x="1571625" y="214313"/>
                </a:lnTo>
                <a:cubicBezTo>
                  <a:pt x="1571625" y="332595"/>
                  <a:pt x="1475595" y="428625"/>
                  <a:pt x="1357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263253"/>
            <a:ext cx="12647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5228"/>
            <a:ext cx="65817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Nacimiento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Moderno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82628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244578"/>
            <a:ext cx="62674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2014-2021: Transformers + Escalado Masivo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52804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147072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Período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5375672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años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012454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174379" y="528042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2774454" y="5147072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74454" y="5375672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168825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359325" y="52804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4930825" y="5147072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Legado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930825" y="5375672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Revolución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8070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spc="107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2014-2017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611298"/>
            <a:ext cx="1166560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Revolución en la Arquitectura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610" y="1052791"/>
            <a:ext cx="815064" cy="33961"/>
          </a:xfrm>
          <a:custGeom>
            <a:avLst/>
            <a:gdLst/>
            <a:ahLst/>
            <a:cxnLst/>
            <a:rect l="l" t="t" r="r" b="b"/>
            <a:pathLst>
              <a:path w="815064" h="33961">
                <a:moveTo>
                  <a:pt x="0" y="0"/>
                </a:moveTo>
                <a:lnTo>
                  <a:pt x="815064" y="0"/>
                </a:lnTo>
                <a:lnTo>
                  <a:pt x="815064" y="33961"/>
                </a:lnTo>
                <a:lnTo>
                  <a:pt x="0" y="3396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39610" y="1239577"/>
            <a:ext cx="5671487" cy="4245125"/>
          </a:xfrm>
          <a:custGeom>
            <a:avLst/>
            <a:gdLst/>
            <a:ahLst/>
            <a:cxnLst/>
            <a:rect l="l" t="t" r="r" b="b"/>
            <a:pathLst>
              <a:path w="5671487" h="4245125">
                <a:moveTo>
                  <a:pt x="33961" y="0"/>
                </a:moveTo>
                <a:lnTo>
                  <a:pt x="5637526" y="0"/>
                </a:lnTo>
                <a:cubicBezTo>
                  <a:pt x="5656283" y="0"/>
                  <a:pt x="5671487" y="15205"/>
                  <a:pt x="5671487" y="33961"/>
                </a:cubicBezTo>
                <a:lnTo>
                  <a:pt x="5671487" y="4143242"/>
                </a:lnTo>
                <a:cubicBezTo>
                  <a:pt x="5671487" y="4199511"/>
                  <a:pt x="5625873" y="4245125"/>
                  <a:pt x="5569604" y="4245125"/>
                </a:cubicBezTo>
                <a:lnTo>
                  <a:pt x="101883" y="4245125"/>
                </a:lnTo>
                <a:cubicBezTo>
                  <a:pt x="45615" y="4245125"/>
                  <a:pt x="0" y="4199511"/>
                  <a:pt x="0" y="4143242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9610" y="1239577"/>
            <a:ext cx="5671487" cy="33961"/>
          </a:xfrm>
          <a:custGeom>
            <a:avLst/>
            <a:gdLst/>
            <a:ahLst/>
            <a:cxnLst/>
            <a:rect l="l" t="t" r="r" b="b"/>
            <a:pathLst>
              <a:path w="5671487" h="33961">
                <a:moveTo>
                  <a:pt x="33961" y="0"/>
                </a:moveTo>
                <a:lnTo>
                  <a:pt x="5637526" y="0"/>
                </a:lnTo>
                <a:cubicBezTo>
                  <a:pt x="5656283" y="0"/>
                  <a:pt x="5671487" y="15205"/>
                  <a:pt x="5671487" y="33961"/>
                </a:cubicBezTo>
                <a:lnTo>
                  <a:pt x="5671487" y="33961"/>
                </a:lnTo>
                <a:lnTo>
                  <a:pt x="0" y="33961"/>
                </a:ln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09415" y="1426362"/>
            <a:ext cx="475454" cy="475454"/>
          </a:xfrm>
          <a:custGeom>
            <a:avLst/>
            <a:gdLst/>
            <a:ahLst/>
            <a:cxnLst/>
            <a:rect l="l" t="t" r="r" b="b"/>
            <a:pathLst>
              <a:path w="475454" h="475454">
                <a:moveTo>
                  <a:pt x="237727" y="0"/>
                </a:moveTo>
                <a:lnTo>
                  <a:pt x="237727" y="0"/>
                </a:lnTo>
                <a:cubicBezTo>
                  <a:pt x="369020" y="0"/>
                  <a:pt x="475454" y="106434"/>
                  <a:pt x="475454" y="237727"/>
                </a:cubicBezTo>
                <a:lnTo>
                  <a:pt x="475454" y="237727"/>
                </a:lnTo>
                <a:cubicBezTo>
                  <a:pt x="475454" y="369020"/>
                  <a:pt x="369020" y="475454"/>
                  <a:pt x="237727" y="475454"/>
                </a:cubicBezTo>
                <a:lnTo>
                  <a:pt x="237727" y="475454"/>
                </a:lnTo>
                <a:cubicBezTo>
                  <a:pt x="106434" y="475454"/>
                  <a:pt x="0" y="369020"/>
                  <a:pt x="0" y="237727"/>
                </a:cubicBezTo>
                <a:lnTo>
                  <a:pt x="0" y="237727"/>
                </a:lnTo>
                <a:cubicBezTo>
                  <a:pt x="0" y="106434"/>
                  <a:pt x="106434" y="0"/>
                  <a:pt x="237727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6762" y="1528245"/>
            <a:ext cx="58582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6752" y="1426362"/>
            <a:ext cx="103581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GANs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6752" y="1698050"/>
            <a:ext cx="100185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Ian Goodfellow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415" y="2037660"/>
            <a:ext cx="540829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Generative Adversarial Networks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9415" y="2377270"/>
            <a:ext cx="5399799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Introduce un marco revolucionario donde </a:t>
            </a:r>
            <a:pPr>
              <a:lnSpc>
                <a:spcPct val="14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dos redes neuronales compiten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un generador crea datos sintéticos y un discriminador evalúa su autenticidad.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9415" y="3005549"/>
            <a:ext cx="5331877" cy="1460323"/>
          </a:xfrm>
          <a:custGeom>
            <a:avLst/>
            <a:gdLst/>
            <a:ahLst/>
            <a:cxnLst/>
            <a:rect l="l" t="t" r="r" b="b"/>
            <a:pathLst>
              <a:path w="5331877" h="1460323">
                <a:moveTo>
                  <a:pt x="67920" y="0"/>
                </a:moveTo>
                <a:lnTo>
                  <a:pt x="5263958" y="0"/>
                </a:lnTo>
                <a:cubicBezTo>
                  <a:pt x="5301469" y="0"/>
                  <a:pt x="5331877" y="30409"/>
                  <a:pt x="5331877" y="67920"/>
                </a:cubicBezTo>
                <a:lnTo>
                  <a:pt x="5331877" y="1392403"/>
                </a:lnTo>
                <a:cubicBezTo>
                  <a:pt x="5331877" y="1429914"/>
                  <a:pt x="5301469" y="1460323"/>
                  <a:pt x="5263958" y="1460323"/>
                </a:cubicBezTo>
                <a:lnTo>
                  <a:pt x="67920" y="1460323"/>
                </a:lnTo>
                <a:cubicBezTo>
                  <a:pt x="30434" y="1460323"/>
                  <a:pt x="0" y="1429889"/>
                  <a:pt x="0" y="1392403"/>
                </a:cubicBezTo>
                <a:lnTo>
                  <a:pt x="0" y="67920"/>
                </a:lnTo>
                <a:cubicBezTo>
                  <a:pt x="0" y="30434"/>
                  <a:pt x="30434" y="0"/>
                  <a:pt x="67920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5259" y="3141393"/>
            <a:ext cx="5128111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Mecanismo de Competición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5259" y="3464022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0"/>
                </a:moveTo>
                <a:lnTo>
                  <a:pt x="101883" y="0"/>
                </a:lnTo>
                <a:cubicBezTo>
                  <a:pt x="158151" y="0"/>
                  <a:pt x="203766" y="45615"/>
                  <a:pt x="203766" y="101883"/>
                </a:cubicBezTo>
                <a:lnTo>
                  <a:pt x="203766" y="101883"/>
                </a:lnTo>
                <a:cubicBezTo>
                  <a:pt x="203766" y="158151"/>
                  <a:pt x="158151" y="203766"/>
                  <a:pt x="101883" y="203766"/>
                </a:cubicBezTo>
                <a:lnTo>
                  <a:pt x="101883" y="203766"/>
                </a:lnTo>
                <a:cubicBezTo>
                  <a:pt x="45615" y="203766"/>
                  <a:pt x="0" y="158151"/>
                  <a:pt x="0" y="10188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9732" y="3497983"/>
            <a:ext cx="127354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6947" y="3447042"/>
            <a:ext cx="332817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6947" y="3650808"/>
            <a:ext cx="332817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 imágenes, intentando engañar al discriminador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5259" y="3939476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0"/>
                </a:moveTo>
                <a:lnTo>
                  <a:pt x="101883" y="0"/>
                </a:lnTo>
                <a:cubicBezTo>
                  <a:pt x="158151" y="0"/>
                  <a:pt x="203766" y="45615"/>
                  <a:pt x="203766" y="101883"/>
                </a:cubicBezTo>
                <a:lnTo>
                  <a:pt x="203766" y="101883"/>
                </a:lnTo>
                <a:cubicBezTo>
                  <a:pt x="203766" y="158151"/>
                  <a:pt x="158151" y="203766"/>
                  <a:pt x="101883" y="203766"/>
                </a:cubicBezTo>
                <a:lnTo>
                  <a:pt x="101883" y="203766"/>
                </a:lnTo>
                <a:cubicBezTo>
                  <a:pt x="45615" y="203766"/>
                  <a:pt x="0" y="158151"/>
                  <a:pt x="0" y="101883"/>
                </a:cubicBezTo>
                <a:lnTo>
                  <a:pt x="0" y="101883"/>
                </a:lnTo>
                <a:cubicBezTo>
                  <a:pt x="0" y="45615"/>
                  <a:pt x="45615" y="0"/>
                  <a:pt x="10188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09334" y="3973437"/>
            <a:ext cx="127354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6947" y="3922496"/>
            <a:ext cx="257254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Discriminador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6947" y="4126262"/>
            <a:ext cx="257254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Juzga si el contenido es real o generado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9415" y="4652657"/>
            <a:ext cx="5331877" cy="662240"/>
          </a:xfrm>
          <a:custGeom>
            <a:avLst/>
            <a:gdLst/>
            <a:ahLst/>
            <a:cxnLst/>
            <a:rect l="l" t="t" r="r" b="b"/>
            <a:pathLst>
              <a:path w="5331877" h="662240">
                <a:moveTo>
                  <a:pt x="67919" y="0"/>
                </a:moveTo>
                <a:lnTo>
                  <a:pt x="5263958" y="0"/>
                </a:lnTo>
                <a:cubicBezTo>
                  <a:pt x="5301469" y="0"/>
                  <a:pt x="5331877" y="30409"/>
                  <a:pt x="5331877" y="67919"/>
                </a:cubicBezTo>
                <a:lnTo>
                  <a:pt x="5331877" y="594320"/>
                </a:lnTo>
                <a:cubicBezTo>
                  <a:pt x="5331877" y="631831"/>
                  <a:pt x="5301469" y="662240"/>
                  <a:pt x="5263958" y="662240"/>
                </a:cubicBezTo>
                <a:lnTo>
                  <a:pt x="67919" y="662240"/>
                </a:lnTo>
                <a:cubicBezTo>
                  <a:pt x="30409" y="662240"/>
                  <a:pt x="0" y="631831"/>
                  <a:pt x="0" y="594320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1298" y="4754540"/>
            <a:ext cx="519603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1298" y="4992267"/>
            <a:ext cx="5196033" cy="220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Revolución en generación de </a:t>
            </a:r>
            <a:pPr>
              <a:lnSpc>
                <a:spcPct val="140000"/>
              </a:lnSpc>
            </a:pPr>
            <a:r>
              <a:rPr lang="en-US" sz="107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 realistas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arte sintético y deepfakes.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2760" y="1239577"/>
            <a:ext cx="5671487" cy="4245125"/>
          </a:xfrm>
          <a:custGeom>
            <a:avLst/>
            <a:gdLst/>
            <a:ahLst/>
            <a:cxnLst/>
            <a:rect l="l" t="t" r="r" b="b"/>
            <a:pathLst>
              <a:path w="5671487" h="4245125">
                <a:moveTo>
                  <a:pt x="33961" y="0"/>
                </a:moveTo>
                <a:lnTo>
                  <a:pt x="5637526" y="0"/>
                </a:lnTo>
                <a:cubicBezTo>
                  <a:pt x="5656283" y="0"/>
                  <a:pt x="5671487" y="15205"/>
                  <a:pt x="5671487" y="33961"/>
                </a:cubicBezTo>
                <a:lnTo>
                  <a:pt x="5671487" y="4143242"/>
                </a:lnTo>
                <a:cubicBezTo>
                  <a:pt x="5671487" y="4199511"/>
                  <a:pt x="5625873" y="4245125"/>
                  <a:pt x="5569604" y="4245125"/>
                </a:cubicBezTo>
                <a:lnTo>
                  <a:pt x="101883" y="4245125"/>
                </a:lnTo>
                <a:cubicBezTo>
                  <a:pt x="45615" y="4245125"/>
                  <a:pt x="0" y="4199511"/>
                  <a:pt x="0" y="4143242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6182760" y="1239577"/>
            <a:ext cx="5671487" cy="33961"/>
          </a:xfrm>
          <a:custGeom>
            <a:avLst/>
            <a:gdLst/>
            <a:ahLst/>
            <a:cxnLst/>
            <a:rect l="l" t="t" r="r" b="b"/>
            <a:pathLst>
              <a:path w="5671487" h="33961">
                <a:moveTo>
                  <a:pt x="33961" y="0"/>
                </a:moveTo>
                <a:lnTo>
                  <a:pt x="5637526" y="0"/>
                </a:lnTo>
                <a:cubicBezTo>
                  <a:pt x="5656283" y="0"/>
                  <a:pt x="5671487" y="15205"/>
                  <a:pt x="5671487" y="33961"/>
                </a:cubicBezTo>
                <a:lnTo>
                  <a:pt x="5671487" y="33961"/>
                </a:lnTo>
                <a:lnTo>
                  <a:pt x="0" y="33961"/>
                </a:ln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2565" y="1426362"/>
            <a:ext cx="475454" cy="475454"/>
          </a:xfrm>
          <a:custGeom>
            <a:avLst/>
            <a:gdLst/>
            <a:ahLst/>
            <a:cxnLst/>
            <a:rect l="l" t="t" r="r" b="b"/>
            <a:pathLst>
              <a:path w="475454" h="475454">
                <a:moveTo>
                  <a:pt x="237727" y="0"/>
                </a:moveTo>
                <a:lnTo>
                  <a:pt x="237727" y="0"/>
                </a:lnTo>
                <a:cubicBezTo>
                  <a:pt x="369020" y="0"/>
                  <a:pt x="475454" y="106434"/>
                  <a:pt x="475454" y="237727"/>
                </a:cubicBezTo>
                <a:lnTo>
                  <a:pt x="475454" y="237727"/>
                </a:lnTo>
                <a:cubicBezTo>
                  <a:pt x="475454" y="369020"/>
                  <a:pt x="369020" y="475454"/>
                  <a:pt x="237727" y="475454"/>
                </a:cubicBezTo>
                <a:lnTo>
                  <a:pt x="237727" y="475454"/>
                </a:lnTo>
                <a:cubicBezTo>
                  <a:pt x="106434" y="475454"/>
                  <a:pt x="0" y="369020"/>
                  <a:pt x="0" y="237727"/>
                </a:cubicBezTo>
                <a:lnTo>
                  <a:pt x="0" y="237727"/>
                </a:lnTo>
                <a:cubicBezTo>
                  <a:pt x="0" y="106434"/>
                  <a:pt x="106434" y="0"/>
                  <a:pt x="237727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49912" y="1528245"/>
            <a:ext cx="58582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2017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29902" y="1426362"/>
            <a:ext cx="132447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29902" y="1698050"/>
            <a:ext cx="129051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Research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2565" y="2037660"/>
            <a:ext cx="5408290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"Attention is All You Need"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2565" y="2377270"/>
            <a:ext cx="5399799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Paper seminal que introduce el mecanismo de </a:t>
            </a:r>
            <a:pPr>
              <a:lnSpc>
                <a:spcPct val="14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atención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permitiendo a los modelos entender </a:t>
            </a:r>
            <a:pPr>
              <a:lnSpc>
                <a:spcPct val="14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relaciones lejanas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el texto de manera eficiente.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52565" y="3073471"/>
            <a:ext cx="5331877" cy="1324479"/>
          </a:xfrm>
          <a:custGeom>
            <a:avLst/>
            <a:gdLst/>
            <a:ahLst/>
            <a:cxnLst/>
            <a:rect l="l" t="t" r="r" b="b"/>
            <a:pathLst>
              <a:path w="5331877" h="1324479">
                <a:moveTo>
                  <a:pt x="67919" y="0"/>
                </a:moveTo>
                <a:lnTo>
                  <a:pt x="5263958" y="0"/>
                </a:lnTo>
                <a:cubicBezTo>
                  <a:pt x="5301469" y="0"/>
                  <a:pt x="5331877" y="30409"/>
                  <a:pt x="5331877" y="67919"/>
                </a:cubicBezTo>
                <a:lnTo>
                  <a:pt x="5331877" y="1256560"/>
                </a:lnTo>
                <a:cubicBezTo>
                  <a:pt x="5331877" y="1294071"/>
                  <a:pt x="5301469" y="1324479"/>
                  <a:pt x="5263958" y="1324479"/>
                </a:cubicBezTo>
                <a:lnTo>
                  <a:pt x="67919" y="1324479"/>
                </a:lnTo>
                <a:cubicBezTo>
                  <a:pt x="30409" y="1324479"/>
                  <a:pt x="0" y="1294071"/>
                  <a:pt x="0" y="1256560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88409" y="3209315"/>
            <a:ext cx="5128111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Innovación Clave: Mecanismo de Atención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12818" y="3548925"/>
            <a:ext cx="104006" cy="118864"/>
          </a:xfrm>
          <a:custGeom>
            <a:avLst/>
            <a:gdLst/>
            <a:ahLst/>
            <a:cxnLst/>
            <a:rect l="l" t="t" r="r" b="b"/>
            <a:pathLst>
              <a:path w="104006" h="118864">
                <a:moveTo>
                  <a:pt x="100941" y="16274"/>
                </a:moveTo>
                <a:cubicBezTo>
                  <a:pt x="104261" y="18689"/>
                  <a:pt x="105004" y="23332"/>
                  <a:pt x="102589" y="26651"/>
                </a:cubicBezTo>
                <a:lnTo>
                  <a:pt x="43158" y="108370"/>
                </a:lnTo>
                <a:cubicBezTo>
                  <a:pt x="41881" y="110134"/>
                  <a:pt x="39907" y="111226"/>
                  <a:pt x="37725" y="111411"/>
                </a:cubicBezTo>
                <a:cubicBezTo>
                  <a:pt x="35543" y="111597"/>
                  <a:pt x="33430" y="110785"/>
                  <a:pt x="31898" y="109252"/>
                </a:cubicBezTo>
                <a:lnTo>
                  <a:pt x="2182" y="79536"/>
                </a:lnTo>
                <a:cubicBezTo>
                  <a:pt x="-720" y="76634"/>
                  <a:pt x="-720" y="71922"/>
                  <a:pt x="2182" y="69020"/>
                </a:cubicBezTo>
                <a:cubicBezTo>
                  <a:pt x="5084" y="66118"/>
                  <a:pt x="9797" y="66118"/>
                  <a:pt x="12699" y="69020"/>
                </a:cubicBezTo>
                <a:lnTo>
                  <a:pt x="36263" y="92584"/>
                </a:lnTo>
                <a:lnTo>
                  <a:pt x="90587" y="17899"/>
                </a:lnTo>
                <a:cubicBezTo>
                  <a:pt x="93001" y="14579"/>
                  <a:pt x="97645" y="13836"/>
                  <a:pt x="100964" y="1625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6704910" y="3514964"/>
            <a:ext cx="378665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 toda la secuencia en paralelo (no secuencialmente)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12818" y="3820613"/>
            <a:ext cx="104006" cy="118864"/>
          </a:xfrm>
          <a:custGeom>
            <a:avLst/>
            <a:gdLst/>
            <a:ahLst/>
            <a:cxnLst/>
            <a:rect l="l" t="t" r="r" b="b"/>
            <a:pathLst>
              <a:path w="104006" h="118864">
                <a:moveTo>
                  <a:pt x="100941" y="16274"/>
                </a:moveTo>
                <a:cubicBezTo>
                  <a:pt x="104261" y="18689"/>
                  <a:pt x="105004" y="23332"/>
                  <a:pt x="102589" y="26651"/>
                </a:cubicBezTo>
                <a:lnTo>
                  <a:pt x="43158" y="108370"/>
                </a:lnTo>
                <a:cubicBezTo>
                  <a:pt x="41881" y="110134"/>
                  <a:pt x="39907" y="111226"/>
                  <a:pt x="37725" y="111411"/>
                </a:cubicBezTo>
                <a:cubicBezTo>
                  <a:pt x="35543" y="111597"/>
                  <a:pt x="33430" y="110785"/>
                  <a:pt x="31898" y="109252"/>
                </a:cubicBezTo>
                <a:lnTo>
                  <a:pt x="2182" y="79536"/>
                </a:lnTo>
                <a:cubicBezTo>
                  <a:pt x="-720" y="76634"/>
                  <a:pt x="-720" y="71922"/>
                  <a:pt x="2182" y="69020"/>
                </a:cubicBezTo>
                <a:cubicBezTo>
                  <a:pt x="5084" y="66118"/>
                  <a:pt x="9797" y="66118"/>
                  <a:pt x="12699" y="69020"/>
                </a:cubicBezTo>
                <a:lnTo>
                  <a:pt x="36263" y="92584"/>
                </a:lnTo>
                <a:lnTo>
                  <a:pt x="90587" y="17899"/>
                </a:lnTo>
                <a:cubicBezTo>
                  <a:pt x="93001" y="14579"/>
                  <a:pt x="97645" y="13836"/>
                  <a:pt x="100964" y="1625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6704910" y="3786652"/>
            <a:ext cx="351496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Captura dependencias de largo alcance eficientemente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12818" y="4092301"/>
            <a:ext cx="104006" cy="118864"/>
          </a:xfrm>
          <a:custGeom>
            <a:avLst/>
            <a:gdLst/>
            <a:ahLst/>
            <a:cxnLst/>
            <a:rect l="l" t="t" r="r" b="b"/>
            <a:pathLst>
              <a:path w="104006" h="118864">
                <a:moveTo>
                  <a:pt x="100941" y="16274"/>
                </a:moveTo>
                <a:cubicBezTo>
                  <a:pt x="104261" y="18689"/>
                  <a:pt x="105004" y="23332"/>
                  <a:pt x="102589" y="26651"/>
                </a:cubicBezTo>
                <a:lnTo>
                  <a:pt x="43158" y="108370"/>
                </a:lnTo>
                <a:cubicBezTo>
                  <a:pt x="41881" y="110134"/>
                  <a:pt x="39907" y="111226"/>
                  <a:pt x="37725" y="111411"/>
                </a:cubicBezTo>
                <a:cubicBezTo>
                  <a:pt x="35543" y="111597"/>
                  <a:pt x="33430" y="110785"/>
                  <a:pt x="31898" y="109252"/>
                </a:cubicBezTo>
                <a:lnTo>
                  <a:pt x="2182" y="79536"/>
                </a:lnTo>
                <a:cubicBezTo>
                  <a:pt x="-720" y="76634"/>
                  <a:pt x="-720" y="71922"/>
                  <a:pt x="2182" y="69020"/>
                </a:cubicBezTo>
                <a:cubicBezTo>
                  <a:pt x="5084" y="66118"/>
                  <a:pt x="9797" y="66118"/>
                  <a:pt x="12699" y="69020"/>
                </a:cubicBezTo>
                <a:lnTo>
                  <a:pt x="36263" y="92584"/>
                </a:lnTo>
                <a:lnTo>
                  <a:pt x="90587" y="17899"/>
                </a:lnTo>
                <a:cubicBezTo>
                  <a:pt x="93001" y="14579"/>
                  <a:pt x="97645" y="13836"/>
                  <a:pt x="100964" y="1625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6704910" y="4058340"/>
            <a:ext cx="282725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Escalable a miles de millones de parámetros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2565" y="4652657"/>
            <a:ext cx="5331877" cy="662240"/>
          </a:xfrm>
          <a:custGeom>
            <a:avLst/>
            <a:gdLst/>
            <a:ahLst/>
            <a:cxnLst/>
            <a:rect l="l" t="t" r="r" b="b"/>
            <a:pathLst>
              <a:path w="5331877" h="662240">
                <a:moveTo>
                  <a:pt x="67919" y="0"/>
                </a:moveTo>
                <a:lnTo>
                  <a:pt x="5263958" y="0"/>
                </a:lnTo>
                <a:cubicBezTo>
                  <a:pt x="5301469" y="0"/>
                  <a:pt x="5331877" y="30409"/>
                  <a:pt x="5331877" y="67919"/>
                </a:cubicBezTo>
                <a:lnTo>
                  <a:pt x="5331877" y="594320"/>
                </a:lnTo>
                <a:cubicBezTo>
                  <a:pt x="5331877" y="631831"/>
                  <a:pt x="5301469" y="662240"/>
                  <a:pt x="5263958" y="662240"/>
                </a:cubicBezTo>
                <a:lnTo>
                  <a:pt x="67919" y="662240"/>
                </a:lnTo>
                <a:cubicBezTo>
                  <a:pt x="30409" y="662240"/>
                  <a:pt x="0" y="631831"/>
                  <a:pt x="0" y="594320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54448" y="4754540"/>
            <a:ext cx="519603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Legado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54448" y="4992267"/>
            <a:ext cx="5196033" cy="220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de </a:t>
            </a:r>
            <a:pPr>
              <a:lnSpc>
                <a:spcPct val="140000"/>
              </a:lnSpc>
            </a:pPr>
            <a:r>
              <a:rPr lang="en-US" sz="107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todos los modelos actuales</a:t>
            </a:r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GPT, BERT, LLaMA, Grok, Claude, etc.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9610" y="5620546"/>
            <a:ext cx="3744201" cy="899967"/>
          </a:xfrm>
          <a:custGeom>
            <a:avLst/>
            <a:gdLst/>
            <a:ahLst/>
            <a:cxnLst/>
            <a:rect l="l" t="t" r="r" b="b"/>
            <a:pathLst>
              <a:path w="3744201" h="899967">
                <a:moveTo>
                  <a:pt x="101885" y="0"/>
                </a:moveTo>
                <a:lnTo>
                  <a:pt x="3642315" y="0"/>
                </a:lnTo>
                <a:cubicBezTo>
                  <a:pt x="3698585" y="0"/>
                  <a:pt x="3744201" y="45616"/>
                  <a:pt x="3744201" y="101885"/>
                </a:cubicBezTo>
                <a:lnTo>
                  <a:pt x="3744201" y="798081"/>
                </a:lnTo>
                <a:cubicBezTo>
                  <a:pt x="3744201" y="854351"/>
                  <a:pt x="3698585" y="899967"/>
                  <a:pt x="3642315" y="899967"/>
                </a:cubicBezTo>
                <a:lnTo>
                  <a:pt x="101885" y="899967"/>
                </a:lnTo>
                <a:cubicBezTo>
                  <a:pt x="45616" y="899967"/>
                  <a:pt x="0" y="854351"/>
                  <a:pt x="0" y="798081"/>
                </a:cubicBezTo>
                <a:lnTo>
                  <a:pt x="0" y="101885"/>
                </a:lnTo>
                <a:cubicBezTo>
                  <a:pt x="0" y="45653"/>
                  <a:pt x="45653" y="0"/>
                  <a:pt x="10188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07532" y="5722429"/>
            <a:ext cx="360835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Paradigma Anterior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07532" y="5960156"/>
            <a:ext cx="360835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RNN / LSTM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07532" y="6197883"/>
            <a:ext cx="360835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secuencial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27880" y="5624791"/>
            <a:ext cx="3735710" cy="891476"/>
          </a:xfrm>
          <a:custGeom>
            <a:avLst/>
            <a:gdLst/>
            <a:ahLst/>
            <a:cxnLst/>
            <a:rect l="l" t="t" r="r" b="b"/>
            <a:pathLst>
              <a:path w="3735710" h="891476">
                <a:moveTo>
                  <a:pt x="101887" y="0"/>
                </a:moveTo>
                <a:lnTo>
                  <a:pt x="3633823" y="0"/>
                </a:lnTo>
                <a:cubicBezTo>
                  <a:pt x="3690094" y="0"/>
                  <a:pt x="3735710" y="45616"/>
                  <a:pt x="3735710" y="101887"/>
                </a:cubicBezTo>
                <a:lnTo>
                  <a:pt x="3735710" y="789589"/>
                </a:lnTo>
                <a:cubicBezTo>
                  <a:pt x="3735710" y="845860"/>
                  <a:pt x="3690094" y="891476"/>
                  <a:pt x="3633823" y="891476"/>
                </a:cubicBezTo>
                <a:lnTo>
                  <a:pt x="101887" y="891476"/>
                </a:lnTo>
                <a:cubicBezTo>
                  <a:pt x="45616" y="891476"/>
                  <a:pt x="0" y="845860"/>
                  <a:pt x="0" y="789589"/>
                </a:cubicBezTo>
                <a:lnTo>
                  <a:pt x="0" y="101887"/>
                </a:lnTo>
                <a:cubicBezTo>
                  <a:pt x="0" y="45616"/>
                  <a:pt x="45616" y="0"/>
                  <a:pt x="101887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00047" y="5730919"/>
            <a:ext cx="359137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Nuevo Paradigma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300047" y="5968646"/>
            <a:ext cx="359137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300047" y="6206373"/>
            <a:ext cx="359137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Procesamiento paralelo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07791" y="5620546"/>
            <a:ext cx="3744201" cy="899967"/>
          </a:xfrm>
          <a:custGeom>
            <a:avLst/>
            <a:gdLst/>
            <a:ahLst/>
            <a:cxnLst/>
            <a:rect l="l" t="t" r="r" b="b"/>
            <a:pathLst>
              <a:path w="3744201" h="899967">
                <a:moveTo>
                  <a:pt x="101885" y="0"/>
                </a:moveTo>
                <a:lnTo>
                  <a:pt x="3642315" y="0"/>
                </a:lnTo>
                <a:cubicBezTo>
                  <a:pt x="3698585" y="0"/>
                  <a:pt x="3744201" y="45616"/>
                  <a:pt x="3744201" y="101885"/>
                </a:cubicBezTo>
                <a:lnTo>
                  <a:pt x="3744201" y="798081"/>
                </a:lnTo>
                <a:cubicBezTo>
                  <a:pt x="3744201" y="854351"/>
                  <a:pt x="3698585" y="899967"/>
                  <a:pt x="3642315" y="899967"/>
                </a:cubicBezTo>
                <a:lnTo>
                  <a:pt x="101885" y="899967"/>
                </a:lnTo>
                <a:cubicBezTo>
                  <a:pt x="45616" y="899967"/>
                  <a:pt x="0" y="854351"/>
                  <a:pt x="0" y="798081"/>
                </a:cubicBezTo>
                <a:lnTo>
                  <a:pt x="0" y="101885"/>
                </a:lnTo>
                <a:cubicBezTo>
                  <a:pt x="0" y="45653"/>
                  <a:pt x="45653" y="0"/>
                  <a:pt x="10188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175713" y="5722429"/>
            <a:ext cx="360835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Ventaja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75713" y="5960156"/>
            <a:ext cx="360835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100x más rápido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75713" y="6197883"/>
            <a:ext cx="3608357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Entrenamiento escalable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spc="11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2018-2021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626570"/>
            <a:ext cx="11704668" cy="41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9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OpenAI Escala el Concepto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094" y="1148711"/>
            <a:ext cx="835426" cy="34809"/>
          </a:xfrm>
          <a:custGeom>
            <a:avLst/>
            <a:gdLst/>
            <a:ahLst/>
            <a:cxnLst/>
            <a:rect l="l" t="t" r="r" b="b"/>
            <a:pathLst>
              <a:path w="835426" h="34809">
                <a:moveTo>
                  <a:pt x="0" y="0"/>
                </a:moveTo>
                <a:lnTo>
                  <a:pt x="835426" y="0"/>
                </a:lnTo>
                <a:lnTo>
                  <a:pt x="835426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48094" y="1340163"/>
            <a:ext cx="2741242" cy="3063229"/>
          </a:xfrm>
          <a:custGeom>
            <a:avLst/>
            <a:gdLst/>
            <a:ahLst/>
            <a:cxnLst/>
            <a:rect l="l" t="t" r="r" b="b"/>
            <a:pathLst>
              <a:path w="2741242" h="3063229">
                <a:moveTo>
                  <a:pt x="34809" y="0"/>
                </a:moveTo>
                <a:lnTo>
                  <a:pt x="2706433" y="0"/>
                </a:lnTo>
                <a:cubicBezTo>
                  <a:pt x="2725657" y="0"/>
                  <a:pt x="2741242" y="15585"/>
                  <a:pt x="2741242" y="34809"/>
                </a:cubicBezTo>
                <a:lnTo>
                  <a:pt x="2741242" y="2958788"/>
                </a:lnTo>
                <a:cubicBezTo>
                  <a:pt x="2741242" y="3016469"/>
                  <a:pt x="2694482" y="3063229"/>
                  <a:pt x="2636801" y="3063229"/>
                </a:cubicBezTo>
                <a:lnTo>
                  <a:pt x="104441" y="3063229"/>
                </a:lnTo>
                <a:cubicBezTo>
                  <a:pt x="46760" y="3063229"/>
                  <a:pt x="0" y="3016469"/>
                  <a:pt x="0" y="2958788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48094" y="1340163"/>
            <a:ext cx="2741242" cy="34809"/>
          </a:xfrm>
          <a:custGeom>
            <a:avLst/>
            <a:gdLst/>
            <a:ahLst/>
            <a:cxnLst/>
            <a:rect l="l" t="t" r="r" b="b"/>
            <a:pathLst>
              <a:path w="2741242" h="34809">
                <a:moveTo>
                  <a:pt x="34809" y="0"/>
                </a:moveTo>
                <a:lnTo>
                  <a:pt x="2706433" y="0"/>
                </a:lnTo>
                <a:cubicBezTo>
                  <a:pt x="2725657" y="0"/>
                  <a:pt x="2741242" y="15585"/>
                  <a:pt x="2741242" y="34809"/>
                </a:cubicBezTo>
                <a:lnTo>
                  <a:pt x="2741242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487332" y="1496805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0731" y="1583829"/>
            <a:ext cx="49603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2018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9473" y="1583829"/>
            <a:ext cx="60046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GPT-1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7332" y="2371392"/>
            <a:ext cx="2462767" cy="8702"/>
          </a:xfrm>
          <a:custGeom>
            <a:avLst/>
            <a:gdLst/>
            <a:ahLst/>
            <a:cxnLst/>
            <a:rect l="l" t="t" r="r" b="b"/>
            <a:pathLst>
              <a:path w="2462767" h="8702">
                <a:moveTo>
                  <a:pt x="0" y="0"/>
                </a:moveTo>
                <a:lnTo>
                  <a:pt x="2462767" y="0"/>
                </a:lnTo>
                <a:lnTo>
                  <a:pt x="2462767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1" name="Text 9"/>
          <p:cNvSpPr/>
          <p:nvPr/>
        </p:nvSpPr>
        <p:spPr>
          <a:xfrm>
            <a:off x="487332" y="2088565"/>
            <a:ext cx="80061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43069" y="2088565"/>
            <a:ext cx="37420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117M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7332" y="2797807"/>
            <a:ext cx="2462767" cy="8702"/>
          </a:xfrm>
          <a:custGeom>
            <a:avLst/>
            <a:gdLst/>
            <a:ahLst/>
            <a:cxnLst/>
            <a:rect l="l" t="t" r="r" b="b"/>
            <a:pathLst>
              <a:path w="2462767" h="8702">
                <a:moveTo>
                  <a:pt x="0" y="0"/>
                </a:moveTo>
                <a:lnTo>
                  <a:pt x="2462767" y="0"/>
                </a:lnTo>
                <a:lnTo>
                  <a:pt x="2462767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32" y="2514981"/>
            <a:ext cx="46122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13172" y="2514981"/>
            <a:ext cx="20015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7332" y="2941396"/>
            <a:ext cx="56565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67022" y="2941396"/>
            <a:ext cx="85283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BookCorpus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7332" y="3324300"/>
            <a:ext cx="2532385" cy="67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 modelo GPT, demuestra el poder del </a:t>
            </a:r>
            <a:pPr>
              <a:lnSpc>
                <a:spcPct val="14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pre-entrenamiento no supervisado</a:t>
            </a:r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seguido de ajuste fino.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24631" y="1340163"/>
            <a:ext cx="2741242" cy="3063229"/>
          </a:xfrm>
          <a:custGeom>
            <a:avLst/>
            <a:gdLst/>
            <a:ahLst/>
            <a:cxnLst/>
            <a:rect l="l" t="t" r="r" b="b"/>
            <a:pathLst>
              <a:path w="2741242" h="3063229">
                <a:moveTo>
                  <a:pt x="34809" y="0"/>
                </a:moveTo>
                <a:lnTo>
                  <a:pt x="2706433" y="0"/>
                </a:lnTo>
                <a:cubicBezTo>
                  <a:pt x="2725657" y="0"/>
                  <a:pt x="2741242" y="15585"/>
                  <a:pt x="2741242" y="34809"/>
                </a:cubicBezTo>
                <a:lnTo>
                  <a:pt x="2741242" y="2958788"/>
                </a:lnTo>
                <a:cubicBezTo>
                  <a:pt x="2741242" y="3016469"/>
                  <a:pt x="2694482" y="3063229"/>
                  <a:pt x="2636801" y="3063229"/>
                </a:cubicBezTo>
                <a:lnTo>
                  <a:pt x="104441" y="3063229"/>
                </a:lnTo>
                <a:cubicBezTo>
                  <a:pt x="46760" y="3063229"/>
                  <a:pt x="0" y="3016469"/>
                  <a:pt x="0" y="2958788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3224631" y="1340163"/>
            <a:ext cx="2741242" cy="34809"/>
          </a:xfrm>
          <a:custGeom>
            <a:avLst/>
            <a:gdLst/>
            <a:ahLst/>
            <a:cxnLst/>
            <a:rect l="l" t="t" r="r" b="b"/>
            <a:pathLst>
              <a:path w="2741242" h="34809">
                <a:moveTo>
                  <a:pt x="34809" y="0"/>
                </a:moveTo>
                <a:lnTo>
                  <a:pt x="2706433" y="0"/>
                </a:lnTo>
                <a:cubicBezTo>
                  <a:pt x="2725657" y="0"/>
                  <a:pt x="2741242" y="15585"/>
                  <a:pt x="2741242" y="34809"/>
                </a:cubicBezTo>
                <a:lnTo>
                  <a:pt x="2741242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3363868" y="1496805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67268" y="1583829"/>
            <a:ext cx="49603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2019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86010" y="1583829"/>
            <a:ext cx="60046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GPT-2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63868" y="2371392"/>
            <a:ext cx="2462767" cy="8702"/>
          </a:xfrm>
          <a:custGeom>
            <a:avLst/>
            <a:gdLst/>
            <a:ahLst/>
            <a:cxnLst/>
            <a:rect l="l" t="t" r="r" b="b"/>
            <a:pathLst>
              <a:path w="2462767" h="8702">
                <a:moveTo>
                  <a:pt x="0" y="0"/>
                </a:moveTo>
                <a:lnTo>
                  <a:pt x="2462767" y="0"/>
                </a:lnTo>
                <a:lnTo>
                  <a:pt x="2462767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5" name="Text 23"/>
          <p:cNvSpPr/>
          <p:nvPr/>
        </p:nvSpPr>
        <p:spPr>
          <a:xfrm>
            <a:off x="3363868" y="2088565"/>
            <a:ext cx="80061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56182" y="2088565"/>
            <a:ext cx="33939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1.5B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63868" y="2797807"/>
            <a:ext cx="2462767" cy="8702"/>
          </a:xfrm>
          <a:custGeom>
            <a:avLst/>
            <a:gdLst/>
            <a:ahLst/>
            <a:cxnLst/>
            <a:rect l="l" t="t" r="r" b="b"/>
            <a:pathLst>
              <a:path w="2462767" h="8702">
                <a:moveTo>
                  <a:pt x="0" y="0"/>
                </a:moveTo>
                <a:lnTo>
                  <a:pt x="2462767" y="0"/>
                </a:lnTo>
                <a:lnTo>
                  <a:pt x="2462767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28" name="Text 26"/>
          <p:cNvSpPr/>
          <p:nvPr/>
        </p:nvSpPr>
        <p:spPr>
          <a:xfrm>
            <a:off x="3363868" y="2514981"/>
            <a:ext cx="46122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54219" y="2514981"/>
            <a:ext cx="23496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63868" y="2941396"/>
            <a:ext cx="56565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2687" y="2941396"/>
            <a:ext cx="64397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WebText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63868" y="3324300"/>
            <a:ext cx="2532385" cy="67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 inicialmente </a:t>
            </a:r>
            <a:pPr>
              <a:lnSpc>
                <a:spcPct val="14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libera el modelo completo</a:t>
            </a:r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por preocupaciones éticas sobre generación de fake news.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01167" y="1340163"/>
            <a:ext cx="2741242" cy="3063229"/>
          </a:xfrm>
          <a:custGeom>
            <a:avLst/>
            <a:gdLst/>
            <a:ahLst/>
            <a:cxnLst/>
            <a:rect l="l" t="t" r="r" b="b"/>
            <a:pathLst>
              <a:path w="2741242" h="3063229">
                <a:moveTo>
                  <a:pt x="34809" y="0"/>
                </a:moveTo>
                <a:lnTo>
                  <a:pt x="2706433" y="0"/>
                </a:lnTo>
                <a:cubicBezTo>
                  <a:pt x="2725657" y="0"/>
                  <a:pt x="2741242" y="15585"/>
                  <a:pt x="2741242" y="34809"/>
                </a:cubicBezTo>
                <a:lnTo>
                  <a:pt x="2741242" y="2958788"/>
                </a:lnTo>
                <a:cubicBezTo>
                  <a:pt x="2741242" y="3016469"/>
                  <a:pt x="2694482" y="3063229"/>
                  <a:pt x="2636801" y="3063229"/>
                </a:cubicBezTo>
                <a:lnTo>
                  <a:pt x="104441" y="3063229"/>
                </a:lnTo>
                <a:cubicBezTo>
                  <a:pt x="46760" y="3063229"/>
                  <a:pt x="0" y="3016469"/>
                  <a:pt x="0" y="2958788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6101167" y="1340163"/>
            <a:ext cx="2741242" cy="34809"/>
          </a:xfrm>
          <a:custGeom>
            <a:avLst/>
            <a:gdLst/>
            <a:ahLst/>
            <a:cxnLst/>
            <a:rect l="l" t="t" r="r" b="b"/>
            <a:pathLst>
              <a:path w="2741242" h="34809">
                <a:moveTo>
                  <a:pt x="34809" y="0"/>
                </a:moveTo>
                <a:lnTo>
                  <a:pt x="2706433" y="0"/>
                </a:lnTo>
                <a:cubicBezTo>
                  <a:pt x="2725657" y="0"/>
                  <a:pt x="2741242" y="15585"/>
                  <a:pt x="2741242" y="34809"/>
                </a:cubicBezTo>
                <a:lnTo>
                  <a:pt x="2741242" y="34809"/>
                </a:lnTo>
                <a:lnTo>
                  <a:pt x="0" y="34809"/>
                </a:ln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0405" y="1496805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208857" y="0"/>
                </a:moveTo>
                <a:lnTo>
                  <a:pt x="208857" y="0"/>
                </a:lnTo>
                <a:cubicBezTo>
                  <a:pt x="324128" y="0"/>
                  <a:pt x="417713" y="93585"/>
                  <a:pt x="417713" y="208857"/>
                </a:cubicBezTo>
                <a:lnTo>
                  <a:pt x="417713" y="208857"/>
                </a:lnTo>
                <a:cubicBezTo>
                  <a:pt x="417713" y="324128"/>
                  <a:pt x="324128" y="417713"/>
                  <a:pt x="208857" y="417713"/>
                </a:cubicBezTo>
                <a:lnTo>
                  <a:pt x="208857" y="417713"/>
                </a:lnTo>
                <a:cubicBezTo>
                  <a:pt x="93585" y="417713"/>
                  <a:pt x="0" y="324128"/>
                  <a:pt x="0" y="208857"/>
                </a:cubicBezTo>
                <a:lnTo>
                  <a:pt x="0" y="208857"/>
                </a:lnTo>
                <a:cubicBezTo>
                  <a:pt x="0" y="93585"/>
                  <a:pt x="93585" y="0"/>
                  <a:pt x="208857" y="0"/>
                </a:cubicBezTo>
                <a:close/>
              </a:path>
            </a:pathLst>
          </a:custGeom>
          <a:solidFill>
            <a:srgbClr val="00B4D8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43804" y="1583829"/>
            <a:ext cx="49603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62546" y="1583829"/>
            <a:ext cx="60046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GPT-3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40405" y="2406201"/>
            <a:ext cx="2462767" cy="8702"/>
          </a:xfrm>
          <a:custGeom>
            <a:avLst/>
            <a:gdLst/>
            <a:ahLst/>
            <a:cxnLst/>
            <a:rect l="l" t="t" r="r" b="b"/>
            <a:pathLst>
              <a:path w="2462767" h="8702">
                <a:moveTo>
                  <a:pt x="0" y="0"/>
                </a:moveTo>
                <a:lnTo>
                  <a:pt x="2462767" y="0"/>
                </a:lnTo>
                <a:lnTo>
                  <a:pt x="2462767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39" name="Text 37"/>
          <p:cNvSpPr/>
          <p:nvPr/>
        </p:nvSpPr>
        <p:spPr>
          <a:xfrm>
            <a:off x="6240405" y="2105970"/>
            <a:ext cx="80061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Parámetros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59564" y="2088565"/>
            <a:ext cx="41771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175B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40405" y="2832617"/>
            <a:ext cx="2462767" cy="8702"/>
          </a:xfrm>
          <a:custGeom>
            <a:avLst/>
            <a:gdLst/>
            <a:ahLst/>
            <a:cxnLst/>
            <a:rect l="l" t="t" r="r" b="b"/>
            <a:pathLst>
              <a:path w="2462767" h="8702">
                <a:moveTo>
                  <a:pt x="0" y="0"/>
                </a:moveTo>
                <a:lnTo>
                  <a:pt x="2462767" y="0"/>
                </a:lnTo>
                <a:lnTo>
                  <a:pt x="2462767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  <a:ln/>
        </p:spPr>
      </p:sp>
      <p:sp>
        <p:nvSpPr>
          <p:cNvPr id="42" name="Text 40"/>
          <p:cNvSpPr/>
          <p:nvPr/>
        </p:nvSpPr>
        <p:spPr>
          <a:xfrm>
            <a:off x="6240405" y="2549790"/>
            <a:ext cx="46122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32796" y="2549790"/>
            <a:ext cx="23496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40405" y="2976206"/>
            <a:ext cx="56565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62479" y="2976206"/>
            <a:ext cx="504737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570GB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240405" y="3359109"/>
            <a:ext cx="2532385" cy="905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Salto cualitativo masivo</a:t>
            </a:r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Demuestra que escalar modelo + datos + cómputo produce resultados sorprendentes.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65499" y="4542630"/>
            <a:ext cx="4159726" cy="2088565"/>
          </a:xfrm>
          <a:custGeom>
            <a:avLst/>
            <a:gdLst/>
            <a:ahLst/>
            <a:cxnLst/>
            <a:rect l="l" t="t" r="r" b="b"/>
            <a:pathLst>
              <a:path w="4159726" h="2088565">
                <a:moveTo>
                  <a:pt x="34809" y="0"/>
                </a:moveTo>
                <a:lnTo>
                  <a:pt x="4055298" y="0"/>
                </a:lnTo>
                <a:cubicBezTo>
                  <a:pt x="4112972" y="0"/>
                  <a:pt x="4159726" y="46754"/>
                  <a:pt x="4159726" y="104428"/>
                </a:cubicBezTo>
                <a:lnTo>
                  <a:pt x="4159726" y="1984137"/>
                </a:lnTo>
                <a:cubicBezTo>
                  <a:pt x="4159726" y="2041811"/>
                  <a:pt x="4112972" y="2088565"/>
                  <a:pt x="4055298" y="2088565"/>
                </a:cubicBezTo>
                <a:lnTo>
                  <a:pt x="34809" y="2088565"/>
                </a:lnTo>
                <a:cubicBezTo>
                  <a:pt x="15585" y="2088565"/>
                  <a:pt x="0" y="2072981"/>
                  <a:pt x="0" y="2053756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8" name="Shape 46"/>
          <p:cNvSpPr/>
          <p:nvPr/>
        </p:nvSpPr>
        <p:spPr>
          <a:xfrm>
            <a:off x="365499" y="4542630"/>
            <a:ext cx="34809" cy="2088565"/>
          </a:xfrm>
          <a:custGeom>
            <a:avLst/>
            <a:gdLst/>
            <a:ahLst/>
            <a:cxnLst/>
            <a:rect l="l" t="t" r="r" b="b"/>
            <a:pathLst>
              <a:path w="34809" h="2088565">
                <a:moveTo>
                  <a:pt x="34809" y="0"/>
                </a:moveTo>
                <a:lnTo>
                  <a:pt x="34809" y="0"/>
                </a:lnTo>
                <a:lnTo>
                  <a:pt x="34809" y="2088565"/>
                </a:lnTo>
                <a:lnTo>
                  <a:pt x="34809" y="2088565"/>
                </a:lnTo>
                <a:cubicBezTo>
                  <a:pt x="15585" y="2088565"/>
                  <a:pt x="0" y="2072981"/>
                  <a:pt x="0" y="2053756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9" name="Shape 47"/>
          <p:cNvSpPr/>
          <p:nvPr/>
        </p:nvSpPr>
        <p:spPr>
          <a:xfrm>
            <a:off x="561302" y="4699272"/>
            <a:ext cx="182749" cy="208857"/>
          </a:xfrm>
          <a:custGeom>
            <a:avLst/>
            <a:gdLst/>
            <a:ahLst/>
            <a:cxnLst/>
            <a:rect l="l" t="t" r="r" b="b"/>
            <a:pathLst>
              <a:path w="182749" h="208857">
                <a:moveTo>
                  <a:pt x="26107" y="13054"/>
                </a:moveTo>
                <a:cubicBezTo>
                  <a:pt x="11707" y="13054"/>
                  <a:pt x="0" y="24761"/>
                  <a:pt x="0" y="39161"/>
                </a:cubicBezTo>
                <a:lnTo>
                  <a:pt x="0" y="169696"/>
                </a:lnTo>
                <a:cubicBezTo>
                  <a:pt x="0" y="184096"/>
                  <a:pt x="11707" y="195803"/>
                  <a:pt x="26107" y="195803"/>
                </a:cubicBezTo>
                <a:lnTo>
                  <a:pt x="156642" y="195803"/>
                </a:lnTo>
                <a:cubicBezTo>
                  <a:pt x="171042" y="195803"/>
                  <a:pt x="182749" y="184096"/>
                  <a:pt x="182749" y="169696"/>
                </a:cubicBezTo>
                <a:lnTo>
                  <a:pt x="182749" y="39161"/>
                </a:lnTo>
                <a:cubicBezTo>
                  <a:pt x="182749" y="24761"/>
                  <a:pt x="171042" y="13054"/>
                  <a:pt x="156642" y="13054"/>
                </a:cubicBezTo>
                <a:lnTo>
                  <a:pt x="26107" y="13054"/>
                </a:lnTo>
                <a:close/>
                <a:moveTo>
                  <a:pt x="52214" y="45687"/>
                </a:moveTo>
                <a:cubicBezTo>
                  <a:pt x="63021" y="45687"/>
                  <a:pt x="71794" y="54461"/>
                  <a:pt x="71794" y="65268"/>
                </a:cubicBezTo>
                <a:cubicBezTo>
                  <a:pt x="71794" y="76074"/>
                  <a:pt x="63021" y="84848"/>
                  <a:pt x="52214" y="84848"/>
                </a:cubicBezTo>
                <a:cubicBezTo>
                  <a:pt x="41407" y="84848"/>
                  <a:pt x="32634" y="76074"/>
                  <a:pt x="32634" y="65268"/>
                </a:cubicBezTo>
                <a:cubicBezTo>
                  <a:pt x="32634" y="54461"/>
                  <a:pt x="41407" y="45687"/>
                  <a:pt x="52214" y="45687"/>
                </a:cubicBezTo>
                <a:close/>
                <a:moveTo>
                  <a:pt x="110955" y="91375"/>
                </a:moveTo>
                <a:cubicBezTo>
                  <a:pt x="114382" y="91375"/>
                  <a:pt x="117523" y="93170"/>
                  <a:pt x="119317" y="96066"/>
                </a:cubicBezTo>
                <a:lnTo>
                  <a:pt x="155215" y="154807"/>
                </a:lnTo>
                <a:cubicBezTo>
                  <a:pt x="157050" y="157825"/>
                  <a:pt x="157132" y="161619"/>
                  <a:pt x="155419" y="164719"/>
                </a:cubicBezTo>
                <a:cubicBezTo>
                  <a:pt x="153705" y="167819"/>
                  <a:pt x="150401" y="169696"/>
                  <a:pt x="146852" y="169696"/>
                </a:cubicBezTo>
                <a:lnTo>
                  <a:pt x="35897" y="169696"/>
                </a:lnTo>
                <a:cubicBezTo>
                  <a:pt x="32267" y="169696"/>
                  <a:pt x="28881" y="167656"/>
                  <a:pt x="27208" y="164434"/>
                </a:cubicBezTo>
                <a:cubicBezTo>
                  <a:pt x="25536" y="161211"/>
                  <a:pt x="25781" y="157295"/>
                  <a:pt x="27861" y="154317"/>
                </a:cubicBezTo>
                <a:lnTo>
                  <a:pt x="50705" y="121683"/>
                </a:lnTo>
                <a:cubicBezTo>
                  <a:pt x="52540" y="119073"/>
                  <a:pt x="55518" y="117523"/>
                  <a:pt x="58741" y="117523"/>
                </a:cubicBezTo>
                <a:cubicBezTo>
                  <a:pt x="61963" y="117523"/>
                  <a:pt x="64941" y="119073"/>
                  <a:pt x="66777" y="121683"/>
                </a:cubicBezTo>
                <a:lnTo>
                  <a:pt x="77546" y="137103"/>
                </a:lnTo>
                <a:lnTo>
                  <a:pt x="102593" y="96107"/>
                </a:lnTo>
                <a:cubicBezTo>
                  <a:pt x="104387" y="93210"/>
                  <a:pt x="107528" y="91416"/>
                  <a:pt x="110955" y="9141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887640" y="4681867"/>
            <a:ext cx="163604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DALL·E v1 (2020)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22141" y="5029961"/>
            <a:ext cx="3933465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Primeros modelos </a:t>
            </a:r>
            <a:pPr>
              <a:lnSpc>
                <a:spcPct val="14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→ imagen</a:t>
            </a:r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 OpenAI. Capaz de generar imágenes a partir de descripciones textuales.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2141" y="5586912"/>
            <a:ext cx="3863846" cy="905045"/>
          </a:xfrm>
          <a:custGeom>
            <a:avLst/>
            <a:gdLst/>
            <a:ahLst/>
            <a:cxnLst/>
            <a:rect l="l" t="t" r="r" b="b"/>
            <a:pathLst>
              <a:path w="3863846" h="905045">
                <a:moveTo>
                  <a:pt x="69616" y="0"/>
                </a:moveTo>
                <a:lnTo>
                  <a:pt x="3794230" y="0"/>
                </a:lnTo>
                <a:cubicBezTo>
                  <a:pt x="3832652" y="0"/>
                  <a:pt x="3863846" y="31194"/>
                  <a:pt x="3863846" y="69616"/>
                </a:cubicBezTo>
                <a:lnTo>
                  <a:pt x="3863846" y="835429"/>
                </a:lnTo>
                <a:cubicBezTo>
                  <a:pt x="3863846" y="873877"/>
                  <a:pt x="3832678" y="905045"/>
                  <a:pt x="3794230" y="905045"/>
                </a:cubicBezTo>
                <a:lnTo>
                  <a:pt x="69616" y="905045"/>
                </a:lnTo>
                <a:cubicBezTo>
                  <a:pt x="31194" y="905045"/>
                  <a:pt x="0" y="873851"/>
                  <a:pt x="0" y="835429"/>
                </a:cubicBezTo>
                <a:lnTo>
                  <a:pt x="0" y="69616"/>
                </a:lnTo>
                <a:cubicBezTo>
                  <a:pt x="0" y="31168"/>
                  <a:pt x="31168" y="0"/>
                  <a:pt x="69616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26570" y="5691340"/>
            <a:ext cx="372460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6570" y="5935006"/>
            <a:ext cx="3724608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Combina GPT-3 para entender texto con VQ-VAE para generar imágenes coherentes.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680372" y="4542630"/>
            <a:ext cx="4159726" cy="2088565"/>
          </a:xfrm>
          <a:custGeom>
            <a:avLst/>
            <a:gdLst/>
            <a:ahLst/>
            <a:cxnLst/>
            <a:rect l="l" t="t" r="r" b="b"/>
            <a:pathLst>
              <a:path w="4159726" h="2088565">
                <a:moveTo>
                  <a:pt x="34809" y="0"/>
                </a:moveTo>
                <a:lnTo>
                  <a:pt x="4055298" y="0"/>
                </a:lnTo>
                <a:cubicBezTo>
                  <a:pt x="4112972" y="0"/>
                  <a:pt x="4159726" y="46754"/>
                  <a:pt x="4159726" y="104428"/>
                </a:cubicBezTo>
                <a:lnTo>
                  <a:pt x="4159726" y="1984137"/>
                </a:lnTo>
                <a:cubicBezTo>
                  <a:pt x="4159726" y="2041811"/>
                  <a:pt x="4112972" y="2088565"/>
                  <a:pt x="4055298" y="2088565"/>
                </a:cubicBezTo>
                <a:lnTo>
                  <a:pt x="34809" y="2088565"/>
                </a:lnTo>
                <a:cubicBezTo>
                  <a:pt x="15585" y="2088565"/>
                  <a:pt x="0" y="2072981"/>
                  <a:pt x="0" y="2053756"/>
                </a:cubicBezTo>
                <a:lnTo>
                  <a:pt x="0" y="34809"/>
                </a:lnTo>
                <a:cubicBezTo>
                  <a:pt x="0" y="15585"/>
                  <a:pt x="15585" y="0"/>
                  <a:pt x="3480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6" name="Shape 54"/>
          <p:cNvSpPr/>
          <p:nvPr/>
        </p:nvSpPr>
        <p:spPr>
          <a:xfrm>
            <a:off x="4680372" y="4542630"/>
            <a:ext cx="34809" cy="2088565"/>
          </a:xfrm>
          <a:custGeom>
            <a:avLst/>
            <a:gdLst/>
            <a:ahLst/>
            <a:cxnLst/>
            <a:rect l="l" t="t" r="r" b="b"/>
            <a:pathLst>
              <a:path w="34809" h="2088565">
                <a:moveTo>
                  <a:pt x="34809" y="0"/>
                </a:moveTo>
                <a:lnTo>
                  <a:pt x="34809" y="0"/>
                </a:lnTo>
                <a:lnTo>
                  <a:pt x="34809" y="2088565"/>
                </a:lnTo>
                <a:lnTo>
                  <a:pt x="34809" y="2088565"/>
                </a:lnTo>
                <a:cubicBezTo>
                  <a:pt x="15585" y="2088565"/>
                  <a:pt x="0" y="2072981"/>
                  <a:pt x="0" y="2053756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7" name="Shape 55"/>
          <p:cNvSpPr/>
          <p:nvPr/>
        </p:nvSpPr>
        <p:spPr>
          <a:xfrm>
            <a:off x="4850067" y="4699272"/>
            <a:ext cx="234964" cy="208857"/>
          </a:xfrm>
          <a:custGeom>
            <a:avLst/>
            <a:gdLst/>
            <a:ahLst/>
            <a:cxnLst/>
            <a:rect l="l" t="t" r="r" b="b"/>
            <a:pathLst>
              <a:path w="234964" h="208857">
                <a:moveTo>
                  <a:pt x="117482" y="13054"/>
                </a:moveTo>
                <a:cubicBezTo>
                  <a:pt x="84522" y="13054"/>
                  <a:pt x="58129" y="28065"/>
                  <a:pt x="38916" y="45932"/>
                </a:cubicBezTo>
                <a:cubicBezTo>
                  <a:pt x="19825" y="63677"/>
                  <a:pt x="7057" y="84848"/>
                  <a:pt x="979" y="99411"/>
                </a:cubicBezTo>
                <a:cubicBezTo>
                  <a:pt x="-367" y="102633"/>
                  <a:pt x="-367" y="106223"/>
                  <a:pt x="979" y="109446"/>
                </a:cubicBezTo>
                <a:cubicBezTo>
                  <a:pt x="7057" y="124009"/>
                  <a:pt x="19825" y="145221"/>
                  <a:pt x="38916" y="162924"/>
                </a:cubicBezTo>
                <a:cubicBezTo>
                  <a:pt x="58129" y="180751"/>
                  <a:pt x="84522" y="195803"/>
                  <a:pt x="117482" y="195803"/>
                </a:cubicBezTo>
                <a:cubicBezTo>
                  <a:pt x="150442" y="195803"/>
                  <a:pt x="176835" y="180791"/>
                  <a:pt x="196048" y="162924"/>
                </a:cubicBezTo>
                <a:cubicBezTo>
                  <a:pt x="215139" y="145180"/>
                  <a:pt x="227907" y="124009"/>
                  <a:pt x="233985" y="109446"/>
                </a:cubicBezTo>
                <a:cubicBezTo>
                  <a:pt x="235331" y="106223"/>
                  <a:pt x="235331" y="102633"/>
                  <a:pt x="233985" y="99411"/>
                </a:cubicBezTo>
                <a:cubicBezTo>
                  <a:pt x="227907" y="84848"/>
                  <a:pt x="215139" y="63636"/>
                  <a:pt x="196048" y="45932"/>
                </a:cubicBezTo>
                <a:cubicBezTo>
                  <a:pt x="176835" y="28106"/>
                  <a:pt x="150442" y="13054"/>
                  <a:pt x="117482" y="13054"/>
                </a:cubicBezTo>
                <a:close/>
                <a:moveTo>
                  <a:pt x="58741" y="104428"/>
                </a:moveTo>
                <a:cubicBezTo>
                  <a:pt x="58741" y="72008"/>
                  <a:pt x="85062" y="45687"/>
                  <a:pt x="117482" y="45687"/>
                </a:cubicBezTo>
                <a:cubicBezTo>
                  <a:pt x="149902" y="45687"/>
                  <a:pt x="176223" y="72008"/>
                  <a:pt x="176223" y="104428"/>
                </a:cubicBezTo>
                <a:cubicBezTo>
                  <a:pt x="176223" y="136848"/>
                  <a:pt x="149902" y="163169"/>
                  <a:pt x="117482" y="163169"/>
                </a:cubicBezTo>
                <a:cubicBezTo>
                  <a:pt x="85062" y="163169"/>
                  <a:pt x="58741" y="136848"/>
                  <a:pt x="58741" y="104428"/>
                </a:cubicBezTo>
                <a:close/>
                <a:moveTo>
                  <a:pt x="117482" y="78321"/>
                </a:moveTo>
                <a:cubicBezTo>
                  <a:pt x="117482" y="92721"/>
                  <a:pt x="105774" y="104428"/>
                  <a:pt x="91375" y="104428"/>
                </a:cubicBezTo>
                <a:cubicBezTo>
                  <a:pt x="86684" y="104428"/>
                  <a:pt x="82278" y="103204"/>
                  <a:pt x="78444" y="101002"/>
                </a:cubicBezTo>
                <a:cubicBezTo>
                  <a:pt x="78036" y="105448"/>
                  <a:pt x="78403" y="110017"/>
                  <a:pt x="79627" y="114545"/>
                </a:cubicBezTo>
                <a:cubicBezTo>
                  <a:pt x="85215" y="135430"/>
                  <a:pt x="106713" y="147831"/>
                  <a:pt x="127598" y="142243"/>
                </a:cubicBezTo>
                <a:cubicBezTo>
                  <a:pt x="148484" y="136654"/>
                  <a:pt x="160885" y="115157"/>
                  <a:pt x="155296" y="94271"/>
                </a:cubicBezTo>
                <a:cubicBezTo>
                  <a:pt x="150320" y="75629"/>
                  <a:pt x="132657" y="63758"/>
                  <a:pt x="114055" y="65390"/>
                </a:cubicBezTo>
                <a:cubicBezTo>
                  <a:pt x="116217" y="69184"/>
                  <a:pt x="117482" y="73589"/>
                  <a:pt x="117482" y="7832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5202513" y="4681867"/>
            <a:ext cx="194932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DALL·E + CLIP (2021)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837014" y="5029961"/>
            <a:ext cx="3933465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Generación de </a:t>
            </a:r>
            <a:pPr>
              <a:lnSpc>
                <a:spcPct val="14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a imagen de calidad</a:t>
            </a:r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CLIP entiende relaciones entre imágenes y texto.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837014" y="5586912"/>
            <a:ext cx="3863846" cy="905045"/>
          </a:xfrm>
          <a:custGeom>
            <a:avLst/>
            <a:gdLst/>
            <a:ahLst/>
            <a:cxnLst/>
            <a:rect l="l" t="t" r="r" b="b"/>
            <a:pathLst>
              <a:path w="3863846" h="905045">
                <a:moveTo>
                  <a:pt x="69616" y="0"/>
                </a:moveTo>
                <a:lnTo>
                  <a:pt x="3794230" y="0"/>
                </a:lnTo>
                <a:cubicBezTo>
                  <a:pt x="3832652" y="0"/>
                  <a:pt x="3863846" y="31194"/>
                  <a:pt x="3863846" y="69616"/>
                </a:cubicBezTo>
                <a:lnTo>
                  <a:pt x="3863846" y="835429"/>
                </a:lnTo>
                <a:cubicBezTo>
                  <a:pt x="3863846" y="873877"/>
                  <a:pt x="3832678" y="905045"/>
                  <a:pt x="3794230" y="905045"/>
                </a:cubicBezTo>
                <a:lnTo>
                  <a:pt x="69616" y="905045"/>
                </a:lnTo>
                <a:cubicBezTo>
                  <a:pt x="31194" y="905045"/>
                  <a:pt x="0" y="873851"/>
                  <a:pt x="0" y="835429"/>
                </a:cubicBezTo>
                <a:lnTo>
                  <a:pt x="0" y="69616"/>
                </a:lnTo>
                <a:cubicBezTo>
                  <a:pt x="0" y="31168"/>
                  <a:pt x="31168" y="0"/>
                  <a:pt x="69616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941442" y="5691340"/>
            <a:ext cx="372460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941442" y="5935006"/>
            <a:ext cx="3724608" cy="45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Abre el camino para herramientas como Midjourney, Stable Diffusion y DALL·E 2/3.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017000" y="1327109"/>
            <a:ext cx="2819563" cy="3611478"/>
          </a:xfrm>
          <a:custGeom>
            <a:avLst/>
            <a:gdLst/>
            <a:ahLst/>
            <a:cxnLst/>
            <a:rect l="l" t="t" r="r" b="b"/>
            <a:pathLst>
              <a:path w="2819563" h="3611478">
                <a:moveTo>
                  <a:pt x="104437" y="0"/>
                </a:moveTo>
                <a:lnTo>
                  <a:pt x="2715127" y="0"/>
                </a:lnTo>
                <a:cubicBezTo>
                  <a:pt x="2772805" y="0"/>
                  <a:pt x="2819563" y="46758"/>
                  <a:pt x="2819563" y="104437"/>
                </a:cubicBezTo>
                <a:lnTo>
                  <a:pt x="2819563" y="3507041"/>
                </a:lnTo>
                <a:cubicBezTo>
                  <a:pt x="2819563" y="3564720"/>
                  <a:pt x="2772805" y="3611478"/>
                  <a:pt x="2715127" y="3611478"/>
                </a:cubicBezTo>
                <a:lnTo>
                  <a:pt x="104437" y="3611478"/>
                </a:lnTo>
                <a:cubicBezTo>
                  <a:pt x="46758" y="3611478"/>
                  <a:pt x="0" y="3564720"/>
                  <a:pt x="0" y="3507041"/>
                </a:cubicBezTo>
                <a:lnTo>
                  <a:pt x="0" y="104437"/>
                </a:lnTo>
                <a:cubicBezTo>
                  <a:pt x="0" y="46796"/>
                  <a:pt x="46796" y="0"/>
                  <a:pt x="10443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1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51887" y="1618638"/>
            <a:ext cx="254979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Evolución de Parámetros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195398" y="2001542"/>
            <a:ext cx="46122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GPT-1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356982" y="2001542"/>
            <a:ext cx="37420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117M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195398" y="2280017"/>
            <a:ext cx="2462767" cy="104428"/>
          </a:xfrm>
          <a:custGeom>
            <a:avLst/>
            <a:gdLst/>
            <a:ahLst/>
            <a:cxnLst/>
            <a:rect l="l" t="t" r="r" b="b"/>
            <a:pathLst>
              <a:path w="2462767" h="104428">
                <a:moveTo>
                  <a:pt x="52214" y="0"/>
                </a:moveTo>
                <a:lnTo>
                  <a:pt x="2410552" y="0"/>
                </a:lnTo>
                <a:cubicBezTo>
                  <a:pt x="2439390" y="0"/>
                  <a:pt x="2462767" y="23377"/>
                  <a:pt x="2462767" y="52214"/>
                </a:cubicBezTo>
                <a:lnTo>
                  <a:pt x="2462767" y="52214"/>
                </a:lnTo>
                <a:cubicBezTo>
                  <a:pt x="2462767" y="81051"/>
                  <a:pt x="2439390" y="104428"/>
                  <a:pt x="2410552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195398" y="2280017"/>
            <a:ext cx="121833" cy="104428"/>
          </a:xfrm>
          <a:custGeom>
            <a:avLst/>
            <a:gdLst/>
            <a:ahLst/>
            <a:cxnLst/>
            <a:rect l="l" t="t" r="r" b="b"/>
            <a:pathLst>
              <a:path w="121833" h="104428">
                <a:moveTo>
                  <a:pt x="52214" y="0"/>
                </a:moveTo>
                <a:lnTo>
                  <a:pt x="69619" y="0"/>
                </a:lnTo>
                <a:cubicBezTo>
                  <a:pt x="98437" y="0"/>
                  <a:pt x="121833" y="23396"/>
                  <a:pt x="121833" y="52214"/>
                </a:cubicBezTo>
                <a:lnTo>
                  <a:pt x="121833" y="52214"/>
                </a:lnTo>
                <a:cubicBezTo>
                  <a:pt x="121833" y="81032"/>
                  <a:pt x="98437" y="104428"/>
                  <a:pt x="69619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00B4D8">
              <a:alpha val="4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9195398" y="2523683"/>
            <a:ext cx="4786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GPT-2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393559" y="2523683"/>
            <a:ext cx="33939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1.5B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195398" y="2802158"/>
            <a:ext cx="2462767" cy="104428"/>
          </a:xfrm>
          <a:custGeom>
            <a:avLst/>
            <a:gdLst/>
            <a:ahLst/>
            <a:cxnLst/>
            <a:rect l="l" t="t" r="r" b="b"/>
            <a:pathLst>
              <a:path w="2462767" h="104428">
                <a:moveTo>
                  <a:pt x="52214" y="0"/>
                </a:moveTo>
                <a:lnTo>
                  <a:pt x="2410552" y="0"/>
                </a:lnTo>
                <a:cubicBezTo>
                  <a:pt x="2439390" y="0"/>
                  <a:pt x="2462767" y="23377"/>
                  <a:pt x="2462767" y="52214"/>
                </a:cubicBezTo>
                <a:lnTo>
                  <a:pt x="2462767" y="52214"/>
                </a:lnTo>
                <a:cubicBezTo>
                  <a:pt x="2462767" y="81051"/>
                  <a:pt x="2439390" y="104428"/>
                  <a:pt x="2410552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195398" y="2802158"/>
            <a:ext cx="365499" cy="104428"/>
          </a:xfrm>
          <a:custGeom>
            <a:avLst/>
            <a:gdLst/>
            <a:ahLst/>
            <a:cxnLst/>
            <a:rect l="l" t="t" r="r" b="b"/>
            <a:pathLst>
              <a:path w="365499" h="104428">
                <a:moveTo>
                  <a:pt x="52214" y="0"/>
                </a:moveTo>
                <a:lnTo>
                  <a:pt x="313285" y="0"/>
                </a:lnTo>
                <a:cubicBezTo>
                  <a:pt x="342122" y="0"/>
                  <a:pt x="365499" y="23377"/>
                  <a:pt x="365499" y="52214"/>
                </a:cubicBezTo>
                <a:lnTo>
                  <a:pt x="365499" y="52214"/>
                </a:lnTo>
                <a:cubicBezTo>
                  <a:pt x="365499" y="81051"/>
                  <a:pt x="342122" y="104428"/>
                  <a:pt x="313285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00B4D8">
              <a:alpha val="6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9195398" y="3063229"/>
            <a:ext cx="48733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GPT-3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320269" y="3045824"/>
            <a:ext cx="41771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175B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195398" y="3359109"/>
            <a:ext cx="2462767" cy="104428"/>
          </a:xfrm>
          <a:custGeom>
            <a:avLst/>
            <a:gdLst/>
            <a:ahLst/>
            <a:cxnLst/>
            <a:rect l="l" t="t" r="r" b="b"/>
            <a:pathLst>
              <a:path w="2462767" h="104428">
                <a:moveTo>
                  <a:pt x="52214" y="0"/>
                </a:moveTo>
                <a:lnTo>
                  <a:pt x="2410552" y="0"/>
                </a:lnTo>
                <a:cubicBezTo>
                  <a:pt x="2439390" y="0"/>
                  <a:pt x="2462767" y="23377"/>
                  <a:pt x="2462767" y="52214"/>
                </a:cubicBezTo>
                <a:lnTo>
                  <a:pt x="2462767" y="52214"/>
                </a:lnTo>
                <a:cubicBezTo>
                  <a:pt x="2462767" y="81051"/>
                  <a:pt x="2439390" y="104428"/>
                  <a:pt x="2410552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9195398" y="3359109"/>
            <a:ext cx="2462767" cy="104428"/>
          </a:xfrm>
          <a:custGeom>
            <a:avLst/>
            <a:gdLst/>
            <a:ahLst/>
            <a:cxnLst/>
            <a:rect l="l" t="t" r="r" b="b"/>
            <a:pathLst>
              <a:path w="2462767" h="104428">
                <a:moveTo>
                  <a:pt x="52214" y="0"/>
                </a:moveTo>
                <a:lnTo>
                  <a:pt x="2410552" y="0"/>
                </a:lnTo>
                <a:cubicBezTo>
                  <a:pt x="2439390" y="0"/>
                  <a:pt x="2462767" y="23377"/>
                  <a:pt x="2462767" y="52214"/>
                </a:cubicBezTo>
                <a:lnTo>
                  <a:pt x="2462767" y="52214"/>
                </a:lnTo>
                <a:cubicBezTo>
                  <a:pt x="2462767" y="81051"/>
                  <a:pt x="2439390" y="104428"/>
                  <a:pt x="2410552" y="104428"/>
                </a:cubicBezTo>
                <a:lnTo>
                  <a:pt x="52214" y="104428"/>
                </a:lnTo>
                <a:cubicBezTo>
                  <a:pt x="23396" y="104428"/>
                  <a:pt x="0" y="81032"/>
                  <a:pt x="0" y="52214"/>
                </a:cubicBezTo>
                <a:lnTo>
                  <a:pt x="0" y="52214"/>
                </a:lnTo>
                <a:cubicBezTo>
                  <a:pt x="0" y="23396"/>
                  <a:pt x="23396" y="0"/>
                  <a:pt x="5221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B4D8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77" name="Shape 75"/>
          <p:cNvSpPr/>
          <p:nvPr/>
        </p:nvSpPr>
        <p:spPr>
          <a:xfrm>
            <a:off x="9195398" y="3637585"/>
            <a:ext cx="2462767" cy="1009473"/>
          </a:xfrm>
          <a:custGeom>
            <a:avLst/>
            <a:gdLst/>
            <a:ahLst/>
            <a:cxnLst/>
            <a:rect l="l" t="t" r="r" b="b"/>
            <a:pathLst>
              <a:path w="2462767" h="1009473">
                <a:moveTo>
                  <a:pt x="69623" y="0"/>
                </a:moveTo>
                <a:lnTo>
                  <a:pt x="2393143" y="0"/>
                </a:lnTo>
                <a:cubicBezTo>
                  <a:pt x="2431595" y="0"/>
                  <a:pt x="2462767" y="31171"/>
                  <a:pt x="2462767" y="69623"/>
                </a:cubicBezTo>
                <a:lnTo>
                  <a:pt x="2462767" y="939850"/>
                </a:lnTo>
                <a:cubicBezTo>
                  <a:pt x="2462767" y="978302"/>
                  <a:pt x="2431595" y="1009473"/>
                  <a:pt x="2393143" y="1009473"/>
                </a:cubicBezTo>
                <a:lnTo>
                  <a:pt x="69623" y="1009473"/>
                </a:lnTo>
                <a:cubicBezTo>
                  <a:pt x="31171" y="1009473"/>
                  <a:pt x="0" y="978302"/>
                  <a:pt x="0" y="939850"/>
                </a:cubicBezTo>
                <a:lnTo>
                  <a:pt x="0" y="69623"/>
                </a:lnTo>
                <a:cubicBezTo>
                  <a:pt x="0" y="31197"/>
                  <a:pt x="31197" y="0"/>
                  <a:pt x="69623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9265017" y="3742013"/>
            <a:ext cx="232352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 de Crecimiento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234559" y="3985679"/>
            <a:ext cx="2384445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6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1,496x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65017" y="4333773"/>
            <a:ext cx="2323529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GPT-1 a GPT-3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17000" y="5086527"/>
            <a:ext cx="2819563" cy="1540317"/>
          </a:xfrm>
          <a:custGeom>
            <a:avLst/>
            <a:gdLst/>
            <a:ahLst/>
            <a:cxnLst/>
            <a:rect l="l" t="t" r="r" b="b"/>
            <a:pathLst>
              <a:path w="2819563" h="1540317">
                <a:moveTo>
                  <a:pt x="104433" y="0"/>
                </a:moveTo>
                <a:lnTo>
                  <a:pt x="2715130" y="0"/>
                </a:lnTo>
                <a:cubicBezTo>
                  <a:pt x="2772807" y="0"/>
                  <a:pt x="2819563" y="46756"/>
                  <a:pt x="2819563" y="104433"/>
                </a:cubicBezTo>
                <a:lnTo>
                  <a:pt x="2819563" y="1435883"/>
                </a:lnTo>
                <a:cubicBezTo>
                  <a:pt x="2819563" y="1493560"/>
                  <a:pt x="2772807" y="1540317"/>
                  <a:pt x="2715130" y="1540317"/>
                </a:cubicBezTo>
                <a:lnTo>
                  <a:pt x="104433" y="1540317"/>
                </a:lnTo>
                <a:cubicBezTo>
                  <a:pt x="46756" y="1540317"/>
                  <a:pt x="0" y="1493560"/>
                  <a:pt x="0" y="1435883"/>
                </a:cubicBezTo>
                <a:lnTo>
                  <a:pt x="0" y="104433"/>
                </a:lnTo>
                <a:cubicBezTo>
                  <a:pt x="0" y="46795"/>
                  <a:pt x="46795" y="0"/>
                  <a:pt x="104433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04101" y="5264925"/>
            <a:ext cx="130535" cy="174047"/>
          </a:xfrm>
          <a:custGeom>
            <a:avLst/>
            <a:gdLst/>
            <a:ahLst/>
            <a:cxnLst/>
            <a:rect l="l" t="t" r="r" b="b"/>
            <a:pathLst>
              <a:path w="130535" h="174047">
                <a:moveTo>
                  <a:pt x="99567" y="130535"/>
                </a:moveTo>
                <a:cubicBezTo>
                  <a:pt x="102049" y="122955"/>
                  <a:pt x="107012" y="116088"/>
                  <a:pt x="112621" y="110173"/>
                </a:cubicBezTo>
                <a:cubicBezTo>
                  <a:pt x="123737" y="98479"/>
                  <a:pt x="130535" y="82672"/>
                  <a:pt x="130535" y="65268"/>
                </a:cubicBezTo>
                <a:cubicBezTo>
                  <a:pt x="130535" y="29234"/>
                  <a:pt x="101301" y="0"/>
                  <a:pt x="65268" y="0"/>
                </a:cubicBezTo>
                <a:cubicBezTo>
                  <a:pt x="29234" y="0"/>
                  <a:pt x="0" y="29234"/>
                  <a:pt x="0" y="65268"/>
                </a:cubicBezTo>
                <a:cubicBezTo>
                  <a:pt x="0" y="82672"/>
                  <a:pt x="6799" y="98479"/>
                  <a:pt x="17915" y="110173"/>
                </a:cubicBezTo>
                <a:cubicBezTo>
                  <a:pt x="23524" y="116088"/>
                  <a:pt x="28521" y="122955"/>
                  <a:pt x="30968" y="130535"/>
                </a:cubicBezTo>
                <a:lnTo>
                  <a:pt x="99533" y="130535"/>
                </a:lnTo>
                <a:close/>
                <a:moveTo>
                  <a:pt x="97901" y="146852"/>
                </a:moveTo>
                <a:lnTo>
                  <a:pt x="32634" y="146852"/>
                </a:lnTo>
                <a:lnTo>
                  <a:pt x="32634" y="152291"/>
                </a:lnTo>
                <a:cubicBezTo>
                  <a:pt x="32634" y="167316"/>
                  <a:pt x="44804" y="179486"/>
                  <a:pt x="59829" y="179486"/>
                </a:cubicBezTo>
                <a:lnTo>
                  <a:pt x="70707" y="179486"/>
                </a:lnTo>
                <a:cubicBezTo>
                  <a:pt x="85732" y="179486"/>
                  <a:pt x="97901" y="167316"/>
                  <a:pt x="97901" y="152291"/>
                </a:cubicBezTo>
                <a:lnTo>
                  <a:pt x="97901" y="146852"/>
                </a:lnTo>
                <a:close/>
                <a:moveTo>
                  <a:pt x="62548" y="38073"/>
                </a:moveTo>
                <a:cubicBezTo>
                  <a:pt x="49019" y="38073"/>
                  <a:pt x="38073" y="49019"/>
                  <a:pt x="38073" y="62548"/>
                </a:cubicBezTo>
                <a:cubicBezTo>
                  <a:pt x="38073" y="67069"/>
                  <a:pt x="34435" y="70707"/>
                  <a:pt x="29914" y="70707"/>
                </a:cubicBezTo>
                <a:cubicBezTo>
                  <a:pt x="25393" y="70707"/>
                  <a:pt x="21756" y="67069"/>
                  <a:pt x="21756" y="62548"/>
                </a:cubicBezTo>
                <a:cubicBezTo>
                  <a:pt x="21756" y="40010"/>
                  <a:pt x="40010" y="21756"/>
                  <a:pt x="62548" y="21756"/>
                </a:cubicBezTo>
                <a:cubicBezTo>
                  <a:pt x="67069" y="21756"/>
                  <a:pt x="70707" y="25393"/>
                  <a:pt x="70707" y="29914"/>
                </a:cubicBezTo>
                <a:cubicBezTo>
                  <a:pt x="70707" y="34435"/>
                  <a:pt x="67069" y="38073"/>
                  <a:pt x="62548" y="3807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3" name="Text 81"/>
          <p:cNvSpPr/>
          <p:nvPr/>
        </p:nvSpPr>
        <p:spPr>
          <a:xfrm>
            <a:off x="9482576" y="5230116"/>
            <a:ext cx="107039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Insight Clave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160589" y="5578210"/>
            <a:ext cx="2602004" cy="905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GPT-3 demostró el poder de la </a:t>
            </a:r>
            <a:pPr>
              <a:lnSpc>
                <a:spcPct val="140000"/>
              </a:lnSpc>
            </a:pPr>
            <a:r>
              <a:rPr lang="en-US" sz="1096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ley de escalado</a:t>
            </a:r>
            <a:pPr>
              <a:lnSpc>
                <a:spcPct val="140000"/>
              </a:lnSpc>
            </a:pPr>
            <a:r>
              <a:rPr lang="en-US" sz="1096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más parámetros + más datos + más cómputo = capacidades emergentes sorprendentes.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394011a70048f69fc69f43ca003bcba51ac0a3c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8000"/>
                </a:srgbClr>
              </a:gs>
              <a:gs pos="50000">
                <a:srgbClr val="0A0E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163241"/>
            <a:ext cx="1571625" cy="428625"/>
          </a:xfrm>
          <a:custGeom>
            <a:avLst/>
            <a:gdLst/>
            <a:ahLst/>
            <a:cxnLst/>
            <a:rect l="l" t="t" r="r" b="b"/>
            <a:pathLst>
              <a:path w="1571625" h="428625">
                <a:moveTo>
                  <a:pt x="214313" y="0"/>
                </a:moveTo>
                <a:lnTo>
                  <a:pt x="1357313" y="0"/>
                </a:lnTo>
                <a:cubicBezTo>
                  <a:pt x="1475595" y="0"/>
                  <a:pt x="1571625" y="96030"/>
                  <a:pt x="1571625" y="214313"/>
                </a:cubicBezTo>
                <a:lnTo>
                  <a:pt x="1571625" y="214313"/>
                </a:lnTo>
                <a:cubicBezTo>
                  <a:pt x="1571625" y="332595"/>
                  <a:pt x="1475595" y="428625"/>
                  <a:pt x="1357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263253"/>
            <a:ext cx="1269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5228"/>
            <a:ext cx="792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Explosión y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Democratización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82628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244578"/>
            <a:ext cx="76104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2022-2024: ChatGPT, Stable Diffusion y Multimodalidad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42925" y="528042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147072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Período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5375672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años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020937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211437" y="52804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2782937" y="5147072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82937" y="5375672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Accesibilidad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38774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443561" y="5280422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5000774" y="5147072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Legado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00774" y="5375672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Masificación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Momento "iPhone" de la 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21469" y="1210469"/>
            <a:ext cx="7588250" cy="2198688"/>
          </a:xfrm>
          <a:custGeom>
            <a:avLst/>
            <a:gdLst/>
            <a:ahLst/>
            <a:cxnLst/>
            <a:rect l="l" t="t" r="r" b="b"/>
            <a:pathLst>
              <a:path w="7588250" h="2198688">
                <a:moveTo>
                  <a:pt x="95247" y="0"/>
                </a:moveTo>
                <a:lnTo>
                  <a:pt x="7493003" y="0"/>
                </a:lnTo>
                <a:cubicBezTo>
                  <a:pt x="7545606" y="0"/>
                  <a:pt x="7588250" y="42644"/>
                  <a:pt x="7588250" y="95247"/>
                </a:cubicBezTo>
                <a:lnTo>
                  <a:pt x="7588250" y="2103440"/>
                </a:lnTo>
                <a:cubicBezTo>
                  <a:pt x="7588250" y="2156044"/>
                  <a:pt x="7545606" y="2198688"/>
                  <a:pt x="7493003" y="2198688"/>
                </a:cubicBezTo>
                <a:lnTo>
                  <a:pt x="95247" y="2198688"/>
                </a:lnTo>
                <a:cubicBezTo>
                  <a:pt x="42644" y="2198688"/>
                  <a:pt x="0" y="2156044"/>
                  <a:pt x="0" y="2103440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373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B4D8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1344" y="1508125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63711" y="0"/>
                </a:moveTo>
                <a:cubicBezTo>
                  <a:pt x="163711" y="-8232"/>
                  <a:pt x="157060" y="-14883"/>
                  <a:pt x="148828" y="-14883"/>
                </a:cubicBezTo>
                <a:cubicBezTo>
                  <a:pt x="140596" y="-14883"/>
                  <a:pt x="133945" y="-8232"/>
                  <a:pt x="133945" y="0"/>
                </a:cubicBezTo>
                <a:lnTo>
                  <a:pt x="133945" y="29766"/>
                </a:lnTo>
                <a:lnTo>
                  <a:pt x="89297" y="29766"/>
                </a:lnTo>
                <a:cubicBezTo>
                  <a:pt x="64647" y="29766"/>
                  <a:pt x="44648" y="49764"/>
                  <a:pt x="44648" y="74414"/>
                </a:cubicBezTo>
                <a:lnTo>
                  <a:pt x="44648" y="178594"/>
                </a:lnTo>
                <a:cubicBezTo>
                  <a:pt x="44648" y="203243"/>
                  <a:pt x="64647" y="223242"/>
                  <a:pt x="89297" y="223242"/>
                </a:cubicBezTo>
                <a:lnTo>
                  <a:pt x="208359" y="223242"/>
                </a:lnTo>
                <a:cubicBezTo>
                  <a:pt x="233009" y="223242"/>
                  <a:pt x="253008" y="203243"/>
                  <a:pt x="253008" y="178594"/>
                </a:cubicBezTo>
                <a:lnTo>
                  <a:pt x="253008" y="74414"/>
                </a:lnTo>
                <a:cubicBezTo>
                  <a:pt x="253008" y="49764"/>
                  <a:pt x="233009" y="29766"/>
                  <a:pt x="208359" y="29766"/>
                </a:cubicBezTo>
                <a:lnTo>
                  <a:pt x="163711" y="29766"/>
                </a:lnTo>
                <a:lnTo>
                  <a:pt x="163711" y="0"/>
                </a:lnTo>
                <a:close/>
                <a:moveTo>
                  <a:pt x="74414" y="171152"/>
                </a:moveTo>
                <a:cubicBezTo>
                  <a:pt x="74414" y="164967"/>
                  <a:pt x="79391" y="159990"/>
                  <a:pt x="85576" y="159990"/>
                </a:cubicBezTo>
                <a:lnTo>
                  <a:pt x="100459" y="159990"/>
                </a:lnTo>
                <a:cubicBezTo>
                  <a:pt x="106645" y="159990"/>
                  <a:pt x="111621" y="164967"/>
                  <a:pt x="111621" y="171152"/>
                </a:cubicBezTo>
                <a:cubicBezTo>
                  <a:pt x="111621" y="177338"/>
                  <a:pt x="106645" y="182314"/>
                  <a:pt x="100459" y="182314"/>
                </a:cubicBezTo>
                <a:lnTo>
                  <a:pt x="85576" y="182314"/>
                </a:lnTo>
                <a:cubicBezTo>
                  <a:pt x="79391" y="182314"/>
                  <a:pt x="74414" y="177338"/>
                  <a:pt x="74414" y="171152"/>
                </a:cubicBezTo>
                <a:close/>
                <a:moveTo>
                  <a:pt x="130225" y="171152"/>
                </a:moveTo>
                <a:cubicBezTo>
                  <a:pt x="130225" y="164967"/>
                  <a:pt x="135201" y="159990"/>
                  <a:pt x="141387" y="159990"/>
                </a:cubicBezTo>
                <a:lnTo>
                  <a:pt x="156270" y="159990"/>
                </a:lnTo>
                <a:cubicBezTo>
                  <a:pt x="162455" y="159990"/>
                  <a:pt x="167432" y="164967"/>
                  <a:pt x="167432" y="171152"/>
                </a:cubicBezTo>
                <a:cubicBezTo>
                  <a:pt x="167432" y="177338"/>
                  <a:pt x="162455" y="182314"/>
                  <a:pt x="156270" y="182314"/>
                </a:cubicBezTo>
                <a:lnTo>
                  <a:pt x="141387" y="182314"/>
                </a:lnTo>
                <a:cubicBezTo>
                  <a:pt x="135201" y="182314"/>
                  <a:pt x="130225" y="177338"/>
                  <a:pt x="130225" y="171152"/>
                </a:cubicBezTo>
                <a:close/>
                <a:moveTo>
                  <a:pt x="186035" y="171152"/>
                </a:moveTo>
                <a:cubicBezTo>
                  <a:pt x="186035" y="164967"/>
                  <a:pt x="191012" y="159990"/>
                  <a:pt x="197197" y="159990"/>
                </a:cubicBezTo>
                <a:lnTo>
                  <a:pt x="212080" y="159990"/>
                </a:lnTo>
                <a:cubicBezTo>
                  <a:pt x="218266" y="159990"/>
                  <a:pt x="223242" y="164967"/>
                  <a:pt x="223242" y="171152"/>
                </a:cubicBezTo>
                <a:cubicBezTo>
                  <a:pt x="223242" y="177338"/>
                  <a:pt x="218266" y="182314"/>
                  <a:pt x="212080" y="182314"/>
                </a:cubicBezTo>
                <a:lnTo>
                  <a:pt x="197197" y="182314"/>
                </a:lnTo>
                <a:cubicBezTo>
                  <a:pt x="191012" y="182314"/>
                  <a:pt x="186035" y="177338"/>
                  <a:pt x="186035" y="171152"/>
                </a:cubicBezTo>
                <a:close/>
                <a:moveTo>
                  <a:pt x="104180" y="81855"/>
                </a:moveTo>
                <a:cubicBezTo>
                  <a:pt x="116501" y="81855"/>
                  <a:pt x="126504" y="91859"/>
                  <a:pt x="126504" y="104180"/>
                </a:cubicBezTo>
                <a:cubicBezTo>
                  <a:pt x="126504" y="116501"/>
                  <a:pt x="116501" y="126504"/>
                  <a:pt x="104180" y="126504"/>
                </a:cubicBezTo>
                <a:cubicBezTo>
                  <a:pt x="91859" y="126504"/>
                  <a:pt x="81855" y="116501"/>
                  <a:pt x="81855" y="104180"/>
                </a:cubicBezTo>
                <a:cubicBezTo>
                  <a:pt x="81855" y="91859"/>
                  <a:pt x="91859" y="81855"/>
                  <a:pt x="104180" y="81855"/>
                </a:cubicBezTo>
                <a:close/>
                <a:moveTo>
                  <a:pt x="171152" y="104180"/>
                </a:moveTo>
                <a:cubicBezTo>
                  <a:pt x="171152" y="91859"/>
                  <a:pt x="181155" y="81855"/>
                  <a:pt x="193477" y="81855"/>
                </a:cubicBezTo>
                <a:cubicBezTo>
                  <a:pt x="205798" y="81855"/>
                  <a:pt x="215801" y="91859"/>
                  <a:pt x="215801" y="104180"/>
                </a:cubicBezTo>
                <a:cubicBezTo>
                  <a:pt x="215801" y="116501"/>
                  <a:pt x="205798" y="126504"/>
                  <a:pt x="193477" y="126504"/>
                </a:cubicBezTo>
                <a:cubicBezTo>
                  <a:pt x="181155" y="126504"/>
                  <a:pt x="171152" y="116501"/>
                  <a:pt x="171152" y="104180"/>
                </a:cubicBezTo>
                <a:close/>
                <a:moveTo>
                  <a:pt x="29766" y="104180"/>
                </a:moveTo>
                <a:cubicBezTo>
                  <a:pt x="29766" y="95948"/>
                  <a:pt x="23115" y="89297"/>
                  <a:pt x="14883" y="89297"/>
                </a:cubicBezTo>
                <a:cubicBezTo>
                  <a:pt x="6651" y="89297"/>
                  <a:pt x="0" y="95948"/>
                  <a:pt x="0" y="104180"/>
                </a:cubicBezTo>
                <a:lnTo>
                  <a:pt x="0" y="148828"/>
                </a:lnTo>
                <a:cubicBezTo>
                  <a:pt x="0" y="157060"/>
                  <a:pt x="6651" y="163711"/>
                  <a:pt x="14883" y="163711"/>
                </a:cubicBezTo>
                <a:cubicBezTo>
                  <a:pt x="23115" y="163711"/>
                  <a:pt x="29766" y="157060"/>
                  <a:pt x="29766" y="148828"/>
                </a:cubicBezTo>
                <a:lnTo>
                  <a:pt x="29766" y="104180"/>
                </a:lnTo>
                <a:close/>
                <a:moveTo>
                  <a:pt x="282773" y="89297"/>
                </a:moveTo>
                <a:cubicBezTo>
                  <a:pt x="274541" y="89297"/>
                  <a:pt x="267891" y="95948"/>
                  <a:pt x="267891" y="104180"/>
                </a:cubicBezTo>
                <a:lnTo>
                  <a:pt x="267891" y="148828"/>
                </a:lnTo>
                <a:cubicBezTo>
                  <a:pt x="267891" y="157060"/>
                  <a:pt x="274541" y="163711"/>
                  <a:pt x="282773" y="163711"/>
                </a:cubicBezTo>
                <a:cubicBezTo>
                  <a:pt x="291005" y="163711"/>
                  <a:pt x="297656" y="157060"/>
                  <a:pt x="297656" y="148828"/>
                </a:cubicBezTo>
                <a:lnTo>
                  <a:pt x="297656" y="104180"/>
                </a:lnTo>
                <a:cubicBezTo>
                  <a:pt x="297656" y="95948"/>
                  <a:pt x="291005" y="89297"/>
                  <a:pt x="282773" y="89297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119188" y="1373188"/>
            <a:ext cx="120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ChatGPT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9188" y="1658938"/>
            <a:ext cx="115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Noviembre 2022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187" y="2008187"/>
            <a:ext cx="7326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Basado en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GPT-3.5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ChatGPT democratiza el acceso a la IA conversacional, permitiendo a cualquier persona interactuar con un modelo de lenguaje avanzado sin conocimientos técnicos.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187" y="2547938"/>
            <a:ext cx="3571875" cy="698500"/>
          </a:xfrm>
          <a:custGeom>
            <a:avLst/>
            <a:gdLst/>
            <a:ahLst/>
            <a:cxnLst/>
            <a:rect l="l" t="t" r="r" b="b"/>
            <a:pathLst>
              <a:path w="3571875" h="698500">
                <a:moveTo>
                  <a:pt x="63501" y="0"/>
                </a:moveTo>
                <a:lnTo>
                  <a:pt x="3508374" y="0"/>
                </a:lnTo>
                <a:cubicBezTo>
                  <a:pt x="3543445" y="0"/>
                  <a:pt x="3571875" y="28430"/>
                  <a:pt x="3571875" y="63501"/>
                </a:cubicBezTo>
                <a:lnTo>
                  <a:pt x="3571875" y="634999"/>
                </a:lnTo>
                <a:cubicBezTo>
                  <a:pt x="3571875" y="670070"/>
                  <a:pt x="3543445" y="698500"/>
                  <a:pt x="350837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1188" y="2706688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33438" y="2674938"/>
            <a:ext cx="74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1M usuarios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1188" y="2928938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solo 5 días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80334" y="2547938"/>
            <a:ext cx="3571875" cy="698500"/>
          </a:xfrm>
          <a:custGeom>
            <a:avLst/>
            <a:gdLst/>
            <a:ahLst/>
            <a:cxnLst/>
            <a:rect l="l" t="t" r="r" b="b"/>
            <a:pathLst>
              <a:path w="3571875" h="698500">
                <a:moveTo>
                  <a:pt x="63501" y="0"/>
                </a:moveTo>
                <a:lnTo>
                  <a:pt x="3508374" y="0"/>
                </a:lnTo>
                <a:cubicBezTo>
                  <a:pt x="3543445" y="0"/>
                  <a:pt x="3571875" y="28430"/>
                  <a:pt x="3571875" y="63501"/>
                </a:cubicBezTo>
                <a:lnTo>
                  <a:pt x="3571875" y="634999"/>
                </a:lnTo>
                <a:cubicBezTo>
                  <a:pt x="3571875" y="670070"/>
                  <a:pt x="3543445" y="698500"/>
                  <a:pt x="350837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323209" y="2706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29584" y="2674938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100M usuarios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07334" y="2928938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2 meses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3540125"/>
            <a:ext cx="7580313" cy="2349500"/>
          </a:xfrm>
          <a:custGeom>
            <a:avLst/>
            <a:gdLst/>
            <a:ahLst/>
            <a:cxnLst/>
            <a:rect l="l" t="t" r="r" b="b"/>
            <a:pathLst>
              <a:path w="7580313" h="2349500">
                <a:moveTo>
                  <a:pt x="31750" y="0"/>
                </a:moveTo>
                <a:lnTo>
                  <a:pt x="7485064" y="0"/>
                </a:lnTo>
                <a:cubicBezTo>
                  <a:pt x="7537668" y="0"/>
                  <a:pt x="7580313" y="42644"/>
                  <a:pt x="7580313" y="95249"/>
                </a:cubicBezTo>
                <a:lnTo>
                  <a:pt x="7580313" y="2254251"/>
                </a:lnTo>
                <a:cubicBezTo>
                  <a:pt x="7580313" y="2306856"/>
                  <a:pt x="7537668" y="2349500"/>
                  <a:pt x="7485064" y="2349500"/>
                </a:cubicBezTo>
                <a:lnTo>
                  <a:pt x="31750" y="2349500"/>
                </a:lnTo>
                <a:cubicBezTo>
                  <a:pt x="14215" y="2349500"/>
                  <a:pt x="0" y="2335285"/>
                  <a:pt x="0" y="2317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333375" y="3540125"/>
            <a:ext cx="31750" cy="2349500"/>
          </a:xfrm>
          <a:custGeom>
            <a:avLst/>
            <a:gdLst/>
            <a:ahLst/>
            <a:cxnLst/>
            <a:rect l="l" t="t" r="r" b="b"/>
            <a:pathLst>
              <a:path w="31750" h="2349500">
                <a:moveTo>
                  <a:pt x="31750" y="0"/>
                </a:moveTo>
                <a:lnTo>
                  <a:pt x="31750" y="0"/>
                </a:lnTo>
                <a:lnTo>
                  <a:pt x="31750" y="2349500"/>
                </a:lnTo>
                <a:lnTo>
                  <a:pt x="31750" y="2349500"/>
                </a:lnTo>
                <a:cubicBezTo>
                  <a:pt x="14227" y="2349500"/>
                  <a:pt x="0" y="2335273"/>
                  <a:pt x="0" y="2317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508000" y="36988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6906" y="3825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3698875"/>
            <a:ext cx="157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Stable Diffusion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3952875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2022 - Open Source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8000" y="4270375"/>
            <a:ext cx="73104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de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a imagen open source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que democratiza la generación de imágenes de alta calidad, permitiendo a cualquiera ejecutarlo localmente.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4810125"/>
            <a:ext cx="7246938" cy="920750"/>
          </a:xfrm>
          <a:custGeom>
            <a:avLst/>
            <a:gdLst/>
            <a:ahLst/>
            <a:cxnLst/>
            <a:rect l="l" t="t" r="r" b="b"/>
            <a:pathLst>
              <a:path w="7246938" h="920750">
                <a:moveTo>
                  <a:pt x="63504" y="0"/>
                </a:moveTo>
                <a:lnTo>
                  <a:pt x="7183433" y="0"/>
                </a:lnTo>
                <a:cubicBezTo>
                  <a:pt x="7218506" y="0"/>
                  <a:pt x="7246938" y="28432"/>
                  <a:pt x="7246938" y="63504"/>
                </a:cubicBezTo>
                <a:lnTo>
                  <a:pt x="7246938" y="857246"/>
                </a:lnTo>
                <a:cubicBezTo>
                  <a:pt x="7246938" y="892318"/>
                  <a:pt x="7218506" y="920750"/>
                  <a:pt x="7183433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5000" y="4937125"/>
            <a:ext cx="705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000" y="5191125"/>
            <a:ext cx="705643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 barreras de acceso, impulsa la innovación comunitaria y establece el estándar para modelos abiertos de IA generativa.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79011" y="1210469"/>
            <a:ext cx="3794125" cy="3976687"/>
          </a:xfrm>
          <a:custGeom>
            <a:avLst/>
            <a:gdLst/>
            <a:ahLst/>
            <a:cxnLst/>
            <a:rect l="l" t="t" r="r" b="b"/>
            <a:pathLst>
              <a:path w="3794125" h="3976687">
                <a:moveTo>
                  <a:pt x="95233" y="0"/>
                </a:moveTo>
                <a:lnTo>
                  <a:pt x="3698892" y="0"/>
                </a:lnTo>
                <a:cubicBezTo>
                  <a:pt x="3751488" y="0"/>
                  <a:pt x="3794125" y="42637"/>
                  <a:pt x="3794125" y="95233"/>
                </a:cubicBezTo>
                <a:lnTo>
                  <a:pt x="3794125" y="3881455"/>
                </a:lnTo>
                <a:cubicBezTo>
                  <a:pt x="3794125" y="3934050"/>
                  <a:pt x="3751488" y="3976688"/>
                  <a:pt x="3698892" y="3976688"/>
                </a:cubicBezTo>
                <a:lnTo>
                  <a:pt x="95233" y="3976687"/>
                </a:lnTo>
                <a:cubicBezTo>
                  <a:pt x="42637" y="3976688"/>
                  <a:pt x="0" y="3934050"/>
                  <a:pt x="0" y="3881455"/>
                </a:cubicBezTo>
                <a:lnTo>
                  <a:pt x="0" y="95233"/>
                </a:lnTo>
                <a:cubicBezTo>
                  <a:pt x="0" y="42672"/>
                  <a:pt x="42672" y="0"/>
                  <a:pt x="9523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1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042" y="1373188"/>
            <a:ext cx="354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Récord de Crecimiento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57209" y="175418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844856" y="1928813"/>
            <a:ext cx="26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06011" y="2484438"/>
            <a:ext cx="354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días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09979" y="2738438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1M usuarios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57209" y="3087688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lnTo>
                  <a:pt x="317500" y="0"/>
                </a:lnTo>
                <a:cubicBezTo>
                  <a:pt x="492733" y="0"/>
                  <a:pt x="635000" y="142267"/>
                  <a:pt x="635000" y="317500"/>
                </a:cubicBezTo>
                <a:lnTo>
                  <a:pt x="635000" y="317500"/>
                </a:lnTo>
                <a:cubicBezTo>
                  <a:pt x="635000" y="492733"/>
                  <a:pt x="492733" y="635000"/>
                  <a:pt x="317500" y="635000"/>
                </a:cubicBezTo>
                <a:lnTo>
                  <a:pt x="317500" y="635000"/>
                </a:lnTo>
                <a:cubicBezTo>
                  <a:pt x="142267" y="635000"/>
                  <a:pt x="0" y="492733"/>
                  <a:pt x="0" y="317500"/>
                </a:cubicBezTo>
                <a:lnTo>
                  <a:pt x="0" y="317500"/>
                </a:lnTo>
                <a:cubicBezTo>
                  <a:pt x="0" y="142267"/>
                  <a:pt x="142267" y="0"/>
                  <a:pt x="3175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774659" y="3262313"/>
            <a:ext cx="396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06011" y="3817938"/>
            <a:ext cx="3540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días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09979" y="4071938"/>
            <a:ext cx="353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para 100M usuarios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1729" y="4421188"/>
            <a:ext cx="3468688" cy="603250"/>
          </a:xfrm>
          <a:custGeom>
            <a:avLst/>
            <a:gdLst/>
            <a:ahLst/>
            <a:cxnLst/>
            <a:rect l="l" t="t" r="r" b="b"/>
            <a:pathLst>
              <a:path w="3468688" h="603250">
                <a:moveTo>
                  <a:pt x="63498" y="0"/>
                </a:moveTo>
                <a:lnTo>
                  <a:pt x="3405189" y="0"/>
                </a:lnTo>
                <a:cubicBezTo>
                  <a:pt x="3440258" y="0"/>
                  <a:pt x="3468688" y="28429"/>
                  <a:pt x="3468688" y="63498"/>
                </a:cubicBezTo>
                <a:lnTo>
                  <a:pt x="3468688" y="539752"/>
                </a:lnTo>
                <a:cubicBezTo>
                  <a:pt x="3468688" y="574821"/>
                  <a:pt x="3440258" y="603250"/>
                  <a:pt x="3405189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05229" y="4516438"/>
            <a:ext cx="3341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Comparación: Instagram tardó </a:t>
            </a:r>
            <a:pPr algn="ctr"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2.5 años</a:t>
            </a:r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alcanzar 100M usuarios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79011" y="5322094"/>
            <a:ext cx="3794125" cy="1198563"/>
          </a:xfrm>
          <a:custGeom>
            <a:avLst/>
            <a:gdLst/>
            <a:ahLst/>
            <a:cxnLst/>
            <a:rect l="l" t="t" r="r" b="b"/>
            <a:pathLst>
              <a:path w="3794125" h="1198563">
                <a:moveTo>
                  <a:pt x="95250" y="0"/>
                </a:moveTo>
                <a:lnTo>
                  <a:pt x="3698875" y="0"/>
                </a:lnTo>
                <a:cubicBezTo>
                  <a:pt x="3751480" y="0"/>
                  <a:pt x="3794125" y="42645"/>
                  <a:pt x="3794125" y="95250"/>
                </a:cubicBezTo>
                <a:lnTo>
                  <a:pt x="3794125" y="1103313"/>
                </a:lnTo>
                <a:cubicBezTo>
                  <a:pt x="3794125" y="1155918"/>
                  <a:pt x="3751480" y="1198563"/>
                  <a:pt x="3698875" y="1198563"/>
                </a:cubicBezTo>
                <a:lnTo>
                  <a:pt x="95250" y="1198563"/>
                </a:lnTo>
                <a:cubicBezTo>
                  <a:pt x="42645" y="1198563"/>
                  <a:pt x="0" y="1155918"/>
                  <a:pt x="0" y="1103313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19901" y="548481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667" y="5453063"/>
            <a:ext cx="84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Significado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09979" y="5770563"/>
            <a:ext cx="359568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 marca el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punto de inflexión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donde la IA generativa pasa de ser una herramienta de nicho a una tecnología de consumo masivo.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21469" y="6655594"/>
            <a:ext cx="11549063" cy="960438"/>
          </a:xfrm>
          <a:custGeom>
            <a:avLst/>
            <a:gdLst/>
            <a:ahLst/>
            <a:cxnLst/>
            <a:rect l="l" t="t" r="r" b="b"/>
            <a:pathLst>
              <a:path w="11549063" h="960438">
                <a:moveTo>
                  <a:pt x="95247" y="0"/>
                </a:moveTo>
                <a:lnTo>
                  <a:pt x="11453816" y="0"/>
                </a:lnTo>
                <a:cubicBezTo>
                  <a:pt x="11506419" y="0"/>
                  <a:pt x="11549063" y="42643"/>
                  <a:pt x="11549063" y="95247"/>
                </a:cubicBezTo>
                <a:lnTo>
                  <a:pt x="11549063" y="865191"/>
                </a:lnTo>
                <a:cubicBezTo>
                  <a:pt x="11549063" y="917794"/>
                  <a:pt x="11506419" y="960437"/>
                  <a:pt x="11453816" y="960438"/>
                </a:cubicBezTo>
                <a:lnTo>
                  <a:pt x="95247" y="960438"/>
                </a:lnTo>
                <a:cubicBezTo>
                  <a:pt x="42643" y="960438"/>
                  <a:pt x="0" y="917794"/>
                  <a:pt x="0" y="865191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0375" y="68183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761752" y="6786563"/>
            <a:ext cx="1104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Momento "iPhone" de la IA Generativa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1752" y="7072313"/>
            <a:ext cx="1104106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Así como el iPhone de 2007 transformó la industria móvil, ChatGPT y Stable Diffusion de 2022 transforman la percepción y adopción de la inteligencia artificial, haciéndola accesible, intuitiva y útil para millones de personas sin experiencia técnica.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2023-2024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Carrera Multimodal y Regulación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33375" y="1206500"/>
            <a:ext cx="5683250" cy="4492625"/>
          </a:xfrm>
          <a:custGeom>
            <a:avLst/>
            <a:gdLst/>
            <a:ahLst/>
            <a:cxnLst/>
            <a:rect l="l" t="t" r="r" b="b"/>
            <a:pathLst>
              <a:path w="5683250" h="4492625">
                <a:moveTo>
                  <a:pt x="31750" y="0"/>
                </a:moveTo>
                <a:lnTo>
                  <a:pt x="5588006" y="0"/>
                </a:lnTo>
                <a:cubicBezTo>
                  <a:pt x="5640608" y="0"/>
                  <a:pt x="5683250" y="42642"/>
                  <a:pt x="5683250" y="95244"/>
                </a:cubicBezTo>
                <a:lnTo>
                  <a:pt x="5683250" y="4397381"/>
                </a:lnTo>
                <a:cubicBezTo>
                  <a:pt x="5683250" y="4449983"/>
                  <a:pt x="5640608" y="4492625"/>
                  <a:pt x="5588006" y="4492625"/>
                </a:cubicBezTo>
                <a:lnTo>
                  <a:pt x="31750" y="4492625"/>
                </a:lnTo>
                <a:cubicBezTo>
                  <a:pt x="14227" y="4492625"/>
                  <a:pt x="0" y="4478398"/>
                  <a:pt x="0" y="4460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33375" y="1206500"/>
            <a:ext cx="31750" cy="4492625"/>
          </a:xfrm>
          <a:custGeom>
            <a:avLst/>
            <a:gdLst/>
            <a:ahLst/>
            <a:cxnLst/>
            <a:rect l="l" t="t" r="r" b="b"/>
            <a:pathLst>
              <a:path w="31750" h="4492625">
                <a:moveTo>
                  <a:pt x="31750" y="0"/>
                </a:moveTo>
                <a:lnTo>
                  <a:pt x="31750" y="0"/>
                </a:lnTo>
                <a:lnTo>
                  <a:pt x="31750" y="4492625"/>
                </a:lnTo>
                <a:lnTo>
                  <a:pt x="31750" y="4492625"/>
                </a:lnTo>
                <a:cubicBezTo>
                  <a:pt x="14227" y="4492625"/>
                  <a:pt x="0" y="4478398"/>
                  <a:pt x="0" y="44608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31813" y="1397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41375" y="1365250"/>
            <a:ext cx="2452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Competencia de Modelos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746250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63498" y="682625"/>
                </a:lnTo>
                <a:cubicBezTo>
                  <a:pt x="28429" y="682625"/>
                  <a:pt x="0" y="654196"/>
                  <a:pt x="0" y="6191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3250" y="185737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 (2023)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57105" y="1841500"/>
            <a:ext cx="508000" cy="222250"/>
          </a:xfrm>
          <a:custGeom>
            <a:avLst/>
            <a:gdLst/>
            <a:ahLst/>
            <a:cxnLst/>
            <a:rect l="l" t="t" r="r" b="b"/>
            <a:pathLst>
              <a:path w="508000" h="222250">
                <a:moveTo>
                  <a:pt x="31751" y="0"/>
                </a:moveTo>
                <a:lnTo>
                  <a:pt x="476249" y="0"/>
                </a:lnTo>
                <a:cubicBezTo>
                  <a:pt x="493785" y="0"/>
                  <a:pt x="508000" y="14215"/>
                  <a:pt x="508000" y="31751"/>
                </a:cubicBezTo>
                <a:lnTo>
                  <a:pt x="508000" y="190499"/>
                </a:lnTo>
                <a:cubicBezTo>
                  <a:pt x="508000" y="208035"/>
                  <a:pt x="493785" y="222250"/>
                  <a:pt x="4762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57105" y="1841500"/>
            <a:ext cx="56356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" y="2127250"/>
            <a:ext cx="5222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Multimodal, razonamiento avanzado, 32k contexto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2524125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63498" y="682625"/>
                </a:lnTo>
                <a:cubicBezTo>
                  <a:pt x="28429" y="682625"/>
                  <a:pt x="0" y="654196"/>
                  <a:pt x="0" y="6191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" y="2635250"/>
            <a:ext cx="92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GPT-4o (2024)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57105" y="2619375"/>
            <a:ext cx="508000" cy="222250"/>
          </a:xfrm>
          <a:custGeom>
            <a:avLst/>
            <a:gdLst/>
            <a:ahLst/>
            <a:cxnLst/>
            <a:rect l="l" t="t" r="r" b="b"/>
            <a:pathLst>
              <a:path w="508000" h="222250">
                <a:moveTo>
                  <a:pt x="31751" y="0"/>
                </a:moveTo>
                <a:lnTo>
                  <a:pt x="476249" y="0"/>
                </a:lnTo>
                <a:cubicBezTo>
                  <a:pt x="493785" y="0"/>
                  <a:pt x="508000" y="14215"/>
                  <a:pt x="508000" y="31751"/>
                </a:cubicBezTo>
                <a:lnTo>
                  <a:pt x="508000" y="190499"/>
                </a:lnTo>
                <a:cubicBezTo>
                  <a:pt x="508000" y="208035"/>
                  <a:pt x="493785" y="222250"/>
                  <a:pt x="4762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57105" y="2619375"/>
            <a:ext cx="563563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" y="2905125"/>
            <a:ext cx="5222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Omni-modal nativo, audio/imagen/vídeo en tiempo real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3302000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63498" y="682625"/>
                </a:lnTo>
                <a:cubicBezTo>
                  <a:pt x="28429" y="682625"/>
                  <a:pt x="0" y="654196"/>
                  <a:pt x="0" y="6191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3250" y="3413125"/>
            <a:ext cx="992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Claude 3 (2024)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38167" y="3397250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31751" y="0"/>
                </a:moveTo>
                <a:lnTo>
                  <a:pt x="595312" y="0"/>
                </a:lnTo>
                <a:cubicBezTo>
                  <a:pt x="612847" y="0"/>
                  <a:pt x="627063" y="14215"/>
                  <a:pt x="627063" y="31751"/>
                </a:cubicBezTo>
                <a:lnTo>
                  <a:pt x="627063" y="190499"/>
                </a:lnTo>
                <a:cubicBezTo>
                  <a:pt x="627063" y="208035"/>
                  <a:pt x="612847" y="222250"/>
                  <a:pt x="5953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38167" y="3397250"/>
            <a:ext cx="68262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" y="3683000"/>
            <a:ext cx="5222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Énfasis en seguridad y alineación, 200k contexto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" y="4079875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63498" y="682625"/>
                </a:lnTo>
                <a:cubicBezTo>
                  <a:pt x="28429" y="682625"/>
                  <a:pt x="0" y="654196"/>
                  <a:pt x="0" y="6191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03250" y="4191000"/>
            <a:ext cx="108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 (2023-24)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70996" y="4175125"/>
            <a:ext cx="492125" cy="222250"/>
          </a:xfrm>
          <a:custGeom>
            <a:avLst/>
            <a:gdLst/>
            <a:ahLst/>
            <a:cxnLst/>
            <a:rect l="l" t="t" r="r" b="b"/>
            <a:pathLst>
              <a:path w="492125" h="222250">
                <a:moveTo>
                  <a:pt x="31751" y="0"/>
                </a:moveTo>
                <a:lnTo>
                  <a:pt x="460374" y="0"/>
                </a:lnTo>
                <a:cubicBezTo>
                  <a:pt x="477910" y="0"/>
                  <a:pt x="492125" y="14215"/>
                  <a:pt x="492125" y="31751"/>
                </a:cubicBezTo>
                <a:lnTo>
                  <a:pt x="492125" y="190499"/>
                </a:lnTo>
                <a:cubicBezTo>
                  <a:pt x="492125" y="208035"/>
                  <a:pt x="477910" y="222250"/>
                  <a:pt x="460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70996" y="4175125"/>
            <a:ext cx="54768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250" y="4460875"/>
            <a:ext cx="5222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Integración profunda con ecosistema Google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000" y="4857750"/>
            <a:ext cx="5349875" cy="682625"/>
          </a:xfrm>
          <a:custGeom>
            <a:avLst/>
            <a:gdLst/>
            <a:ahLst/>
            <a:cxnLst/>
            <a:rect l="l" t="t" r="r" b="b"/>
            <a:pathLst>
              <a:path w="5349875" h="682625">
                <a:moveTo>
                  <a:pt x="63498" y="0"/>
                </a:moveTo>
                <a:lnTo>
                  <a:pt x="5286377" y="0"/>
                </a:lnTo>
                <a:cubicBezTo>
                  <a:pt x="5321446" y="0"/>
                  <a:pt x="5349875" y="28429"/>
                  <a:pt x="5349875" y="63498"/>
                </a:cubicBezTo>
                <a:lnTo>
                  <a:pt x="5349875" y="619127"/>
                </a:lnTo>
                <a:cubicBezTo>
                  <a:pt x="5349875" y="654196"/>
                  <a:pt x="5321446" y="682625"/>
                  <a:pt x="5286377" y="682625"/>
                </a:cubicBezTo>
                <a:lnTo>
                  <a:pt x="63498" y="682625"/>
                </a:lnTo>
                <a:cubicBezTo>
                  <a:pt x="28429" y="682625"/>
                  <a:pt x="0" y="654196"/>
                  <a:pt x="0" y="619127"/>
                </a:cubicBezTo>
                <a:lnTo>
                  <a:pt x="0" y="63498"/>
                </a:lnTo>
                <a:cubicBezTo>
                  <a:pt x="0" y="28452"/>
                  <a:pt x="28452" y="0"/>
                  <a:pt x="63498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03250" y="4968875"/>
            <a:ext cx="1389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LLaMA 3 / Grok (2024)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17579" y="4953000"/>
            <a:ext cx="642938" cy="222250"/>
          </a:xfrm>
          <a:custGeom>
            <a:avLst/>
            <a:gdLst/>
            <a:ahLst/>
            <a:cxnLst/>
            <a:rect l="l" t="t" r="r" b="b"/>
            <a:pathLst>
              <a:path w="642938" h="222250">
                <a:moveTo>
                  <a:pt x="31751" y="0"/>
                </a:moveTo>
                <a:lnTo>
                  <a:pt x="611187" y="0"/>
                </a:lnTo>
                <a:cubicBezTo>
                  <a:pt x="628722" y="0"/>
                  <a:pt x="642938" y="14215"/>
                  <a:pt x="642938" y="31751"/>
                </a:cubicBezTo>
                <a:lnTo>
                  <a:pt x="642938" y="190499"/>
                </a:lnTo>
                <a:cubicBezTo>
                  <a:pt x="642938" y="208035"/>
                  <a:pt x="628722" y="222250"/>
                  <a:pt x="611187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117579" y="4953000"/>
            <a:ext cx="698500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/ xAI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3250" y="5238750"/>
            <a:ext cx="522287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abiertos y con acceso a datos en tiempo real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3375" y="5826125"/>
            <a:ext cx="5683250" cy="1968500"/>
          </a:xfrm>
          <a:custGeom>
            <a:avLst/>
            <a:gdLst/>
            <a:ahLst/>
            <a:cxnLst/>
            <a:rect l="l" t="t" r="r" b="b"/>
            <a:pathLst>
              <a:path w="5683250" h="1968500">
                <a:moveTo>
                  <a:pt x="31750" y="0"/>
                </a:moveTo>
                <a:lnTo>
                  <a:pt x="5587994" y="0"/>
                </a:lnTo>
                <a:cubicBezTo>
                  <a:pt x="5640567" y="0"/>
                  <a:pt x="5683250" y="42683"/>
                  <a:pt x="5683250" y="95256"/>
                </a:cubicBezTo>
                <a:lnTo>
                  <a:pt x="5683250" y="1873244"/>
                </a:lnTo>
                <a:cubicBezTo>
                  <a:pt x="5683250" y="1925853"/>
                  <a:pt x="5640603" y="1968500"/>
                  <a:pt x="5587994" y="1968500"/>
                </a:cubicBezTo>
                <a:lnTo>
                  <a:pt x="31750" y="1968500"/>
                </a:lnTo>
                <a:cubicBezTo>
                  <a:pt x="14215" y="1968500"/>
                  <a:pt x="0" y="1954285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333375" y="5826125"/>
            <a:ext cx="31750" cy="1968500"/>
          </a:xfrm>
          <a:custGeom>
            <a:avLst/>
            <a:gdLst/>
            <a:ahLst/>
            <a:cxnLst/>
            <a:rect l="l" t="t" r="r" b="b"/>
            <a:pathLst>
              <a:path w="31750" h="1968500">
                <a:moveTo>
                  <a:pt x="31750" y="0"/>
                </a:moveTo>
                <a:lnTo>
                  <a:pt x="31750" y="0"/>
                </a:lnTo>
                <a:lnTo>
                  <a:pt x="31750" y="1968500"/>
                </a:lnTo>
                <a:lnTo>
                  <a:pt x="31750" y="1968500"/>
                </a:lnTo>
                <a:cubicBezTo>
                  <a:pt x="14227" y="1968500"/>
                  <a:pt x="0" y="1954273"/>
                  <a:pt x="0" y="193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Shape 34"/>
          <p:cNvSpPr/>
          <p:nvPr/>
        </p:nvSpPr>
        <p:spPr>
          <a:xfrm>
            <a:off x="519906" y="60007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841375" y="5984875"/>
            <a:ext cx="9763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Sora (2024)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8000" y="6302375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 presenta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a vídeo realista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generando clips de alta calidad a partir de descripciones textuales.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8000" y="6810375"/>
            <a:ext cx="5349875" cy="825500"/>
          </a:xfrm>
          <a:custGeom>
            <a:avLst/>
            <a:gdLst/>
            <a:ahLst/>
            <a:cxnLst/>
            <a:rect l="l" t="t" r="r" b="b"/>
            <a:pathLst>
              <a:path w="5349875" h="825500">
                <a:moveTo>
                  <a:pt x="63497" y="0"/>
                </a:moveTo>
                <a:lnTo>
                  <a:pt x="5286378" y="0"/>
                </a:lnTo>
                <a:cubicBezTo>
                  <a:pt x="5321446" y="0"/>
                  <a:pt x="5349875" y="28429"/>
                  <a:pt x="5349875" y="63497"/>
                </a:cubicBezTo>
                <a:lnTo>
                  <a:pt x="5349875" y="762003"/>
                </a:lnTo>
                <a:cubicBezTo>
                  <a:pt x="5349875" y="797071"/>
                  <a:pt x="5321446" y="825500"/>
                  <a:pt x="5286378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03250" y="6905625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Capacidades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3250" y="7127875"/>
            <a:ext cx="5222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Vídeos de hasta 60 segundos, comprensión física del mundo real, consistencia temporal.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9344" y="1210469"/>
            <a:ext cx="5691188" cy="3262313"/>
          </a:xfrm>
          <a:custGeom>
            <a:avLst/>
            <a:gdLst/>
            <a:ahLst/>
            <a:cxnLst/>
            <a:rect l="l" t="t" r="r" b="b"/>
            <a:pathLst>
              <a:path w="5691188" h="3262313">
                <a:moveTo>
                  <a:pt x="95260" y="0"/>
                </a:moveTo>
                <a:lnTo>
                  <a:pt x="5595928" y="0"/>
                </a:lnTo>
                <a:cubicBezTo>
                  <a:pt x="5648538" y="0"/>
                  <a:pt x="5691188" y="42649"/>
                  <a:pt x="5691188" y="95260"/>
                </a:cubicBezTo>
                <a:lnTo>
                  <a:pt x="5691188" y="3167053"/>
                </a:lnTo>
                <a:cubicBezTo>
                  <a:pt x="5691188" y="3219663"/>
                  <a:pt x="5648538" y="3262313"/>
                  <a:pt x="5595928" y="3262313"/>
                </a:cubicBezTo>
                <a:lnTo>
                  <a:pt x="95260" y="3262313"/>
                </a:lnTo>
                <a:cubicBezTo>
                  <a:pt x="42649" y="3262313"/>
                  <a:pt x="0" y="3219663"/>
                  <a:pt x="0" y="3167053"/>
                </a:cubicBezTo>
                <a:lnTo>
                  <a:pt x="0" y="95260"/>
                </a:lnTo>
                <a:cubicBezTo>
                  <a:pt x="0" y="42649"/>
                  <a:pt x="42649" y="0"/>
                  <a:pt x="9526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2063" y="140493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438" y="1373188"/>
            <a:ext cx="2230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EU AI Act (Marzo 2024)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42063" y="1754188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Primera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regulación comprehensiva mundial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sobre inteligencia artificial, estableciendo un marco legal para el desarrollo y uso responsable de la IA.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42063" y="2293938"/>
            <a:ext cx="5365750" cy="1301750"/>
          </a:xfrm>
          <a:custGeom>
            <a:avLst/>
            <a:gdLst/>
            <a:ahLst/>
            <a:cxnLst/>
            <a:rect l="l" t="t" r="r" b="b"/>
            <a:pathLst>
              <a:path w="5365750" h="1301750">
                <a:moveTo>
                  <a:pt x="63499" y="0"/>
                </a:moveTo>
                <a:lnTo>
                  <a:pt x="5302251" y="0"/>
                </a:lnTo>
                <a:cubicBezTo>
                  <a:pt x="5337320" y="0"/>
                  <a:pt x="5365750" y="28430"/>
                  <a:pt x="5365750" y="63499"/>
                </a:cubicBezTo>
                <a:lnTo>
                  <a:pt x="5365750" y="1238251"/>
                </a:lnTo>
                <a:cubicBezTo>
                  <a:pt x="5365750" y="1273320"/>
                  <a:pt x="5337320" y="1301750"/>
                  <a:pt x="5302251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37313" y="238918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Clasificación de Riesgo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37313" y="2643188"/>
            <a:ext cx="119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Inaceptable: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633519" y="2643188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Sistemas prohibidos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37313" y="2865438"/>
            <a:ext cx="754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890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Alto Riesgo: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90011" y="2865438"/>
            <a:ext cx="119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Requisitos estrictos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37313" y="3087688"/>
            <a:ext cx="102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DC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Riesgo Limitado: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63730" y="3087688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Transparencia requerida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37313" y="3309938"/>
            <a:ext cx="944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Mínimo Riesgo: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85720" y="3309938"/>
            <a:ext cx="84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Libertad total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42063" y="3690937"/>
            <a:ext cx="5365750" cy="619125"/>
          </a:xfrm>
          <a:custGeom>
            <a:avLst/>
            <a:gdLst/>
            <a:ahLst/>
            <a:cxnLst/>
            <a:rect l="l" t="t" r="r" b="b"/>
            <a:pathLst>
              <a:path w="5365750" h="619125">
                <a:moveTo>
                  <a:pt x="63497" y="0"/>
                </a:moveTo>
                <a:lnTo>
                  <a:pt x="5302253" y="0"/>
                </a:lnTo>
                <a:cubicBezTo>
                  <a:pt x="5337321" y="0"/>
                  <a:pt x="5365750" y="28429"/>
                  <a:pt x="5365750" y="63497"/>
                </a:cubicBezTo>
                <a:lnTo>
                  <a:pt x="5365750" y="555628"/>
                </a:lnTo>
                <a:cubicBezTo>
                  <a:pt x="5365750" y="590696"/>
                  <a:pt x="5337321" y="619125"/>
                  <a:pt x="5302253" y="619125"/>
                </a:cubicBezTo>
                <a:lnTo>
                  <a:pt x="63497" y="619125"/>
                </a:lnTo>
                <a:cubicBezTo>
                  <a:pt x="28429" y="619125"/>
                  <a:pt x="0" y="590696"/>
                  <a:pt x="0" y="555628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437313" y="3786188"/>
            <a:ext cx="523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Multas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37313" y="4008438"/>
            <a:ext cx="52387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Hasta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€35M o 7% del volumen de negocio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global anual.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91250" y="4603750"/>
            <a:ext cx="5683250" cy="1746250"/>
          </a:xfrm>
          <a:custGeom>
            <a:avLst/>
            <a:gdLst/>
            <a:ahLst/>
            <a:cxnLst/>
            <a:rect l="l" t="t" r="r" b="b"/>
            <a:pathLst>
              <a:path w="5683250" h="1746250">
                <a:moveTo>
                  <a:pt x="31750" y="0"/>
                </a:moveTo>
                <a:lnTo>
                  <a:pt x="5587992" y="0"/>
                </a:lnTo>
                <a:cubicBezTo>
                  <a:pt x="5640602" y="0"/>
                  <a:pt x="5683250" y="42648"/>
                  <a:pt x="5683250" y="95258"/>
                </a:cubicBezTo>
                <a:lnTo>
                  <a:pt x="5683250" y="1650992"/>
                </a:lnTo>
                <a:cubicBezTo>
                  <a:pt x="5683250" y="1703602"/>
                  <a:pt x="5640602" y="1746250"/>
                  <a:pt x="5587992" y="1746250"/>
                </a:cubicBezTo>
                <a:lnTo>
                  <a:pt x="31750" y="1746250"/>
                </a:lnTo>
                <a:cubicBezTo>
                  <a:pt x="14215" y="1746250"/>
                  <a:pt x="0" y="1732035"/>
                  <a:pt x="0" y="171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0" name="Shape 58"/>
          <p:cNvSpPr/>
          <p:nvPr/>
        </p:nvSpPr>
        <p:spPr>
          <a:xfrm>
            <a:off x="6191250" y="4603750"/>
            <a:ext cx="31750" cy="1746250"/>
          </a:xfrm>
          <a:custGeom>
            <a:avLst/>
            <a:gdLst/>
            <a:ahLst/>
            <a:cxnLst/>
            <a:rect l="l" t="t" r="r" b="b"/>
            <a:pathLst>
              <a:path w="31750" h="1746250">
                <a:moveTo>
                  <a:pt x="31750" y="0"/>
                </a:moveTo>
                <a:lnTo>
                  <a:pt x="31750" y="0"/>
                </a:lnTo>
                <a:lnTo>
                  <a:pt x="31750" y="1746250"/>
                </a:lnTo>
                <a:lnTo>
                  <a:pt x="31750" y="1746250"/>
                </a:lnTo>
                <a:cubicBezTo>
                  <a:pt x="14227" y="1746250"/>
                  <a:pt x="0" y="1732023"/>
                  <a:pt x="0" y="1714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1" name="Shape 59"/>
          <p:cNvSpPr/>
          <p:nvPr/>
        </p:nvSpPr>
        <p:spPr>
          <a:xfrm>
            <a:off x="6389688" y="4778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604" y="105966"/>
                </a:moveTo>
                <a:cubicBezTo>
                  <a:pt x="20166" y="106747"/>
                  <a:pt x="21952" y="107156"/>
                  <a:pt x="23812" y="107156"/>
                </a:cubicBezTo>
                <a:lnTo>
                  <a:pt x="42676" y="107156"/>
                </a:lnTo>
                <a:cubicBezTo>
                  <a:pt x="45839" y="107156"/>
                  <a:pt x="48853" y="108421"/>
                  <a:pt x="51085" y="110654"/>
                </a:cubicBezTo>
                <a:lnTo>
                  <a:pt x="56034" y="115602"/>
                </a:lnTo>
                <a:cubicBezTo>
                  <a:pt x="58266" y="117835"/>
                  <a:pt x="61280" y="119100"/>
                  <a:pt x="64443" y="119100"/>
                </a:cubicBezTo>
                <a:lnTo>
                  <a:pt x="71400" y="119100"/>
                </a:lnTo>
                <a:cubicBezTo>
                  <a:pt x="77986" y="119100"/>
                  <a:pt x="83307" y="113779"/>
                  <a:pt x="83307" y="107193"/>
                </a:cubicBezTo>
                <a:lnTo>
                  <a:pt x="83307" y="92311"/>
                </a:lnTo>
                <a:cubicBezTo>
                  <a:pt x="83307" y="87362"/>
                  <a:pt x="87288" y="83381"/>
                  <a:pt x="92236" y="83381"/>
                </a:cubicBezTo>
                <a:cubicBezTo>
                  <a:pt x="97185" y="83381"/>
                  <a:pt x="101166" y="79400"/>
                  <a:pt x="101166" y="74451"/>
                </a:cubicBezTo>
                <a:lnTo>
                  <a:pt x="101166" y="58564"/>
                </a:lnTo>
                <a:cubicBezTo>
                  <a:pt x="101166" y="55401"/>
                  <a:pt x="102431" y="52387"/>
                  <a:pt x="104663" y="50155"/>
                </a:cubicBezTo>
                <a:lnTo>
                  <a:pt x="109612" y="45207"/>
                </a:lnTo>
                <a:cubicBezTo>
                  <a:pt x="111844" y="42974"/>
                  <a:pt x="113109" y="39960"/>
                  <a:pt x="113109" y="36798"/>
                </a:cubicBezTo>
                <a:lnTo>
                  <a:pt x="113109" y="21208"/>
                </a:lnTo>
                <a:cubicBezTo>
                  <a:pt x="113109" y="20762"/>
                  <a:pt x="113072" y="20352"/>
                  <a:pt x="113035" y="19906"/>
                </a:cubicBezTo>
                <a:cubicBezTo>
                  <a:pt x="107305" y="18566"/>
                  <a:pt x="101352" y="17859"/>
                  <a:pt x="95250" y="17859"/>
                </a:cubicBezTo>
                <a:cubicBezTo>
                  <a:pt x="52499" y="17859"/>
                  <a:pt x="17859" y="52499"/>
                  <a:pt x="17859" y="95250"/>
                </a:cubicBezTo>
                <a:cubicBezTo>
                  <a:pt x="17859" y="98896"/>
                  <a:pt x="18120" y="102468"/>
                  <a:pt x="18604" y="105966"/>
                </a:cubicBezTo>
                <a:close/>
                <a:moveTo>
                  <a:pt x="168659" y="119844"/>
                </a:moveTo>
                <a:cubicBezTo>
                  <a:pt x="167469" y="119323"/>
                  <a:pt x="166167" y="119063"/>
                  <a:pt x="164753" y="119063"/>
                </a:cubicBezTo>
                <a:lnTo>
                  <a:pt x="160734" y="119063"/>
                </a:lnTo>
                <a:cubicBezTo>
                  <a:pt x="157460" y="119063"/>
                  <a:pt x="154781" y="116384"/>
                  <a:pt x="154781" y="113109"/>
                </a:cubicBezTo>
                <a:cubicBezTo>
                  <a:pt x="154781" y="109835"/>
                  <a:pt x="152102" y="107156"/>
                  <a:pt x="148828" y="107156"/>
                </a:cubicBezTo>
                <a:lnTo>
                  <a:pt x="135917" y="107156"/>
                </a:lnTo>
                <a:cubicBezTo>
                  <a:pt x="132755" y="107156"/>
                  <a:pt x="129741" y="108421"/>
                  <a:pt x="127508" y="110654"/>
                </a:cubicBezTo>
                <a:lnTo>
                  <a:pt x="110654" y="127508"/>
                </a:lnTo>
                <a:cubicBezTo>
                  <a:pt x="108421" y="129741"/>
                  <a:pt x="107156" y="132755"/>
                  <a:pt x="107156" y="135917"/>
                </a:cubicBezTo>
                <a:lnTo>
                  <a:pt x="107156" y="142875"/>
                </a:lnTo>
                <a:cubicBezTo>
                  <a:pt x="107156" y="149461"/>
                  <a:pt x="112477" y="154781"/>
                  <a:pt x="119063" y="154781"/>
                </a:cubicBezTo>
                <a:lnTo>
                  <a:pt x="126020" y="154781"/>
                </a:lnTo>
                <a:cubicBezTo>
                  <a:pt x="129183" y="154781"/>
                  <a:pt x="132197" y="156046"/>
                  <a:pt x="134429" y="158279"/>
                </a:cubicBezTo>
                <a:cubicBezTo>
                  <a:pt x="135248" y="159097"/>
                  <a:pt x="136178" y="159804"/>
                  <a:pt x="137145" y="160325"/>
                </a:cubicBezTo>
                <a:cubicBezTo>
                  <a:pt x="151767" y="150875"/>
                  <a:pt x="163004" y="136661"/>
                  <a:pt x="168622" y="119844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47625" y="136922"/>
                </a:moveTo>
                <a:cubicBezTo>
                  <a:pt x="47625" y="140196"/>
                  <a:pt x="50304" y="142875"/>
                  <a:pt x="53578" y="142875"/>
                </a:cubicBezTo>
                <a:lnTo>
                  <a:pt x="65484" y="142875"/>
                </a:lnTo>
                <a:cubicBezTo>
                  <a:pt x="68759" y="142875"/>
                  <a:pt x="71438" y="140196"/>
                  <a:pt x="71438" y="136922"/>
                </a:cubicBezTo>
                <a:cubicBezTo>
                  <a:pt x="71438" y="133648"/>
                  <a:pt x="68759" y="130969"/>
                  <a:pt x="65484" y="130969"/>
                </a:cubicBezTo>
                <a:lnTo>
                  <a:pt x="53578" y="130969"/>
                </a:lnTo>
                <a:cubicBezTo>
                  <a:pt x="50304" y="130969"/>
                  <a:pt x="47625" y="133648"/>
                  <a:pt x="47625" y="136922"/>
                </a:cubicBezTo>
                <a:close/>
                <a:moveTo>
                  <a:pt x="101203" y="95250"/>
                </a:moveTo>
                <a:cubicBezTo>
                  <a:pt x="97929" y="95250"/>
                  <a:pt x="95250" y="97929"/>
                  <a:pt x="95250" y="101203"/>
                </a:cubicBezTo>
                <a:lnTo>
                  <a:pt x="95250" y="113109"/>
                </a:lnTo>
                <a:cubicBezTo>
                  <a:pt x="95250" y="116384"/>
                  <a:pt x="97929" y="119063"/>
                  <a:pt x="101203" y="119063"/>
                </a:cubicBezTo>
                <a:cubicBezTo>
                  <a:pt x="104477" y="119063"/>
                  <a:pt x="107156" y="116384"/>
                  <a:pt x="107156" y="113109"/>
                </a:cubicBezTo>
                <a:lnTo>
                  <a:pt x="107156" y="101203"/>
                </a:lnTo>
                <a:cubicBezTo>
                  <a:pt x="107156" y="97929"/>
                  <a:pt x="104477" y="95250"/>
                  <a:pt x="101203" y="95250"/>
                </a:cubicBezTo>
                <a:close/>
                <a:moveTo>
                  <a:pt x="119063" y="53578"/>
                </a:moveTo>
                <a:lnTo>
                  <a:pt x="119063" y="65484"/>
                </a:lnTo>
                <a:cubicBezTo>
                  <a:pt x="119063" y="68759"/>
                  <a:pt x="121741" y="71438"/>
                  <a:pt x="125016" y="71438"/>
                </a:cubicBezTo>
                <a:cubicBezTo>
                  <a:pt x="128290" y="71438"/>
                  <a:pt x="130969" y="68759"/>
                  <a:pt x="130969" y="65484"/>
                </a:cubicBezTo>
                <a:lnTo>
                  <a:pt x="130969" y="53578"/>
                </a:lnTo>
                <a:cubicBezTo>
                  <a:pt x="130969" y="50304"/>
                  <a:pt x="128290" y="47625"/>
                  <a:pt x="125016" y="47625"/>
                </a:cubicBezTo>
                <a:cubicBezTo>
                  <a:pt x="121741" y="47625"/>
                  <a:pt x="119063" y="50304"/>
                  <a:pt x="119063" y="5357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2" name="Text 60"/>
          <p:cNvSpPr/>
          <p:nvPr/>
        </p:nvSpPr>
        <p:spPr>
          <a:xfrm>
            <a:off x="6699250" y="4762500"/>
            <a:ext cx="1587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Competencia China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65875" y="5080000"/>
            <a:ext cx="5413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chinos alcanzan competitividad global, impulsados por inversión masiva y soberanía tecnológica.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65875" y="5588000"/>
            <a:ext cx="2627313" cy="603250"/>
          </a:xfrm>
          <a:custGeom>
            <a:avLst/>
            <a:gdLst/>
            <a:ahLst/>
            <a:cxnLst/>
            <a:rect l="l" t="t" r="r" b="b"/>
            <a:pathLst>
              <a:path w="2627313" h="603250">
                <a:moveTo>
                  <a:pt x="63498" y="0"/>
                </a:moveTo>
                <a:lnTo>
                  <a:pt x="2563814" y="0"/>
                </a:lnTo>
                <a:cubicBezTo>
                  <a:pt x="2598883" y="0"/>
                  <a:pt x="2627313" y="28429"/>
                  <a:pt x="2627313" y="63498"/>
                </a:cubicBezTo>
                <a:lnTo>
                  <a:pt x="2627313" y="539752"/>
                </a:lnTo>
                <a:cubicBezTo>
                  <a:pt x="2627313" y="574821"/>
                  <a:pt x="2598883" y="603250"/>
                  <a:pt x="2563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429375" y="5683250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DeepSeek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29375" y="5905500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Razonamiento avanzado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088438" y="5588000"/>
            <a:ext cx="2627313" cy="603250"/>
          </a:xfrm>
          <a:custGeom>
            <a:avLst/>
            <a:gdLst/>
            <a:ahLst/>
            <a:cxnLst/>
            <a:rect l="l" t="t" r="r" b="b"/>
            <a:pathLst>
              <a:path w="2627313" h="603250">
                <a:moveTo>
                  <a:pt x="63498" y="0"/>
                </a:moveTo>
                <a:lnTo>
                  <a:pt x="2563814" y="0"/>
                </a:lnTo>
                <a:cubicBezTo>
                  <a:pt x="2598883" y="0"/>
                  <a:pt x="2627313" y="28429"/>
                  <a:pt x="2627313" y="63498"/>
                </a:cubicBezTo>
                <a:lnTo>
                  <a:pt x="2627313" y="539752"/>
                </a:lnTo>
                <a:cubicBezTo>
                  <a:pt x="2627313" y="574821"/>
                  <a:pt x="2598883" y="603250"/>
                  <a:pt x="2563814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9151938" y="5683250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Qwen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151938" y="5905500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Alibaba, multimodal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b79b7d8227fc5040f0302575e39c4a40fcb880c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444" r="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8000"/>
                </a:srgbClr>
              </a:gs>
              <a:gs pos="50000">
                <a:srgbClr val="0A0E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163241"/>
            <a:ext cx="1571625" cy="428625"/>
          </a:xfrm>
          <a:custGeom>
            <a:avLst/>
            <a:gdLst/>
            <a:ahLst/>
            <a:cxnLst/>
            <a:rect l="l" t="t" r="r" b="b"/>
            <a:pathLst>
              <a:path w="1571625" h="428625">
                <a:moveTo>
                  <a:pt x="214313" y="0"/>
                </a:moveTo>
                <a:lnTo>
                  <a:pt x="1357313" y="0"/>
                </a:lnTo>
                <a:cubicBezTo>
                  <a:pt x="1475595" y="0"/>
                  <a:pt x="1571625" y="96030"/>
                  <a:pt x="1571625" y="214313"/>
                </a:cubicBezTo>
                <a:lnTo>
                  <a:pt x="1571625" y="214313"/>
                </a:lnTo>
                <a:cubicBezTo>
                  <a:pt x="1571625" y="332595"/>
                  <a:pt x="1475595" y="428625"/>
                  <a:pt x="13573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263253"/>
            <a:ext cx="126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CAPÍTULO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5228"/>
            <a:ext cx="838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Producción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y Agentes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82628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244578"/>
            <a:ext cx="80676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2025-2026: De la Experimentación a la Infraestructura Empresarial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52804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147072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Período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5375672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1+ años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03388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265313" y="528042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2865388" y="5147072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65388" y="5375672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Producción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159300" y="508992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349800" y="528042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4921300" y="5147072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Legado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921300" y="5375672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Infraestructura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Aceleración Responsable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1000" y="1466850"/>
            <a:ext cx="3705225" cy="3581400"/>
          </a:xfrm>
          <a:custGeom>
            <a:avLst/>
            <a:gdLst/>
            <a:ahLst/>
            <a:cxnLst/>
            <a:rect l="l" t="t" r="r" b="b"/>
            <a:pathLst>
              <a:path w="3705225" h="35814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467118"/>
                </a:lnTo>
                <a:cubicBezTo>
                  <a:pt x="3705225" y="3530234"/>
                  <a:pt x="3654059" y="3581400"/>
                  <a:pt x="3590943" y="3581400"/>
                </a:cubicBezTo>
                <a:lnTo>
                  <a:pt x="114282" y="3581400"/>
                </a:lnTo>
                <a:cubicBezTo>
                  <a:pt x="51166" y="3581400"/>
                  <a:pt x="0" y="3530234"/>
                  <a:pt x="0" y="346711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1000" y="1466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1038" y="18097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77165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Agentes Autónomos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860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Agentes de IA pasan 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experimentos a pilotos masivos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ejecutando flujos de trabajo complejos de manera autónoma.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3143250"/>
            <a:ext cx="3324225" cy="1714500"/>
          </a:xfrm>
          <a:custGeom>
            <a:avLst/>
            <a:gdLst/>
            <a:ahLst/>
            <a:cxnLst/>
            <a:rect l="l" t="t" r="r" b="b"/>
            <a:pathLst>
              <a:path w="3324225" h="1714500">
                <a:moveTo>
                  <a:pt x="76192" y="0"/>
                </a:moveTo>
                <a:lnTo>
                  <a:pt x="3248033" y="0"/>
                </a:lnTo>
                <a:cubicBezTo>
                  <a:pt x="3290113" y="0"/>
                  <a:pt x="3324225" y="34112"/>
                  <a:pt x="3324225" y="76192"/>
                </a:cubicBezTo>
                <a:lnTo>
                  <a:pt x="3324225" y="1638308"/>
                </a:lnTo>
                <a:cubicBezTo>
                  <a:pt x="3324225" y="1680388"/>
                  <a:pt x="3290113" y="1714500"/>
                  <a:pt x="3248033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23900" y="340995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 Clave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1284" y="3790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966788" y="3752850"/>
            <a:ext cx="2543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AutoGPT: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Agentes auto-mejorables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1284" y="40957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966788" y="405765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BabyAGI: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Gestión de tareas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1284" y="4400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966788" y="436245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Agentes multi-propósito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1750" y="1466850"/>
            <a:ext cx="3705225" cy="3581400"/>
          </a:xfrm>
          <a:custGeom>
            <a:avLst/>
            <a:gdLst/>
            <a:ahLst/>
            <a:cxnLst/>
            <a:rect l="l" t="t" r="r" b="b"/>
            <a:pathLst>
              <a:path w="3705225" h="35814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467118"/>
                </a:lnTo>
                <a:cubicBezTo>
                  <a:pt x="3705225" y="3530234"/>
                  <a:pt x="3654059" y="3581400"/>
                  <a:pt x="3590943" y="3581400"/>
                </a:cubicBezTo>
                <a:lnTo>
                  <a:pt x="114282" y="3581400"/>
                </a:lnTo>
                <a:cubicBezTo>
                  <a:pt x="51166" y="3581400"/>
                  <a:pt x="0" y="3530234"/>
                  <a:pt x="0" y="346711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4241750" y="1466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225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65600" y="1809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003750" y="177165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Razonamiento Avanzado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32250" y="22860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 lanza modelos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o1 y o3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diseñados específicamente para razonamiento profundo y resolución de problemas complejos.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2250" y="3143250"/>
            <a:ext cx="3324225" cy="1714500"/>
          </a:xfrm>
          <a:custGeom>
            <a:avLst/>
            <a:gdLst/>
            <a:ahLst/>
            <a:cxnLst/>
            <a:rect l="l" t="t" r="r" b="b"/>
            <a:pathLst>
              <a:path w="3324225" h="1714500">
                <a:moveTo>
                  <a:pt x="76192" y="0"/>
                </a:moveTo>
                <a:lnTo>
                  <a:pt x="3248033" y="0"/>
                </a:lnTo>
                <a:cubicBezTo>
                  <a:pt x="3290113" y="0"/>
                  <a:pt x="3324225" y="34112"/>
                  <a:pt x="3324225" y="76192"/>
                </a:cubicBezTo>
                <a:lnTo>
                  <a:pt x="3324225" y="1638308"/>
                </a:lnTo>
                <a:cubicBezTo>
                  <a:pt x="3324225" y="1680388"/>
                  <a:pt x="3290113" y="1714500"/>
                  <a:pt x="3248033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84650" y="329565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07272" y="36766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819352" y="3638550"/>
            <a:ext cx="2867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Razonamiento de cadena de pensamiento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12035" y="4210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4827538" y="41719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 en matemáticas y ciencias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12035" y="45148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827538" y="447675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Verificación automática de respuestas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2501" y="1466850"/>
            <a:ext cx="3705225" cy="3581400"/>
          </a:xfrm>
          <a:custGeom>
            <a:avLst/>
            <a:gdLst/>
            <a:ahLst/>
            <a:cxnLst/>
            <a:rect l="l" t="t" r="r" b="b"/>
            <a:pathLst>
              <a:path w="3705225" h="35814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467118"/>
                </a:lnTo>
                <a:cubicBezTo>
                  <a:pt x="3705225" y="3530234"/>
                  <a:pt x="3654059" y="3581400"/>
                  <a:pt x="3590943" y="3581400"/>
                </a:cubicBezTo>
                <a:lnTo>
                  <a:pt x="114282" y="3581400"/>
                </a:lnTo>
                <a:cubicBezTo>
                  <a:pt x="51166" y="3581400"/>
                  <a:pt x="0" y="3530234"/>
                  <a:pt x="0" y="346711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8102501" y="14668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Shape 33"/>
          <p:cNvSpPr/>
          <p:nvPr/>
        </p:nvSpPr>
        <p:spPr>
          <a:xfrm>
            <a:off x="8293001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38257" y="1809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35719"/>
                </a:lnTo>
                <a:close/>
                <a:moveTo>
                  <a:pt x="17859" y="136922"/>
                </a:moveTo>
                <a:lnTo>
                  <a:pt x="17859" y="148828"/>
                </a:lnTo>
                <a:cubicBezTo>
                  <a:pt x="17859" y="152102"/>
                  <a:pt x="20538" y="154781"/>
                  <a:pt x="23812" y="154781"/>
                </a:cubicBezTo>
                <a:lnTo>
                  <a:pt x="35719" y="154781"/>
                </a:lnTo>
                <a:cubicBezTo>
                  <a:pt x="38993" y="154781"/>
                  <a:pt x="41672" y="152102"/>
                  <a:pt x="41672" y="148828"/>
                </a:cubicBezTo>
                <a:lnTo>
                  <a:pt x="41672" y="136922"/>
                </a:lnTo>
                <a:cubicBezTo>
                  <a:pt x="41672" y="133648"/>
                  <a:pt x="38993" y="130969"/>
                  <a:pt x="35719" y="130969"/>
                </a:cubicBezTo>
                <a:lnTo>
                  <a:pt x="23812" y="130969"/>
                </a:lnTo>
                <a:cubicBezTo>
                  <a:pt x="20538" y="130969"/>
                  <a:pt x="17859" y="133648"/>
                  <a:pt x="17859" y="136922"/>
                </a:cubicBezTo>
                <a:close/>
                <a:moveTo>
                  <a:pt x="130969" y="130969"/>
                </a:moveTo>
                <a:cubicBezTo>
                  <a:pt x="127695" y="130969"/>
                  <a:pt x="125016" y="133648"/>
                  <a:pt x="125016" y="136922"/>
                </a:cubicBezTo>
                <a:lnTo>
                  <a:pt x="125016" y="148828"/>
                </a:lnTo>
                <a:cubicBezTo>
                  <a:pt x="125016" y="152102"/>
                  <a:pt x="127695" y="154781"/>
                  <a:pt x="130969" y="154781"/>
                </a:cubicBezTo>
                <a:lnTo>
                  <a:pt x="142875" y="154781"/>
                </a:lnTo>
                <a:cubicBezTo>
                  <a:pt x="146149" y="154781"/>
                  <a:pt x="148828" y="152102"/>
                  <a:pt x="148828" y="148828"/>
                </a:cubicBezTo>
                <a:lnTo>
                  <a:pt x="148828" y="136922"/>
                </a:lnTo>
                <a:cubicBezTo>
                  <a:pt x="148828" y="133648"/>
                  <a:pt x="146149" y="130969"/>
                  <a:pt x="142875" y="130969"/>
                </a:cubicBezTo>
                <a:lnTo>
                  <a:pt x="130969" y="130969"/>
                </a:lnTo>
                <a:close/>
                <a:moveTo>
                  <a:pt x="17859" y="89297"/>
                </a:moveTo>
                <a:lnTo>
                  <a:pt x="17859" y="101203"/>
                </a:lnTo>
                <a:cubicBezTo>
                  <a:pt x="17859" y="104477"/>
                  <a:pt x="20538" y="107156"/>
                  <a:pt x="23812" y="107156"/>
                </a:cubicBezTo>
                <a:lnTo>
                  <a:pt x="35719" y="107156"/>
                </a:lnTo>
                <a:cubicBezTo>
                  <a:pt x="38993" y="107156"/>
                  <a:pt x="41672" y="104477"/>
                  <a:pt x="41672" y="101203"/>
                </a:cubicBezTo>
                <a:lnTo>
                  <a:pt x="41672" y="89297"/>
                </a:lnTo>
                <a:cubicBezTo>
                  <a:pt x="41672" y="86023"/>
                  <a:pt x="38993" y="83344"/>
                  <a:pt x="35719" y="83344"/>
                </a:cubicBezTo>
                <a:lnTo>
                  <a:pt x="23812" y="83344"/>
                </a:lnTo>
                <a:cubicBezTo>
                  <a:pt x="20538" y="83344"/>
                  <a:pt x="17859" y="86023"/>
                  <a:pt x="17859" y="89297"/>
                </a:cubicBezTo>
                <a:close/>
                <a:moveTo>
                  <a:pt x="130969" y="83344"/>
                </a:moveTo>
                <a:cubicBezTo>
                  <a:pt x="127695" y="83344"/>
                  <a:pt x="125016" y="86023"/>
                  <a:pt x="125016" y="89297"/>
                </a:cubicBezTo>
                <a:lnTo>
                  <a:pt x="125016" y="101203"/>
                </a:lnTo>
                <a:cubicBezTo>
                  <a:pt x="125016" y="104477"/>
                  <a:pt x="127695" y="107156"/>
                  <a:pt x="130969" y="107156"/>
                </a:cubicBezTo>
                <a:lnTo>
                  <a:pt x="142875" y="107156"/>
                </a:lnTo>
                <a:cubicBezTo>
                  <a:pt x="146149" y="107156"/>
                  <a:pt x="148828" y="104477"/>
                  <a:pt x="148828" y="101203"/>
                </a:cubicBezTo>
                <a:lnTo>
                  <a:pt x="148828" y="89297"/>
                </a:lnTo>
                <a:cubicBezTo>
                  <a:pt x="148828" y="86023"/>
                  <a:pt x="146149" y="83344"/>
                  <a:pt x="142875" y="83344"/>
                </a:cubicBezTo>
                <a:lnTo>
                  <a:pt x="130969" y="83344"/>
                </a:lnTo>
                <a:close/>
                <a:moveTo>
                  <a:pt x="17859" y="41672"/>
                </a:moveTo>
                <a:lnTo>
                  <a:pt x="17859" y="53578"/>
                </a:lnTo>
                <a:cubicBezTo>
                  <a:pt x="17859" y="56852"/>
                  <a:pt x="20538" y="59531"/>
                  <a:pt x="23812" y="59531"/>
                </a:cubicBezTo>
                <a:lnTo>
                  <a:pt x="35719" y="59531"/>
                </a:lnTo>
                <a:cubicBezTo>
                  <a:pt x="38993" y="59531"/>
                  <a:pt x="41672" y="56852"/>
                  <a:pt x="41672" y="53578"/>
                </a:cubicBezTo>
                <a:lnTo>
                  <a:pt x="41672" y="41672"/>
                </a:lnTo>
                <a:cubicBezTo>
                  <a:pt x="41672" y="38398"/>
                  <a:pt x="38993" y="35719"/>
                  <a:pt x="35719" y="35719"/>
                </a:cubicBezTo>
                <a:lnTo>
                  <a:pt x="23812" y="35719"/>
                </a:lnTo>
                <a:cubicBezTo>
                  <a:pt x="20538" y="35719"/>
                  <a:pt x="17859" y="38398"/>
                  <a:pt x="17859" y="41672"/>
                </a:cubicBezTo>
                <a:close/>
                <a:moveTo>
                  <a:pt x="130969" y="35719"/>
                </a:moveTo>
                <a:cubicBezTo>
                  <a:pt x="127695" y="35719"/>
                  <a:pt x="125016" y="38398"/>
                  <a:pt x="125016" y="41672"/>
                </a:cubicBezTo>
                <a:lnTo>
                  <a:pt x="125016" y="53578"/>
                </a:lnTo>
                <a:cubicBezTo>
                  <a:pt x="125016" y="56852"/>
                  <a:pt x="127695" y="59531"/>
                  <a:pt x="130969" y="59531"/>
                </a:cubicBezTo>
                <a:lnTo>
                  <a:pt x="142875" y="59531"/>
                </a:lnTo>
                <a:cubicBezTo>
                  <a:pt x="146149" y="59531"/>
                  <a:pt x="148828" y="56852"/>
                  <a:pt x="148828" y="53578"/>
                </a:cubicBezTo>
                <a:lnTo>
                  <a:pt x="148828" y="41672"/>
                </a:lnTo>
                <a:cubicBezTo>
                  <a:pt x="148828" y="38398"/>
                  <a:pt x="146149" y="35719"/>
                  <a:pt x="142875" y="35719"/>
                </a:cubicBezTo>
                <a:lnTo>
                  <a:pt x="130969" y="35719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8864501" y="177165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Vídeo Generativo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93001" y="22860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generación de vídeo alcanza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minutos de duración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 calidad cinematográfica, consistencia temporal y edición precisa.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93001" y="3143250"/>
            <a:ext cx="3324225" cy="1714500"/>
          </a:xfrm>
          <a:custGeom>
            <a:avLst/>
            <a:gdLst/>
            <a:ahLst/>
            <a:cxnLst/>
            <a:rect l="l" t="t" r="r" b="b"/>
            <a:pathLst>
              <a:path w="3324225" h="1714500">
                <a:moveTo>
                  <a:pt x="76192" y="0"/>
                </a:moveTo>
                <a:lnTo>
                  <a:pt x="3248033" y="0"/>
                </a:lnTo>
                <a:cubicBezTo>
                  <a:pt x="3290113" y="0"/>
                  <a:pt x="3324225" y="34112"/>
                  <a:pt x="3324225" y="76192"/>
                </a:cubicBezTo>
                <a:lnTo>
                  <a:pt x="3324225" y="1638308"/>
                </a:lnTo>
                <a:cubicBezTo>
                  <a:pt x="3324225" y="1680388"/>
                  <a:pt x="3290113" y="1714500"/>
                  <a:pt x="3248033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445401" y="3409950"/>
            <a:ext cx="3095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Avances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72785" y="3790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2" name="Text 40"/>
          <p:cNvSpPr/>
          <p:nvPr/>
        </p:nvSpPr>
        <p:spPr>
          <a:xfrm>
            <a:off x="8688288" y="375285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Vídeos de alta resolución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72785" y="40957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4" name="Text 42"/>
          <p:cNvSpPr/>
          <p:nvPr/>
        </p:nvSpPr>
        <p:spPr>
          <a:xfrm>
            <a:off x="8688288" y="405765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de movimiento de cámara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72785" y="4400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6" name="Text 44"/>
          <p:cNvSpPr/>
          <p:nvPr/>
        </p:nvSpPr>
        <p:spPr>
          <a:xfrm>
            <a:off x="8688288" y="4362450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Edición y modificación temporal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5205413"/>
            <a:ext cx="5629275" cy="1533525"/>
          </a:xfrm>
          <a:custGeom>
            <a:avLst/>
            <a:gdLst/>
            <a:ahLst/>
            <a:cxnLst/>
            <a:rect l="l" t="t" r="r" b="b"/>
            <a:pathLst>
              <a:path w="5629275" h="1533525">
                <a:moveTo>
                  <a:pt x="114294" y="0"/>
                </a:moveTo>
                <a:lnTo>
                  <a:pt x="5514981" y="0"/>
                </a:lnTo>
                <a:cubicBezTo>
                  <a:pt x="5578104" y="0"/>
                  <a:pt x="5629275" y="51171"/>
                  <a:pt x="5629275" y="114294"/>
                </a:cubicBezTo>
                <a:lnTo>
                  <a:pt x="5629275" y="1419231"/>
                </a:lnTo>
                <a:cubicBezTo>
                  <a:pt x="5629275" y="1482354"/>
                  <a:pt x="5578104" y="1533525"/>
                  <a:pt x="551498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1025" y="5400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4D8">
              <a:alpha val="3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76288" y="5553075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0" name="Text 48"/>
          <p:cNvSpPr/>
          <p:nvPr/>
        </p:nvSpPr>
        <p:spPr>
          <a:xfrm>
            <a:off x="1266825" y="5400675"/>
            <a:ext cx="1990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Inversión Masiva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66825" y="5705475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 $600 mil millones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81025" y="604837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estimada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infraestructuras de IA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nivel mundial: data centers, chips especializados, energía renovable y talento.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6963" y="5205413"/>
            <a:ext cx="5629275" cy="1533525"/>
          </a:xfrm>
          <a:custGeom>
            <a:avLst/>
            <a:gdLst/>
            <a:ahLst/>
            <a:cxnLst/>
            <a:rect l="l" t="t" r="r" b="b"/>
            <a:pathLst>
              <a:path w="5629275" h="1533525">
                <a:moveTo>
                  <a:pt x="114294" y="0"/>
                </a:moveTo>
                <a:lnTo>
                  <a:pt x="5514981" y="0"/>
                </a:lnTo>
                <a:cubicBezTo>
                  <a:pt x="5578104" y="0"/>
                  <a:pt x="5629275" y="51171"/>
                  <a:pt x="5629275" y="114294"/>
                </a:cubicBezTo>
                <a:lnTo>
                  <a:pt x="5629275" y="1419231"/>
                </a:lnTo>
                <a:cubicBezTo>
                  <a:pt x="5629275" y="1482354"/>
                  <a:pt x="5578104" y="1533525"/>
                  <a:pt x="5514981" y="1533525"/>
                </a:cubicBezTo>
                <a:lnTo>
                  <a:pt x="114294" y="1533525"/>
                </a:lnTo>
                <a:cubicBezTo>
                  <a:pt x="51171" y="1533525"/>
                  <a:pt x="0" y="1482354"/>
                  <a:pt x="0" y="1419231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72225" y="5400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00B4D8">
              <a:alpha val="3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96050" y="55530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6" name="Text 54"/>
          <p:cNvSpPr/>
          <p:nvPr/>
        </p:nvSpPr>
        <p:spPr>
          <a:xfrm>
            <a:off x="7058025" y="5400675"/>
            <a:ext cx="293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Aceleración Responsable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58025" y="5705475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 medible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72225" y="604837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Enfoque 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medir ROI real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no solo hype. Empresas priorizan casos de uso con valor tangible y gobernanza ética.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2026 - SITUACIÓN ACTUAL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La IA como Infraestructura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21469" y="1210469"/>
            <a:ext cx="6834188" cy="2039938"/>
          </a:xfrm>
          <a:custGeom>
            <a:avLst/>
            <a:gdLst/>
            <a:ahLst/>
            <a:cxnLst/>
            <a:rect l="l" t="t" r="r" b="b"/>
            <a:pathLst>
              <a:path w="6834188" h="2039938">
                <a:moveTo>
                  <a:pt x="95245" y="0"/>
                </a:moveTo>
                <a:lnTo>
                  <a:pt x="6738943" y="0"/>
                </a:lnTo>
                <a:cubicBezTo>
                  <a:pt x="6791545" y="0"/>
                  <a:pt x="6834188" y="42642"/>
                  <a:pt x="6834188" y="95245"/>
                </a:cubicBezTo>
                <a:lnTo>
                  <a:pt x="6834188" y="1944693"/>
                </a:lnTo>
                <a:cubicBezTo>
                  <a:pt x="6834188" y="1997295"/>
                  <a:pt x="6791545" y="2039938"/>
                  <a:pt x="6738943" y="2039938"/>
                </a:cubicBezTo>
                <a:lnTo>
                  <a:pt x="95245" y="2039938"/>
                </a:lnTo>
                <a:cubicBezTo>
                  <a:pt x="42642" y="2039938"/>
                  <a:pt x="0" y="1997295"/>
                  <a:pt x="0" y="1944693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187" y="1373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00B4D8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0875" y="1508125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29766" y="0"/>
                </a:moveTo>
                <a:cubicBezTo>
                  <a:pt x="13348" y="0"/>
                  <a:pt x="0" y="13348"/>
                  <a:pt x="0" y="29766"/>
                </a:cubicBezTo>
                <a:lnTo>
                  <a:pt x="0" y="208359"/>
                </a:lnTo>
                <a:cubicBezTo>
                  <a:pt x="0" y="224777"/>
                  <a:pt x="13348" y="238125"/>
                  <a:pt x="29766" y="238125"/>
                </a:cubicBezTo>
                <a:lnTo>
                  <a:pt x="148828" y="238125"/>
                </a:lnTo>
                <a:cubicBezTo>
                  <a:pt x="165246" y="238125"/>
                  <a:pt x="178594" y="224777"/>
                  <a:pt x="178594" y="208359"/>
                </a:cubicBezTo>
                <a:lnTo>
                  <a:pt x="178594" y="29766"/>
                </a:lnTo>
                <a:cubicBezTo>
                  <a:pt x="178594" y="13348"/>
                  <a:pt x="165246" y="0"/>
                  <a:pt x="148828" y="0"/>
                </a:cubicBezTo>
                <a:lnTo>
                  <a:pt x="29766" y="0"/>
                </a:lnTo>
                <a:close/>
                <a:moveTo>
                  <a:pt x="81855" y="163711"/>
                </a:moveTo>
                <a:lnTo>
                  <a:pt x="96738" y="163711"/>
                </a:lnTo>
                <a:cubicBezTo>
                  <a:pt x="104970" y="163711"/>
                  <a:pt x="111621" y="170362"/>
                  <a:pt x="111621" y="178594"/>
                </a:cubicBezTo>
                <a:lnTo>
                  <a:pt x="111621" y="215801"/>
                </a:lnTo>
                <a:lnTo>
                  <a:pt x="66973" y="215801"/>
                </a:lnTo>
                <a:lnTo>
                  <a:pt x="66973" y="178594"/>
                </a:lnTo>
                <a:cubicBezTo>
                  <a:pt x="66973" y="170362"/>
                  <a:pt x="73623" y="163711"/>
                  <a:pt x="81855" y="163711"/>
                </a:cubicBezTo>
                <a:close/>
                <a:moveTo>
                  <a:pt x="44648" y="52090"/>
                </a:moveTo>
                <a:cubicBezTo>
                  <a:pt x="44648" y="47997"/>
                  <a:pt x="47997" y="44648"/>
                  <a:pt x="52090" y="44648"/>
                </a:cubicBezTo>
                <a:lnTo>
                  <a:pt x="66973" y="44648"/>
                </a:lnTo>
                <a:cubicBezTo>
                  <a:pt x="71065" y="44648"/>
                  <a:pt x="74414" y="47997"/>
                  <a:pt x="74414" y="52090"/>
                </a:cubicBezTo>
                <a:lnTo>
                  <a:pt x="74414" y="66973"/>
                </a:lnTo>
                <a:cubicBezTo>
                  <a:pt x="74414" y="71065"/>
                  <a:pt x="71065" y="74414"/>
                  <a:pt x="66973" y="74414"/>
                </a:cubicBezTo>
                <a:lnTo>
                  <a:pt x="52090" y="74414"/>
                </a:lnTo>
                <a:cubicBezTo>
                  <a:pt x="47997" y="74414"/>
                  <a:pt x="44648" y="71065"/>
                  <a:pt x="44648" y="66973"/>
                </a:cubicBezTo>
                <a:lnTo>
                  <a:pt x="44648" y="52090"/>
                </a:lnTo>
                <a:close/>
                <a:moveTo>
                  <a:pt x="111621" y="44648"/>
                </a:moveTo>
                <a:lnTo>
                  <a:pt x="126504" y="44648"/>
                </a:lnTo>
                <a:cubicBezTo>
                  <a:pt x="130597" y="44648"/>
                  <a:pt x="133945" y="47997"/>
                  <a:pt x="133945" y="52090"/>
                </a:cubicBezTo>
                <a:lnTo>
                  <a:pt x="133945" y="66973"/>
                </a:lnTo>
                <a:cubicBezTo>
                  <a:pt x="133945" y="71065"/>
                  <a:pt x="130597" y="74414"/>
                  <a:pt x="126504" y="74414"/>
                </a:cubicBezTo>
                <a:lnTo>
                  <a:pt x="111621" y="74414"/>
                </a:lnTo>
                <a:cubicBezTo>
                  <a:pt x="107528" y="74414"/>
                  <a:pt x="104180" y="71065"/>
                  <a:pt x="104180" y="66973"/>
                </a:cubicBezTo>
                <a:lnTo>
                  <a:pt x="104180" y="52090"/>
                </a:lnTo>
                <a:cubicBezTo>
                  <a:pt x="104180" y="47997"/>
                  <a:pt x="107528" y="44648"/>
                  <a:pt x="111621" y="44648"/>
                </a:cubicBezTo>
                <a:close/>
                <a:moveTo>
                  <a:pt x="44648" y="111621"/>
                </a:moveTo>
                <a:cubicBezTo>
                  <a:pt x="44648" y="107528"/>
                  <a:pt x="47997" y="104180"/>
                  <a:pt x="52090" y="104180"/>
                </a:cubicBezTo>
                <a:lnTo>
                  <a:pt x="66973" y="104180"/>
                </a:lnTo>
                <a:cubicBezTo>
                  <a:pt x="71065" y="104180"/>
                  <a:pt x="74414" y="107528"/>
                  <a:pt x="74414" y="111621"/>
                </a:cubicBezTo>
                <a:lnTo>
                  <a:pt x="74414" y="126504"/>
                </a:lnTo>
                <a:cubicBezTo>
                  <a:pt x="74414" y="130597"/>
                  <a:pt x="71065" y="133945"/>
                  <a:pt x="66973" y="133945"/>
                </a:cubicBezTo>
                <a:lnTo>
                  <a:pt x="52090" y="133945"/>
                </a:lnTo>
                <a:cubicBezTo>
                  <a:pt x="47997" y="133945"/>
                  <a:pt x="44648" y="130597"/>
                  <a:pt x="44648" y="126504"/>
                </a:cubicBezTo>
                <a:lnTo>
                  <a:pt x="44648" y="111621"/>
                </a:lnTo>
                <a:close/>
                <a:moveTo>
                  <a:pt x="111621" y="104180"/>
                </a:moveTo>
                <a:lnTo>
                  <a:pt x="126504" y="104180"/>
                </a:lnTo>
                <a:cubicBezTo>
                  <a:pt x="130597" y="104180"/>
                  <a:pt x="133945" y="107528"/>
                  <a:pt x="133945" y="111621"/>
                </a:cubicBezTo>
                <a:lnTo>
                  <a:pt x="133945" y="126504"/>
                </a:lnTo>
                <a:cubicBezTo>
                  <a:pt x="133945" y="130597"/>
                  <a:pt x="130597" y="133945"/>
                  <a:pt x="126504" y="133945"/>
                </a:cubicBezTo>
                <a:lnTo>
                  <a:pt x="111621" y="133945"/>
                </a:lnTo>
                <a:cubicBezTo>
                  <a:pt x="107528" y="133945"/>
                  <a:pt x="104180" y="130597"/>
                  <a:pt x="104180" y="126504"/>
                </a:cubicBezTo>
                <a:lnTo>
                  <a:pt x="104180" y="111621"/>
                </a:lnTo>
                <a:cubicBezTo>
                  <a:pt x="104180" y="107528"/>
                  <a:pt x="107528" y="104180"/>
                  <a:pt x="111621" y="10418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119188" y="1373188"/>
            <a:ext cx="596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 Herramienta a Infraestructura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9188" y="1690688"/>
            <a:ext cx="5937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IA generativa ya no es una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"herramienta divertida"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—se ha convertido en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infraestructura crítica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empresas de todos los tamaños y sectores.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187" y="2230438"/>
            <a:ext cx="2103438" cy="857250"/>
          </a:xfrm>
          <a:custGeom>
            <a:avLst/>
            <a:gdLst/>
            <a:ahLst/>
            <a:cxnLst/>
            <a:rect l="l" t="t" r="r" b="b"/>
            <a:pathLst>
              <a:path w="2103438" h="857250">
                <a:moveTo>
                  <a:pt x="63497" y="0"/>
                </a:moveTo>
                <a:lnTo>
                  <a:pt x="2039941" y="0"/>
                </a:lnTo>
                <a:cubicBezTo>
                  <a:pt x="2075009" y="0"/>
                  <a:pt x="2103438" y="28428"/>
                  <a:pt x="2103438" y="63497"/>
                </a:cubicBezTo>
                <a:lnTo>
                  <a:pt x="2103438" y="793753"/>
                </a:lnTo>
                <a:cubicBezTo>
                  <a:pt x="2103438" y="828822"/>
                  <a:pt x="2075009" y="857250"/>
                  <a:pt x="203994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17588" y="232568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7688" y="2579688"/>
            <a:ext cx="197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Operaciones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7688" y="2801938"/>
            <a:ext cx="197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Automatización de procesos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84363" y="2230438"/>
            <a:ext cx="2103438" cy="857250"/>
          </a:xfrm>
          <a:custGeom>
            <a:avLst/>
            <a:gdLst/>
            <a:ahLst/>
            <a:cxnLst/>
            <a:rect l="l" t="t" r="r" b="b"/>
            <a:pathLst>
              <a:path w="2103438" h="857250">
                <a:moveTo>
                  <a:pt x="63497" y="0"/>
                </a:moveTo>
                <a:lnTo>
                  <a:pt x="2039941" y="0"/>
                </a:lnTo>
                <a:cubicBezTo>
                  <a:pt x="2075009" y="0"/>
                  <a:pt x="2103438" y="28428"/>
                  <a:pt x="2103438" y="63497"/>
                </a:cubicBezTo>
                <a:lnTo>
                  <a:pt x="2103438" y="793753"/>
                </a:lnTo>
                <a:cubicBezTo>
                  <a:pt x="2103438" y="828822"/>
                  <a:pt x="2075009" y="857250"/>
                  <a:pt x="203994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65389" y="23256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7863" y="2579688"/>
            <a:ext cx="197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Innovación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7863" y="2801938"/>
            <a:ext cx="197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I+D acelerado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84663" y="2230438"/>
            <a:ext cx="2103438" cy="857250"/>
          </a:xfrm>
          <a:custGeom>
            <a:avLst/>
            <a:gdLst/>
            <a:ahLst/>
            <a:cxnLst/>
            <a:rect l="l" t="t" r="r" b="b"/>
            <a:pathLst>
              <a:path w="2103438" h="857250">
                <a:moveTo>
                  <a:pt x="63497" y="0"/>
                </a:moveTo>
                <a:lnTo>
                  <a:pt x="2039941" y="0"/>
                </a:lnTo>
                <a:cubicBezTo>
                  <a:pt x="2075009" y="0"/>
                  <a:pt x="2103438" y="28428"/>
                  <a:pt x="2103438" y="63497"/>
                </a:cubicBezTo>
                <a:lnTo>
                  <a:pt x="2103438" y="793753"/>
                </a:lnTo>
                <a:cubicBezTo>
                  <a:pt x="2103438" y="828822"/>
                  <a:pt x="2075009" y="857250"/>
                  <a:pt x="2039941" y="857250"/>
                </a:cubicBezTo>
                <a:lnTo>
                  <a:pt x="63497" y="857250"/>
                </a:lnTo>
                <a:cubicBezTo>
                  <a:pt x="28428" y="857250"/>
                  <a:pt x="0" y="828822"/>
                  <a:pt x="0" y="7937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818063" y="232568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948163" y="2579688"/>
            <a:ext cx="197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48163" y="2801938"/>
            <a:ext cx="1976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Experiencias personalizadas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3375" y="3381375"/>
            <a:ext cx="3341688" cy="2651125"/>
          </a:xfrm>
          <a:custGeom>
            <a:avLst/>
            <a:gdLst/>
            <a:ahLst/>
            <a:cxnLst/>
            <a:rect l="l" t="t" r="r" b="b"/>
            <a:pathLst>
              <a:path w="3341688" h="2651125">
                <a:moveTo>
                  <a:pt x="31750" y="0"/>
                </a:moveTo>
                <a:lnTo>
                  <a:pt x="3246433" y="0"/>
                </a:lnTo>
                <a:cubicBezTo>
                  <a:pt x="3299040" y="0"/>
                  <a:pt x="3341688" y="42647"/>
                  <a:pt x="3341688" y="95255"/>
                </a:cubicBezTo>
                <a:lnTo>
                  <a:pt x="3341688" y="2555870"/>
                </a:lnTo>
                <a:cubicBezTo>
                  <a:pt x="3341688" y="2608478"/>
                  <a:pt x="3299040" y="2651125"/>
                  <a:pt x="3246433" y="2651125"/>
                </a:cubicBezTo>
                <a:lnTo>
                  <a:pt x="31750" y="2651125"/>
                </a:lnTo>
                <a:cubicBezTo>
                  <a:pt x="14227" y="2651125"/>
                  <a:pt x="0" y="2636898"/>
                  <a:pt x="0" y="2619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333375" y="3381375"/>
            <a:ext cx="31750" cy="2651125"/>
          </a:xfrm>
          <a:custGeom>
            <a:avLst/>
            <a:gdLst/>
            <a:ahLst/>
            <a:cxnLst/>
            <a:rect l="l" t="t" r="r" b="b"/>
            <a:pathLst>
              <a:path w="31750" h="2651125">
                <a:moveTo>
                  <a:pt x="31750" y="0"/>
                </a:moveTo>
                <a:lnTo>
                  <a:pt x="31750" y="0"/>
                </a:lnTo>
                <a:lnTo>
                  <a:pt x="31750" y="2651125"/>
                </a:lnTo>
                <a:lnTo>
                  <a:pt x="31750" y="2651125"/>
                </a:lnTo>
                <a:cubicBezTo>
                  <a:pt x="14227" y="2651125"/>
                  <a:pt x="0" y="2636898"/>
                  <a:pt x="0" y="2619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508000" y="35560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841375" y="3540125"/>
            <a:ext cx="1857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Agentes en Producción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8000" y="3857625"/>
            <a:ext cx="30718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agentes de IA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pasan de piloto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producción en flujos de trabajo reales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ejecutando tareas complejas de manera autónoma.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8000" y="4572000"/>
            <a:ext cx="3008313" cy="1301750"/>
          </a:xfrm>
          <a:custGeom>
            <a:avLst/>
            <a:gdLst/>
            <a:ahLst/>
            <a:cxnLst/>
            <a:rect l="l" t="t" r="r" b="b"/>
            <a:pathLst>
              <a:path w="3008313" h="1301750">
                <a:moveTo>
                  <a:pt x="63499" y="0"/>
                </a:moveTo>
                <a:lnTo>
                  <a:pt x="2944813" y="0"/>
                </a:lnTo>
                <a:cubicBezTo>
                  <a:pt x="2979883" y="0"/>
                  <a:pt x="3008313" y="28430"/>
                  <a:pt x="3008313" y="63499"/>
                </a:cubicBezTo>
                <a:lnTo>
                  <a:pt x="3008313" y="1238251"/>
                </a:lnTo>
                <a:cubicBezTo>
                  <a:pt x="3008313" y="1273320"/>
                  <a:pt x="2979883" y="1301750"/>
                  <a:pt x="2944813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03250" y="466725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3250" y="492125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Atención al cliente 24/7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3250" y="514350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Análisis de datos y reportes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250" y="536575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Gestión de proyectos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3250" y="558800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Desarrollo de software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6325" y="3381375"/>
            <a:ext cx="3341688" cy="2651125"/>
          </a:xfrm>
          <a:custGeom>
            <a:avLst/>
            <a:gdLst/>
            <a:ahLst/>
            <a:cxnLst/>
            <a:rect l="l" t="t" r="r" b="b"/>
            <a:pathLst>
              <a:path w="3341688" h="2651125">
                <a:moveTo>
                  <a:pt x="31750" y="0"/>
                </a:moveTo>
                <a:lnTo>
                  <a:pt x="3246433" y="0"/>
                </a:lnTo>
                <a:cubicBezTo>
                  <a:pt x="3299040" y="0"/>
                  <a:pt x="3341688" y="42647"/>
                  <a:pt x="3341688" y="95255"/>
                </a:cubicBezTo>
                <a:lnTo>
                  <a:pt x="3341688" y="2555870"/>
                </a:lnTo>
                <a:cubicBezTo>
                  <a:pt x="3341688" y="2608478"/>
                  <a:pt x="3299040" y="2651125"/>
                  <a:pt x="3246433" y="2651125"/>
                </a:cubicBezTo>
                <a:lnTo>
                  <a:pt x="31750" y="2651125"/>
                </a:lnTo>
                <a:cubicBezTo>
                  <a:pt x="14227" y="2651125"/>
                  <a:pt x="0" y="2636898"/>
                  <a:pt x="0" y="2619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3816325" y="3381375"/>
            <a:ext cx="31750" cy="2651125"/>
          </a:xfrm>
          <a:custGeom>
            <a:avLst/>
            <a:gdLst/>
            <a:ahLst/>
            <a:cxnLst/>
            <a:rect l="l" t="t" r="r" b="b"/>
            <a:pathLst>
              <a:path w="31750" h="2651125">
                <a:moveTo>
                  <a:pt x="31750" y="0"/>
                </a:moveTo>
                <a:lnTo>
                  <a:pt x="31750" y="0"/>
                </a:lnTo>
                <a:lnTo>
                  <a:pt x="31750" y="2651125"/>
                </a:lnTo>
                <a:lnTo>
                  <a:pt x="31750" y="2651125"/>
                </a:lnTo>
                <a:cubicBezTo>
                  <a:pt x="14227" y="2651125"/>
                  <a:pt x="0" y="2636898"/>
                  <a:pt x="0" y="2619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5" name="Shape 33"/>
          <p:cNvSpPr/>
          <p:nvPr/>
        </p:nvSpPr>
        <p:spPr>
          <a:xfrm>
            <a:off x="4002856" y="3556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4324325" y="3540125"/>
            <a:ext cx="146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Production-Grade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990950" y="3857625"/>
            <a:ext cx="30718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Vídeo e imagen generativa alcanzan nivel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"production-grade"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minutos de duración, consistencia perfecta y edición precisa.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990950" y="4572000"/>
            <a:ext cx="3008313" cy="1301750"/>
          </a:xfrm>
          <a:custGeom>
            <a:avLst/>
            <a:gdLst/>
            <a:ahLst/>
            <a:cxnLst/>
            <a:rect l="l" t="t" r="r" b="b"/>
            <a:pathLst>
              <a:path w="3008313" h="1301750">
                <a:moveTo>
                  <a:pt x="63499" y="0"/>
                </a:moveTo>
                <a:lnTo>
                  <a:pt x="2944813" y="0"/>
                </a:lnTo>
                <a:cubicBezTo>
                  <a:pt x="2979883" y="0"/>
                  <a:pt x="3008313" y="28430"/>
                  <a:pt x="3008313" y="63499"/>
                </a:cubicBezTo>
                <a:lnTo>
                  <a:pt x="3008313" y="1238251"/>
                </a:lnTo>
                <a:cubicBezTo>
                  <a:pt x="3008313" y="1273320"/>
                  <a:pt x="2979883" y="1301750"/>
                  <a:pt x="2944813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086200" y="466725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Aplicaciones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086200" y="492125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Publicidad y marketing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086200" y="514350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Entretenimiento y cine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086200" y="536575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Educación y formación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086200" y="5588000"/>
            <a:ext cx="288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Prototipado rápido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331025" y="1206500"/>
            <a:ext cx="4540250" cy="2555875"/>
          </a:xfrm>
          <a:custGeom>
            <a:avLst/>
            <a:gdLst/>
            <a:ahLst/>
            <a:cxnLst/>
            <a:rect l="l" t="t" r="r" b="b"/>
            <a:pathLst>
              <a:path w="4540250" h="2555875">
                <a:moveTo>
                  <a:pt x="31750" y="0"/>
                </a:moveTo>
                <a:lnTo>
                  <a:pt x="4444993" y="0"/>
                </a:lnTo>
                <a:cubicBezTo>
                  <a:pt x="4497602" y="0"/>
                  <a:pt x="4540250" y="42648"/>
                  <a:pt x="4540250" y="95257"/>
                </a:cubicBezTo>
                <a:lnTo>
                  <a:pt x="4540250" y="2460618"/>
                </a:lnTo>
                <a:cubicBezTo>
                  <a:pt x="4540250" y="2513227"/>
                  <a:pt x="4497602" y="2555875"/>
                  <a:pt x="4444993" y="2555875"/>
                </a:cubicBezTo>
                <a:lnTo>
                  <a:pt x="31750" y="2555875"/>
                </a:lnTo>
                <a:cubicBezTo>
                  <a:pt x="14215" y="2555875"/>
                  <a:pt x="0" y="2541660"/>
                  <a:pt x="0" y="2524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7331025" y="1206500"/>
            <a:ext cx="31750" cy="2555875"/>
          </a:xfrm>
          <a:custGeom>
            <a:avLst/>
            <a:gdLst/>
            <a:ahLst/>
            <a:cxnLst/>
            <a:rect l="l" t="t" r="r" b="b"/>
            <a:pathLst>
              <a:path w="31750" h="2555875">
                <a:moveTo>
                  <a:pt x="31750" y="0"/>
                </a:moveTo>
                <a:lnTo>
                  <a:pt x="31750" y="0"/>
                </a:lnTo>
                <a:lnTo>
                  <a:pt x="31750" y="2555875"/>
                </a:lnTo>
                <a:lnTo>
                  <a:pt x="31750" y="2555875"/>
                </a:lnTo>
                <a:cubicBezTo>
                  <a:pt x="14227" y="2555875"/>
                  <a:pt x="0" y="2541648"/>
                  <a:pt x="0" y="2524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6" name="Shape 44"/>
          <p:cNvSpPr/>
          <p:nvPr/>
        </p:nvSpPr>
        <p:spPr>
          <a:xfrm>
            <a:off x="7529463" y="1381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47" name="Text 45"/>
          <p:cNvSpPr/>
          <p:nvPr/>
        </p:nvSpPr>
        <p:spPr>
          <a:xfrm>
            <a:off x="7839025" y="1365250"/>
            <a:ext cx="1738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Multimodalidad Total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05650" y="1714500"/>
            <a:ext cx="4270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unificados que procesan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+ imagen + audio + vídeo + acción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en una sola arquitectura.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05650" y="2254250"/>
            <a:ext cx="4206875" cy="1349375"/>
          </a:xfrm>
          <a:custGeom>
            <a:avLst/>
            <a:gdLst/>
            <a:ahLst/>
            <a:cxnLst/>
            <a:rect l="l" t="t" r="r" b="b"/>
            <a:pathLst>
              <a:path w="4206875" h="1349375">
                <a:moveTo>
                  <a:pt x="63502" y="0"/>
                </a:moveTo>
                <a:lnTo>
                  <a:pt x="4143373" y="0"/>
                </a:lnTo>
                <a:cubicBezTo>
                  <a:pt x="4178444" y="0"/>
                  <a:pt x="4206875" y="28431"/>
                  <a:pt x="4206875" y="63502"/>
                </a:cubicBezTo>
                <a:lnTo>
                  <a:pt x="4206875" y="1285873"/>
                </a:lnTo>
                <a:cubicBezTo>
                  <a:pt x="4206875" y="1320944"/>
                  <a:pt x="4178444" y="1349375"/>
                  <a:pt x="4143373" y="1349375"/>
                </a:cubicBezTo>
                <a:lnTo>
                  <a:pt x="63502" y="1349375"/>
                </a:lnTo>
                <a:cubicBezTo>
                  <a:pt x="28431" y="1349375"/>
                  <a:pt x="0" y="1320944"/>
                  <a:pt x="0" y="1285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632650" y="2381250"/>
            <a:ext cx="1944688" cy="515938"/>
          </a:xfrm>
          <a:custGeom>
            <a:avLst/>
            <a:gdLst/>
            <a:ahLst/>
            <a:cxnLst/>
            <a:rect l="l" t="t" r="r" b="b"/>
            <a:pathLst>
              <a:path w="1944688" h="515938">
                <a:moveTo>
                  <a:pt x="31751" y="0"/>
                </a:moveTo>
                <a:lnTo>
                  <a:pt x="1912937" y="0"/>
                </a:lnTo>
                <a:cubicBezTo>
                  <a:pt x="1930472" y="0"/>
                  <a:pt x="1944688" y="14215"/>
                  <a:pt x="1944688" y="31751"/>
                </a:cubicBezTo>
                <a:lnTo>
                  <a:pt x="1944688" y="484187"/>
                </a:lnTo>
                <a:cubicBezTo>
                  <a:pt x="1944687" y="501722"/>
                  <a:pt x="1930472" y="515938"/>
                  <a:pt x="1912937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536285" y="24685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9558" y="14148"/>
                </a:moveTo>
                <a:cubicBezTo>
                  <a:pt x="78107" y="10967"/>
                  <a:pt x="74926" y="8930"/>
                  <a:pt x="71438" y="8930"/>
                </a:cubicBezTo>
                <a:cubicBezTo>
                  <a:pt x="67949" y="8930"/>
                  <a:pt x="64768" y="10967"/>
                  <a:pt x="63317" y="14148"/>
                </a:cubicBezTo>
                <a:lnTo>
                  <a:pt x="16604" y="116086"/>
                </a:lnTo>
                <a:lnTo>
                  <a:pt x="13395" y="116086"/>
                </a:lnTo>
                <a:cubicBezTo>
                  <a:pt x="8455" y="116086"/>
                  <a:pt x="4465" y="120076"/>
                  <a:pt x="4465" y="125016"/>
                </a:cubicBezTo>
                <a:cubicBezTo>
                  <a:pt x="4465" y="129955"/>
                  <a:pt x="8455" y="133945"/>
                  <a:pt x="13395" y="133945"/>
                </a:cubicBezTo>
                <a:lnTo>
                  <a:pt x="37951" y="133945"/>
                </a:lnTo>
                <a:cubicBezTo>
                  <a:pt x="42890" y="133945"/>
                  <a:pt x="46881" y="129955"/>
                  <a:pt x="46881" y="125016"/>
                </a:cubicBezTo>
                <a:cubicBezTo>
                  <a:pt x="46881" y="120076"/>
                  <a:pt x="42890" y="116086"/>
                  <a:pt x="37951" y="116086"/>
                </a:cubicBezTo>
                <a:lnTo>
                  <a:pt x="36249" y="116086"/>
                </a:lnTo>
                <a:lnTo>
                  <a:pt x="42388" y="102691"/>
                </a:lnTo>
                <a:lnTo>
                  <a:pt x="100515" y="102691"/>
                </a:lnTo>
                <a:lnTo>
                  <a:pt x="106654" y="116086"/>
                </a:lnTo>
                <a:lnTo>
                  <a:pt x="104952" y="116086"/>
                </a:lnTo>
                <a:cubicBezTo>
                  <a:pt x="100013" y="116086"/>
                  <a:pt x="96022" y="120076"/>
                  <a:pt x="96022" y="125016"/>
                </a:cubicBezTo>
                <a:cubicBezTo>
                  <a:pt x="96022" y="129955"/>
                  <a:pt x="100013" y="133945"/>
                  <a:pt x="104952" y="133945"/>
                </a:cubicBezTo>
                <a:lnTo>
                  <a:pt x="129508" y="133945"/>
                </a:lnTo>
                <a:cubicBezTo>
                  <a:pt x="134448" y="133945"/>
                  <a:pt x="138438" y="129955"/>
                  <a:pt x="138438" y="125016"/>
                </a:cubicBezTo>
                <a:cubicBezTo>
                  <a:pt x="138438" y="120076"/>
                  <a:pt x="134448" y="116086"/>
                  <a:pt x="129508" y="116086"/>
                </a:cubicBezTo>
                <a:lnTo>
                  <a:pt x="126299" y="116086"/>
                </a:lnTo>
                <a:lnTo>
                  <a:pt x="79586" y="14148"/>
                </a:lnTo>
                <a:close/>
                <a:moveTo>
                  <a:pt x="92311" y="84832"/>
                </a:moveTo>
                <a:lnTo>
                  <a:pt x="50564" y="84832"/>
                </a:lnTo>
                <a:lnTo>
                  <a:pt x="71438" y="39291"/>
                </a:lnTo>
                <a:lnTo>
                  <a:pt x="92311" y="84832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7664400" y="2643188"/>
            <a:ext cx="1881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642450" y="2381250"/>
            <a:ext cx="1944688" cy="515938"/>
          </a:xfrm>
          <a:custGeom>
            <a:avLst/>
            <a:gdLst/>
            <a:ahLst/>
            <a:cxnLst/>
            <a:rect l="l" t="t" r="r" b="b"/>
            <a:pathLst>
              <a:path w="1944688" h="515938">
                <a:moveTo>
                  <a:pt x="31751" y="0"/>
                </a:moveTo>
                <a:lnTo>
                  <a:pt x="1912937" y="0"/>
                </a:lnTo>
                <a:cubicBezTo>
                  <a:pt x="1930472" y="0"/>
                  <a:pt x="1944688" y="14215"/>
                  <a:pt x="1944688" y="31751"/>
                </a:cubicBezTo>
                <a:lnTo>
                  <a:pt x="1944688" y="484187"/>
                </a:lnTo>
                <a:cubicBezTo>
                  <a:pt x="1944687" y="501722"/>
                  <a:pt x="1930472" y="515938"/>
                  <a:pt x="1912937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555015" y="246856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35719" y="31254"/>
                </a:moveTo>
                <a:cubicBezTo>
                  <a:pt x="43111" y="31254"/>
                  <a:pt x="49113" y="37256"/>
                  <a:pt x="49113" y="44648"/>
                </a:cubicBezTo>
                <a:cubicBezTo>
                  <a:pt x="49113" y="52041"/>
                  <a:pt x="43111" y="58043"/>
                  <a:pt x="35719" y="58043"/>
                </a:cubicBezTo>
                <a:cubicBezTo>
                  <a:pt x="28326" y="58043"/>
                  <a:pt x="22324" y="52041"/>
                  <a:pt x="22324" y="44648"/>
                </a:cubicBezTo>
                <a:cubicBezTo>
                  <a:pt x="22324" y="37256"/>
                  <a:pt x="28326" y="31254"/>
                  <a:pt x="35719" y="31254"/>
                </a:cubicBezTo>
                <a:close/>
                <a:moveTo>
                  <a:pt x="75902" y="62508"/>
                </a:moveTo>
                <a:cubicBezTo>
                  <a:pt x="78246" y="62508"/>
                  <a:pt x="80395" y="63736"/>
                  <a:pt x="81623" y="65717"/>
                </a:cubicBezTo>
                <a:lnTo>
                  <a:pt x="106180" y="105901"/>
                </a:lnTo>
                <a:cubicBezTo>
                  <a:pt x="107435" y="107966"/>
                  <a:pt x="107491" y="110561"/>
                  <a:pt x="106319" y="112681"/>
                </a:cubicBezTo>
                <a:cubicBezTo>
                  <a:pt x="105147" y="114802"/>
                  <a:pt x="102887" y="116086"/>
                  <a:pt x="100459" y="116086"/>
                </a:cubicBezTo>
                <a:lnTo>
                  <a:pt x="24557" y="116086"/>
                </a:lnTo>
                <a:cubicBezTo>
                  <a:pt x="22073" y="116086"/>
                  <a:pt x="19757" y="114691"/>
                  <a:pt x="18613" y="112486"/>
                </a:cubicBezTo>
                <a:cubicBezTo>
                  <a:pt x="17469" y="110282"/>
                  <a:pt x="17636" y="107603"/>
                  <a:pt x="19059" y="105566"/>
                </a:cubicBezTo>
                <a:lnTo>
                  <a:pt x="34686" y="83241"/>
                </a:lnTo>
                <a:cubicBezTo>
                  <a:pt x="35942" y="81455"/>
                  <a:pt x="37979" y="80395"/>
                  <a:pt x="40184" y="80395"/>
                </a:cubicBezTo>
                <a:cubicBezTo>
                  <a:pt x="42388" y="80395"/>
                  <a:pt x="44425" y="81455"/>
                  <a:pt x="45681" y="83241"/>
                </a:cubicBezTo>
                <a:lnTo>
                  <a:pt x="53048" y="93790"/>
                </a:lnTo>
                <a:lnTo>
                  <a:pt x="70182" y="65745"/>
                </a:lnTo>
                <a:cubicBezTo>
                  <a:pt x="71410" y="63764"/>
                  <a:pt x="73558" y="62536"/>
                  <a:pt x="75902" y="62536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5" name="Text 53"/>
          <p:cNvSpPr/>
          <p:nvPr/>
        </p:nvSpPr>
        <p:spPr>
          <a:xfrm>
            <a:off x="9674200" y="2643188"/>
            <a:ext cx="1881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632650" y="2960688"/>
            <a:ext cx="1944688" cy="515938"/>
          </a:xfrm>
          <a:custGeom>
            <a:avLst/>
            <a:gdLst/>
            <a:ahLst/>
            <a:cxnLst/>
            <a:rect l="l" t="t" r="r" b="b"/>
            <a:pathLst>
              <a:path w="1944688" h="515938">
                <a:moveTo>
                  <a:pt x="31751" y="0"/>
                </a:moveTo>
                <a:lnTo>
                  <a:pt x="1912937" y="0"/>
                </a:lnTo>
                <a:cubicBezTo>
                  <a:pt x="1930472" y="0"/>
                  <a:pt x="1944688" y="14215"/>
                  <a:pt x="1944688" y="31751"/>
                </a:cubicBezTo>
                <a:lnTo>
                  <a:pt x="1944688" y="484187"/>
                </a:lnTo>
                <a:cubicBezTo>
                  <a:pt x="1944687" y="501722"/>
                  <a:pt x="1930472" y="515938"/>
                  <a:pt x="1912937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36285" y="304800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0597" y="1953"/>
                </a:moveTo>
                <a:cubicBezTo>
                  <a:pt x="132717" y="3656"/>
                  <a:pt x="133945" y="6223"/>
                  <a:pt x="133945" y="8930"/>
                </a:cubicBezTo>
                <a:lnTo>
                  <a:pt x="133945" y="93762"/>
                </a:lnTo>
                <a:cubicBezTo>
                  <a:pt x="133945" y="106096"/>
                  <a:pt x="121946" y="116086"/>
                  <a:pt x="107156" y="116086"/>
                </a:cubicBezTo>
                <a:cubicBezTo>
                  <a:pt x="92366" y="116086"/>
                  <a:pt x="80367" y="106096"/>
                  <a:pt x="80367" y="93762"/>
                </a:cubicBezTo>
                <a:cubicBezTo>
                  <a:pt x="80367" y="81428"/>
                  <a:pt x="92366" y="71438"/>
                  <a:pt x="107156" y="71438"/>
                </a:cubicBezTo>
                <a:cubicBezTo>
                  <a:pt x="110282" y="71438"/>
                  <a:pt x="113295" y="71884"/>
                  <a:pt x="116086" y="72721"/>
                </a:cubicBezTo>
                <a:lnTo>
                  <a:pt x="116086" y="40156"/>
                </a:lnTo>
                <a:lnTo>
                  <a:pt x="53578" y="54053"/>
                </a:lnTo>
                <a:lnTo>
                  <a:pt x="53578" y="111621"/>
                </a:lnTo>
                <a:cubicBezTo>
                  <a:pt x="53578" y="123955"/>
                  <a:pt x="41579" y="133945"/>
                  <a:pt x="26789" y="133945"/>
                </a:cubicBezTo>
                <a:cubicBezTo>
                  <a:pt x="11999" y="133945"/>
                  <a:pt x="0" y="123955"/>
                  <a:pt x="0" y="111621"/>
                </a:cubicBezTo>
                <a:cubicBezTo>
                  <a:pt x="0" y="99287"/>
                  <a:pt x="11999" y="89297"/>
                  <a:pt x="26789" y="89297"/>
                </a:cubicBezTo>
                <a:cubicBezTo>
                  <a:pt x="29914" y="89297"/>
                  <a:pt x="32928" y="89743"/>
                  <a:pt x="35719" y="90581"/>
                </a:cubicBezTo>
                <a:lnTo>
                  <a:pt x="35719" y="26789"/>
                </a:lnTo>
                <a:cubicBezTo>
                  <a:pt x="35719" y="22603"/>
                  <a:pt x="38621" y="18976"/>
                  <a:pt x="42723" y="18083"/>
                </a:cubicBezTo>
                <a:lnTo>
                  <a:pt x="123090" y="223"/>
                </a:lnTo>
                <a:cubicBezTo>
                  <a:pt x="125741" y="-363"/>
                  <a:pt x="128504" y="279"/>
                  <a:pt x="130625" y="1981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8" name="Text 56"/>
          <p:cNvSpPr/>
          <p:nvPr/>
        </p:nvSpPr>
        <p:spPr>
          <a:xfrm>
            <a:off x="7664400" y="3222625"/>
            <a:ext cx="1881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Audio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642450" y="2960688"/>
            <a:ext cx="1944688" cy="515938"/>
          </a:xfrm>
          <a:custGeom>
            <a:avLst/>
            <a:gdLst/>
            <a:ahLst/>
            <a:cxnLst/>
            <a:rect l="l" t="t" r="r" b="b"/>
            <a:pathLst>
              <a:path w="1944688" h="515938">
                <a:moveTo>
                  <a:pt x="31751" y="0"/>
                </a:moveTo>
                <a:lnTo>
                  <a:pt x="1912937" y="0"/>
                </a:lnTo>
                <a:cubicBezTo>
                  <a:pt x="1930472" y="0"/>
                  <a:pt x="1944688" y="14215"/>
                  <a:pt x="1944688" y="31751"/>
                </a:cubicBezTo>
                <a:lnTo>
                  <a:pt x="1944688" y="484187"/>
                </a:lnTo>
                <a:cubicBezTo>
                  <a:pt x="1944687" y="501722"/>
                  <a:pt x="1930472" y="515938"/>
                  <a:pt x="1912937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537155" y="304800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26789" y="17859"/>
                </a:moveTo>
                <a:cubicBezTo>
                  <a:pt x="16939" y="17859"/>
                  <a:pt x="8930" y="25868"/>
                  <a:pt x="8930" y="35719"/>
                </a:cubicBezTo>
                <a:lnTo>
                  <a:pt x="8930" y="107156"/>
                </a:lnTo>
                <a:cubicBezTo>
                  <a:pt x="8930" y="117007"/>
                  <a:pt x="16939" y="125016"/>
                  <a:pt x="26789" y="125016"/>
                </a:cubicBezTo>
                <a:lnTo>
                  <a:pt x="98227" y="125016"/>
                </a:lnTo>
                <a:cubicBezTo>
                  <a:pt x="108077" y="125016"/>
                  <a:pt x="116086" y="117007"/>
                  <a:pt x="116086" y="107156"/>
                </a:cubicBezTo>
                <a:lnTo>
                  <a:pt x="116086" y="35719"/>
                </a:lnTo>
                <a:cubicBezTo>
                  <a:pt x="116086" y="25868"/>
                  <a:pt x="108077" y="17859"/>
                  <a:pt x="98227" y="17859"/>
                </a:cubicBezTo>
                <a:lnTo>
                  <a:pt x="26789" y="17859"/>
                </a:lnTo>
                <a:close/>
                <a:moveTo>
                  <a:pt x="129480" y="93762"/>
                </a:moveTo>
                <a:lnTo>
                  <a:pt x="149991" y="110170"/>
                </a:lnTo>
                <a:cubicBezTo>
                  <a:pt x="151163" y="111119"/>
                  <a:pt x="152614" y="111621"/>
                  <a:pt x="154121" y="111621"/>
                </a:cubicBezTo>
                <a:cubicBezTo>
                  <a:pt x="157776" y="111621"/>
                  <a:pt x="160734" y="108663"/>
                  <a:pt x="160734" y="105008"/>
                </a:cubicBezTo>
                <a:lnTo>
                  <a:pt x="160734" y="37867"/>
                </a:lnTo>
                <a:cubicBezTo>
                  <a:pt x="160734" y="34212"/>
                  <a:pt x="157776" y="31254"/>
                  <a:pt x="154121" y="31254"/>
                </a:cubicBezTo>
                <a:cubicBezTo>
                  <a:pt x="152614" y="31254"/>
                  <a:pt x="151163" y="31756"/>
                  <a:pt x="149991" y="32705"/>
                </a:cubicBezTo>
                <a:lnTo>
                  <a:pt x="129480" y="49113"/>
                </a:lnTo>
                <a:lnTo>
                  <a:pt x="129480" y="93762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1" name="Text 59"/>
          <p:cNvSpPr/>
          <p:nvPr/>
        </p:nvSpPr>
        <p:spPr>
          <a:xfrm>
            <a:off x="9674200" y="3222625"/>
            <a:ext cx="1881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Vídeo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331025" y="3889375"/>
            <a:ext cx="4540250" cy="2508250"/>
          </a:xfrm>
          <a:custGeom>
            <a:avLst/>
            <a:gdLst/>
            <a:ahLst/>
            <a:cxnLst/>
            <a:rect l="l" t="t" r="r" b="b"/>
            <a:pathLst>
              <a:path w="4540250" h="2508250">
                <a:moveTo>
                  <a:pt x="31750" y="0"/>
                </a:moveTo>
                <a:lnTo>
                  <a:pt x="4445012" y="0"/>
                </a:lnTo>
                <a:cubicBezTo>
                  <a:pt x="4497610" y="0"/>
                  <a:pt x="4540250" y="42640"/>
                  <a:pt x="4540250" y="95238"/>
                </a:cubicBezTo>
                <a:lnTo>
                  <a:pt x="4540250" y="2413012"/>
                </a:lnTo>
                <a:cubicBezTo>
                  <a:pt x="4540250" y="2465610"/>
                  <a:pt x="4497610" y="2508250"/>
                  <a:pt x="4445012" y="2508250"/>
                </a:cubicBezTo>
                <a:lnTo>
                  <a:pt x="31750" y="2508250"/>
                </a:lnTo>
                <a:cubicBezTo>
                  <a:pt x="14215" y="2508250"/>
                  <a:pt x="0" y="2494035"/>
                  <a:pt x="0" y="2476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3" name="Shape 61"/>
          <p:cNvSpPr/>
          <p:nvPr/>
        </p:nvSpPr>
        <p:spPr>
          <a:xfrm>
            <a:off x="7331025" y="3889375"/>
            <a:ext cx="31750" cy="2508250"/>
          </a:xfrm>
          <a:custGeom>
            <a:avLst/>
            <a:gdLst/>
            <a:ahLst/>
            <a:cxnLst/>
            <a:rect l="l" t="t" r="r" b="b"/>
            <a:pathLst>
              <a:path w="31750" h="2508250">
                <a:moveTo>
                  <a:pt x="31750" y="0"/>
                </a:moveTo>
                <a:lnTo>
                  <a:pt x="31750" y="0"/>
                </a:lnTo>
                <a:lnTo>
                  <a:pt x="31750" y="2508250"/>
                </a:lnTo>
                <a:lnTo>
                  <a:pt x="31750" y="2508250"/>
                </a:lnTo>
                <a:cubicBezTo>
                  <a:pt x="14227" y="2508250"/>
                  <a:pt x="0" y="2494023"/>
                  <a:pt x="0" y="2476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4" name="Shape 62"/>
          <p:cNvSpPr/>
          <p:nvPr/>
        </p:nvSpPr>
        <p:spPr>
          <a:xfrm>
            <a:off x="7541369" y="4064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23812" y="5321"/>
                  <a:pt x="18492" y="0"/>
                  <a:pt x="11906" y="0"/>
                </a:cubicBezTo>
                <a:cubicBezTo>
                  <a:pt x="5321" y="0"/>
                  <a:pt x="0" y="5321"/>
                  <a:pt x="0" y="11906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133350"/>
                </a:lnTo>
                <a:lnTo>
                  <a:pt x="47141" y="126355"/>
                </a:lnTo>
                <a:cubicBezTo>
                  <a:pt x="62731" y="121667"/>
                  <a:pt x="79549" y="123118"/>
                  <a:pt x="94097" y="130411"/>
                </a:cubicBezTo>
                <a:cubicBezTo>
                  <a:pt x="109984" y="138373"/>
                  <a:pt x="128513" y="139340"/>
                  <a:pt x="145145" y="133090"/>
                </a:cubicBezTo>
                <a:lnTo>
                  <a:pt x="158948" y="127918"/>
                </a:lnTo>
                <a:cubicBezTo>
                  <a:pt x="163599" y="126169"/>
                  <a:pt x="166688" y="121741"/>
                  <a:pt x="166688" y="116756"/>
                </a:cubicBezTo>
                <a:lnTo>
                  <a:pt x="166688" y="24594"/>
                </a:lnTo>
                <a:cubicBezTo>
                  <a:pt x="166688" y="16036"/>
                  <a:pt x="157683" y="10455"/>
                  <a:pt x="150019" y="14287"/>
                </a:cubicBezTo>
                <a:lnTo>
                  <a:pt x="145628" y="16483"/>
                </a:lnTo>
                <a:cubicBezTo>
                  <a:pt x="128922" y="24854"/>
                  <a:pt x="109240" y="24854"/>
                  <a:pt x="92497" y="16483"/>
                </a:cubicBezTo>
                <a:cubicBezTo>
                  <a:pt x="78953" y="9711"/>
                  <a:pt x="63364" y="8372"/>
                  <a:pt x="48890" y="12725"/>
                </a:cubicBezTo>
                <a:lnTo>
                  <a:pt x="23812" y="20241"/>
                </a:lnTo>
                <a:lnTo>
                  <a:pt x="23812" y="11906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5" name="Text 63"/>
          <p:cNvSpPr/>
          <p:nvPr/>
        </p:nvSpPr>
        <p:spPr>
          <a:xfrm>
            <a:off x="7839025" y="4048125"/>
            <a:ext cx="129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Soberanía de IA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505650" y="4397375"/>
            <a:ext cx="4270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Debate intenso sobre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soberanía tecnológica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países y empresas quieren modelos propios para controlar datos y reducir dependencia.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505650" y="4937125"/>
            <a:ext cx="4206875" cy="1301750"/>
          </a:xfrm>
          <a:custGeom>
            <a:avLst/>
            <a:gdLst/>
            <a:ahLst/>
            <a:cxnLst/>
            <a:rect l="l" t="t" r="r" b="b"/>
            <a:pathLst>
              <a:path w="4206875" h="1301750">
                <a:moveTo>
                  <a:pt x="63499" y="0"/>
                </a:moveTo>
                <a:lnTo>
                  <a:pt x="4143376" y="0"/>
                </a:lnTo>
                <a:cubicBezTo>
                  <a:pt x="4178445" y="0"/>
                  <a:pt x="4206875" y="28430"/>
                  <a:pt x="4206875" y="63499"/>
                </a:cubicBezTo>
                <a:lnTo>
                  <a:pt x="4206875" y="1238251"/>
                </a:lnTo>
                <a:cubicBezTo>
                  <a:pt x="4206875" y="1273320"/>
                  <a:pt x="4178445" y="1301750"/>
                  <a:pt x="4143376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7600900" y="5032375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Motivaciones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600900" y="5286375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Seguridad de datos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600900" y="5508625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Independencia tecnológica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600900" y="5730875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Cumplimiento regulatorio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600900" y="5953125"/>
            <a:ext cx="407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Ventaja competitiva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319119" y="6528594"/>
            <a:ext cx="4548188" cy="1055688"/>
          </a:xfrm>
          <a:custGeom>
            <a:avLst/>
            <a:gdLst/>
            <a:ahLst/>
            <a:cxnLst/>
            <a:rect l="l" t="t" r="r" b="b"/>
            <a:pathLst>
              <a:path w="4548188" h="1055688">
                <a:moveTo>
                  <a:pt x="95255" y="0"/>
                </a:moveTo>
                <a:lnTo>
                  <a:pt x="4452933" y="0"/>
                </a:lnTo>
                <a:cubicBezTo>
                  <a:pt x="4505541" y="0"/>
                  <a:pt x="4548188" y="42647"/>
                  <a:pt x="4548188" y="95255"/>
                </a:cubicBezTo>
                <a:lnTo>
                  <a:pt x="4548188" y="960433"/>
                </a:lnTo>
                <a:cubicBezTo>
                  <a:pt x="4548188" y="1013041"/>
                  <a:pt x="4505541" y="1055688"/>
                  <a:pt x="4452933" y="1055688"/>
                </a:cubicBezTo>
                <a:lnTo>
                  <a:pt x="95255" y="1055688"/>
                </a:lnTo>
                <a:cubicBezTo>
                  <a:pt x="42647" y="1055688"/>
                  <a:pt x="0" y="1013041"/>
                  <a:pt x="0" y="960433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 w="127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93744" y="67071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3103" y="57076"/>
                </a:moveTo>
                <a:lnTo>
                  <a:pt x="56145" y="50118"/>
                </a:lnTo>
                <a:cubicBezTo>
                  <a:pt x="51495" y="45467"/>
                  <a:pt x="51495" y="37914"/>
                  <a:pt x="56145" y="33263"/>
                </a:cubicBezTo>
                <a:lnTo>
                  <a:pt x="98822" y="-9451"/>
                </a:lnTo>
                <a:cubicBezTo>
                  <a:pt x="103473" y="-14101"/>
                  <a:pt x="111026" y="-14101"/>
                  <a:pt x="115677" y="-9451"/>
                </a:cubicBezTo>
                <a:lnTo>
                  <a:pt x="122634" y="-2456"/>
                </a:lnTo>
                <a:cubicBezTo>
                  <a:pt x="127285" y="2195"/>
                  <a:pt x="127285" y="9748"/>
                  <a:pt x="122634" y="14399"/>
                </a:cubicBezTo>
                <a:lnTo>
                  <a:pt x="79958" y="57076"/>
                </a:lnTo>
                <a:cubicBezTo>
                  <a:pt x="75307" y="61726"/>
                  <a:pt x="67754" y="61726"/>
                  <a:pt x="63103" y="57076"/>
                </a:cubicBezTo>
                <a:close/>
                <a:moveTo>
                  <a:pt x="102691" y="78767"/>
                </a:moveTo>
                <a:lnTo>
                  <a:pt x="91008" y="67084"/>
                </a:lnTo>
                <a:lnTo>
                  <a:pt x="132680" y="25412"/>
                </a:lnTo>
                <a:lnTo>
                  <a:pt x="177105" y="69838"/>
                </a:lnTo>
                <a:lnTo>
                  <a:pt x="135434" y="111509"/>
                </a:lnTo>
                <a:lnTo>
                  <a:pt x="123751" y="99826"/>
                </a:lnTo>
                <a:lnTo>
                  <a:pt x="37430" y="186147"/>
                </a:lnTo>
                <a:cubicBezTo>
                  <a:pt x="31626" y="191951"/>
                  <a:pt x="22213" y="191951"/>
                  <a:pt x="16371" y="186147"/>
                </a:cubicBezTo>
                <a:cubicBezTo>
                  <a:pt x="10530" y="180342"/>
                  <a:pt x="10567" y="170929"/>
                  <a:pt x="16371" y="165088"/>
                </a:cubicBezTo>
                <a:lnTo>
                  <a:pt x="102691" y="78767"/>
                </a:lnTo>
                <a:close/>
                <a:moveTo>
                  <a:pt x="145442" y="139378"/>
                </a:moveTo>
                <a:cubicBezTo>
                  <a:pt x="140791" y="134727"/>
                  <a:pt x="140791" y="127174"/>
                  <a:pt x="145442" y="122523"/>
                </a:cubicBezTo>
                <a:lnTo>
                  <a:pt x="188119" y="79846"/>
                </a:lnTo>
                <a:cubicBezTo>
                  <a:pt x="192770" y="75195"/>
                  <a:pt x="200323" y="75195"/>
                  <a:pt x="204974" y="79846"/>
                </a:cubicBezTo>
                <a:lnTo>
                  <a:pt x="211931" y="86804"/>
                </a:lnTo>
                <a:cubicBezTo>
                  <a:pt x="216582" y="91455"/>
                  <a:pt x="216582" y="99008"/>
                  <a:pt x="211931" y="103659"/>
                </a:cubicBezTo>
                <a:lnTo>
                  <a:pt x="169255" y="146372"/>
                </a:lnTo>
                <a:cubicBezTo>
                  <a:pt x="164604" y="151023"/>
                  <a:pt x="157051" y="151023"/>
                  <a:pt x="152400" y="146372"/>
                </a:cubicBezTo>
                <a:lnTo>
                  <a:pt x="145442" y="139415"/>
                </a:ln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5" name="Text 73"/>
          <p:cNvSpPr/>
          <p:nvPr/>
        </p:nvSpPr>
        <p:spPr>
          <a:xfrm>
            <a:off x="7815213" y="6691313"/>
            <a:ext cx="785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EU AI Act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481838" y="7008813"/>
            <a:ext cx="4286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Preparación masiva para la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aplicación completa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del EU AI Act en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agosto 2026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sistemas de alto riesgo.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3543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spc="115" kern="0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RESUMEN EJECUTIVO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56562"/>
            <a:ext cx="1168134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Evolución en 4 Eras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57" y="1203698"/>
            <a:ext cx="875417" cy="36476"/>
          </a:xfrm>
          <a:custGeom>
            <a:avLst/>
            <a:gdLst/>
            <a:ahLst/>
            <a:cxnLst/>
            <a:rect l="l" t="t" r="r" b="b"/>
            <a:pathLst>
              <a:path w="875417" h="36476">
                <a:moveTo>
                  <a:pt x="0" y="0"/>
                </a:moveTo>
                <a:lnTo>
                  <a:pt x="875417" y="0"/>
                </a:lnTo>
                <a:lnTo>
                  <a:pt x="875417" y="36476"/>
                </a:lnTo>
                <a:lnTo>
                  <a:pt x="0" y="3647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64757" y="1404314"/>
            <a:ext cx="2753915" cy="3848185"/>
          </a:xfrm>
          <a:custGeom>
            <a:avLst/>
            <a:gdLst/>
            <a:ahLst/>
            <a:cxnLst/>
            <a:rect l="l" t="t" r="r" b="b"/>
            <a:pathLst>
              <a:path w="2753915" h="3848185">
                <a:moveTo>
                  <a:pt x="36476" y="0"/>
                </a:moveTo>
                <a:lnTo>
                  <a:pt x="2717439" y="0"/>
                </a:lnTo>
                <a:cubicBezTo>
                  <a:pt x="2737584" y="0"/>
                  <a:pt x="2753915" y="16331"/>
                  <a:pt x="2753915" y="36476"/>
                </a:cubicBezTo>
                <a:lnTo>
                  <a:pt x="2753915" y="3738745"/>
                </a:lnTo>
                <a:cubicBezTo>
                  <a:pt x="2753915" y="3799187"/>
                  <a:pt x="2704917" y="3848185"/>
                  <a:pt x="2644474" y="3848185"/>
                </a:cubicBezTo>
                <a:lnTo>
                  <a:pt x="109441" y="3848185"/>
                </a:lnTo>
                <a:cubicBezTo>
                  <a:pt x="48998" y="3848185"/>
                  <a:pt x="0" y="3799187"/>
                  <a:pt x="0" y="3738745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64757" y="1404314"/>
            <a:ext cx="2753915" cy="36476"/>
          </a:xfrm>
          <a:custGeom>
            <a:avLst/>
            <a:gdLst/>
            <a:ahLst/>
            <a:cxnLst/>
            <a:rect l="l" t="t" r="r" b="b"/>
            <a:pathLst>
              <a:path w="2753915" h="36476">
                <a:moveTo>
                  <a:pt x="36476" y="0"/>
                </a:moveTo>
                <a:lnTo>
                  <a:pt x="2717439" y="0"/>
                </a:lnTo>
                <a:cubicBezTo>
                  <a:pt x="2737584" y="0"/>
                  <a:pt x="2753915" y="16331"/>
                  <a:pt x="2753915" y="36476"/>
                </a:cubicBezTo>
                <a:lnTo>
                  <a:pt x="2753915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47135" y="1623168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6757" y="1696120"/>
            <a:ext cx="36475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4271" y="1604930"/>
            <a:ext cx="176907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Prehistoria Teórica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4271" y="1860260"/>
            <a:ext cx="175083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1950-2013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7135" y="2225017"/>
            <a:ext cx="246210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 Principal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7135" y="2553298"/>
            <a:ext cx="2462109" cy="94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Ideas fundamentales, chatbots rudimentarios, primeros GANs. Establecimiento de bases filosóficas y teóricas.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7135" y="3902899"/>
            <a:ext cx="2389158" cy="1167222"/>
          </a:xfrm>
          <a:custGeom>
            <a:avLst/>
            <a:gdLst/>
            <a:ahLst/>
            <a:cxnLst/>
            <a:rect l="l" t="t" r="r" b="b"/>
            <a:pathLst>
              <a:path w="2389158" h="1167222">
                <a:moveTo>
                  <a:pt x="72951" y="0"/>
                </a:moveTo>
                <a:lnTo>
                  <a:pt x="2316206" y="0"/>
                </a:lnTo>
                <a:cubicBezTo>
                  <a:pt x="2356496" y="0"/>
                  <a:pt x="2389158" y="32661"/>
                  <a:pt x="2389158" y="72951"/>
                </a:cubicBezTo>
                <a:lnTo>
                  <a:pt x="2389158" y="1094271"/>
                </a:lnTo>
                <a:cubicBezTo>
                  <a:pt x="2389158" y="1134561"/>
                  <a:pt x="2356496" y="1167222"/>
                  <a:pt x="2316206" y="1167222"/>
                </a:cubicBezTo>
                <a:lnTo>
                  <a:pt x="72951" y="1167222"/>
                </a:lnTo>
                <a:cubicBezTo>
                  <a:pt x="32661" y="1167222"/>
                  <a:pt x="0" y="1134561"/>
                  <a:pt x="0" y="1094271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6562" y="4012326"/>
            <a:ext cx="224325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 Emblemáticos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6562" y="4304132"/>
            <a:ext cx="574492" cy="291806"/>
          </a:xfrm>
          <a:custGeom>
            <a:avLst/>
            <a:gdLst/>
            <a:ahLst/>
            <a:cxnLst/>
            <a:rect l="l" t="t" r="r" b="b"/>
            <a:pathLst>
              <a:path w="574492" h="291806">
                <a:moveTo>
                  <a:pt x="36476" y="0"/>
                </a:moveTo>
                <a:lnTo>
                  <a:pt x="538016" y="0"/>
                </a:lnTo>
                <a:cubicBezTo>
                  <a:pt x="558161" y="0"/>
                  <a:pt x="574492" y="16331"/>
                  <a:pt x="574492" y="36476"/>
                </a:cubicBezTo>
                <a:lnTo>
                  <a:pt x="574492" y="255330"/>
                </a:lnTo>
                <a:cubicBezTo>
                  <a:pt x="574492" y="275475"/>
                  <a:pt x="558161" y="291806"/>
                  <a:pt x="538016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56562" y="4304132"/>
            <a:ext cx="647444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Turing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08138" y="4304132"/>
            <a:ext cx="528898" cy="291806"/>
          </a:xfrm>
          <a:custGeom>
            <a:avLst/>
            <a:gdLst/>
            <a:ahLst/>
            <a:cxnLst/>
            <a:rect l="l" t="t" r="r" b="b"/>
            <a:pathLst>
              <a:path w="528898" h="291806">
                <a:moveTo>
                  <a:pt x="36476" y="0"/>
                </a:moveTo>
                <a:lnTo>
                  <a:pt x="492422" y="0"/>
                </a:lnTo>
                <a:cubicBezTo>
                  <a:pt x="512567" y="0"/>
                  <a:pt x="528898" y="16331"/>
                  <a:pt x="528898" y="36476"/>
                </a:cubicBezTo>
                <a:lnTo>
                  <a:pt x="528898" y="255330"/>
                </a:lnTo>
                <a:cubicBezTo>
                  <a:pt x="528898" y="275475"/>
                  <a:pt x="512567" y="291806"/>
                  <a:pt x="492422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08138" y="4304132"/>
            <a:ext cx="601849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ELIZA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6562" y="4668889"/>
            <a:ext cx="966606" cy="291806"/>
          </a:xfrm>
          <a:custGeom>
            <a:avLst/>
            <a:gdLst/>
            <a:ahLst/>
            <a:cxnLst/>
            <a:rect l="l" t="t" r="r" b="b"/>
            <a:pathLst>
              <a:path w="966606" h="291806">
                <a:moveTo>
                  <a:pt x="36476" y="0"/>
                </a:moveTo>
                <a:lnTo>
                  <a:pt x="930130" y="0"/>
                </a:lnTo>
                <a:cubicBezTo>
                  <a:pt x="950275" y="0"/>
                  <a:pt x="966606" y="16331"/>
                  <a:pt x="966606" y="36476"/>
                </a:cubicBezTo>
                <a:lnTo>
                  <a:pt x="966606" y="255330"/>
                </a:lnTo>
                <a:cubicBezTo>
                  <a:pt x="966606" y="275475"/>
                  <a:pt x="950275" y="291806"/>
                  <a:pt x="930130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6562" y="4668889"/>
            <a:ext cx="1039557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GANs (2014)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66569" y="1404314"/>
            <a:ext cx="2753915" cy="3848185"/>
          </a:xfrm>
          <a:custGeom>
            <a:avLst/>
            <a:gdLst/>
            <a:ahLst/>
            <a:cxnLst/>
            <a:rect l="l" t="t" r="r" b="b"/>
            <a:pathLst>
              <a:path w="2753915" h="3848185">
                <a:moveTo>
                  <a:pt x="36476" y="0"/>
                </a:moveTo>
                <a:lnTo>
                  <a:pt x="2717439" y="0"/>
                </a:lnTo>
                <a:cubicBezTo>
                  <a:pt x="2737584" y="0"/>
                  <a:pt x="2753915" y="16331"/>
                  <a:pt x="2753915" y="36476"/>
                </a:cubicBezTo>
                <a:lnTo>
                  <a:pt x="2753915" y="3738745"/>
                </a:lnTo>
                <a:cubicBezTo>
                  <a:pt x="2753915" y="3799187"/>
                  <a:pt x="2704917" y="3848185"/>
                  <a:pt x="2644474" y="3848185"/>
                </a:cubicBezTo>
                <a:lnTo>
                  <a:pt x="109441" y="3848185"/>
                </a:lnTo>
                <a:cubicBezTo>
                  <a:pt x="48998" y="3848185"/>
                  <a:pt x="0" y="3799187"/>
                  <a:pt x="0" y="3738745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C6A">
                  <a:alpha val="30000"/>
                </a:srgbClr>
              </a:gs>
              <a:gs pos="100000">
                <a:srgbClr val="4A5C6A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3266569" y="1404314"/>
            <a:ext cx="2753915" cy="36476"/>
          </a:xfrm>
          <a:custGeom>
            <a:avLst/>
            <a:gdLst/>
            <a:ahLst/>
            <a:cxnLst/>
            <a:rect l="l" t="t" r="r" b="b"/>
            <a:pathLst>
              <a:path w="2753915" h="36476">
                <a:moveTo>
                  <a:pt x="36476" y="0"/>
                </a:moveTo>
                <a:lnTo>
                  <a:pt x="2717439" y="0"/>
                </a:lnTo>
                <a:cubicBezTo>
                  <a:pt x="2737584" y="0"/>
                  <a:pt x="2753915" y="16331"/>
                  <a:pt x="2753915" y="36476"/>
                </a:cubicBezTo>
                <a:lnTo>
                  <a:pt x="2753915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23" name="Shape 21"/>
          <p:cNvSpPr/>
          <p:nvPr/>
        </p:nvSpPr>
        <p:spPr>
          <a:xfrm>
            <a:off x="3448948" y="1750833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537287" y="1823785"/>
            <a:ext cx="36475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93518" y="1604930"/>
            <a:ext cx="1942331" cy="510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Nacimiento Moderno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93518" y="2115590"/>
            <a:ext cx="192409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2014-2021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48948" y="2480347"/>
            <a:ext cx="246210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 Principal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48948" y="2808628"/>
            <a:ext cx="2462109" cy="94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Transformers y escalado masivo. Revolución arquitectónica que habilita modelos de miles de millones de parámetros.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48948" y="3902899"/>
            <a:ext cx="2389158" cy="1167222"/>
          </a:xfrm>
          <a:custGeom>
            <a:avLst/>
            <a:gdLst/>
            <a:ahLst/>
            <a:cxnLst/>
            <a:rect l="l" t="t" r="r" b="b"/>
            <a:pathLst>
              <a:path w="2389158" h="1167222">
                <a:moveTo>
                  <a:pt x="72951" y="0"/>
                </a:moveTo>
                <a:lnTo>
                  <a:pt x="2316206" y="0"/>
                </a:lnTo>
                <a:cubicBezTo>
                  <a:pt x="2356496" y="0"/>
                  <a:pt x="2389158" y="32661"/>
                  <a:pt x="2389158" y="72951"/>
                </a:cubicBezTo>
                <a:lnTo>
                  <a:pt x="2389158" y="1094271"/>
                </a:lnTo>
                <a:cubicBezTo>
                  <a:pt x="2389158" y="1134561"/>
                  <a:pt x="2356496" y="1167222"/>
                  <a:pt x="2316206" y="1167222"/>
                </a:cubicBezTo>
                <a:lnTo>
                  <a:pt x="72951" y="1167222"/>
                </a:lnTo>
                <a:cubicBezTo>
                  <a:pt x="32661" y="1167222"/>
                  <a:pt x="0" y="1134561"/>
                  <a:pt x="0" y="1094271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558375" y="4012326"/>
            <a:ext cx="224325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 Emblemáticos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558375" y="4304132"/>
            <a:ext cx="975725" cy="291806"/>
          </a:xfrm>
          <a:custGeom>
            <a:avLst/>
            <a:gdLst/>
            <a:ahLst/>
            <a:cxnLst/>
            <a:rect l="l" t="t" r="r" b="b"/>
            <a:pathLst>
              <a:path w="975725" h="291806">
                <a:moveTo>
                  <a:pt x="36476" y="0"/>
                </a:moveTo>
                <a:lnTo>
                  <a:pt x="939249" y="0"/>
                </a:lnTo>
                <a:cubicBezTo>
                  <a:pt x="959394" y="0"/>
                  <a:pt x="975725" y="16331"/>
                  <a:pt x="975725" y="36476"/>
                </a:cubicBezTo>
                <a:lnTo>
                  <a:pt x="975725" y="255330"/>
                </a:lnTo>
                <a:cubicBezTo>
                  <a:pt x="975725" y="275475"/>
                  <a:pt x="959394" y="291806"/>
                  <a:pt x="939249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558375" y="4304132"/>
            <a:ext cx="1048676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02634" y="4304132"/>
            <a:ext cx="583611" cy="291806"/>
          </a:xfrm>
          <a:custGeom>
            <a:avLst/>
            <a:gdLst/>
            <a:ahLst/>
            <a:cxnLst/>
            <a:rect l="l" t="t" r="r" b="b"/>
            <a:pathLst>
              <a:path w="583611" h="291806">
                <a:moveTo>
                  <a:pt x="36476" y="0"/>
                </a:moveTo>
                <a:lnTo>
                  <a:pt x="547135" y="0"/>
                </a:lnTo>
                <a:cubicBezTo>
                  <a:pt x="567280" y="0"/>
                  <a:pt x="583611" y="16331"/>
                  <a:pt x="583611" y="36476"/>
                </a:cubicBezTo>
                <a:lnTo>
                  <a:pt x="583611" y="255330"/>
                </a:lnTo>
                <a:cubicBezTo>
                  <a:pt x="583611" y="275475"/>
                  <a:pt x="567280" y="291806"/>
                  <a:pt x="547135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602634" y="4304132"/>
            <a:ext cx="656562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GPT-3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58375" y="4668889"/>
            <a:ext cx="674800" cy="291806"/>
          </a:xfrm>
          <a:custGeom>
            <a:avLst/>
            <a:gdLst/>
            <a:ahLst/>
            <a:cxnLst/>
            <a:rect l="l" t="t" r="r" b="b"/>
            <a:pathLst>
              <a:path w="674800" h="291806">
                <a:moveTo>
                  <a:pt x="36476" y="0"/>
                </a:moveTo>
                <a:lnTo>
                  <a:pt x="638325" y="0"/>
                </a:lnTo>
                <a:cubicBezTo>
                  <a:pt x="658470" y="0"/>
                  <a:pt x="674800" y="16331"/>
                  <a:pt x="674800" y="36476"/>
                </a:cubicBezTo>
                <a:lnTo>
                  <a:pt x="674800" y="255330"/>
                </a:lnTo>
                <a:cubicBezTo>
                  <a:pt x="674800" y="275475"/>
                  <a:pt x="658470" y="291806"/>
                  <a:pt x="638325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558375" y="4668889"/>
            <a:ext cx="747752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DALL·E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8381" y="1404314"/>
            <a:ext cx="2753915" cy="3848185"/>
          </a:xfrm>
          <a:custGeom>
            <a:avLst/>
            <a:gdLst/>
            <a:ahLst/>
            <a:cxnLst/>
            <a:rect l="l" t="t" r="r" b="b"/>
            <a:pathLst>
              <a:path w="2753915" h="3848185">
                <a:moveTo>
                  <a:pt x="36476" y="0"/>
                </a:moveTo>
                <a:lnTo>
                  <a:pt x="2717439" y="0"/>
                </a:lnTo>
                <a:cubicBezTo>
                  <a:pt x="2737584" y="0"/>
                  <a:pt x="2753915" y="16331"/>
                  <a:pt x="2753915" y="36476"/>
                </a:cubicBezTo>
                <a:lnTo>
                  <a:pt x="2753915" y="3738745"/>
                </a:lnTo>
                <a:cubicBezTo>
                  <a:pt x="2753915" y="3799187"/>
                  <a:pt x="2704917" y="3848185"/>
                  <a:pt x="2644474" y="3848185"/>
                </a:cubicBezTo>
                <a:lnTo>
                  <a:pt x="109441" y="3848185"/>
                </a:lnTo>
                <a:cubicBezTo>
                  <a:pt x="48998" y="3848185"/>
                  <a:pt x="0" y="3799187"/>
                  <a:pt x="0" y="3738745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6168381" y="1404314"/>
            <a:ext cx="2753915" cy="36476"/>
          </a:xfrm>
          <a:custGeom>
            <a:avLst/>
            <a:gdLst/>
            <a:ahLst/>
            <a:cxnLst/>
            <a:rect l="l" t="t" r="r" b="b"/>
            <a:pathLst>
              <a:path w="2753915" h="36476">
                <a:moveTo>
                  <a:pt x="36476" y="0"/>
                </a:moveTo>
                <a:lnTo>
                  <a:pt x="2717439" y="0"/>
                </a:lnTo>
                <a:cubicBezTo>
                  <a:pt x="2737584" y="0"/>
                  <a:pt x="2753915" y="16331"/>
                  <a:pt x="2753915" y="36476"/>
                </a:cubicBezTo>
                <a:lnTo>
                  <a:pt x="2753915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39" name="Shape 37"/>
          <p:cNvSpPr/>
          <p:nvPr/>
        </p:nvSpPr>
        <p:spPr>
          <a:xfrm>
            <a:off x="6350760" y="1623168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00B4D8">
              <a:alpha val="3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440382" y="1696120"/>
            <a:ext cx="36475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97895" y="1604930"/>
            <a:ext cx="94836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Explosión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97895" y="1860260"/>
            <a:ext cx="93013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2022-2024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50760" y="2225017"/>
            <a:ext cx="246210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 Principal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50760" y="2553298"/>
            <a:ext cx="2462109" cy="94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ChatGPT, Stable Diffusion y multimodalidad. Democratización masiva y acceso público a la IA generativa.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0760" y="3902899"/>
            <a:ext cx="2389158" cy="1167222"/>
          </a:xfrm>
          <a:custGeom>
            <a:avLst/>
            <a:gdLst/>
            <a:ahLst/>
            <a:cxnLst/>
            <a:rect l="l" t="t" r="r" b="b"/>
            <a:pathLst>
              <a:path w="2389158" h="1167222">
                <a:moveTo>
                  <a:pt x="72951" y="0"/>
                </a:moveTo>
                <a:lnTo>
                  <a:pt x="2316206" y="0"/>
                </a:lnTo>
                <a:cubicBezTo>
                  <a:pt x="2356496" y="0"/>
                  <a:pt x="2389158" y="32661"/>
                  <a:pt x="2389158" y="72951"/>
                </a:cubicBezTo>
                <a:lnTo>
                  <a:pt x="2389158" y="1094271"/>
                </a:lnTo>
                <a:cubicBezTo>
                  <a:pt x="2389158" y="1134561"/>
                  <a:pt x="2356496" y="1167222"/>
                  <a:pt x="2316206" y="1167222"/>
                </a:cubicBezTo>
                <a:lnTo>
                  <a:pt x="72951" y="1167222"/>
                </a:lnTo>
                <a:cubicBezTo>
                  <a:pt x="32661" y="1167222"/>
                  <a:pt x="0" y="1134561"/>
                  <a:pt x="0" y="1094271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60187" y="4012326"/>
            <a:ext cx="224325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 Emblemáticos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60187" y="4304132"/>
            <a:ext cx="747752" cy="291806"/>
          </a:xfrm>
          <a:custGeom>
            <a:avLst/>
            <a:gdLst/>
            <a:ahLst/>
            <a:cxnLst/>
            <a:rect l="l" t="t" r="r" b="b"/>
            <a:pathLst>
              <a:path w="747752" h="291806">
                <a:moveTo>
                  <a:pt x="36476" y="0"/>
                </a:moveTo>
                <a:lnTo>
                  <a:pt x="711276" y="0"/>
                </a:lnTo>
                <a:cubicBezTo>
                  <a:pt x="731421" y="0"/>
                  <a:pt x="747752" y="16331"/>
                  <a:pt x="747752" y="36476"/>
                </a:cubicBezTo>
                <a:lnTo>
                  <a:pt x="747752" y="255330"/>
                </a:lnTo>
                <a:cubicBezTo>
                  <a:pt x="747752" y="275475"/>
                  <a:pt x="731421" y="291806"/>
                  <a:pt x="711276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60187" y="4304132"/>
            <a:ext cx="820703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ChatGPT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278753" y="4304132"/>
            <a:ext cx="893654" cy="291806"/>
          </a:xfrm>
          <a:custGeom>
            <a:avLst/>
            <a:gdLst/>
            <a:ahLst/>
            <a:cxnLst/>
            <a:rect l="l" t="t" r="r" b="b"/>
            <a:pathLst>
              <a:path w="893654" h="291806">
                <a:moveTo>
                  <a:pt x="36476" y="0"/>
                </a:moveTo>
                <a:lnTo>
                  <a:pt x="857179" y="0"/>
                </a:lnTo>
                <a:cubicBezTo>
                  <a:pt x="877324" y="0"/>
                  <a:pt x="893654" y="16331"/>
                  <a:pt x="893654" y="36476"/>
                </a:cubicBezTo>
                <a:lnTo>
                  <a:pt x="893654" y="255330"/>
                </a:lnTo>
                <a:cubicBezTo>
                  <a:pt x="893654" y="275475"/>
                  <a:pt x="877324" y="291806"/>
                  <a:pt x="857179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278753" y="4304132"/>
            <a:ext cx="966606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Midjourney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60187" y="4668889"/>
            <a:ext cx="446827" cy="291806"/>
          </a:xfrm>
          <a:custGeom>
            <a:avLst/>
            <a:gdLst/>
            <a:ahLst/>
            <a:cxnLst/>
            <a:rect l="l" t="t" r="r" b="b"/>
            <a:pathLst>
              <a:path w="446827" h="291806">
                <a:moveTo>
                  <a:pt x="36476" y="0"/>
                </a:moveTo>
                <a:lnTo>
                  <a:pt x="410352" y="0"/>
                </a:lnTo>
                <a:cubicBezTo>
                  <a:pt x="430497" y="0"/>
                  <a:pt x="446827" y="16331"/>
                  <a:pt x="446827" y="36476"/>
                </a:cubicBezTo>
                <a:lnTo>
                  <a:pt x="446827" y="255330"/>
                </a:lnTo>
                <a:cubicBezTo>
                  <a:pt x="446827" y="275475"/>
                  <a:pt x="430497" y="291806"/>
                  <a:pt x="410352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460187" y="4668889"/>
            <a:ext cx="519779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70194" y="1404314"/>
            <a:ext cx="2753915" cy="3848185"/>
          </a:xfrm>
          <a:custGeom>
            <a:avLst/>
            <a:gdLst/>
            <a:ahLst/>
            <a:cxnLst/>
            <a:rect l="l" t="t" r="r" b="b"/>
            <a:pathLst>
              <a:path w="2753915" h="3848185">
                <a:moveTo>
                  <a:pt x="36476" y="0"/>
                </a:moveTo>
                <a:lnTo>
                  <a:pt x="2717439" y="0"/>
                </a:lnTo>
                <a:cubicBezTo>
                  <a:pt x="2737584" y="0"/>
                  <a:pt x="2753915" y="16331"/>
                  <a:pt x="2753915" y="36476"/>
                </a:cubicBezTo>
                <a:lnTo>
                  <a:pt x="2753915" y="3738745"/>
                </a:lnTo>
                <a:cubicBezTo>
                  <a:pt x="2753915" y="3799187"/>
                  <a:pt x="2704917" y="3848185"/>
                  <a:pt x="2644474" y="3848185"/>
                </a:cubicBezTo>
                <a:lnTo>
                  <a:pt x="109441" y="3848185"/>
                </a:lnTo>
                <a:cubicBezTo>
                  <a:pt x="48998" y="3848185"/>
                  <a:pt x="0" y="3799187"/>
                  <a:pt x="0" y="3738745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4D8">
                  <a:alpha val="20000"/>
                </a:srgbClr>
              </a:gs>
              <a:gs pos="100000">
                <a:srgbClr val="00B4D8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9070194" y="1404314"/>
            <a:ext cx="2753915" cy="36476"/>
          </a:xfrm>
          <a:custGeom>
            <a:avLst/>
            <a:gdLst/>
            <a:ahLst/>
            <a:cxnLst/>
            <a:rect l="l" t="t" r="r" b="b"/>
            <a:pathLst>
              <a:path w="2753915" h="36476">
                <a:moveTo>
                  <a:pt x="36476" y="0"/>
                </a:moveTo>
                <a:lnTo>
                  <a:pt x="2717439" y="0"/>
                </a:lnTo>
                <a:cubicBezTo>
                  <a:pt x="2737584" y="0"/>
                  <a:pt x="2753915" y="16331"/>
                  <a:pt x="2753915" y="36476"/>
                </a:cubicBezTo>
                <a:lnTo>
                  <a:pt x="2753915" y="36476"/>
                </a:lnTo>
                <a:lnTo>
                  <a:pt x="0" y="36476"/>
                </a:ln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55" name="Shape 53"/>
          <p:cNvSpPr/>
          <p:nvPr/>
        </p:nvSpPr>
        <p:spPr>
          <a:xfrm>
            <a:off x="9252572" y="1623168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218854" y="0"/>
                </a:moveTo>
                <a:lnTo>
                  <a:pt x="218854" y="0"/>
                </a:lnTo>
                <a:cubicBezTo>
                  <a:pt x="339724" y="0"/>
                  <a:pt x="437708" y="97984"/>
                  <a:pt x="437708" y="218854"/>
                </a:cubicBezTo>
                <a:lnTo>
                  <a:pt x="437708" y="218854"/>
                </a:lnTo>
                <a:cubicBezTo>
                  <a:pt x="437708" y="339724"/>
                  <a:pt x="339724" y="437708"/>
                  <a:pt x="218854" y="437708"/>
                </a:cubicBezTo>
                <a:lnTo>
                  <a:pt x="218854" y="437708"/>
                </a:lnTo>
                <a:cubicBezTo>
                  <a:pt x="97984" y="437708"/>
                  <a:pt x="0" y="339724"/>
                  <a:pt x="0" y="218854"/>
                </a:cubicBezTo>
                <a:lnTo>
                  <a:pt x="0" y="218854"/>
                </a:lnTo>
                <a:cubicBezTo>
                  <a:pt x="0" y="97984"/>
                  <a:pt x="97984" y="0"/>
                  <a:pt x="218854" y="0"/>
                </a:cubicBezTo>
                <a:close/>
              </a:path>
            </a:pathLst>
          </a:custGeom>
          <a:solidFill>
            <a:srgbClr val="00B4D8">
              <a:alpha val="3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342194" y="1696120"/>
            <a:ext cx="364757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799708" y="1604930"/>
            <a:ext cx="1085152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Producción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799708" y="1860260"/>
            <a:ext cx="1066914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2025-2026+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252572" y="2225017"/>
            <a:ext cx="246210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Característica Principal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52572" y="2553298"/>
            <a:ext cx="2462109" cy="94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Agentes autónomos, ROI medible, regulación. La IA pasa de experimento a infraestructura empresarial crítica.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252572" y="4267656"/>
            <a:ext cx="2389158" cy="802465"/>
          </a:xfrm>
          <a:custGeom>
            <a:avLst/>
            <a:gdLst/>
            <a:ahLst/>
            <a:cxnLst/>
            <a:rect l="l" t="t" r="r" b="b"/>
            <a:pathLst>
              <a:path w="2389158" h="802465">
                <a:moveTo>
                  <a:pt x="72952" y="0"/>
                </a:moveTo>
                <a:lnTo>
                  <a:pt x="2316206" y="0"/>
                </a:lnTo>
                <a:cubicBezTo>
                  <a:pt x="2356496" y="0"/>
                  <a:pt x="2389158" y="32662"/>
                  <a:pt x="2389158" y="72952"/>
                </a:cubicBezTo>
                <a:lnTo>
                  <a:pt x="2389158" y="729513"/>
                </a:lnTo>
                <a:cubicBezTo>
                  <a:pt x="2389158" y="769803"/>
                  <a:pt x="2356496" y="802465"/>
                  <a:pt x="2316206" y="802465"/>
                </a:cubicBezTo>
                <a:lnTo>
                  <a:pt x="72952" y="802465"/>
                </a:lnTo>
                <a:cubicBezTo>
                  <a:pt x="32662" y="802465"/>
                  <a:pt x="0" y="769803"/>
                  <a:pt x="0" y="729513"/>
                </a:cubicBezTo>
                <a:lnTo>
                  <a:pt x="0" y="72952"/>
                </a:lnTo>
                <a:cubicBezTo>
                  <a:pt x="0" y="32662"/>
                  <a:pt x="32662" y="0"/>
                  <a:pt x="72952" y="0"/>
                </a:cubicBezTo>
                <a:close/>
              </a:path>
            </a:pathLst>
          </a:custGeom>
          <a:solidFill>
            <a:srgbClr val="0A0E17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361999" y="4377083"/>
            <a:ext cx="224325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 Emblemáticos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361999" y="4668889"/>
            <a:ext cx="319162" cy="291806"/>
          </a:xfrm>
          <a:custGeom>
            <a:avLst/>
            <a:gdLst/>
            <a:ahLst/>
            <a:cxnLst/>
            <a:rect l="l" t="t" r="r" b="b"/>
            <a:pathLst>
              <a:path w="319162" h="291806">
                <a:moveTo>
                  <a:pt x="36476" y="0"/>
                </a:moveTo>
                <a:lnTo>
                  <a:pt x="282687" y="0"/>
                </a:lnTo>
                <a:cubicBezTo>
                  <a:pt x="302832" y="0"/>
                  <a:pt x="319162" y="16331"/>
                  <a:pt x="319162" y="36476"/>
                </a:cubicBezTo>
                <a:lnTo>
                  <a:pt x="319162" y="255330"/>
                </a:lnTo>
                <a:cubicBezTo>
                  <a:pt x="319162" y="275475"/>
                  <a:pt x="302832" y="291806"/>
                  <a:pt x="282687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9361999" y="4668889"/>
            <a:ext cx="392114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o3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750408" y="4668889"/>
            <a:ext cx="592730" cy="291806"/>
          </a:xfrm>
          <a:custGeom>
            <a:avLst/>
            <a:gdLst/>
            <a:ahLst/>
            <a:cxnLst/>
            <a:rect l="l" t="t" r="r" b="b"/>
            <a:pathLst>
              <a:path w="592730" h="291806">
                <a:moveTo>
                  <a:pt x="36476" y="0"/>
                </a:moveTo>
                <a:lnTo>
                  <a:pt x="556254" y="0"/>
                </a:lnTo>
                <a:cubicBezTo>
                  <a:pt x="576399" y="0"/>
                  <a:pt x="592730" y="16331"/>
                  <a:pt x="592730" y="36476"/>
                </a:cubicBezTo>
                <a:lnTo>
                  <a:pt x="592730" y="255330"/>
                </a:lnTo>
                <a:cubicBezTo>
                  <a:pt x="592730" y="275475"/>
                  <a:pt x="576399" y="291806"/>
                  <a:pt x="556254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9750408" y="4668889"/>
            <a:ext cx="665681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Grok 3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415377" y="4668889"/>
            <a:ext cx="693038" cy="291806"/>
          </a:xfrm>
          <a:custGeom>
            <a:avLst/>
            <a:gdLst/>
            <a:ahLst/>
            <a:cxnLst/>
            <a:rect l="l" t="t" r="r" b="b"/>
            <a:pathLst>
              <a:path w="693038" h="291806">
                <a:moveTo>
                  <a:pt x="36476" y="0"/>
                </a:moveTo>
                <a:lnTo>
                  <a:pt x="656562" y="0"/>
                </a:lnTo>
                <a:cubicBezTo>
                  <a:pt x="676707" y="0"/>
                  <a:pt x="693038" y="16331"/>
                  <a:pt x="693038" y="36476"/>
                </a:cubicBezTo>
                <a:lnTo>
                  <a:pt x="693038" y="255330"/>
                </a:lnTo>
                <a:cubicBezTo>
                  <a:pt x="693038" y="275475"/>
                  <a:pt x="676707" y="291806"/>
                  <a:pt x="656562" y="291806"/>
                </a:cubicBezTo>
                <a:lnTo>
                  <a:pt x="36476" y="291806"/>
                </a:lnTo>
                <a:cubicBezTo>
                  <a:pt x="16331" y="291806"/>
                  <a:pt x="0" y="275475"/>
                  <a:pt x="0" y="255330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415377" y="4668889"/>
            <a:ext cx="765990" cy="291806"/>
          </a:xfrm>
          <a:prstGeom prst="rect">
            <a:avLst/>
          </a:prstGeom>
          <a:noFill/>
          <a:ln/>
        </p:spPr>
        <p:txBody>
          <a:bodyPr wrap="square" lIns="72951" tIns="36476" rIns="72951" bIns="36476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69316" y="5402962"/>
            <a:ext cx="11453367" cy="1449909"/>
          </a:xfrm>
          <a:custGeom>
            <a:avLst/>
            <a:gdLst/>
            <a:ahLst/>
            <a:cxnLst/>
            <a:rect l="l" t="t" r="r" b="b"/>
            <a:pathLst>
              <a:path w="11453367" h="1449909">
                <a:moveTo>
                  <a:pt x="109425" y="0"/>
                </a:moveTo>
                <a:lnTo>
                  <a:pt x="11343943" y="0"/>
                </a:lnTo>
                <a:cubicBezTo>
                  <a:pt x="11404376" y="0"/>
                  <a:pt x="11453367" y="48991"/>
                  <a:pt x="11453367" y="109425"/>
                </a:cubicBezTo>
                <a:lnTo>
                  <a:pt x="11453367" y="1340484"/>
                </a:lnTo>
                <a:cubicBezTo>
                  <a:pt x="11453367" y="1400918"/>
                  <a:pt x="11404376" y="1449909"/>
                  <a:pt x="11343943" y="1449909"/>
                </a:cubicBezTo>
                <a:lnTo>
                  <a:pt x="109425" y="1449909"/>
                </a:lnTo>
                <a:cubicBezTo>
                  <a:pt x="48991" y="1449909"/>
                  <a:pt x="0" y="1400918"/>
                  <a:pt x="0" y="1340484"/>
                </a:cubicBezTo>
                <a:lnTo>
                  <a:pt x="0" y="109425"/>
                </a:lnTo>
                <a:cubicBezTo>
                  <a:pt x="0" y="49032"/>
                  <a:pt x="49032" y="0"/>
                  <a:pt x="109425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8534" y="5626375"/>
            <a:ext cx="205176" cy="273568"/>
          </a:xfrm>
          <a:custGeom>
            <a:avLst/>
            <a:gdLst/>
            <a:ahLst/>
            <a:cxnLst/>
            <a:rect l="l" t="t" r="r" b="b"/>
            <a:pathLst>
              <a:path w="205176" h="273568">
                <a:moveTo>
                  <a:pt x="156500" y="205176"/>
                </a:moveTo>
                <a:cubicBezTo>
                  <a:pt x="160400" y="193261"/>
                  <a:pt x="168201" y="182468"/>
                  <a:pt x="177018" y="173170"/>
                </a:cubicBezTo>
                <a:cubicBezTo>
                  <a:pt x="194490" y="154790"/>
                  <a:pt x="205176" y="129945"/>
                  <a:pt x="205176" y="102588"/>
                </a:cubicBezTo>
                <a:cubicBezTo>
                  <a:pt x="205176" y="45951"/>
                  <a:pt x="159225" y="0"/>
                  <a:pt x="102588" y="0"/>
                </a:cubicBezTo>
                <a:cubicBezTo>
                  <a:pt x="45951" y="0"/>
                  <a:pt x="0" y="45951"/>
                  <a:pt x="0" y="102588"/>
                </a:cubicBezTo>
                <a:cubicBezTo>
                  <a:pt x="0" y="129945"/>
                  <a:pt x="10686" y="154790"/>
                  <a:pt x="28158" y="173170"/>
                </a:cubicBezTo>
                <a:cubicBezTo>
                  <a:pt x="36974" y="182468"/>
                  <a:pt x="44829" y="193261"/>
                  <a:pt x="48676" y="205176"/>
                </a:cubicBezTo>
                <a:lnTo>
                  <a:pt x="156447" y="205176"/>
                </a:lnTo>
                <a:close/>
                <a:moveTo>
                  <a:pt x="153882" y="230823"/>
                </a:moveTo>
                <a:lnTo>
                  <a:pt x="51294" y="230823"/>
                </a:lnTo>
                <a:lnTo>
                  <a:pt x="51294" y="239372"/>
                </a:lnTo>
                <a:cubicBezTo>
                  <a:pt x="51294" y="262988"/>
                  <a:pt x="70422" y="282117"/>
                  <a:pt x="94039" y="282117"/>
                </a:cubicBezTo>
                <a:lnTo>
                  <a:pt x="111137" y="282117"/>
                </a:lnTo>
                <a:cubicBezTo>
                  <a:pt x="134753" y="282117"/>
                  <a:pt x="153882" y="262988"/>
                  <a:pt x="153882" y="239372"/>
                </a:cubicBezTo>
                <a:lnTo>
                  <a:pt x="153882" y="230823"/>
                </a:lnTo>
                <a:close/>
                <a:moveTo>
                  <a:pt x="98313" y="59843"/>
                </a:moveTo>
                <a:cubicBezTo>
                  <a:pt x="77048" y="59843"/>
                  <a:pt x="59843" y="77048"/>
                  <a:pt x="59843" y="98313"/>
                </a:cubicBezTo>
                <a:cubicBezTo>
                  <a:pt x="59843" y="105420"/>
                  <a:pt x="54126" y="111137"/>
                  <a:pt x="47019" y="111137"/>
                </a:cubicBezTo>
                <a:cubicBezTo>
                  <a:pt x="39913" y="111137"/>
                  <a:pt x="34196" y="105420"/>
                  <a:pt x="34196" y="98313"/>
                </a:cubicBezTo>
                <a:cubicBezTo>
                  <a:pt x="34196" y="62889"/>
                  <a:pt x="62889" y="34196"/>
                  <a:pt x="98313" y="34196"/>
                </a:cubicBezTo>
                <a:cubicBezTo>
                  <a:pt x="105420" y="34196"/>
                  <a:pt x="111137" y="39913"/>
                  <a:pt x="111137" y="47019"/>
                </a:cubicBezTo>
                <a:cubicBezTo>
                  <a:pt x="111137" y="54126"/>
                  <a:pt x="105420" y="59843"/>
                  <a:pt x="98313" y="59843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71" name="Text 69"/>
          <p:cNvSpPr/>
          <p:nvPr/>
        </p:nvSpPr>
        <p:spPr>
          <a:xfrm>
            <a:off x="915027" y="5589900"/>
            <a:ext cx="1081504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Patrón de Evolución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15027" y="5954657"/>
            <a:ext cx="10796805" cy="711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evolución de la IA generativa sigue un patrón claro: </a:t>
            </a:r>
            <a:pPr>
              <a:lnSpc>
                <a:spcPct val="140000"/>
              </a:lnSpc>
            </a:pPr>
            <a:r>
              <a:rPr lang="en-US" sz="1149" b="1" dirty="0">
                <a:solidFill>
                  <a:srgbClr val="00B4D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fundamentos teóricos → innovación arquitectónica → democratización masiva → adopción empresarial</a:t>
            </a:r>
            <a:pPr>
              <a:lnSpc>
                <a:spcPct val="140000"/>
              </a:lnSpc>
            </a:pPr>
            <a:r>
              <a:rPr lang="en-US" sz="1149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Cada era construye sobre la anterior, acelerando el ritmo de innovación y ampliando el alcance de aplicaciones. Lo que comenzó como una pregunta filosófica en 1950 se ha convertido en infraestructura crítica para la economía global en 2026.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e3d78664624255dc91f9467999bf2267ee63b7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A0E17">
                  <a:alpha val="95000"/>
                </a:srgbClr>
              </a:gs>
              <a:gs pos="50000">
                <a:srgbClr val="0A0E17">
                  <a:alpha val="90000"/>
                </a:srgbClr>
              </a:gs>
              <a:gs pos="100000">
                <a:srgbClr val="00B4D8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48325" y="66675"/>
            <a:ext cx="895350" cy="895350"/>
          </a:xfrm>
          <a:custGeom>
            <a:avLst/>
            <a:gdLst/>
            <a:ahLst/>
            <a:cxnLst/>
            <a:rect l="l" t="t" r="r" b="b"/>
            <a:pathLst>
              <a:path w="895350" h="895350">
                <a:moveTo>
                  <a:pt x="447675" y="0"/>
                </a:moveTo>
                <a:lnTo>
                  <a:pt x="447675" y="0"/>
                </a:lnTo>
                <a:cubicBezTo>
                  <a:pt x="694754" y="0"/>
                  <a:pt x="895350" y="200596"/>
                  <a:pt x="895350" y="447675"/>
                </a:cubicBezTo>
                <a:lnTo>
                  <a:pt x="895350" y="447675"/>
                </a:lnTo>
                <a:cubicBezTo>
                  <a:pt x="895350" y="694754"/>
                  <a:pt x="694754" y="895350"/>
                  <a:pt x="447675" y="895350"/>
                </a:cubicBezTo>
                <a:lnTo>
                  <a:pt x="447675" y="895350"/>
                </a:lnTo>
                <a:cubicBezTo>
                  <a:pt x="200596" y="895350"/>
                  <a:pt x="0" y="694754"/>
                  <a:pt x="0" y="447675"/>
                </a:cubicBezTo>
                <a:lnTo>
                  <a:pt x="0" y="447675"/>
                </a:lnTo>
                <a:cubicBezTo>
                  <a:pt x="0" y="200596"/>
                  <a:pt x="200596" y="0"/>
                  <a:pt x="447675" y="0"/>
                </a:cubicBezTo>
                <a:close/>
              </a:path>
            </a:pathLst>
          </a:custGeom>
          <a:solidFill>
            <a:srgbClr val="00B4D8">
              <a:alpha val="20000"/>
            </a:srgbClr>
          </a:solidFill>
          <a:ln w="25400">
            <a:solidFill>
              <a:srgbClr val="00B4D8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67400" y="2857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2869555" y="1504950"/>
            <a:ext cx="64484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1FAEE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El Futuro es Ahora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0" y="2590800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 h="0">
                <a:moveTo>
                  <a:pt x="0" y="0"/>
                </a:moveTo>
                <a:lnTo>
                  <a:pt x="1524000" y="0"/>
                </a:lnTo>
                <a:lnTo>
                  <a:pt x="15240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00B4D8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1771650" y="2895600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La IA Generativa ha pasado de ser una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1FAE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curiosidad teórica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a convertirse en 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00B4D8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infraestructura crítica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para la innovación empresarial y social.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69568" y="4024313"/>
            <a:ext cx="1924050" cy="1152525"/>
          </a:xfrm>
          <a:custGeom>
            <a:avLst/>
            <a:gdLst/>
            <a:ahLst/>
            <a:cxnLst/>
            <a:rect l="l" t="t" r="r" b="b"/>
            <a:pathLst>
              <a:path w="1924050" h="1152525">
                <a:moveTo>
                  <a:pt x="114296" y="0"/>
                </a:moveTo>
                <a:lnTo>
                  <a:pt x="1809754" y="0"/>
                </a:lnTo>
                <a:cubicBezTo>
                  <a:pt x="1872878" y="0"/>
                  <a:pt x="1924050" y="51172"/>
                  <a:pt x="1924050" y="114296"/>
                </a:cubicBezTo>
                <a:lnTo>
                  <a:pt x="1924050" y="1038229"/>
                </a:lnTo>
                <a:cubicBezTo>
                  <a:pt x="1924050" y="1101353"/>
                  <a:pt x="1872878" y="1152525"/>
                  <a:pt x="1809754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50530" y="4219575"/>
            <a:ext cx="1762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26730" y="4752975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Años de Evolución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33231" y="4024313"/>
            <a:ext cx="1924050" cy="1152525"/>
          </a:xfrm>
          <a:custGeom>
            <a:avLst/>
            <a:gdLst/>
            <a:ahLst/>
            <a:cxnLst/>
            <a:rect l="l" t="t" r="r" b="b"/>
            <a:pathLst>
              <a:path w="1924050" h="1152525">
                <a:moveTo>
                  <a:pt x="114296" y="0"/>
                </a:moveTo>
                <a:lnTo>
                  <a:pt x="1809754" y="0"/>
                </a:lnTo>
                <a:cubicBezTo>
                  <a:pt x="1872878" y="0"/>
                  <a:pt x="1924050" y="51172"/>
                  <a:pt x="1924050" y="114296"/>
                </a:cubicBezTo>
                <a:lnTo>
                  <a:pt x="1924050" y="1038229"/>
                </a:lnTo>
                <a:cubicBezTo>
                  <a:pt x="1924050" y="1101353"/>
                  <a:pt x="1872878" y="1152525"/>
                  <a:pt x="1809754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4193" y="4219575"/>
            <a:ext cx="1762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90393" y="4752975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Eras Transformadoras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96894" y="4024313"/>
            <a:ext cx="1924050" cy="1152525"/>
          </a:xfrm>
          <a:custGeom>
            <a:avLst/>
            <a:gdLst/>
            <a:ahLst/>
            <a:cxnLst/>
            <a:rect l="l" t="t" r="r" b="b"/>
            <a:pathLst>
              <a:path w="1924050" h="1152525">
                <a:moveTo>
                  <a:pt x="114296" y="0"/>
                </a:moveTo>
                <a:lnTo>
                  <a:pt x="1809754" y="0"/>
                </a:lnTo>
                <a:cubicBezTo>
                  <a:pt x="1872878" y="0"/>
                  <a:pt x="1924050" y="51172"/>
                  <a:pt x="1924050" y="114296"/>
                </a:cubicBezTo>
                <a:lnTo>
                  <a:pt x="1924050" y="1038229"/>
                </a:lnTo>
                <a:cubicBezTo>
                  <a:pt x="1924050" y="1101353"/>
                  <a:pt x="1872878" y="1152525"/>
                  <a:pt x="1809754" y="1152525"/>
                </a:cubicBezTo>
                <a:lnTo>
                  <a:pt x="114296" y="1152525"/>
                </a:lnTo>
                <a:cubicBezTo>
                  <a:pt x="51172" y="1152525"/>
                  <a:pt x="0" y="1101353"/>
                  <a:pt x="0" y="10382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77857" y="4219575"/>
            <a:ext cx="1762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00B4D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∞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54057" y="4752975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Posibilidades Futuras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833563" y="5567363"/>
            <a:ext cx="8524875" cy="1228725"/>
          </a:xfrm>
          <a:custGeom>
            <a:avLst/>
            <a:gdLst/>
            <a:ahLst/>
            <a:cxnLst/>
            <a:rect l="l" t="t" r="r" b="b"/>
            <a:pathLst>
              <a:path w="8524875" h="1228725">
                <a:moveTo>
                  <a:pt x="114296" y="0"/>
                </a:moveTo>
                <a:lnTo>
                  <a:pt x="8410579" y="0"/>
                </a:lnTo>
                <a:cubicBezTo>
                  <a:pt x="8473703" y="0"/>
                  <a:pt x="8524875" y="51172"/>
                  <a:pt x="8524875" y="114296"/>
                </a:cubicBezTo>
                <a:lnTo>
                  <a:pt x="8524875" y="1114429"/>
                </a:lnTo>
                <a:cubicBezTo>
                  <a:pt x="8524875" y="1177553"/>
                  <a:pt x="8473703" y="1228725"/>
                  <a:pt x="84105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0B4D8">
              <a:alpha val="10196"/>
            </a:srgbClr>
          </a:solidFill>
          <a:ln w="12700">
            <a:solidFill>
              <a:srgbClr val="00B4D8">
                <a:alpha val="3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95500" y="5762625"/>
            <a:ext cx="800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A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viaje continúa...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105025" y="6105525"/>
            <a:ext cx="7981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 1950 a 2026, hemos presenciado la transformación de un sueño teórico en realidad tangible. La próxima década promete avances aún más revolucionarios.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y Evolución de la IA Generativa</dc:title>
  <dc:subject>Historia y Evolución de la IA Generativa</dc:subject>
  <dc:creator>Kimi</dc:creator>
  <cp:lastModifiedBy>Kimi</cp:lastModifiedBy>
  <cp:revision>1</cp:revision>
  <dcterms:created xsi:type="dcterms:W3CDTF">2026-02-20T15:25:42Z</dcterms:created>
  <dcterms:modified xsi:type="dcterms:W3CDTF">2026-02-20T15:25:42Z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{"Label":"Historia y Evolución de la IA Generativa","ContentProducer":"001191110108MACG2KBH8F10000","ProduceID":"19c7ba66-4142-8d1e-8000-00000c87a3b5","ReservedCode1":"","ContentPropagator":"001191110108MACG2KBH8F20000","PropagateID":"19c7ba66-4142-8d1e-8000-00000c87a3b5","ReservedCode2":""}</vt:lpwstr>
  </property>
</Properties>
</file>