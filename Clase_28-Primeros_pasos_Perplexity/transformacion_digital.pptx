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 la bienvenida y establecer que la transformación no es solo instalar software, sino un cambio de mentalidad.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731520"/>
            <a:ext cx="1463040" cy="146304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743200"/>
            <a:ext cx="731520" cy="7315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502920"/>
            <a:ext cx="2560320" cy="347472"/>
          </a:xfrm>
          <a:prstGeom prst="rect">
            <a:avLst>
              <a:gd name="adj" fmla="val 13158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5029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PRESENTACIÓN CORPORATIVA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10058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Transformación</a:t>
            </a:r>
            <a:endParaRPr lang="en-US" sz="5200" dirty="0"/>
          </a:p>
        </p:txBody>
      </p:sp>
      <p:sp>
        <p:nvSpPr>
          <p:cNvPr id="10" name="Text 6"/>
          <p:cNvSpPr/>
          <p:nvPr/>
        </p:nvSpPr>
        <p:spPr>
          <a:xfrm>
            <a:off x="457200" y="17830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5200" dirty="0"/>
          </a:p>
        </p:txBody>
      </p:sp>
      <p:sp>
        <p:nvSpPr>
          <p:cNvPr id="11" name="Shape 7"/>
          <p:cNvSpPr/>
          <p:nvPr/>
        </p:nvSpPr>
        <p:spPr>
          <a:xfrm>
            <a:off x="457200" y="2724912"/>
            <a:ext cx="41148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57200" y="288036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Adaptando nuestra cultura y procesos a la era de la agilidad.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228600"/>
            <a:ext cx="54864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228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09728"/>
            <a:ext cx="7772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ahora?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280160"/>
            <a:ext cx="640080" cy="640080"/>
          </a:xfrm>
          <a:prstGeom prst="ellipse">
            <a:avLst/>
          </a:prstGeom>
          <a:solidFill>
            <a:srgbClr val="E8F4FD"/>
          </a:solidFill>
          <a:ln w="12700">
            <a:solidFill>
              <a:srgbClr val="B3D4F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353312"/>
            <a:ext cx="402336" cy="4023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117043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Consumidor Hiperconectado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463040" y="150876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inmediatez, personalización y autoservicio en cada punto de contacto.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33172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2331720"/>
            <a:ext cx="109728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" y="2514600"/>
            <a:ext cx="640080" cy="640080"/>
          </a:xfrm>
          <a:prstGeom prst="ellipse">
            <a:avLst/>
          </a:prstGeom>
          <a:solidFill>
            <a:srgbClr val="E8F4FD"/>
          </a:solidFill>
          <a:ln w="12700">
            <a:solidFill>
              <a:srgbClr val="B3D4F0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587752"/>
            <a:ext cx="402336" cy="40233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463040" y="24048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 Competidores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463040" y="274320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 ágiles que nacen en la nube y disrumpen mercados establecidos.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57200" y="356616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57200" y="3566160"/>
            <a:ext cx="109728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85800" y="3749040"/>
            <a:ext cx="640080" cy="640080"/>
          </a:xfrm>
          <a:prstGeom prst="ellipse">
            <a:avLst/>
          </a:prstGeom>
          <a:solidFill>
            <a:srgbClr val="E8F4FD"/>
          </a:solidFill>
          <a:ln w="12700">
            <a:solidFill>
              <a:srgbClr val="B3D4F0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822192"/>
            <a:ext cx="402336" cy="40233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463040" y="363931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 Operativa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1463040" y="39776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más con menos errores mediante la automatización inteligente de procesos.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digitalización ya no es una ventaja competitiva, es un requisito de supervivencia."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228600"/>
            <a:ext cx="54864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228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realmente la Transformación Digital?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868680"/>
          </a:xfrm>
          <a:prstGeom prst="rect">
            <a:avLst/>
          </a:prstGeom>
          <a:solidFill>
            <a:srgbClr val="1A1A2E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058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C4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23160" y="1097280"/>
            <a:ext cx="27432" cy="594360"/>
          </a:xfrm>
          <a:prstGeom prst="rect">
            <a:avLst/>
          </a:prstGeom>
          <a:solidFill>
            <a:srgbClr val="2A4A6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1033272"/>
            <a:ext cx="59436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C4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comprar licencias de software o tener redes sociales.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8229600" cy="868680"/>
          </a:xfrm>
          <a:prstGeom prst="rect">
            <a:avLst/>
          </a:prstGeom>
          <a:solidFill>
            <a:srgbClr val="0D2137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0116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SÍ 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23160" y="2103120"/>
            <a:ext cx="27432" cy="594360"/>
          </a:xfrm>
          <a:prstGeom prst="rect">
            <a:avLst/>
          </a:prstGeom>
          <a:solidFill>
            <a:srgbClr val="2A4A6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2039112"/>
            <a:ext cx="59436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Rediseñar el modelo de negocio usando la tecnología como palanca.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2944368"/>
            <a:ext cx="8229600" cy="1097280"/>
          </a:xfrm>
          <a:prstGeom prst="rect">
            <a:avLst/>
          </a:prstGeom>
          <a:solidFill>
            <a:srgbClr val="08203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944368"/>
            <a:ext cx="146304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4436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FÓRMULA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34015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383280" y="34015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Procesos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760720" y="34015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Personas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 Valor Real para Clientes, Empleados y la Organización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228600"/>
            <a:ext cx="54864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228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09728"/>
            <a:ext cx="7772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Hoja de Ruta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05840"/>
            <a:ext cx="50292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01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143000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54480" y="107899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del Cliente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48640" y="1719072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de empatía y Customer Journey para entender cada punto de contacto.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846320" y="100584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46320" y="1005840"/>
            <a:ext cx="50292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4632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02</a:t>
            </a:r>
            <a:endParaRPr lang="en-US" sz="13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143000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035040" y="107899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Agilidad Operativa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5029200" y="1719072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Scrum/Kanban para iterar rápido y entregar valor continuo.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365760" y="292608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65760" y="2926080"/>
            <a:ext cx="50292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6576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03</a:t>
            </a:r>
            <a:endParaRPr lang="en-US" sz="13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063240"/>
            <a:ext cx="502920" cy="5029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554480" y="299923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 y Talento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548640" y="3639312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Fomentar el "Upskilling": aprender nuevas habilidades como ventaja estratégica.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4846320" y="292608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846320" y="2926080"/>
            <a:ext cx="50292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84632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04</a:t>
            </a:r>
            <a:endParaRPr lang="en-US" sz="13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3063240"/>
            <a:ext cx="502920" cy="5029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035040" y="299923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(Big Data)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5029200" y="3639312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Dejar de adivinar y empezar a medir: decisiones basadas en evidencia.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228600"/>
            <a:ext cx="54864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228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Kit de Herramientas Digitales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4114800" cy="1691640"/>
          </a:xfrm>
          <a:prstGeom prst="rect">
            <a:avLst/>
          </a:prstGeom>
          <a:solidFill>
            <a:srgbClr val="0D23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14400"/>
            <a:ext cx="41148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143000"/>
            <a:ext cx="685800" cy="685800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52728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1097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19202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total y escalabilidad sin inversión en infraestructura física.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846320" y="914400"/>
            <a:ext cx="4114800" cy="1691640"/>
          </a:xfrm>
          <a:prstGeom prst="rect">
            <a:avLst/>
          </a:prstGeom>
          <a:solidFill>
            <a:srgbClr val="0D23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46320" y="914400"/>
            <a:ext cx="411480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29200" y="1143000"/>
            <a:ext cx="685800" cy="685800"/>
          </a:xfrm>
          <a:prstGeom prst="ellipse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252728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852160" y="1097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029200" y="19202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exponencial de la productividad y creatividad diaria.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365760" y="2834640"/>
            <a:ext cx="4114800" cy="1691640"/>
          </a:xfrm>
          <a:prstGeom prst="rect">
            <a:avLst/>
          </a:prstGeom>
          <a:solidFill>
            <a:srgbClr val="0D23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65760" y="2834640"/>
            <a:ext cx="41148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48640" y="3063240"/>
            <a:ext cx="685800" cy="685800"/>
          </a:xfrm>
          <a:prstGeom prst="ellipse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72968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371600" y="30175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Ciberseguridad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548640" y="38404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Protegiendo la confianza de nuestros clientes y la integridad del negocio.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4846320" y="2834640"/>
            <a:ext cx="4114800" cy="1691640"/>
          </a:xfrm>
          <a:prstGeom prst="rect">
            <a:avLst/>
          </a:prstGeom>
          <a:solidFill>
            <a:srgbClr val="0D23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846320" y="2834640"/>
            <a:ext cx="41148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029200" y="3063240"/>
            <a:ext cx="685800" cy="685800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3172968"/>
            <a:ext cx="411480" cy="4114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852160" y="30175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Colaboración Digital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5029200" y="38404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para el trabajo híbrido eficiente desde cualquier lugar.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228600"/>
            <a:ext cx="54864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228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09728"/>
            <a:ext cx="7772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Cultura se come a la Estrategia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97280"/>
            <a:ext cx="137160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280160"/>
            <a:ext cx="685800" cy="68580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89888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08760" y="11704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Miedo al Cambio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508760" y="1554480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reacción natural y esperada. La clave está en la comunicación clara, constante y empática con todos los equipos.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" y="2423160"/>
            <a:ext cx="8229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2423160"/>
            <a:ext cx="137160" cy="1051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" y="2606040"/>
            <a:ext cx="685800" cy="685800"/>
          </a:xfrm>
          <a:prstGeom prst="ellipse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15768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508760" y="24963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Reskilling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508760" y="2880360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se queda atrás; todos aprendemos juntos. Invertimos en el desarrollo de nuevas competencias digitales para cada rol.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457200" y="3749040"/>
            <a:ext cx="8229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57200" y="3749040"/>
            <a:ext cx="137160" cy="1051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85800" y="3931920"/>
            <a:ext cx="685800" cy="68580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041648"/>
            <a:ext cx="411480" cy="4114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508760" y="38221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Liderazgo Digital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1508760" y="4206240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líderes deben ser los primeros en adoptar y promover las nuevas herramientas, dando el ejemplo desde arriba.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228600"/>
            <a:ext cx="54864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228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sigue para nosotros?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783080" y="2423160"/>
            <a:ext cx="530352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05840"/>
            <a:ext cx="2651760" cy="3474720"/>
          </a:xfrm>
          <a:prstGeom prst="rect">
            <a:avLst/>
          </a:prstGeom>
          <a:solidFill>
            <a:srgbClr val="0D23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05840"/>
            <a:ext cx="265176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1207008"/>
            <a:ext cx="128016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2070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MES 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371600" y="1783080"/>
            <a:ext cx="822960" cy="822960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048" y="1920240"/>
            <a:ext cx="502920" cy="5029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94360" y="2788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Digital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94360" y="3401568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completa de herramientas actuales e identificación de brechas.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383280" y="1005840"/>
            <a:ext cx="2651760" cy="3474720"/>
          </a:xfrm>
          <a:prstGeom prst="rect">
            <a:avLst/>
          </a:prstGeom>
          <a:solidFill>
            <a:srgbClr val="0D23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383280" y="1005840"/>
            <a:ext cx="2651760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69080" y="1207008"/>
            <a:ext cx="1280160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069080" y="12070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MES 2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297680" y="1783080"/>
            <a:ext cx="822960" cy="822960"/>
          </a:xfrm>
          <a:prstGeom prst="ellipse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128" y="1920240"/>
            <a:ext cx="502920" cy="5029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520440" y="2788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Intensiva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3520440" y="3401568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Workshops de formación para todos los equipos según su perfil de rol.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263640" y="1005840"/>
            <a:ext cx="2651760" cy="3474720"/>
          </a:xfrm>
          <a:prstGeom prst="rect">
            <a:avLst/>
          </a:prstGeom>
          <a:solidFill>
            <a:srgbClr val="0D23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263640" y="1005840"/>
            <a:ext cx="265176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949440" y="1207008"/>
            <a:ext cx="128016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949440" y="12070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MES 3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7178040" y="1783080"/>
            <a:ext cx="822960" cy="822960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488" y="1920240"/>
            <a:ext cx="502920" cy="50292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400800" y="2788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Piloto</a:t>
            </a:r>
            <a:endParaRPr lang="en-US" sz="1350" dirty="0"/>
          </a:p>
        </p:txBody>
      </p:sp>
      <p:sp>
        <p:nvSpPr>
          <p:cNvPr id="30" name="Text 25"/>
          <p:cNvSpPr/>
          <p:nvPr/>
        </p:nvSpPr>
        <p:spPr>
          <a:xfrm>
            <a:off x="6400800" y="3401568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Lanzamiento del primer "Proyecto Piloto Digital" medible y escalable.</a:t>
            </a:r>
            <a:endParaRPr lang="en-US" sz="11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2240280"/>
            <a:ext cx="320040" cy="320040"/>
          </a:xfrm>
          <a:prstGeom prst="rect">
            <a:avLst/>
          </a:prstGeom>
        </p:spPr>
      </p:pic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880" y="2240280"/>
            <a:ext cx="320040" cy="320040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¡El futuro no se espera, se construye hoy!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Transformación Digital</dc:title>
  <dc:subject>PptxGenJS Presentation</dc:subject>
  <dc:creator>Presentación Corporativa</dc:creator>
  <cp:lastModifiedBy>Presentación Corporativa</cp:lastModifiedBy>
  <cp:revision>1</cp:revision>
  <dcterms:created xsi:type="dcterms:W3CDTF">2026-03-25T13:30:47Z</dcterms:created>
  <dcterms:modified xsi:type="dcterms:W3CDTF">2026-03-25T13:30:47Z</dcterms:modified>
</cp:coreProperties>
</file>