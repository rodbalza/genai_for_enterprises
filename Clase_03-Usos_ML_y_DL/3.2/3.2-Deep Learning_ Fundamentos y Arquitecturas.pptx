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MiSans" charset="-122" pitchFamily="34"/>
      <p:regular r:id="rId20"/>
    </p:embeddedFont>
    <p:embeddedFont>
      <p:font typeface="LXGW Bright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easy-peasy.ai/c5d661e0185d36d8f1c4ab394710218706646666.webp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85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95363" y="1290638"/>
            <a:ext cx="2914650" cy="428625"/>
          </a:xfrm>
          <a:custGeom>
            <a:avLst/>
            <a:gdLst/>
            <a:ahLst/>
            <a:cxnLst/>
            <a:rect l="l" t="t" r="r" b="b"/>
            <a:pathLst>
              <a:path w="2914650" h="428625">
                <a:moveTo>
                  <a:pt x="214313" y="0"/>
                </a:moveTo>
                <a:lnTo>
                  <a:pt x="2700338" y="0"/>
                </a:lnTo>
                <a:cubicBezTo>
                  <a:pt x="2818620" y="0"/>
                  <a:pt x="2914650" y="96030"/>
                  <a:pt x="2914650" y="214313"/>
                </a:cubicBezTo>
                <a:lnTo>
                  <a:pt x="2914650" y="214313"/>
                </a:lnTo>
                <a:cubicBezTo>
                  <a:pt x="2914650" y="332595"/>
                  <a:pt x="2818620" y="428625"/>
                  <a:pt x="27003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8725" y="1390650"/>
            <a:ext cx="25327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0600" y="1952625"/>
            <a:ext cx="66389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90600" y="3324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3686175"/>
            <a:ext cx="6353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5F5F7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Fundamentos y Arquitecturas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90600" y="4524375"/>
            <a:ext cx="62960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Una exploración completa del aprendizaje profundo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sus aplicaciones en el mundo moderno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757363"/>
            <a:ext cx="5553075" cy="2543175"/>
          </a:xfrm>
          <a:custGeom>
            <a:avLst/>
            <a:gdLst/>
            <a:ahLst/>
            <a:cxnLst/>
            <a:rect l="l" t="t" r="r" b="b"/>
            <a:pathLst>
              <a:path w="5553075" h="2543175">
                <a:moveTo>
                  <a:pt x="228606" y="0"/>
                </a:moveTo>
                <a:lnTo>
                  <a:pt x="5324469" y="0"/>
                </a:lnTo>
                <a:cubicBezTo>
                  <a:pt x="5450640" y="0"/>
                  <a:pt x="5553075" y="102435"/>
                  <a:pt x="5553075" y="228606"/>
                </a:cubicBezTo>
                <a:lnTo>
                  <a:pt x="5553075" y="2314569"/>
                </a:lnTo>
                <a:cubicBezTo>
                  <a:pt x="5553075" y="2440740"/>
                  <a:pt x="5450640" y="2543175"/>
                  <a:pt x="5324469" y="2543175"/>
                </a:cubicBezTo>
                <a:lnTo>
                  <a:pt x="228606" y="2543175"/>
                </a:lnTo>
                <a:cubicBezTo>
                  <a:pt x="102435" y="2543175"/>
                  <a:pt x="0" y="2440740"/>
                  <a:pt x="0" y="23145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1525" y="21431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0088" y="2143125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62125" y="2143125"/>
            <a:ext cx="3933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Deep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2125" y="2981325"/>
            <a:ext cx="3886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Definición, características esenciales y conceptos fundamentales que distinguen al aprendizaje profundo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3163" y="1757363"/>
            <a:ext cx="5553075" cy="2543175"/>
          </a:xfrm>
          <a:custGeom>
            <a:avLst/>
            <a:gdLst/>
            <a:ahLst/>
            <a:cxnLst/>
            <a:rect l="l" t="t" r="r" b="b"/>
            <a:pathLst>
              <a:path w="5553075" h="2543175">
                <a:moveTo>
                  <a:pt x="228606" y="0"/>
                </a:moveTo>
                <a:lnTo>
                  <a:pt x="5324469" y="0"/>
                </a:lnTo>
                <a:cubicBezTo>
                  <a:pt x="5450640" y="0"/>
                  <a:pt x="5553075" y="102435"/>
                  <a:pt x="5553075" y="228606"/>
                </a:cubicBezTo>
                <a:lnTo>
                  <a:pt x="5553075" y="2314569"/>
                </a:lnTo>
                <a:cubicBezTo>
                  <a:pt x="5553075" y="2440740"/>
                  <a:pt x="5450640" y="2543175"/>
                  <a:pt x="5324469" y="2543175"/>
                </a:cubicBezTo>
                <a:lnTo>
                  <a:pt x="228606" y="2543175"/>
                </a:lnTo>
                <a:cubicBezTo>
                  <a:pt x="102435" y="2543175"/>
                  <a:pt x="0" y="2440740"/>
                  <a:pt x="0" y="23145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8925" y="229790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7488" y="2297906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9525" y="2297906"/>
            <a:ext cx="3933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 de Redes Neuronales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9525" y="3136106"/>
            <a:ext cx="3886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ANNs, CNNs, RNNs y Transformers: los cuatro pilares del Deep Learning moderno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610100"/>
            <a:ext cx="11420475" cy="2200275"/>
          </a:xfrm>
          <a:custGeom>
            <a:avLst/>
            <a:gdLst/>
            <a:ahLst/>
            <a:cxnLst/>
            <a:rect l="l" t="t" r="r" b="b"/>
            <a:pathLst>
              <a:path w="11420475" h="2200275">
                <a:moveTo>
                  <a:pt x="228609" y="0"/>
                </a:moveTo>
                <a:lnTo>
                  <a:pt x="11191866" y="0"/>
                </a:lnTo>
                <a:cubicBezTo>
                  <a:pt x="11318123" y="0"/>
                  <a:pt x="11420475" y="102352"/>
                  <a:pt x="11420475" y="228609"/>
                </a:cubicBezTo>
                <a:lnTo>
                  <a:pt x="11420475" y="1971666"/>
                </a:lnTo>
                <a:cubicBezTo>
                  <a:pt x="11420475" y="2097923"/>
                  <a:pt x="11318123" y="2200275"/>
                  <a:pt x="11191866" y="2200275"/>
                </a:cubicBezTo>
                <a:lnTo>
                  <a:pt x="228609" y="2200275"/>
                </a:lnTo>
                <a:cubicBezTo>
                  <a:pt x="102352" y="2200275"/>
                  <a:pt x="0" y="2097923"/>
                  <a:pt x="0" y="1971666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1525" y="4995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0088" y="4995863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62125" y="4995863"/>
            <a:ext cx="9801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vs Deep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2125" y="5491163"/>
            <a:ext cx="97536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técnica detallada: definición, selección de características, volumen de datos, requisitos de hardware, aplicaciones, tiempo de entrenamiento, precisión, interpretabilidad, tipos de datos y complejidad de correlaciones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e979990a46b7395a3e682555ed92b58a8c878e2.jp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95363" y="1700213"/>
            <a:ext cx="1714500" cy="428625"/>
          </a:xfrm>
          <a:custGeom>
            <a:avLst/>
            <a:gdLst/>
            <a:ahLst/>
            <a:cxnLst/>
            <a:rect l="l" t="t" r="r" b="b"/>
            <a:pathLst>
              <a:path w="1714500" h="428625">
                <a:moveTo>
                  <a:pt x="214313" y="0"/>
                </a:moveTo>
                <a:lnTo>
                  <a:pt x="1500188" y="0"/>
                </a:lnTo>
                <a:cubicBezTo>
                  <a:pt x="1618470" y="0"/>
                  <a:pt x="1714500" y="96030"/>
                  <a:pt x="1714500" y="214313"/>
                </a:cubicBezTo>
                <a:lnTo>
                  <a:pt x="1714500" y="214313"/>
                </a:lnTo>
                <a:cubicBezTo>
                  <a:pt x="1714500" y="332595"/>
                  <a:pt x="1618470" y="428625"/>
                  <a:pt x="150018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8725" y="1800225"/>
            <a:ext cx="1330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0600" y="2438400"/>
            <a:ext cx="58007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90600" y="445770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4819650"/>
            <a:ext cx="5600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5F5F7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Definición y conceptos esenciales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437" y="343437"/>
            <a:ext cx="1157381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spc="108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437" y="618186"/>
            <a:ext cx="11711189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Deep Learning?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608" y="1305059"/>
            <a:ext cx="5855594" cy="2086377"/>
          </a:xfrm>
          <a:custGeom>
            <a:avLst/>
            <a:gdLst/>
            <a:ahLst/>
            <a:cxnLst/>
            <a:rect l="l" t="t" r="r" b="b"/>
            <a:pathLst>
              <a:path w="5855594" h="2086377">
                <a:moveTo>
                  <a:pt x="34344" y="0"/>
                </a:moveTo>
                <a:lnTo>
                  <a:pt x="5718227" y="0"/>
                </a:lnTo>
                <a:cubicBezTo>
                  <a:pt x="5794093" y="0"/>
                  <a:pt x="5855594" y="61501"/>
                  <a:pt x="5855594" y="137367"/>
                </a:cubicBezTo>
                <a:lnTo>
                  <a:pt x="5855594" y="1949010"/>
                </a:lnTo>
                <a:cubicBezTo>
                  <a:pt x="5855594" y="2024876"/>
                  <a:pt x="5794093" y="2086377"/>
                  <a:pt x="5718227" y="2086377"/>
                </a:cubicBezTo>
                <a:lnTo>
                  <a:pt x="34344" y="2086377"/>
                </a:lnTo>
                <a:cubicBezTo>
                  <a:pt x="15376" y="2086377"/>
                  <a:pt x="0" y="2071001"/>
                  <a:pt x="0" y="2052034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0608" y="1305059"/>
            <a:ext cx="34344" cy="2086377"/>
          </a:xfrm>
          <a:custGeom>
            <a:avLst/>
            <a:gdLst/>
            <a:ahLst/>
            <a:cxnLst/>
            <a:rect l="l" t="t" r="r" b="b"/>
            <a:pathLst>
              <a:path w="34344" h="2086377">
                <a:moveTo>
                  <a:pt x="34344" y="0"/>
                </a:moveTo>
                <a:lnTo>
                  <a:pt x="34344" y="0"/>
                </a:lnTo>
                <a:lnTo>
                  <a:pt x="34344" y="2086377"/>
                </a:lnTo>
                <a:lnTo>
                  <a:pt x="34344" y="2086377"/>
                </a:lnTo>
                <a:cubicBezTo>
                  <a:pt x="15376" y="2086377"/>
                  <a:pt x="0" y="2071001"/>
                  <a:pt x="0" y="2052034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652530" y="1579808"/>
            <a:ext cx="5374783" cy="139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b="1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(DL)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 </a:t>
            </a:r>
            <a:pPr>
              <a:lnSpc>
                <a:spcPct val="140000"/>
              </a:lnSpc>
            </a:pPr>
            <a:r>
              <a:rPr lang="en-US" sz="13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profundo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una subcategoría avanzada de Machine Learning que utiliza 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artificiales con múltiples capas 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(deep neural networks) para modelar datos complejos y extraer características automáticamente.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0608" y="3593206"/>
            <a:ext cx="5855594" cy="1665668"/>
          </a:xfrm>
          <a:custGeom>
            <a:avLst/>
            <a:gdLst/>
            <a:ahLst/>
            <a:cxnLst/>
            <a:rect l="l" t="t" r="r" b="b"/>
            <a:pathLst>
              <a:path w="5855594" h="1665668">
                <a:moveTo>
                  <a:pt x="34344" y="0"/>
                </a:moveTo>
                <a:lnTo>
                  <a:pt x="5718227" y="0"/>
                </a:lnTo>
                <a:cubicBezTo>
                  <a:pt x="5794093" y="0"/>
                  <a:pt x="5855594" y="61502"/>
                  <a:pt x="5855594" y="137368"/>
                </a:cubicBezTo>
                <a:lnTo>
                  <a:pt x="5855594" y="1528300"/>
                </a:lnTo>
                <a:cubicBezTo>
                  <a:pt x="5855594" y="1604166"/>
                  <a:pt x="5794093" y="1665668"/>
                  <a:pt x="5718227" y="1665668"/>
                </a:cubicBezTo>
                <a:lnTo>
                  <a:pt x="34344" y="1665668"/>
                </a:lnTo>
                <a:cubicBezTo>
                  <a:pt x="15376" y="1665668"/>
                  <a:pt x="0" y="1650291"/>
                  <a:pt x="0" y="1631324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0608" y="3593206"/>
            <a:ext cx="34344" cy="1665668"/>
          </a:xfrm>
          <a:custGeom>
            <a:avLst/>
            <a:gdLst/>
            <a:ahLst/>
            <a:cxnLst/>
            <a:rect l="l" t="t" r="r" b="b"/>
            <a:pathLst>
              <a:path w="34344" h="1665668">
                <a:moveTo>
                  <a:pt x="34344" y="0"/>
                </a:moveTo>
                <a:lnTo>
                  <a:pt x="34344" y="0"/>
                </a:lnTo>
                <a:lnTo>
                  <a:pt x="34344" y="1665668"/>
                </a:lnTo>
                <a:lnTo>
                  <a:pt x="34344" y="1665668"/>
                </a:lnTo>
                <a:cubicBezTo>
                  <a:pt x="15376" y="1665668"/>
                  <a:pt x="0" y="1650291"/>
                  <a:pt x="0" y="1631324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652530" y="3867955"/>
            <a:ext cx="5374783" cy="1116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diferencia de los algoritmos tradicionales de Machine Learning, los modelos de Deep Learning pueden </a:t>
            </a:r>
            <a:pPr>
              <a:lnSpc>
                <a:spcPct val="140000"/>
              </a:lnSpc>
            </a:pPr>
            <a:r>
              <a:rPr lang="en-US" sz="13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procesar grandes volúmenes de datos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detectar </a:t>
            </a:r>
            <a:pPr>
              <a:lnSpc>
                <a:spcPct val="140000"/>
              </a:lnSpc>
            </a:pPr>
            <a:r>
              <a:rPr lang="en-US" sz="135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relaciones altamente complejas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sin intervención humana en la selección de características.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3437" y="5464935"/>
            <a:ext cx="1863144" cy="910107"/>
          </a:xfrm>
          <a:custGeom>
            <a:avLst/>
            <a:gdLst/>
            <a:ahLst/>
            <a:cxnLst/>
            <a:rect l="l" t="t" r="r" b="b"/>
            <a:pathLst>
              <a:path w="1863144" h="910107">
                <a:moveTo>
                  <a:pt x="103033" y="0"/>
                </a:moveTo>
                <a:lnTo>
                  <a:pt x="1760110" y="0"/>
                </a:lnTo>
                <a:cubicBezTo>
                  <a:pt x="1817014" y="0"/>
                  <a:pt x="1863144" y="46130"/>
                  <a:pt x="1863144" y="103033"/>
                </a:cubicBezTo>
                <a:lnTo>
                  <a:pt x="1863144" y="807074"/>
                </a:lnTo>
                <a:cubicBezTo>
                  <a:pt x="1863144" y="863977"/>
                  <a:pt x="1817014" y="910107"/>
                  <a:pt x="1760110" y="910107"/>
                </a:cubicBezTo>
                <a:lnTo>
                  <a:pt x="103033" y="910107"/>
                </a:lnTo>
                <a:cubicBezTo>
                  <a:pt x="46130" y="910107"/>
                  <a:pt x="0" y="863977"/>
                  <a:pt x="0" y="80707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50379" y="5636654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116966" y="2616"/>
                </a:moveTo>
                <a:cubicBezTo>
                  <a:pt x="124462" y="-855"/>
                  <a:pt x="133115" y="-855"/>
                  <a:pt x="140611" y="2616"/>
                </a:cubicBezTo>
                <a:lnTo>
                  <a:pt x="250585" y="53427"/>
                </a:lnTo>
                <a:cubicBezTo>
                  <a:pt x="254861" y="55389"/>
                  <a:pt x="257577" y="59665"/>
                  <a:pt x="257577" y="64394"/>
                </a:cubicBezTo>
                <a:cubicBezTo>
                  <a:pt x="257577" y="69123"/>
                  <a:pt x="254861" y="73400"/>
                  <a:pt x="250585" y="75362"/>
                </a:cubicBezTo>
                <a:lnTo>
                  <a:pt x="140611" y="126173"/>
                </a:lnTo>
                <a:cubicBezTo>
                  <a:pt x="133115" y="129644"/>
                  <a:pt x="124462" y="129644"/>
                  <a:pt x="116966" y="126173"/>
                </a:cubicBezTo>
                <a:lnTo>
                  <a:pt x="6993" y="75362"/>
                </a:lnTo>
                <a:cubicBezTo>
                  <a:pt x="2717" y="73349"/>
                  <a:pt x="0" y="69073"/>
                  <a:pt x="0" y="64394"/>
                </a:cubicBezTo>
                <a:cubicBezTo>
                  <a:pt x="0" y="59716"/>
                  <a:pt x="2717" y="55389"/>
                  <a:pt x="6993" y="53427"/>
                </a:cubicBezTo>
                <a:lnTo>
                  <a:pt x="116966" y="2616"/>
                </a:lnTo>
                <a:close/>
                <a:moveTo>
                  <a:pt x="24198" y="109873"/>
                </a:moveTo>
                <a:lnTo>
                  <a:pt x="106854" y="148057"/>
                </a:lnTo>
                <a:cubicBezTo>
                  <a:pt x="120790" y="154496"/>
                  <a:pt x="136838" y="154496"/>
                  <a:pt x="150773" y="148057"/>
                </a:cubicBezTo>
                <a:lnTo>
                  <a:pt x="233430" y="109873"/>
                </a:lnTo>
                <a:lnTo>
                  <a:pt x="250585" y="117822"/>
                </a:lnTo>
                <a:cubicBezTo>
                  <a:pt x="254861" y="119784"/>
                  <a:pt x="257577" y="124060"/>
                  <a:pt x="257577" y="128789"/>
                </a:cubicBezTo>
                <a:cubicBezTo>
                  <a:pt x="257577" y="133518"/>
                  <a:pt x="254861" y="137794"/>
                  <a:pt x="250585" y="139756"/>
                </a:cubicBezTo>
                <a:lnTo>
                  <a:pt x="140611" y="190567"/>
                </a:lnTo>
                <a:cubicBezTo>
                  <a:pt x="133115" y="194038"/>
                  <a:pt x="124462" y="194038"/>
                  <a:pt x="116966" y="190567"/>
                </a:cubicBezTo>
                <a:lnTo>
                  <a:pt x="6993" y="139756"/>
                </a:lnTo>
                <a:cubicBezTo>
                  <a:pt x="2717" y="137744"/>
                  <a:pt x="0" y="133467"/>
                  <a:pt x="0" y="128789"/>
                </a:cubicBezTo>
                <a:cubicBezTo>
                  <a:pt x="0" y="124110"/>
                  <a:pt x="2717" y="119784"/>
                  <a:pt x="6993" y="117822"/>
                </a:cubicBezTo>
                <a:lnTo>
                  <a:pt x="24148" y="109873"/>
                </a:lnTo>
                <a:close/>
                <a:moveTo>
                  <a:pt x="6993" y="182216"/>
                </a:moveTo>
                <a:lnTo>
                  <a:pt x="24148" y="174267"/>
                </a:lnTo>
                <a:lnTo>
                  <a:pt x="106804" y="212451"/>
                </a:lnTo>
                <a:cubicBezTo>
                  <a:pt x="120739" y="218891"/>
                  <a:pt x="136788" y="218891"/>
                  <a:pt x="150723" y="212451"/>
                </a:cubicBezTo>
                <a:lnTo>
                  <a:pt x="233379" y="174267"/>
                </a:lnTo>
                <a:lnTo>
                  <a:pt x="250534" y="182216"/>
                </a:lnTo>
                <a:cubicBezTo>
                  <a:pt x="254811" y="184178"/>
                  <a:pt x="257527" y="188454"/>
                  <a:pt x="257527" y="193183"/>
                </a:cubicBezTo>
                <a:cubicBezTo>
                  <a:pt x="257527" y="197912"/>
                  <a:pt x="254811" y="202188"/>
                  <a:pt x="250534" y="204150"/>
                </a:cubicBezTo>
                <a:lnTo>
                  <a:pt x="140561" y="254961"/>
                </a:lnTo>
                <a:cubicBezTo>
                  <a:pt x="133065" y="258433"/>
                  <a:pt x="124412" y="258433"/>
                  <a:pt x="116916" y="254961"/>
                </a:cubicBezTo>
                <a:lnTo>
                  <a:pt x="6993" y="204150"/>
                </a:lnTo>
                <a:cubicBezTo>
                  <a:pt x="2717" y="202138"/>
                  <a:pt x="0" y="197862"/>
                  <a:pt x="0" y="193183"/>
                </a:cubicBezTo>
                <a:cubicBezTo>
                  <a:pt x="0" y="188504"/>
                  <a:pt x="2717" y="184178"/>
                  <a:pt x="6993" y="1822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811" y="5997262"/>
            <a:ext cx="158839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Capas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47980" y="5464935"/>
            <a:ext cx="1863144" cy="910107"/>
          </a:xfrm>
          <a:custGeom>
            <a:avLst/>
            <a:gdLst/>
            <a:ahLst/>
            <a:cxnLst/>
            <a:rect l="l" t="t" r="r" b="b"/>
            <a:pathLst>
              <a:path w="1863144" h="910107">
                <a:moveTo>
                  <a:pt x="103033" y="0"/>
                </a:moveTo>
                <a:lnTo>
                  <a:pt x="1760110" y="0"/>
                </a:lnTo>
                <a:cubicBezTo>
                  <a:pt x="1817014" y="0"/>
                  <a:pt x="1863144" y="46130"/>
                  <a:pt x="1863144" y="103033"/>
                </a:cubicBezTo>
                <a:lnTo>
                  <a:pt x="1863144" y="807074"/>
                </a:lnTo>
                <a:cubicBezTo>
                  <a:pt x="1863144" y="863977"/>
                  <a:pt x="1817014" y="910107"/>
                  <a:pt x="1760110" y="910107"/>
                </a:cubicBezTo>
                <a:lnTo>
                  <a:pt x="103033" y="910107"/>
                </a:lnTo>
                <a:cubicBezTo>
                  <a:pt x="46130" y="910107"/>
                  <a:pt x="0" y="863977"/>
                  <a:pt x="0" y="80707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921" y="5636654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60370" y="28173"/>
                </a:moveTo>
                <a:cubicBezTo>
                  <a:pt x="60370" y="12627"/>
                  <a:pt x="72997" y="0"/>
                  <a:pt x="88542" y="0"/>
                </a:cubicBezTo>
                <a:lnTo>
                  <a:pt x="100616" y="0"/>
                </a:lnTo>
                <a:cubicBezTo>
                  <a:pt x="109521" y="0"/>
                  <a:pt x="116715" y="7194"/>
                  <a:pt x="116715" y="16099"/>
                </a:cubicBezTo>
                <a:lnTo>
                  <a:pt x="116715" y="241479"/>
                </a:lnTo>
                <a:cubicBezTo>
                  <a:pt x="116715" y="250383"/>
                  <a:pt x="109521" y="257577"/>
                  <a:pt x="100616" y="257577"/>
                </a:cubicBezTo>
                <a:lnTo>
                  <a:pt x="84518" y="257577"/>
                </a:lnTo>
                <a:cubicBezTo>
                  <a:pt x="69526" y="257577"/>
                  <a:pt x="56898" y="247315"/>
                  <a:pt x="53327" y="233430"/>
                </a:cubicBezTo>
                <a:cubicBezTo>
                  <a:pt x="52974" y="233430"/>
                  <a:pt x="52673" y="233430"/>
                  <a:pt x="52320" y="233430"/>
                </a:cubicBezTo>
                <a:cubicBezTo>
                  <a:pt x="30084" y="233430"/>
                  <a:pt x="12074" y="215419"/>
                  <a:pt x="12074" y="193183"/>
                </a:cubicBezTo>
                <a:cubicBezTo>
                  <a:pt x="12074" y="184128"/>
                  <a:pt x="15092" y="175776"/>
                  <a:pt x="20123" y="169035"/>
                </a:cubicBezTo>
                <a:cubicBezTo>
                  <a:pt x="10363" y="161690"/>
                  <a:pt x="4025" y="150019"/>
                  <a:pt x="4025" y="136838"/>
                </a:cubicBezTo>
                <a:cubicBezTo>
                  <a:pt x="4025" y="121293"/>
                  <a:pt x="12879" y="107760"/>
                  <a:pt x="25758" y="101069"/>
                </a:cubicBezTo>
                <a:cubicBezTo>
                  <a:pt x="22186" y="95032"/>
                  <a:pt x="20123" y="87989"/>
                  <a:pt x="20123" y="80493"/>
                </a:cubicBezTo>
                <a:cubicBezTo>
                  <a:pt x="20123" y="58257"/>
                  <a:pt x="38134" y="40246"/>
                  <a:pt x="60370" y="40246"/>
                </a:cubicBezTo>
                <a:lnTo>
                  <a:pt x="60370" y="28173"/>
                </a:lnTo>
                <a:close/>
                <a:moveTo>
                  <a:pt x="197208" y="28173"/>
                </a:moveTo>
                <a:lnTo>
                  <a:pt x="197208" y="40246"/>
                </a:lnTo>
                <a:cubicBezTo>
                  <a:pt x="219444" y="40246"/>
                  <a:pt x="237454" y="58257"/>
                  <a:pt x="237454" y="80493"/>
                </a:cubicBezTo>
                <a:cubicBezTo>
                  <a:pt x="237454" y="88039"/>
                  <a:pt x="235392" y="95082"/>
                  <a:pt x="231820" y="101069"/>
                </a:cubicBezTo>
                <a:cubicBezTo>
                  <a:pt x="244749" y="107760"/>
                  <a:pt x="253553" y="121243"/>
                  <a:pt x="253553" y="136838"/>
                </a:cubicBezTo>
                <a:cubicBezTo>
                  <a:pt x="253553" y="150019"/>
                  <a:pt x="247214" y="161690"/>
                  <a:pt x="237454" y="169035"/>
                </a:cubicBezTo>
                <a:cubicBezTo>
                  <a:pt x="242485" y="175776"/>
                  <a:pt x="245504" y="184128"/>
                  <a:pt x="245504" y="193183"/>
                </a:cubicBezTo>
                <a:cubicBezTo>
                  <a:pt x="245504" y="215419"/>
                  <a:pt x="227493" y="233430"/>
                  <a:pt x="205257" y="233430"/>
                </a:cubicBezTo>
                <a:cubicBezTo>
                  <a:pt x="204905" y="233430"/>
                  <a:pt x="204603" y="233430"/>
                  <a:pt x="204251" y="233430"/>
                </a:cubicBezTo>
                <a:cubicBezTo>
                  <a:pt x="200679" y="247315"/>
                  <a:pt x="188052" y="257577"/>
                  <a:pt x="173060" y="257577"/>
                </a:cubicBezTo>
                <a:lnTo>
                  <a:pt x="156961" y="257577"/>
                </a:lnTo>
                <a:cubicBezTo>
                  <a:pt x="148057" y="257577"/>
                  <a:pt x="140863" y="250383"/>
                  <a:pt x="140863" y="241479"/>
                </a:cubicBezTo>
                <a:lnTo>
                  <a:pt x="140863" y="16099"/>
                </a:lnTo>
                <a:cubicBezTo>
                  <a:pt x="140863" y="7194"/>
                  <a:pt x="148057" y="0"/>
                  <a:pt x="156961" y="0"/>
                </a:cubicBezTo>
                <a:lnTo>
                  <a:pt x="169035" y="0"/>
                </a:lnTo>
                <a:cubicBezTo>
                  <a:pt x="184580" y="0"/>
                  <a:pt x="197208" y="12627"/>
                  <a:pt x="197208" y="281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85354" y="5997262"/>
            <a:ext cx="158839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Automático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2657" y="5464935"/>
            <a:ext cx="1863144" cy="910107"/>
          </a:xfrm>
          <a:custGeom>
            <a:avLst/>
            <a:gdLst/>
            <a:ahLst/>
            <a:cxnLst/>
            <a:rect l="l" t="t" r="r" b="b"/>
            <a:pathLst>
              <a:path w="1863144" h="910107">
                <a:moveTo>
                  <a:pt x="103033" y="0"/>
                </a:moveTo>
                <a:lnTo>
                  <a:pt x="1760110" y="0"/>
                </a:lnTo>
                <a:cubicBezTo>
                  <a:pt x="1817014" y="0"/>
                  <a:pt x="1863144" y="46130"/>
                  <a:pt x="1863144" y="103033"/>
                </a:cubicBezTo>
                <a:lnTo>
                  <a:pt x="1863144" y="807074"/>
                </a:lnTo>
                <a:cubicBezTo>
                  <a:pt x="1863144" y="863977"/>
                  <a:pt x="1817014" y="910107"/>
                  <a:pt x="1760110" y="910107"/>
                </a:cubicBezTo>
                <a:lnTo>
                  <a:pt x="103033" y="910107"/>
                </a:lnTo>
                <a:cubicBezTo>
                  <a:pt x="46130" y="910107"/>
                  <a:pt x="0" y="863977"/>
                  <a:pt x="0" y="80707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75697" y="5636654"/>
            <a:ext cx="225380" cy="257577"/>
          </a:xfrm>
          <a:custGeom>
            <a:avLst/>
            <a:gdLst/>
            <a:ahLst/>
            <a:cxnLst/>
            <a:rect l="l" t="t" r="r" b="b"/>
            <a:pathLst>
              <a:path w="225380" h="257577">
                <a:moveTo>
                  <a:pt x="225380" y="103534"/>
                </a:moveTo>
                <a:cubicBezTo>
                  <a:pt x="217935" y="108464"/>
                  <a:pt x="209382" y="112439"/>
                  <a:pt x="200478" y="115608"/>
                </a:cubicBezTo>
                <a:cubicBezTo>
                  <a:pt x="176833" y="124060"/>
                  <a:pt x="145793" y="128789"/>
                  <a:pt x="112690" y="128789"/>
                </a:cubicBezTo>
                <a:cubicBezTo>
                  <a:pt x="79587" y="128789"/>
                  <a:pt x="48497" y="124009"/>
                  <a:pt x="24903" y="115608"/>
                </a:cubicBezTo>
                <a:cubicBezTo>
                  <a:pt x="16048" y="112439"/>
                  <a:pt x="7446" y="108464"/>
                  <a:pt x="0" y="103534"/>
                </a:cubicBezTo>
                <a:lnTo>
                  <a:pt x="0" y="144887"/>
                </a:lnTo>
                <a:cubicBezTo>
                  <a:pt x="0" y="167124"/>
                  <a:pt x="50459" y="185134"/>
                  <a:pt x="112690" y="185134"/>
                </a:cubicBezTo>
                <a:cubicBezTo>
                  <a:pt x="174921" y="185134"/>
                  <a:pt x="225380" y="167124"/>
                  <a:pt x="225380" y="144887"/>
                </a:cubicBezTo>
                <a:lnTo>
                  <a:pt x="225380" y="103534"/>
                </a:lnTo>
                <a:close/>
                <a:moveTo>
                  <a:pt x="225380" y="64394"/>
                </a:moveTo>
                <a:lnTo>
                  <a:pt x="225380" y="40246"/>
                </a:lnTo>
                <a:cubicBezTo>
                  <a:pt x="225380" y="18010"/>
                  <a:pt x="174921" y="0"/>
                  <a:pt x="112690" y="0"/>
                </a:cubicBezTo>
                <a:cubicBezTo>
                  <a:pt x="50459" y="0"/>
                  <a:pt x="0" y="18010"/>
                  <a:pt x="0" y="40246"/>
                </a:cubicBezTo>
                <a:lnTo>
                  <a:pt x="0" y="64394"/>
                </a:lnTo>
                <a:cubicBezTo>
                  <a:pt x="0" y="86631"/>
                  <a:pt x="50459" y="104641"/>
                  <a:pt x="112690" y="104641"/>
                </a:cubicBezTo>
                <a:cubicBezTo>
                  <a:pt x="174921" y="104641"/>
                  <a:pt x="225380" y="86631"/>
                  <a:pt x="225380" y="64394"/>
                </a:cubicBezTo>
                <a:close/>
                <a:moveTo>
                  <a:pt x="200478" y="196101"/>
                </a:moveTo>
                <a:cubicBezTo>
                  <a:pt x="176883" y="204502"/>
                  <a:pt x="145843" y="209282"/>
                  <a:pt x="112690" y="209282"/>
                </a:cubicBezTo>
                <a:cubicBezTo>
                  <a:pt x="79537" y="209282"/>
                  <a:pt x="48497" y="204502"/>
                  <a:pt x="24903" y="196101"/>
                </a:cubicBezTo>
                <a:cubicBezTo>
                  <a:pt x="16048" y="192932"/>
                  <a:pt x="7446" y="188957"/>
                  <a:pt x="0" y="184027"/>
                </a:cubicBezTo>
                <a:lnTo>
                  <a:pt x="0" y="217331"/>
                </a:lnTo>
                <a:cubicBezTo>
                  <a:pt x="0" y="239567"/>
                  <a:pt x="50459" y="257577"/>
                  <a:pt x="112690" y="257577"/>
                </a:cubicBezTo>
                <a:cubicBezTo>
                  <a:pt x="174921" y="257577"/>
                  <a:pt x="225380" y="239567"/>
                  <a:pt x="225380" y="217331"/>
                </a:cubicBezTo>
                <a:lnTo>
                  <a:pt x="225380" y="184027"/>
                </a:lnTo>
                <a:cubicBezTo>
                  <a:pt x="217935" y="188957"/>
                  <a:pt x="209382" y="192932"/>
                  <a:pt x="200478" y="1961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90031" y="5997262"/>
            <a:ext cx="158839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4708" y="1305059"/>
            <a:ext cx="5357611" cy="5211651"/>
          </a:xfrm>
          <a:custGeom>
            <a:avLst/>
            <a:gdLst/>
            <a:ahLst/>
            <a:cxnLst/>
            <a:rect l="l" t="t" r="r" b="b"/>
            <a:pathLst>
              <a:path w="5357611" h="5211651">
                <a:moveTo>
                  <a:pt x="137379" y="0"/>
                </a:moveTo>
                <a:lnTo>
                  <a:pt x="5220232" y="0"/>
                </a:lnTo>
                <a:cubicBezTo>
                  <a:pt x="5296105" y="0"/>
                  <a:pt x="5357611" y="61507"/>
                  <a:pt x="5357611" y="137379"/>
                </a:cubicBezTo>
                <a:lnTo>
                  <a:pt x="5357611" y="5074272"/>
                </a:lnTo>
                <a:cubicBezTo>
                  <a:pt x="5357611" y="5150144"/>
                  <a:pt x="5296105" y="5211651"/>
                  <a:pt x="5220232" y="5211651"/>
                </a:cubicBezTo>
                <a:lnTo>
                  <a:pt x="137379" y="5211651"/>
                </a:lnTo>
                <a:cubicBezTo>
                  <a:pt x="61507" y="5211651"/>
                  <a:pt x="0" y="5150144"/>
                  <a:pt x="0" y="5074272"/>
                </a:cubicBezTo>
                <a:lnTo>
                  <a:pt x="0" y="137379"/>
                </a:lnTo>
                <a:cubicBezTo>
                  <a:pt x="0" y="61558"/>
                  <a:pt x="61558" y="0"/>
                  <a:pt x="1373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8789" dist="85859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4421" y="1953296"/>
            <a:ext cx="618186" cy="618186"/>
          </a:xfrm>
          <a:custGeom>
            <a:avLst/>
            <a:gdLst/>
            <a:ahLst/>
            <a:cxnLst/>
            <a:rect l="l" t="t" r="r" b="b"/>
            <a:pathLst>
              <a:path w="618186" h="618186">
                <a:moveTo>
                  <a:pt x="0" y="96592"/>
                </a:moveTo>
                <a:cubicBezTo>
                  <a:pt x="0" y="64596"/>
                  <a:pt x="25959" y="38637"/>
                  <a:pt x="57955" y="38637"/>
                </a:cubicBezTo>
                <a:lnTo>
                  <a:pt x="173865" y="38637"/>
                </a:lnTo>
                <a:cubicBezTo>
                  <a:pt x="205861" y="38637"/>
                  <a:pt x="231820" y="64596"/>
                  <a:pt x="231820" y="96592"/>
                </a:cubicBezTo>
                <a:lnTo>
                  <a:pt x="231820" y="115910"/>
                </a:lnTo>
                <a:lnTo>
                  <a:pt x="386366" y="115910"/>
                </a:lnTo>
                <a:lnTo>
                  <a:pt x="386366" y="96592"/>
                </a:lnTo>
                <a:cubicBezTo>
                  <a:pt x="386366" y="64596"/>
                  <a:pt x="412325" y="38637"/>
                  <a:pt x="444321" y="38637"/>
                </a:cubicBezTo>
                <a:lnTo>
                  <a:pt x="560231" y="38637"/>
                </a:lnTo>
                <a:cubicBezTo>
                  <a:pt x="592227" y="38637"/>
                  <a:pt x="618186" y="64596"/>
                  <a:pt x="618186" y="96592"/>
                </a:cubicBezTo>
                <a:lnTo>
                  <a:pt x="618186" y="212501"/>
                </a:lnTo>
                <a:cubicBezTo>
                  <a:pt x="618186" y="244497"/>
                  <a:pt x="592227" y="270456"/>
                  <a:pt x="560231" y="270456"/>
                </a:cubicBezTo>
                <a:lnTo>
                  <a:pt x="444321" y="270456"/>
                </a:lnTo>
                <a:cubicBezTo>
                  <a:pt x="412325" y="270456"/>
                  <a:pt x="386366" y="244497"/>
                  <a:pt x="386366" y="212501"/>
                </a:cubicBezTo>
                <a:lnTo>
                  <a:pt x="386366" y="193183"/>
                </a:lnTo>
                <a:lnTo>
                  <a:pt x="231820" y="193183"/>
                </a:lnTo>
                <a:lnTo>
                  <a:pt x="231820" y="212501"/>
                </a:lnTo>
                <a:cubicBezTo>
                  <a:pt x="231820" y="221315"/>
                  <a:pt x="229767" y="229767"/>
                  <a:pt x="226266" y="237253"/>
                </a:cubicBezTo>
                <a:lnTo>
                  <a:pt x="309093" y="347730"/>
                </a:lnTo>
                <a:lnTo>
                  <a:pt x="405685" y="347730"/>
                </a:lnTo>
                <a:cubicBezTo>
                  <a:pt x="437680" y="347730"/>
                  <a:pt x="463639" y="373689"/>
                  <a:pt x="463639" y="405685"/>
                </a:cubicBezTo>
                <a:lnTo>
                  <a:pt x="463639" y="521594"/>
                </a:lnTo>
                <a:cubicBezTo>
                  <a:pt x="463639" y="553590"/>
                  <a:pt x="437680" y="579549"/>
                  <a:pt x="405685" y="579549"/>
                </a:cubicBezTo>
                <a:lnTo>
                  <a:pt x="289775" y="579549"/>
                </a:lnTo>
                <a:cubicBezTo>
                  <a:pt x="257779" y="579549"/>
                  <a:pt x="231820" y="553590"/>
                  <a:pt x="231820" y="521594"/>
                </a:cubicBezTo>
                <a:lnTo>
                  <a:pt x="231820" y="405685"/>
                </a:lnTo>
                <a:cubicBezTo>
                  <a:pt x="231820" y="396871"/>
                  <a:pt x="233872" y="388419"/>
                  <a:pt x="237374" y="380933"/>
                </a:cubicBezTo>
                <a:lnTo>
                  <a:pt x="154546" y="270456"/>
                </a:lnTo>
                <a:lnTo>
                  <a:pt x="57955" y="270456"/>
                </a:lnTo>
                <a:cubicBezTo>
                  <a:pt x="25959" y="270456"/>
                  <a:pt x="0" y="244497"/>
                  <a:pt x="0" y="212501"/>
                </a:cubicBezTo>
                <a:lnTo>
                  <a:pt x="0" y="9659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705063" y="2777544"/>
            <a:ext cx="4936901" cy="309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8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 Red Neuronal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9458" y="3584620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1"/>
          <p:cNvSpPr/>
          <p:nvPr/>
        </p:nvSpPr>
        <p:spPr>
          <a:xfrm>
            <a:off x="6730821" y="3584620"/>
            <a:ext cx="48939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8956" y="3430073"/>
            <a:ext cx="4258614" cy="721217"/>
          </a:xfrm>
          <a:custGeom>
            <a:avLst/>
            <a:gdLst/>
            <a:ahLst/>
            <a:cxnLst/>
            <a:rect l="l" t="t" r="r" b="b"/>
            <a:pathLst>
              <a:path w="4258614" h="721217">
                <a:moveTo>
                  <a:pt x="103033" y="0"/>
                </a:moveTo>
                <a:lnTo>
                  <a:pt x="4155581" y="0"/>
                </a:lnTo>
                <a:cubicBezTo>
                  <a:pt x="4212485" y="0"/>
                  <a:pt x="4258614" y="46129"/>
                  <a:pt x="4258614" y="103033"/>
                </a:cubicBezTo>
                <a:lnTo>
                  <a:pt x="4258614" y="618184"/>
                </a:lnTo>
                <a:cubicBezTo>
                  <a:pt x="4258614" y="675087"/>
                  <a:pt x="4212485" y="721217"/>
                  <a:pt x="4155581" y="721217"/>
                </a:cubicBezTo>
                <a:lnTo>
                  <a:pt x="103033" y="721217"/>
                </a:lnTo>
                <a:cubicBezTo>
                  <a:pt x="46129" y="721217"/>
                  <a:pt x="0" y="675087"/>
                  <a:pt x="0" y="61818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456331" y="3567448"/>
            <a:ext cx="406113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 de Entrada (Input)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6331" y="3807854"/>
            <a:ext cx="405255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Recibe los datos brutos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69458" y="4443211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6730821" y="4443211"/>
            <a:ext cx="48939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8956" y="4288665"/>
            <a:ext cx="4258614" cy="721217"/>
          </a:xfrm>
          <a:custGeom>
            <a:avLst/>
            <a:gdLst/>
            <a:ahLst/>
            <a:cxnLst/>
            <a:rect l="l" t="t" r="r" b="b"/>
            <a:pathLst>
              <a:path w="4258614" h="721217">
                <a:moveTo>
                  <a:pt x="103033" y="0"/>
                </a:moveTo>
                <a:lnTo>
                  <a:pt x="4155581" y="0"/>
                </a:lnTo>
                <a:cubicBezTo>
                  <a:pt x="4212485" y="0"/>
                  <a:pt x="4258614" y="46129"/>
                  <a:pt x="4258614" y="103033"/>
                </a:cubicBezTo>
                <a:lnTo>
                  <a:pt x="4258614" y="618184"/>
                </a:lnTo>
                <a:cubicBezTo>
                  <a:pt x="4258614" y="675087"/>
                  <a:pt x="4212485" y="721217"/>
                  <a:pt x="4155581" y="721217"/>
                </a:cubicBezTo>
                <a:lnTo>
                  <a:pt x="103033" y="721217"/>
                </a:lnTo>
                <a:cubicBezTo>
                  <a:pt x="46129" y="721217"/>
                  <a:pt x="0" y="675087"/>
                  <a:pt x="0" y="61818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456331" y="4426039"/>
            <a:ext cx="406113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Ocultas (Hidden)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56331" y="4666445"/>
            <a:ext cx="405255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Procesan y extraen características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9458" y="530180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Text 31"/>
          <p:cNvSpPr/>
          <p:nvPr/>
        </p:nvSpPr>
        <p:spPr>
          <a:xfrm>
            <a:off x="6730821" y="5301803"/>
            <a:ext cx="489397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8956" y="5147256"/>
            <a:ext cx="4258614" cy="721217"/>
          </a:xfrm>
          <a:custGeom>
            <a:avLst/>
            <a:gdLst/>
            <a:ahLst/>
            <a:cxnLst/>
            <a:rect l="l" t="t" r="r" b="b"/>
            <a:pathLst>
              <a:path w="4258614" h="721217">
                <a:moveTo>
                  <a:pt x="103033" y="0"/>
                </a:moveTo>
                <a:lnTo>
                  <a:pt x="4155581" y="0"/>
                </a:lnTo>
                <a:cubicBezTo>
                  <a:pt x="4212485" y="0"/>
                  <a:pt x="4258614" y="46129"/>
                  <a:pt x="4258614" y="103033"/>
                </a:cubicBezTo>
                <a:lnTo>
                  <a:pt x="4258614" y="618184"/>
                </a:lnTo>
                <a:cubicBezTo>
                  <a:pt x="4258614" y="675087"/>
                  <a:pt x="4212485" y="721217"/>
                  <a:pt x="4155581" y="721217"/>
                </a:cubicBezTo>
                <a:lnTo>
                  <a:pt x="103033" y="721217"/>
                </a:lnTo>
                <a:cubicBezTo>
                  <a:pt x="46129" y="721217"/>
                  <a:pt x="0" y="675087"/>
                  <a:pt x="0" y="618184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5" name="Text 33"/>
          <p:cNvSpPr/>
          <p:nvPr/>
        </p:nvSpPr>
        <p:spPr>
          <a:xfrm>
            <a:off x="7456331" y="5284631"/>
            <a:ext cx="406113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 de Salida (Output)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6331" y="5525037"/>
            <a:ext cx="405255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 predicciones o resultados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47489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spc="113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44511"/>
            <a:ext cx="11690714" cy="42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3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Clave de Deep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306925"/>
            <a:ext cx="3679084" cy="4260934"/>
          </a:xfrm>
          <a:custGeom>
            <a:avLst/>
            <a:gdLst/>
            <a:ahLst/>
            <a:cxnLst/>
            <a:rect l="l" t="t" r="r" b="b"/>
            <a:pathLst>
              <a:path w="3679084" h="4260934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4117707"/>
                </a:lnTo>
                <a:cubicBezTo>
                  <a:pt x="3679084" y="4196809"/>
                  <a:pt x="3614959" y="4260934"/>
                  <a:pt x="3535857" y="4260934"/>
                </a:cubicBezTo>
                <a:lnTo>
                  <a:pt x="143227" y="4260934"/>
                </a:lnTo>
                <a:cubicBezTo>
                  <a:pt x="64125" y="4260934"/>
                  <a:pt x="0" y="4196809"/>
                  <a:pt x="0" y="41177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23789" dist="179031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062" y="1306925"/>
            <a:ext cx="3679084" cy="35806"/>
          </a:xfrm>
          <a:custGeom>
            <a:avLst/>
            <a:gdLst/>
            <a:ahLst/>
            <a:cxnLst/>
            <a:rect l="l" t="t" r="r" b="b"/>
            <a:pathLst>
              <a:path w="3679084" h="35806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44511" y="1611278"/>
            <a:ext cx="716123" cy="716123"/>
          </a:xfrm>
          <a:custGeom>
            <a:avLst/>
            <a:gdLst/>
            <a:ahLst/>
            <a:cxnLst/>
            <a:rect l="l" t="t" r="r" b="b"/>
            <a:pathLst>
              <a:path w="716123" h="716123">
                <a:moveTo>
                  <a:pt x="143225" y="0"/>
                </a:moveTo>
                <a:lnTo>
                  <a:pt x="572899" y="0"/>
                </a:lnTo>
                <a:cubicBezTo>
                  <a:pt x="651999" y="0"/>
                  <a:pt x="716123" y="64124"/>
                  <a:pt x="716123" y="143225"/>
                </a:cubicBezTo>
                <a:lnTo>
                  <a:pt x="716123" y="572899"/>
                </a:lnTo>
                <a:cubicBezTo>
                  <a:pt x="716123" y="651999"/>
                  <a:pt x="651999" y="716123"/>
                  <a:pt x="572899" y="716123"/>
                </a:cubicBezTo>
                <a:lnTo>
                  <a:pt x="143225" y="716123"/>
                </a:lnTo>
                <a:cubicBezTo>
                  <a:pt x="64124" y="716123"/>
                  <a:pt x="0" y="651999"/>
                  <a:pt x="0" y="572899"/>
                </a:cubicBezTo>
                <a:lnTo>
                  <a:pt x="0" y="143225"/>
                </a:lnTo>
                <a:cubicBezTo>
                  <a:pt x="0" y="64177"/>
                  <a:pt x="64177" y="0"/>
                  <a:pt x="1432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445" y="1808211"/>
            <a:ext cx="322256" cy="322256"/>
          </a:xfrm>
          <a:custGeom>
            <a:avLst/>
            <a:gdLst/>
            <a:ahLst/>
            <a:cxnLst/>
            <a:rect l="l" t="t" r="r" b="b"/>
            <a:pathLst>
              <a:path w="322256" h="322256">
                <a:moveTo>
                  <a:pt x="146337" y="3273"/>
                </a:moveTo>
                <a:cubicBezTo>
                  <a:pt x="155715" y="-1070"/>
                  <a:pt x="166541" y="-1070"/>
                  <a:pt x="175919" y="3273"/>
                </a:cubicBezTo>
                <a:lnTo>
                  <a:pt x="313507" y="66843"/>
                </a:lnTo>
                <a:cubicBezTo>
                  <a:pt x="318857" y="69298"/>
                  <a:pt x="322256" y="74647"/>
                  <a:pt x="322256" y="80564"/>
                </a:cubicBezTo>
                <a:cubicBezTo>
                  <a:pt x="322256" y="86480"/>
                  <a:pt x="318857" y="91830"/>
                  <a:pt x="313507" y="94285"/>
                </a:cubicBezTo>
                <a:lnTo>
                  <a:pt x="175919" y="157855"/>
                </a:lnTo>
                <a:cubicBezTo>
                  <a:pt x="166541" y="162198"/>
                  <a:pt x="155715" y="162198"/>
                  <a:pt x="146337" y="157855"/>
                </a:cubicBezTo>
                <a:lnTo>
                  <a:pt x="8749" y="94285"/>
                </a:lnTo>
                <a:cubicBezTo>
                  <a:pt x="3399" y="91767"/>
                  <a:pt x="0" y="86417"/>
                  <a:pt x="0" y="80564"/>
                </a:cubicBezTo>
                <a:cubicBezTo>
                  <a:pt x="0" y="74710"/>
                  <a:pt x="3399" y="69298"/>
                  <a:pt x="8749" y="66843"/>
                </a:cubicBezTo>
                <a:lnTo>
                  <a:pt x="146337" y="3273"/>
                </a:lnTo>
                <a:close/>
                <a:moveTo>
                  <a:pt x="30274" y="137462"/>
                </a:moveTo>
                <a:lnTo>
                  <a:pt x="133686" y="185234"/>
                </a:lnTo>
                <a:cubicBezTo>
                  <a:pt x="151120" y="193290"/>
                  <a:pt x="171198" y="193290"/>
                  <a:pt x="188633" y="185234"/>
                </a:cubicBezTo>
                <a:lnTo>
                  <a:pt x="292044" y="137462"/>
                </a:lnTo>
                <a:lnTo>
                  <a:pt x="313507" y="147407"/>
                </a:lnTo>
                <a:cubicBezTo>
                  <a:pt x="318857" y="149861"/>
                  <a:pt x="322256" y="155211"/>
                  <a:pt x="322256" y="161128"/>
                </a:cubicBezTo>
                <a:cubicBezTo>
                  <a:pt x="322256" y="167044"/>
                  <a:pt x="318857" y="172394"/>
                  <a:pt x="313507" y="174849"/>
                </a:cubicBezTo>
                <a:lnTo>
                  <a:pt x="175919" y="238419"/>
                </a:lnTo>
                <a:cubicBezTo>
                  <a:pt x="166541" y="242762"/>
                  <a:pt x="155715" y="242762"/>
                  <a:pt x="146337" y="238419"/>
                </a:cubicBezTo>
                <a:lnTo>
                  <a:pt x="8749" y="174849"/>
                </a:lnTo>
                <a:cubicBezTo>
                  <a:pt x="3399" y="172331"/>
                  <a:pt x="0" y="166981"/>
                  <a:pt x="0" y="161128"/>
                </a:cubicBezTo>
                <a:cubicBezTo>
                  <a:pt x="0" y="155274"/>
                  <a:pt x="3399" y="149861"/>
                  <a:pt x="8749" y="147407"/>
                </a:cubicBezTo>
                <a:lnTo>
                  <a:pt x="30211" y="137462"/>
                </a:lnTo>
                <a:close/>
                <a:moveTo>
                  <a:pt x="8749" y="227971"/>
                </a:moveTo>
                <a:lnTo>
                  <a:pt x="30211" y="218026"/>
                </a:lnTo>
                <a:lnTo>
                  <a:pt x="133623" y="265798"/>
                </a:lnTo>
                <a:cubicBezTo>
                  <a:pt x="151057" y="273854"/>
                  <a:pt x="171135" y="273854"/>
                  <a:pt x="188570" y="265798"/>
                </a:cubicBezTo>
                <a:lnTo>
                  <a:pt x="291981" y="218026"/>
                </a:lnTo>
                <a:lnTo>
                  <a:pt x="313444" y="227971"/>
                </a:lnTo>
                <a:cubicBezTo>
                  <a:pt x="318794" y="230425"/>
                  <a:pt x="322193" y="235775"/>
                  <a:pt x="322193" y="241692"/>
                </a:cubicBezTo>
                <a:cubicBezTo>
                  <a:pt x="322193" y="247608"/>
                  <a:pt x="318794" y="252958"/>
                  <a:pt x="313444" y="255413"/>
                </a:cubicBezTo>
                <a:lnTo>
                  <a:pt x="175856" y="318983"/>
                </a:lnTo>
                <a:cubicBezTo>
                  <a:pt x="166478" y="323325"/>
                  <a:pt x="155652" y="323325"/>
                  <a:pt x="146274" y="318983"/>
                </a:cubicBezTo>
                <a:lnTo>
                  <a:pt x="8749" y="255413"/>
                </a:lnTo>
                <a:cubicBezTo>
                  <a:pt x="3399" y="252895"/>
                  <a:pt x="0" y="247545"/>
                  <a:pt x="0" y="241692"/>
                </a:cubicBezTo>
                <a:cubicBezTo>
                  <a:pt x="0" y="235838"/>
                  <a:pt x="3399" y="230425"/>
                  <a:pt x="8749" y="22797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44511" y="2542238"/>
            <a:ext cx="321360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Profundas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511" y="2971912"/>
            <a:ext cx="3186749" cy="1306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Utiliza múltiples capas de procesamiento que transforman los datos de entrada en representaciones cada vez más abstractas y sofisticadas.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511" y="4495912"/>
            <a:ext cx="3106185" cy="787736"/>
          </a:xfrm>
          <a:custGeom>
            <a:avLst/>
            <a:gdLst/>
            <a:ahLst/>
            <a:cxnLst/>
            <a:rect l="l" t="t" r="r" b="b"/>
            <a:pathLst>
              <a:path w="3106185" h="787736">
                <a:moveTo>
                  <a:pt x="107416" y="0"/>
                </a:moveTo>
                <a:lnTo>
                  <a:pt x="2998769" y="0"/>
                </a:lnTo>
                <a:cubicBezTo>
                  <a:pt x="3058093" y="0"/>
                  <a:pt x="3106185" y="48092"/>
                  <a:pt x="3106185" y="107416"/>
                </a:cubicBezTo>
                <a:lnTo>
                  <a:pt x="3106185" y="680320"/>
                </a:lnTo>
                <a:cubicBezTo>
                  <a:pt x="3106185" y="739644"/>
                  <a:pt x="3058093" y="787736"/>
                  <a:pt x="2998769" y="787736"/>
                </a:cubicBezTo>
                <a:lnTo>
                  <a:pt x="107416" y="787736"/>
                </a:lnTo>
                <a:cubicBezTo>
                  <a:pt x="48092" y="787736"/>
                  <a:pt x="0" y="739644"/>
                  <a:pt x="0" y="680320"/>
                </a:cubicBezTo>
                <a:lnTo>
                  <a:pt x="0" y="107416"/>
                </a:lnTo>
                <a:cubicBezTo>
                  <a:pt x="0" y="48092"/>
                  <a:pt x="48092" y="0"/>
                  <a:pt x="10741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87736" y="4639137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Flujo de Datos: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736" y="4925586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→ Capas Ocultas → Output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4220" y="1306925"/>
            <a:ext cx="3679084" cy="4260934"/>
          </a:xfrm>
          <a:custGeom>
            <a:avLst/>
            <a:gdLst/>
            <a:ahLst/>
            <a:cxnLst/>
            <a:rect l="l" t="t" r="r" b="b"/>
            <a:pathLst>
              <a:path w="3679084" h="4260934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4117707"/>
                </a:lnTo>
                <a:cubicBezTo>
                  <a:pt x="3679084" y="4196809"/>
                  <a:pt x="3614959" y="4260934"/>
                  <a:pt x="3535857" y="4260934"/>
                </a:cubicBezTo>
                <a:lnTo>
                  <a:pt x="143227" y="4260934"/>
                </a:lnTo>
                <a:cubicBezTo>
                  <a:pt x="64125" y="4260934"/>
                  <a:pt x="0" y="4196809"/>
                  <a:pt x="0" y="41177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23789" dist="179031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4220" y="1306925"/>
            <a:ext cx="3679084" cy="35806"/>
          </a:xfrm>
          <a:custGeom>
            <a:avLst/>
            <a:gdLst/>
            <a:ahLst/>
            <a:cxnLst/>
            <a:rect l="l" t="t" r="r" b="b"/>
            <a:pathLst>
              <a:path w="3679084" h="35806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Shape 13"/>
          <p:cNvSpPr/>
          <p:nvPr/>
        </p:nvSpPr>
        <p:spPr>
          <a:xfrm>
            <a:off x="4540670" y="1611278"/>
            <a:ext cx="716123" cy="716123"/>
          </a:xfrm>
          <a:custGeom>
            <a:avLst/>
            <a:gdLst/>
            <a:ahLst/>
            <a:cxnLst/>
            <a:rect l="l" t="t" r="r" b="b"/>
            <a:pathLst>
              <a:path w="716123" h="716123">
                <a:moveTo>
                  <a:pt x="143225" y="0"/>
                </a:moveTo>
                <a:lnTo>
                  <a:pt x="572899" y="0"/>
                </a:lnTo>
                <a:cubicBezTo>
                  <a:pt x="651999" y="0"/>
                  <a:pt x="716123" y="64124"/>
                  <a:pt x="716123" y="143225"/>
                </a:cubicBezTo>
                <a:lnTo>
                  <a:pt x="716123" y="572899"/>
                </a:lnTo>
                <a:cubicBezTo>
                  <a:pt x="716123" y="651999"/>
                  <a:pt x="651999" y="716123"/>
                  <a:pt x="572899" y="716123"/>
                </a:cubicBezTo>
                <a:lnTo>
                  <a:pt x="143225" y="716123"/>
                </a:lnTo>
                <a:cubicBezTo>
                  <a:pt x="64124" y="716123"/>
                  <a:pt x="0" y="651999"/>
                  <a:pt x="0" y="572899"/>
                </a:cubicBezTo>
                <a:lnTo>
                  <a:pt x="0" y="143225"/>
                </a:lnTo>
                <a:cubicBezTo>
                  <a:pt x="0" y="64177"/>
                  <a:pt x="64177" y="0"/>
                  <a:pt x="1432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37604" y="1808211"/>
            <a:ext cx="322256" cy="322256"/>
          </a:xfrm>
          <a:custGeom>
            <a:avLst/>
            <a:gdLst/>
            <a:ahLst/>
            <a:cxnLst/>
            <a:rect l="l" t="t" r="r" b="b"/>
            <a:pathLst>
              <a:path w="322256" h="322256">
                <a:moveTo>
                  <a:pt x="250818" y="7679"/>
                </a:moveTo>
                <a:lnTo>
                  <a:pt x="195304" y="63192"/>
                </a:lnTo>
                <a:lnTo>
                  <a:pt x="259063" y="126951"/>
                </a:lnTo>
                <a:lnTo>
                  <a:pt x="314577" y="71437"/>
                </a:lnTo>
                <a:cubicBezTo>
                  <a:pt x="319486" y="66465"/>
                  <a:pt x="322256" y="59794"/>
                  <a:pt x="322256" y="52870"/>
                </a:cubicBezTo>
                <a:cubicBezTo>
                  <a:pt x="322256" y="45947"/>
                  <a:pt x="319486" y="39275"/>
                  <a:pt x="314577" y="34303"/>
                </a:cubicBezTo>
                <a:lnTo>
                  <a:pt x="287953" y="7679"/>
                </a:lnTo>
                <a:cubicBezTo>
                  <a:pt x="282981" y="2769"/>
                  <a:pt x="276309" y="0"/>
                  <a:pt x="269385" y="0"/>
                </a:cubicBezTo>
                <a:cubicBezTo>
                  <a:pt x="262462" y="0"/>
                  <a:pt x="255790" y="2769"/>
                  <a:pt x="250818" y="7679"/>
                </a:cubicBezTo>
                <a:close/>
                <a:moveTo>
                  <a:pt x="173968" y="84529"/>
                </a:moveTo>
                <a:lnTo>
                  <a:pt x="7679" y="250818"/>
                </a:lnTo>
                <a:cubicBezTo>
                  <a:pt x="2769" y="255790"/>
                  <a:pt x="0" y="262462"/>
                  <a:pt x="0" y="269385"/>
                </a:cubicBezTo>
                <a:cubicBezTo>
                  <a:pt x="0" y="276309"/>
                  <a:pt x="2769" y="282981"/>
                  <a:pt x="7679" y="287953"/>
                </a:cubicBezTo>
                <a:lnTo>
                  <a:pt x="34303" y="314577"/>
                </a:lnTo>
                <a:cubicBezTo>
                  <a:pt x="39275" y="319486"/>
                  <a:pt x="45947" y="322256"/>
                  <a:pt x="52870" y="322256"/>
                </a:cubicBezTo>
                <a:cubicBezTo>
                  <a:pt x="59794" y="322256"/>
                  <a:pt x="66465" y="319486"/>
                  <a:pt x="71437" y="314577"/>
                </a:cubicBezTo>
                <a:lnTo>
                  <a:pt x="237726" y="148288"/>
                </a:lnTo>
                <a:lnTo>
                  <a:pt x="173968" y="8452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40670" y="2542238"/>
            <a:ext cx="321360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Automático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0670" y="2971912"/>
            <a:ext cx="3186749" cy="1306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requiere ingeniería manual de características. El sistema aprende automáticamente las representaciones óptimas directamente desde los datos brutos.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40670" y="4495912"/>
            <a:ext cx="3106185" cy="787736"/>
          </a:xfrm>
          <a:custGeom>
            <a:avLst/>
            <a:gdLst/>
            <a:ahLst/>
            <a:cxnLst/>
            <a:rect l="l" t="t" r="r" b="b"/>
            <a:pathLst>
              <a:path w="3106185" h="787736">
                <a:moveTo>
                  <a:pt x="107416" y="0"/>
                </a:moveTo>
                <a:lnTo>
                  <a:pt x="2998769" y="0"/>
                </a:lnTo>
                <a:cubicBezTo>
                  <a:pt x="3058093" y="0"/>
                  <a:pt x="3106185" y="48092"/>
                  <a:pt x="3106185" y="107416"/>
                </a:cubicBezTo>
                <a:lnTo>
                  <a:pt x="3106185" y="680320"/>
                </a:lnTo>
                <a:cubicBezTo>
                  <a:pt x="3106185" y="739644"/>
                  <a:pt x="3058093" y="787736"/>
                  <a:pt x="2998769" y="787736"/>
                </a:cubicBezTo>
                <a:lnTo>
                  <a:pt x="107416" y="787736"/>
                </a:lnTo>
                <a:cubicBezTo>
                  <a:pt x="48092" y="787736"/>
                  <a:pt x="0" y="739644"/>
                  <a:pt x="0" y="680320"/>
                </a:cubicBezTo>
                <a:lnTo>
                  <a:pt x="0" y="107416"/>
                </a:lnTo>
                <a:cubicBezTo>
                  <a:pt x="0" y="48092"/>
                  <a:pt x="48092" y="0"/>
                  <a:pt x="10741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683894" y="4639137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 Principal: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83894" y="4925586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 el feature engineering manual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0379" y="1306925"/>
            <a:ext cx="3679084" cy="4260934"/>
          </a:xfrm>
          <a:custGeom>
            <a:avLst/>
            <a:gdLst/>
            <a:ahLst/>
            <a:cxnLst/>
            <a:rect l="l" t="t" r="r" b="b"/>
            <a:pathLst>
              <a:path w="3679084" h="4260934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4117707"/>
                </a:lnTo>
                <a:cubicBezTo>
                  <a:pt x="3679084" y="4196809"/>
                  <a:pt x="3614959" y="4260934"/>
                  <a:pt x="3535857" y="4260934"/>
                </a:cubicBezTo>
                <a:lnTo>
                  <a:pt x="143227" y="4260934"/>
                </a:lnTo>
                <a:cubicBezTo>
                  <a:pt x="64125" y="4260934"/>
                  <a:pt x="0" y="4196809"/>
                  <a:pt x="0" y="4117707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23789" dist="179031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0379" y="1306925"/>
            <a:ext cx="3679084" cy="35806"/>
          </a:xfrm>
          <a:custGeom>
            <a:avLst/>
            <a:gdLst/>
            <a:ahLst/>
            <a:cxnLst/>
            <a:rect l="l" t="t" r="r" b="b"/>
            <a:pathLst>
              <a:path w="3679084" h="35806">
                <a:moveTo>
                  <a:pt x="35806" y="0"/>
                </a:moveTo>
                <a:lnTo>
                  <a:pt x="3643278" y="0"/>
                </a:lnTo>
                <a:cubicBezTo>
                  <a:pt x="3663053" y="0"/>
                  <a:pt x="3679084" y="16031"/>
                  <a:pt x="3679084" y="35806"/>
                </a:cubicBezTo>
                <a:lnTo>
                  <a:pt x="3679084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Shape 22"/>
          <p:cNvSpPr/>
          <p:nvPr/>
        </p:nvSpPr>
        <p:spPr>
          <a:xfrm>
            <a:off x="8436828" y="1611278"/>
            <a:ext cx="716123" cy="716123"/>
          </a:xfrm>
          <a:custGeom>
            <a:avLst/>
            <a:gdLst/>
            <a:ahLst/>
            <a:cxnLst/>
            <a:rect l="l" t="t" r="r" b="b"/>
            <a:pathLst>
              <a:path w="716123" h="716123">
                <a:moveTo>
                  <a:pt x="143225" y="0"/>
                </a:moveTo>
                <a:lnTo>
                  <a:pt x="572899" y="0"/>
                </a:lnTo>
                <a:cubicBezTo>
                  <a:pt x="651999" y="0"/>
                  <a:pt x="716123" y="64124"/>
                  <a:pt x="716123" y="143225"/>
                </a:cubicBezTo>
                <a:lnTo>
                  <a:pt x="716123" y="572899"/>
                </a:lnTo>
                <a:cubicBezTo>
                  <a:pt x="716123" y="651999"/>
                  <a:pt x="651999" y="716123"/>
                  <a:pt x="572899" y="716123"/>
                </a:cubicBezTo>
                <a:lnTo>
                  <a:pt x="143225" y="716123"/>
                </a:lnTo>
                <a:cubicBezTo>
                  <a:pt x="64124" y="716123"/>
                  <a:pt x="0" y="651999"/>
                  <a:pt x="0" y="572899"/>
                </a:cubicBezTo>
                <a:lnTo>
                  <a:pt x="0" y="143225"/>
                </a:lnTo>
                <a:cubicBezTo>
                  <a:pt x="0" y="64177"/>
                  <a:pt x="64177" y="0"/>
                  <a:pt x="143225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653903" y="1808211"/>
            <a:ext cx="281974" cy="322256"/>
          </a:xfrm>
          <a:custGeom>
            <a:avLst/>
            <a:gdLst/>
            <a:ahLst/>
            <a:cxnLst/>
            <a:rect l="l" t="t" r="r" b="b"/>
            <a:pathLst>
              <a:path w="281974" h="322256">
                <a:moveTo>
                  <a:pt x="40282" y="20141"/>
                </a:moveTo>
                <a:cubicBezTo>
                  <a:pt x="18064" y="20141"/>
                  <a:pt x="0" y="38205"/>
                  <a:pt x="0" y="60423"/>
                </a:cubicBezTo>
                <a:lnTo>
                  <a:pt x="0" y="100705"/>
                </a:lnTo>
                <a:cubicBezTo>
                  <a:pt x="0" y="122923"/>
                  <a:pt x="18064" y="140987"/>
                  <a:pt x="40282" y="140987"/>
                </a:cubicBezTo>
                <a:lnTo>
                  <a:pt x="241692" y="140987"/>
                </a:lnTo>
                <a:cubicBezTo>
                  <a:pt x="263910" y="140987"/>
                  <a:pt x="281974" y="122923"/>
                  <a:pt x="281974" y="100705"/>
                </a:cubicBezTo>
                <a:lnTo>
                  <a:pt x="281974" y="60423"/>
                </a:lnTo>
                <a:cubicBezTo>
                  <a:pt x="281974" y="38205"/>
                  <a:pt x="263910" y="20141"/>
                  <a:pt x="241692" y="20141"/>
                </a:cubicBezTo>
                <a:lnTo>
                  <a:pt x="40282" y="20141"/>
                </a:lnTo>
                <a:close/>
                <a:moveTo>
                  <a:pt x="176233" y="65458"/>
                </a:moveTo>
                <a:cubicBezTo>
                  <a:pt x="184571" y="65458"/>
                  <a:pt x="191339" y="72227"/>
                  <a:pt x="191339" y="80564"/>
                </a:cubicBezTo>
                <a:cubicBezTo>
                  <a:pt x="191339" y="88901"/>
                  <a:pt x="184571" y="95670"/>
                  <a:pt x="176233" y="95670"/>
                </a:cubicBezTo>
                <a:cubicBezTo>
                  <a:pt x="167896" y="95670"/>
                  <a:pt x="161128" y="88901"/>
                  <a:pt x="161128" y="80564"/>
                </a:cubicBezTo>
                <a:cubicBezTo>
                  <a:pt x="161128" y="72227"/>
                  <a:pt x="167896" y="65458"/>
                  <a:pt x="176233" y="65458"/>
                </a:cubicBezTo>
                <a:close/>
                <a:moveTo>
                  <a:pt x="211480" y="80564"/>
                </a:moveTo>
                <a:cubicBezTo>
                  <a:pt x="211480" y="72227"/>
                  <a:pt x="218249" y="65458"/>
                  <a:pt x="226586" y="65458"/>
                </a:cubicBezTo>
                <a:cubicBezTo>
                  <a:pt x="234923" y="65458"/>
                  <a:pt x="241692" y="72227"/>
                  <a:pt x="241692" y="80564"/>
                </a:cubicBezTo>
                <a:cubicBezTo>
                  <a:pt x="241692" y="88901"/>
                  <a:pt x="234923" y="95670"/>
                  <a:pt x="226586" y="95670"/>
                </a:cubicBezTo>
                <a:cubicBezTo>
                  <a:pt x="218249" y="95670"/>
                  <a:pt x="211480" y="88901"/>
                  <a:pt x="211480" y="80564"/>
                </a:cubicBezTo>
                <a:close/>
                <a:moveTo>
                  <a:pt x="40282" y="181269"/>
                </a:moveTo>
                <a:cubicBezTo>
                  <a:pt x="18064" y="181269"/>
                  <a:pt x="0" y="199333"/>
                  <a:pt x="0" y="221551"/>
                </a:cubicBezTo>
                <a:lnTo>
                  <a:pt x="0" y="261833"/>
                </a:lnTo>
                <a:cubicBezTo>
                  <a:pt x="0" y="284051"/>
                  <a:pt x="18064" y="302115"/>
                  <a:pt x="40282" y="302115"/>
                </a:cubicBezTo>
                <a:lnTo>
                  <a:pt x="241692" y="302115"/>
                </a:lnTo>
                <a:cubicBezTo>
                  <a:pt x="263910" y="302115"/>
                  <a:pt x="281974" y="284051"/>
                  <a:pt x="281974" y="261833"/>
                </a:cubicBezTo>
                <a:lnTo>
                  <a:pt x="281974" y="221551"/>
                </a:lnTo>
                <a:cubicBezTo>
                  <a:pt x="281974" y="199333"/>
                  <a:pt x="263910" y="181269"/>
                  <a:pt x="241692" y="181269"/>
                </a:cubicBezTo>
                <a:lnTo>
                  <a:pt x="40282" y="181269"/>
                </a:lnTo>
                <a:close/>
                <a:moveTo>
                  <a:pt x="176233" y="226586"/>
                </a:moveTo>
                <a:cubicBezTo>
                  <a:pt x="184571" y="226586"/>
                  <a:pt x="191339" y="233355"/>
                  <a:pt x="191339" y="241692"/>
                </a:cubicBezTo>
                <a:cubicBezTo>
                  <a:pt x="191339" y="250029"/>
                  <a:pt x="184571" y="256797"/>
                  <a:pt x="176233" y="256797"/>
                </a:cubicBezTo>
                <a:cubicBezTo>
                  <a:pt x="167896" y="256797"/>
                  <a:pt x="161128" y="250029"/>
                  <a:pt x="161128" y="241692"/>
                </a:cubicBezTo>
                <a:cubicBezTo>
                  <a:pt x="161128" y="233355"/>
                  <a:pt x="167896" y="226586"/>
                  <a:pt x="176233" y="226586"/>
                </a:cubicBezTo>
                <a:close/>
                <a:moveTo>
                  <a:pt x="211480" y="241692"/>
                </a:moveTo>
                <a:cubicBezTo>
                  <a:pt x="211480" y="233355"/>
                  <a:pt x="218249" y="226586"/>
                  <a:pt x="226586" y="226586"/>
                </a:cubicBezTo>
                <a:cubicBezTo>
                  <a:pt x="234923" y="226586"/>
                  <a:pt x="241692" y="233355"/>
                  <a:pt x="241692" y="241692"/>
                </a:cubicBezTo>
                <a:cubicBezTo>
                  <a:pt x="241692" y="250029"/>
                  <a:pt x="234923" y="256797"/>
                  <a:pt x="226586" y="256797"/>
                </a:cubicBezTo>
                <a:cubicBezTo>
                  <a:pt x="218249" y="256797"/>
                  <a:pt x="211480" y="250029"/>
                  <a:pt x="211480" y="24169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8436828" y="2542238"/>
            <a:ext cx="3213604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2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Escalabilidad y Rendimiento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6828" y="2971912"/>
            <a:ext cx="3186749" cy="1306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9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Funciona excepcionalmente bien con datos masivos y hardware avanzado como GPUs y TPUs, permitiendo entrenar modelos complejos eficientemente.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36828" y="4495912"/>
            <a:ext cx="3106185" cy="787736"/>
          </a:xfrm>
          <a:custGeom>
            <a:avLst/>
            <a:gdLst/>
            <a:ahLst/>
            <a:cxnLst/>
            <a:rect l="l" t="t" r="r" b="b"/>
            <a:pathLst>
              <a:path w="3106185" h="787736">
                <a:moveTo>
                  <a:pt x="107416" y="0"/>
                </a:moveTo>
                <a:lnTo>
                  <a:pt x="2998769" y="0"/>
                </a:lnTo>
                <a:cubicBezTo>
                  <a:pt x="3058093" y="0"/>
                  <a:pt x="3106185" y="48092"/>
                  <a:pt x="3106185" y="107416"/>
                </a:cubicBezTo>
                <a:lnTo>
                  <a:pt x="3106185" y="680320"/>
                </a:lnTo>
                <a:cubicBezTo>
                  <a:pt x="3106185" y="739644"/>
                  <a:pt x="3058093" y="787736"/>
                  <a:pt x="2998769" y="787736"/>
                </a:cubicBezTo>
                <a:lnTo>
                  <a:pt x="107416" y="787736"/>
                </a:lnTo>
                <a:cubicBezTo>
                  <a:pt x="48092" y="787736"/>
                  <a:pt x="0" y="739644"/>
                  <a:pt x="0" y="680320"/>
                </a:cubicBezTo>
                <a:lnTo>
                  <a:pt x="0" y="107416"/>
                </a:lnTo>
                <a:cubicBezTo>
                  <a:pt x="0" y="48092"/>
                  <a:pt x="48092" y="0"/>
                  <a:pt x="10741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8580053" y="4639137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Hardware Requerido: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0053" y="4925586"/>
            <a:ext cx="2891348" cy="214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GPU, TPU para procesamiento eficiente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5965" y="5784934"/>
            <a:ext cx="11457974" cy="859348"/>
          </a:xfrm>
          <a:custGeom>
            <a:avLst/>
            <a:gdLst/>
            <a:ahLst/>
            <a:cxnLst/>
            <a:rect l="l" t="t" r="r" b="b"/>
            <a:pathLst>
              <a:path w="11457974" h="859348">
                <a:moveTo>
                  <a:pt x="35806" y="0"/>
                </a:moveTo>
                <a:lnTo>
                  <a:pt x="11350555" y="0"/>
                </a:lnTo>
                <a:cubicBezTo>
                  <a:pt x="11409881" y="0"/>
                  <a:pt x="11457974" y="48093"/>
                  <a:pt x="11457974" y="107419"/>
                </a:cubicBezTo>
                <a:lnTo>
                  <a:pt x="11457974" y="751930"/>
                </a:lnTo>
                <a:cubicBezTo>
                  <a:pt x="11457974" y="811255"/>
                  <a:pt x="11409881" y="859348"/>
                  <a:pt x="11350555" y="859348"/>
                </a:cubicBezTo>
                <a:lnTo>
                  <a:pt x="35806" y="859348"/>
                </a:lnTo>
                <a:cubicBezTo>
                  <a:pt x="16031" y="859348"/>
                  <a:pt x="0" y="843317"/>
                  <a:pt x="0" y="823542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375965" y="5784934"/>
            <a:ext cx="35806" cy="859348"/>
          </a:xfrm>
          <a:custGeom>
            <a:avLst/>
            <a:gdLst/>
            <a:ahLst/>
            <a:cxnLst/>
            <a:rect l="l" t="t" r="r" b="b"/>
            <a:pathLst>
              <a:path w="35806" h="859348">
                <a:moveTo>
                  <a:pt x="35806" y="0"/>
                </a:moveTo>
                <a:lnTo>
                  <a:pt x="35806" y="0"/>
                </a:lnTo>
                <a:lnTo>
                  <a:pt x="35806" y="859348"/>
                </a:lnTo>
                <a:lnTo>
                  <a:pt x="35806" y="859348"/>
                </a:lnTo>
                <a:cubicBezTo>
                  <a:pt x="16031" y="859348"/>
                  <a:pt x="0" y="843317"/>
                  <a:pt x="0" y="823542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615419" y="6017674"/>
            <a:ext cx="120846" cy="161128"/>
          </a:xfrm>
          <a:custGeom>
            <a:avLst/>
            <a:gdLst/>
            <a:ahLst/>
            <a:cxnLst/>
            <a:rect l="l" t="t" r="r" b="b"/>
            <a:pathLst>
              <a:path w="120846" h="161128">
                <a:moveTo>
                  <a:pt x="92176" y="120846"/>
                </a:moveTo>
                <a:cubicBezTo>
                  <a:pt x="94474" y="113828"/>
                  <a:pt x="99068" y="107471"/>
                  <a:pt x="104261" y="101995"/>
                </a:cubicBezTo>
                <a:cubicBezTo>
                  <a:pt x="114552" y="91169"/>
                  <a:pt x="120846" y="76536"/>
                  <a:pt x="120846" y="60423"/>
                </a:cubicBezTo>
                <a:cubicBezTo>
                  <a:pt x="120846" y="27064"/>
                  <a:pt x="93781" y="0"/>
                  <a:pt x="60423" y="0"/>
                </a:cubicBezTo>
                <a:cubicBezTo>
                  <a:pt x="27064" y="0"/>
                  <a:pt x="0" y="27064"/>
                  <a:pt x="0" y="60423"/>
                </a:cubicBezTo>
                <a:cubicBezTo>
                  <a:pt x="0" y="76536"/>
                  <a:pt x="6294" y="91169"/>
                  <a:pt x="16585" y="101995"/>
                </a:cubicBezTo>
                <a:cubicBezTo>
                  <a:pt x="21777" y="107471"/>
                  <a:pt x="26404" y="113828"/>
                  <a:pt x="28669" y="120846"/>
                </a:cubicBezTo>
                <a:lnTo>
                  <a:pt x="92145" y="120846"/>
                </a:lnTo>
                <a:close/>
                <a:moveTo>
                  <a:pt x="90634" y="135952"/>
                </a:moveTo>
                <a:lnTo>
                  <a:pt x="30211" y="135952"/>
                </a:lnTo>
                <a:lnTo>
                  <a:pt x="30211" y="140987"/>
                </a:lnTo>
                <a:cubicBezTo>
                  <a:pt x="30211" y="154897"/>
                  <a:pt x="41478" y="166163"/>
                  <a:pt x="55388" y="166163"/>
                </a:cubicBezTo>
                <a:lnTo>
                  <a:pt x="65458" y="166163"/>
                </a:lnTo>
                <a:cubicBezTo>
                  <a:pt x="79368" y="166163"/>
                  <a:pt x="90634" y="154897"/>
                  <a:pt x="90634" y="140987"/>
                </a:cubicBezTo>
                <a:lnTo>
                  <a:pt x="90634" y="135952"/>
                </a:lnTo>
                <a:close/>
                <a:moveTo>
                  <a:pt x="57905" y="35247"/>
                </a:moveTo>
                <a:cubicBezTo>
                  <a:pt x="45380" y="35247"/>
                  <a:pt x="35247" y="45380"/>
                  <a:pt x="35247" y="57905"/>
                </a:cubicBezTo>
                <a:cubicBezTo>
                  <a:pt x="35247" y="62091"/>
                  <a:pt x="31879" y="65458"/>
                  <a:pt x="27694" y="65458"/>
                </a:cubicBezTo>
                <a:cubicBezTo>
                  <a:pt x="23508" y="65458"/>
                  <a:pt x="20141" y="62091"/>
                  <a:pt x="20141" y="57905"/>
                </a:cubicBezTo>
                <a:cubicBezTo>
                  <a:pt x="20141" y="37041"/>
                  <a:pt x="37041" y="20141"/>
                  <a:pt x="57905" y="20141"/>
                </a:cubicBezTo>
                <a:cubicBezTo>
                  <a:pt x="62091" y="20141"/>
                  <a:pt x="65458" y="23508"/>
                  <a:pt x="65458" y="27694"/>
                </a:cubicBezTo>
                <a:cubicBezTo>
                  <a:pt x="65458" y="31879"/>
                  <a:pt x="62091" y="35247"/>
                  <a:pt x="57905" y="3524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854498" y="5963965"/>
            <a:ext cx="10880974" cy="50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269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combinación de estas tres características hace que el Deep Learning sea especialmente poderoso para tareas complejas como reconocimiento de imágenes, procesamiento de lenguaje natural y conducción autónoma.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7c1595ab761373c84241ac2cea44baf43858d65.jp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95363" y="1700213"/>
            <a:ext cx="1743075" cy="428625"/>
          </a:xfrm>
          <a:custGeom>
            <a:avLst/>
            <a:gdLst/>
            <a:ahLst/>
            <a:cxnLst/>
            <a:rect l="l" t="t" r="r" b="b"/>
            <a:pathLst>
              <a:path w="1743075" h="428625">
                <a:moveTo>
                  <a:pt x="214313" y="0"/>
                </a:moveTo>
                <a:lnTo>
                  <a:pt x="1528763" y="0"/>
                </a:lnTo>
                <a:cubicBezTo>
                  <a:pt x="1647045" y="0"/>
                  <a:pt x="1743075" y="96030"/>
                  <a:pt x="1743075" y="214313"/>
                </a:cubicBezTo>
                <a:lnTo>
                  <a:pt x="1743075" y="214313"/>
                </a:lnTo>
                <a:cubicBezTo>
                  <a:pt x="1743075" y="332595"/>
                  <a:pt x="1647045" y="428625"/>
                  <a:pt x="152876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8725" y="1800225"/>
            <a:ext cx="135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0600" y="2438400"/>
            <a:ext cx="60293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90600" y="445770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4819650"/>
            <a:ext cx="5829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5F5F7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Los cuatro pilares del Deep Learning moderno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Artificiales (ANNs)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Artificial Neural Networks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28750"/>
            <a:ext cx="5397500" cy="5762625"/>
          </a:xfrm>
          <a:custGeom>
            <a:avLst/>
            <a:gdLst/>
            <a:ahLst/>
            <a:cxnLst/>
            <a:rect l="l" t="t" r="r" b="b"/>
            <a:pathLst>
              <a:path w="5397500" h="5762625">
                <a:moveTo>
                  <a:pt x="127003" y="0"/>
                </a:moveTo>
                <a:lnTo>
                  <a:pt x="5270497" y="0"/>
                </a:lnTo>
                <a:cubicBezTo>
                  <a:pt x="5340639" y="0"/>
                  <a:pt x="5397500" y="56861"/>
                  <a:pt x="5397500" y="127003"/>
                </a:cubicBezTo>
                <a:lnTo>
                  <a:pt x="5397500" y="5635622"/>
                </a:lnTo>
                <a:cubicBezTo>
                  <a:pt x="5397500" y="5705764"/>
                  <a:pt x="5340639" y="5762625"/>
                  <a:pt x="5270497" y="5762625"/>
                </a:cubicBezTo>
                <a:lnTo>
                  <a:pt x="127003" y="5762625"/>
                </a:lnTo>
                <a:cubicBezTo>
                  <a:pt x="56861" y="5762625"/>
                  <a:pt x="0" y="5705764"/>
                  <a:pt x="0" y="5635622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682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708422" y="1817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1793875"/>
            <a:ext cx="3055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Base del Deep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381250"/>
            <a:ext cx="4968875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ANNs son el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 conceptual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todas las arquitecturas de Deep Learning. Están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inspiradas en el cerebro humano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su estructura biológica de neuronas interconectadas.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345656"/>
            <a:ext cx="4889500" cy="2254250"/>
          </a:xfrm>
          <a:custGeom>
            <a:avLst/>
            <a:gdLst/>
            <a:ahLst/>
            <a:cxnLst/>
            <a:rect l="l" t="t" r="r" b="b"/>
            <a:pathLst>
              <a:path w="4889500" h="2254250">
                <a:moveTo>
                  <a:pt x="95242" y="0"/>
                </a:moveTo>
                <a:lnTo>
                  <a:pt x="4794258" y="0"/>
                </a:lnTo>
                <a:cubicBezTo>
                  <a:pt x="4846859" y="0"/>
                  <a:pt x="4889500" y="42641"/>
                  <a:pt x="4889500" y="95242"/>
                </a:cubicBezTo>
                <a:lnTo>
                  <a:pt x="4889500" y="2159008"/>
                </a:lnTo>
                <a:cubicBezTo>
                  <a:pt x="4889500" y="2211609"/>
                  <a:pt x="4846859" y="2254250"/>
                  <a:pt x="4794258" y="2254250"/>
                </a:cubicBezTo>
                <a:lnTo>
                  <a:pt x="95242" y="2254250"/>
                </a:lnTo>
                <a:cubicBezTo>
                  <a:pt x="42641" y="2254250"/>
                  <a:pt x="0" y="2211609"/>
                  <a:pt x="0" y="2159008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536156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Componentes Principales: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031" y="394890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941090" y="3885406"/>
            <a:ext cx="43973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Neuronas Artificiales: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Unidades de procesamiento que reciben, procesan y transmiten señales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5969" y="448865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959073" y="4425156"/>
            <a:ext cx="4381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Conexiones: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Enlaces ponderados que transmiten información entre neuronas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3906" y="5028406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975072" y="4964906"/>
            <a:ext cx="436562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de Pesos: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Optimización continua para mejorar predicciones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69000" y="1428750"/>
            <a:ext cx="5905500" cy="5762625"/>
          </a:xfrm>
          <a:custGeom>
            <a:avLst/>
            <a:gdLst/>
            <a:ahLst/>
            <a:cxnLst/>
            <a:rect l="l" t="t" r="r" b="b"/>
            <a:pathLst>
              <a:path w="5905500" h="5762625">
                <a:moveTo>
                  <a:pt x="127008" y="0"/>
                </a:moveTo>
                <a:lnTo>
                  <a:pt x="5778492" y="0"/>
                </a:lnTo>
                <a:cubicBezTo>
                  <a:pt x="5848636" y="0"/>
                  <a:pt x="5905500" y="56864"/>
                  <a:pt x="5905500" y="127008"/>
                </a:cubicBezTo>
                <a:lnTo>
                  <a:pt x="5905500" y="5635617"/>
                </a:lnTo>
                <a:cubicBezTo>
                  <a:pt x="5905500" y="5705761"/>
                  <a:pt x="5848636" y="5762625"/>
                  <a:pt x="5778492" y="5762625"/>
                </a:cubicBezTo>
                <a:lnTo>
                  <a:pt x="127008" y="5762625"/>
                </a:lnTo>
                <a:cubicBezTo>
                  <a:pt x="56864" y="5762625"/>
                  <a:pt x="0" y="5705761"/>
                  <a:pt x="0" y="5635617"/>
                </a:cubicBezTo>
                <a:lnTo>
                  <a:pt x="0" y="127008"/>
                </a:lnTo>
                <a:cubicBezTo>
                  <a:pt x="0" y="56864"/>
                  <a:pt x="56864" y="0"/>
                  <a:pt x="127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63469" y="1682750"/>
            <a:ext cx="5516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 una Neurona Artificial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000" y="2222500"/>
            <a:ext cx="5397500" cy="762000"/>
          </a:xfrm>
          <a:custGeom>
            <a:avLst/>
            <a:gdLst/>
            <a:ahLst/>
            <a:cxnLst/>
            <a:rect l="l" t="t" r="r" b="b"/>
            <a:pathLst>
              <a:path w="5397500" h="762000">
                <a:moveTo>
                  <a:pt x="95250" y="0"/>
                </a:moveTo>
                <a:lnTo>
                  <a:pt x="5302250" y="0"/>
                </a:lnTo>
                <a:cubicBezTo>
                  <a:pt x="5354820" y="0"/>
                  <a:pt x="5397500" y="42680"/>
                  <a:pt x="5397500" y="95250"/>
                </a:cubicBezTo>
                <a:lnTo>
                  <a:pt x="5397500" y="666750"/>
                </a:lnTo>
                <a:cubicBezTo>
                  <a:pt x="5397500" y="719320"/>
                  <a:pt x="5354820" y="762000"/>
                  <a:pt x="5302250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1750" y="2381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342063" y="2381250"/>
            <a:ext cx="523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53250" y="2381250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Entradas (Inputs)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250" y="263525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de entrada con pesos asociados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34438" y="314325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000" y="3540125"/>
            <a:ext cx="5397500" cy="762000"/>
          </a:xfrm>
          <a:custGeom>
            <a:avLst/>
            <a:gdLst/>
            <a:ahLst/>
            <a:cxnLst/>
            <a:rect l="l" t="t" r="r" b="b"/>
            <a:pathLst>
              <a:path w="5397500" h="762000">
                <a:moveTo>
                  <a:pt x="95250" y="0"/>
                </a:moveTo>
                <a:lnTo>
                  <a:pt x="5302250" y="0"/>
                </a:lnTo>
                <a:cubicBezTo>
                  <a:pt x="5354820" y="0"/>
                  <a:pt x="5397500" y="42680"/>
                  <a:pt x="5397500" y="95250"/>
                </a:cubicBezTo>
                <a:lnTo>
                  <a:pt x="5397500" y="666750"/>
                </a:lnTo>
                <a:cubicBezTo>
                  <a:pt x="5397500" y="719320"/>
                  <a:pt x="5354820" y="762000"/>
                  <a:pt x="5302250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81750" y="3698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6342063" y="3698875"/>
            <a:ext cx="523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53250" y="369887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Función de Suma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53250" y="395287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Suma ponderada de todas las entradas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834438" y="446087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3000" y="4857750"/>
            <a:ext cx="5397500" cy="762000"/>
          </a:xfrm>
          <a:custGeom>
            <a:avLst/>
            <a:gdLst/>
            <a:ahLst/>
            <a:cxnLst/>
            <a:rect l="l" t="t" r="r" b="b"/>
            <a:pathLst>
              <a:path w="5397500" h="762000">
                <a:moveTo>
                  <a:pt x="95250" y="0"/>
                </a:moveTo>
                <a:lnTo>
                  <a:pt x="5302250" y="0"/>
                </a:lnTo>
                <a:cubicBezTo>
                  <a:pt x="5354820" y="0"/>
                  <a:pt x="5397500" y="42680"/>
                  <a:pt x="5397500" y="95250"/>
                </a:cubicBezTo>
                <a:lnTo>
                  <a:pt x="5397500" y="666750"/>
                </a:lnTo>
                <a:cubicBezTo>
                  <a:pt x="5397500" y="719320"/>
                  <a:pt x="5354820" y="762000"/>
                  <a:pt x="5302250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1750" y="5016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063" y="5016500"/>
            <a:ext cx="523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3250" y="5016500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Función de Activación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53250" y="527050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Introduce no linealidad (ReLU, Sigmoid, Tanh)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34438" y="5778500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78786" y="233753"/>
                </a:moveTo>
                <a:cubicBezTo>
                  <a:pt x="84599" y="239567"/>
                  <a:pt x="94041" y="239567"/>
                  <a:pt x="99854" y="233753"/>
                </a:cubicBezTo>
                <a:lnTo>
                  <a:pt x="174268" y="159339"/>
                </a:lnTo>
                <a:cubicBezTo>
                  <a:pt x="180082" y="153526"/>
                  <a:pt x="180082" y="144084"/>
                  <a:pt x="174268" y="138271"/>
                </a:cubicBezTo>
                <a:cubicBezTo>
                  <a:pt x="168455" y="132457"/>
                  <a:pt x="159014" y="132457"/>
                  <a:pt x="153200" y="138271"/>
                </a:cubicBezTo>
                <a:lnTo>
                  <a:pt x="104180" y="187291"/>
                </a:lnTo>
                <a:lnTo>
                  <a:pt x="104180" y="14883"/>
                </a:lnTo>
                <a:cubicBezTo>
                  <a:pt x="104180" y="6651"/>
                  <a:pt x="97529" y="0"/>
                  <a:pt x="89297" y="0"/>
                </a:cubicBezTo>
                <a:cubicBezTo>
                  <a:pt x="81065" y="0"/>
                  <a:pt x="74414" y="6651"/>
                  <a:pt x="74414" y="14883"/>
                </a:cubicBezTo>
                <a:lnTo>
                  <a:pt x="74414" y="187291"/>
                </a:lnTo>
                <a:lnTo>
                  <a:pt x="25394" y="138271"/>
                </a:lnTo>
                <a:cubicBezTo>
                  <a:pt x="19580" y="132457"/>
                  <a:pt x="10139" y="132457"/>
                  <a:pt x="4325" y="138271"/>
                </a:cubicBezTo>
                <a:cubicBezTo>
                  <a:pt x="-1488" y="144084"/>
                  <a:pt x="-1488" y="153526"/>
                  <a:pt x="4325" y="159339"/>
                </a:cubicBezTo>
                <a:lnTo>
                  <a:pt x="78739" y="23375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3000" y="6175375"/>
            <a:ext cx="5397500" cy="762000"/>
          </a:xfrm>
          <a:custGeom>
            <a:avLst/>
            <a:gdLst/>
            <a:ahLst/>
            <a:cxnLst/>
            <a:rect l="l" t="t" r="r" b="b"/>
            <a:pathLst>
              <a:path w="5397500" h="762000">
                <a:moveTo>
                  <a:pt x="95250" y="0"/>
                </a:moveTo>
                <a:lnTo>
                  <a:pt x="5302250" y="0"/>
                </a:lnTo>
                <a:cubicBezTo>
                  <a:pt x="5354820" y="0"/>
                  <a:pt x="5397500" y="42680"/>
                  <a:pt x="5397500" y="95250"/>
                </a:cubicBezTo>
                <a:lnTo>
                  <a:pt x="5397500" y="666750"/>
                </a:lnTo>
                <a:cubicBezTo>
                  <a:pt x="5397500" y="719320"/>
                  <a:pt x="5354820" y="762000"/>
                  <a:pt x="5302250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6381750" y="6334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42063" y="6334125"/>
            <a:ext cx="52387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3250" y="633412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Salida (Output)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3250" y="6588125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 procesado enviado a la siguiente capa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Convolucionales (CNNs)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Convolutional Neural Networks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28750"/>
            <a:ext cx="5937250" cy="3508375"/>
          </a:xfrm>
          <a:custGeom>
            <a:avLst/>
            <a:gdLst/>
            <a:ahLst/>
            <a:cxnLst/>
            <a:rect l="l" t="t" r="r" b="b"/>
            <a:pathLst>
              <a:path w="5937250" h="3508375">
                <a:moveTo>
                  <a:pt x="127003" y="0"/>
                </a:moveTo>
                <a:lnTo>
                  <a:pt x="5810247" y="0"/>
                </a:lnTo>
                <a:cubicBezTo>
                  <a:pt x="5880389" y="0"/>
                  <a:pt x="5937250" y="56861"/>
                  <a:pt x="5937250" y="127003"/>
                </a:cubicBezTo>
                <a:lnTo>
                  <a:pt x="5937250" y="3381372"/>
                </a:lnTo>
                <a:cubicBezTo>
                  <a:pt x="5937250" y="3451514"/>
                  <a:pt x="5880389" y="3508375"/>
                  <a:pt x="5810247" y="3508375"/>
                </a:cubicBezTo>
                <a:lnTo>
                  <a:pt x="127003" y="3508375"/>
                </a:lnTo>
                <a:cubicBezTo>
                  <a:pt x="56861" y="3508375"/>
                  <a:pt x="0" y="3451514"/>
                  <a:pt x="0" y="3381372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682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723305" y="1817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59531" y="52090"/>
                </a:moveTo>
                <a:cubicBezTo>
                  <a:pt x="71852" y="52090"/>
                  <a:pt x="81855" y="62093"/>
                  <a:pt x="81855" y="74414"/>
                </a:cubicBezTo>
                <a:cubicBezTo>
                  <a:pt x="81855" y="86735"/>
                  <a:pt x="71852" y="96738"/>
                  <a:pt x="59531" y="96738"/>
                </a:cubicBezTo>
                <a:cubicBezTo>
                  <a:pt x="47210" y="96738"/>
                  <a:pt x="37207" y="86735"/>
                  <a:pt x="37207" y="74414"/>
                </a:cubicBezTo>
                <a:cubicBezTo>
                  <a:pt x="37207" y="62093"/>
                  <a:pt x="47210" y="52090"/>
                  <a:pt x="59531" y="52090"/>
                </a:cubicBezTo>
                <a:close/>
                <a:moveTo>
                  <a:pt x="126504" y="104180"/>
                </a:moveTo>
                <a:cubicBezTo>
                  <a:pt x="130411" y="104180"/>
                  <a:pt x="133992" y="106226"/>
                  <a:pt x="136038" y="109528"/>
                </a:cubicBezTo>
                <a:lnTo>
                  <a:pt x="176966" y="176501"/>
                </a:lnTo>
                <a:cubicBezTo>
                  <a:pt x="179059" y="179943"/>
                  <a:pt x="179152" y="184268"/>
                  <a:pt x="177198" y="187802"/>
                </a:cubicBezTo>
                <a:cubicBezTo>
                  <a:pt x="175245" y="191337"/>
                  <a:pt x="171478" y="193477"/>
                  <a:pt x="167432" y="193477"/>
                </a:cubicBezTo>
                <a:lnTo>
                  <a:pt x="40928" y="193477"/>
                </a:lnTo>
                <a:cubicBezTo>
                  <a:pt x="36788" y="193477"/>
                  <a:pt x="32928" y="191151"/>
                  <a:pt x="31021" y="187477"/>
                </a:cubicBezTo>
                <a:cubicBezTo>
                  <a:pt x="29115" y="183803"/>
                  <a:pt x="29394" y="179338"/>
                  <a:pt x="31766" y="175943"/>
                </a:cubicBezTo>
                <a:lnTo>
                  <a:pt x="57810" y="138736"/>
                </a:lnTo>
                <a:cubicBezTo>
                  <a:pt x="59903" y="135759"/>
                  <a:pt x="63298" y="133992"/>
                  <a:pt x="66973" y="133992"/>
                </a:cubicBezTo>
                <a:cubicBezTo>
                  <a:pt x="70647" y="133992"/>
                  <a:pt x="74042" y="135759"/>
                  <a:pt x="76135" y="138736"/>
                </a:cubicBezTo>
                <a:lnTo>
                  <a:pt x="88413" y="156316"/>
                </a:lnTo>
                <a:lnTo>
                  <a:pt x="116970" y="109575"/>
                </a:lnTo>
                <a:cubicBezTo>
                  <a:pt x="119016" y="106273"/>
                  <a:pt x="122597" y="104226"/>
                  <a:pt x="126504" y="1042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1793875"/>
            <a:ext cx="315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Especializadas en Imágenes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381250"/>
            <a:ext cx="5508625" cy="77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CNNs están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diseñadas específicamente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el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 imágenes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visión por computadora. Utilizan operaciones de convolución para detectar patrones visuales jerárquicos.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345656"/>
            <a:ext cx="2651125" cy="1333500"/>
          </a:xfrm>
          <a:custGeom>
            <a:avLst/>
            <a:gdLst/>
            <a:ahLst/>
            <a:cxnLst/>
            <a:rect l="l" t="t" r="r" b="b"/>
            <a:pathLst>
              <a:path w="2651125" h="1333500">
                <a:moveTo>
                  <a:pt x="95252" y="0"/>
                </a:moveTo>
                <a:lnTo>
                  <a:pt x="2555873" y="0"/>
                </a:lnTo>
                <a:cubicBezTo>
                  <a:pt x="2608479" y="0"/>
                  <a:pt x="2651125" y="42646"/>
                  <a:pt x="2651125" y="95252"/>
                </a:cubicBezTo>
                <a:lnTo>
                  <a:pt x="2651125" y="1238248"/>
                </a:lnTo>
                <a:cubicBezTo>
                  <a:pt x="2651125" y="1290854"/>
                  <a:pt x="2608479" y="1333500"/>
                  <a:pt x="2555873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30250" y="3504406"/>
            <a:ext cx="240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 Principales: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250" y="3821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Capas Convolucionales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0250" y="4075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Capas de Pooling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0250" y="4329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Capas Fully Connected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49625" y="3345656"/>
            <a:ext cx="2651125" cy="1333500"/>
          </a:xfrm>
          <a:custGeom>
            <a:avLst/>
            <a:gdLst/>
            <a:ahLst/>
            <a:cxnLst/>
            <a:rect l="l" t="t" r="r" b="b"/>
            <a:pathLst>
              <a:path w="2651125" h="1333500">
                <a:moveTo>
                  <a:pt x="95252" y="0"/>
                </a:moveTo>
                <a:lnTo>
                  <a:pt x="2555873" y="0"/>
                </a:lnTo>
                <a:cubicBezTo>
                  <a:pt x="2608479" y="0"/>
                  <a:pt x="2651125" y="42646"/>
                  <a:pt x="2651125" y="95252"/>
                </a:cubicBezTo>
                <a:lnTo>
                  <a:pt x="2651125" y="1238248"/>
                </a:lnTo>
                <a:cubicBezTo>
                  <a:pt x="2651125" y="1290854"/>
                  <a:pt x="2608479" y="1333500"/>
                  <a:pt x="2555873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3508375" y="3504406"/>
            <a:ext cx="240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8375" y="3821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Invarianza espacial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8375" y="4075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Compartición de pesos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8375" y="4329906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Jerarquía de características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7500" y="5123656"/>
            <a:ext cx="5937250" cy="1428750"/>
          </a:xfrm>
          <a:custGeom>
            <a:avLst/>
            <a:gdLst/>
            <a:ahLst/>
            <a:cxnLst/>
            <a:rect l="l" t="t" r="r" b="b"/>
            <a:pathLst>
              <a:path w="5937250" h="1428750">
                <a:moveTo>
                  <a:pt x="127002" y="0"/>
                </a:moveTo>
                <a:lnTo>
                  <a:pt x="5810248" y="0"/>
                </a:lnTo>
                <a:cubicBezTo>
                  <a:pt x="5880389" y="0"/>
                  <a:pt x="5937250" y="56861"/>
                  <a:pt x="5937250" y="127002"/>
                </a:cubicBezTo>
                <a:lnTo>
                  <a:pt x="5937250" y="1301748"/>
                </a:lnTo>
                <a:cubicBezTo>
                  <a:pt x="5937250" y="1371889"/>
                  <a:pt x="5880389" y="1428750"/>
                  <a:pt x="5810248" y="1428750"/>
                </a:cubicBezTo>
                <a:lnTo>
                  <a:pt x="127002" y="1428750"/>
                </a:lnTo>
                <a:cubicBezTo>
                  <a:pt x="56861" y="1428750"/>
                  <a:pt x="0" y="1371889"/>
                  <a:pt x="0" y="1301748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7688" y="534590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5969" y="5314156"/>
            <a:ext cx="53776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¿Por qué son efectivas?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000" y="5663406"/>
            <a:ext cx="56276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CNNs pueden detectar automáticamente características visuales como bordes, texturas, formas y objetos complejos directamente desde los píxeles de la imagen, sin necesidad de extracción manual de características.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08750" y="1428750"/>
            <a:ext cx="5365750" cy="5119688"/>
          </a:xfrm>
          <a:custGeom>
            <a:avLst/>
            <a:gdLst/>
            <a:ahLst/>
            <a:cxnLst/>
            <a:rect l="l" t="t" r="r" b="b"/>
            <a:pathLst>
              <a:path w="5365750" h="5119688">
                <a:moveTo>
                  <a:pt x="127019" y="0"/>
                </a:moveTo>
                <a:lnTo>
                  <a:pt x="5238731" y="0"/>
                </a:lnTo>
                <a:cubicBezTo>
                  <a:pt x="5308881" y="0"/>
                  <a:pt x="5365750" y="56869"/>
                  <a:pt x="5365750" y="127019"/>
                </a:cubicBezTo>
                <a:lnTo>
                  <a:pt x="5365750" y="4992668"/>
                </a:lnTo>
                <a:cubicBezTo>
                  <a:pt x="5365750" y="5062819"/>
                  <a:pt x="5308881" y="5119688"/>
                  <a:pt x="5238731" y="5119688"/>
                </a:cubicBezTo>
                <a:lnTo>
                  <a:pt x="127019" y="5119688"/>
                </a:lnTo>
                <a:cubicBezTo>
                  <a:pt x="56869" y="5119688"/>
                  <a:pt x="0" y="5062819"/>
                  <a:pt x="0" y="4992668"/>
                </a:cubicBezTo>
                <a:lnTo>
                  <a:pt x="0" y="127019"/>
                </a:lnTo>
                <a:cubicBezTo>
                  <a:pt x="0" y="56869"/>
                  <a:pt x="56869" y="0"/>
                  <a:pt x="1270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03219" y="1682750"/>
            <a:ext cx="497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Principales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62750" y="2215803"/>
            <a:ext cx="4857750" cy="825500"/>
          </a:xfrm>
          <a:custGeom>
            <a:avLst/>
            <a:gdLst/>
            <a:ahLst/>
            <a:cxnLst/>
            <a:rect l="l" t="t" r="r" b="b"/>
            <a:pathLst>
              <a:path w="4857750" h="825500">
                <a:moveTo>
                  <a:pt x="95246" y="0"/>
                </a:moveTo>
                <a:lnTo>
                  <a:pt x="4762504" y="0"/>
                </a:lnTo>
                <a:cubicBezTo>
                  <a:pt x="4815107" y="0"/>
                  <a:pt x="4857750" y="42643"/>
                  <a:pt x="4857750" y="95246"/>
                </a:cubicBezTo>
                <a:lnTo>
                  <a:pt x="4857750" y="730254"/>
                </a:lnTo>
                <a:cubicBezTo>
                  <a:pt x="4857750" y="782857"/>
                  <a:pt x="4815107" y="825500"/>
                  <a:pt x="4762504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921500" y="237455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058422" y="250949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85570" y="178687"/>
                </a:moveTo>
                <a:cubicBezTo>
                  <a:pt x="175292" y="160827"/>
                  <a:pt x="155990" y="148828"/>
                  <a:pt x="133945" y="148828"/>
                </a:cubicBezTo>
                <a:lnTo>
                  <a:pt x="104180" y="148828"/>
                </a:lnTo>
                <a:cubicBezTo>
                  <a:pt x="82135" y="148828"/>
                  <a:pt x="62833" y="160827"/>
                  <a:pt x="52555" y="178687"/>
                </a:cubicBezTo>
                <a:cubicBezTo>
                  <a:pt x="68926" y="196918"/>
                  <a:pt x="92646" y="208359"/>
                  <a:pt x="119062" y="208359"/>
                </a:cubicBezTo>
                <a:cubicBezTo>
                  <a:pt x="145479" y="208359"/>
                  <a:pt x="169199" y="196872"/>
                  <a:pt x="185570" y="178687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19062" y="126504"/>
                </a:moveTo>
                <a:cubicBezTo>
                  <a:pt x="137544" y="126504"/>
                  <a:pt x="152549" y="111499"/>
                  <a:pt x="152549" y="93018"/>
                </a:cubicBezTo>
                <a:cubicBezTo>
                  <a:pt x="152549" y="74536"/>
                  <a:pt x="137544" y="59531"/>
                  <a:pt x="119062" y="59531"/>
                </a:cubicBezTo>
                <a:cubicBezTo>
                  <a:pt x="100581" y="59531"/>
                  <a:pt x="85576" y="74536"/>
                  <a:pt x="85576" y="93018"/>
                </a:cubicBezTo>
                <a:cubicBezTo>
                  <a:pt x="85576" y="111499"/>
                  <a:pt x="100581" y="126504"/>
                  <a:pt x="119062" y="1265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588250" y="2406303"/>
            <a:ext cx="395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Facial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88250" y="2660303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biométrica y seguridad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2750" y="3281908"/>
            <a:ext cx="4857750" cy="825500"/>
          </a:xfrm>
          <a:custGeom>
            <a:avLst/>
            <a:gdLst/>
            <a:ahLst/>
            <a:cxnLst/>
            <a:rect l="l" t="t" r="r" b="b"/>
            <a:pathLst>
              <a:path w="4857750" h="825500">
                <a:moveTo>
                  <a:pt x="95246" y="0"/>
                </a:moveTo>
                <a:lnTo>
                  <a:pt x="4762504" y="0"/>
                </a:lnTo>
                <a:cubicBezTo>
                  <a:pt x="4815107" y="0"/>
                  <a:pt x="4857750" y="42643"/>
                  <a:pt x="4857750" y="95246"/>
                </a:cubicBezTo>
                <a:lnTo>
                  <a:pt x="4857750" y="730254"/>
                </a:lnTo>
                <a:cubicBezTo>
                  <a:pt x="4857750" y="782857"/>
                  <a:pt x="4815107" y="825500"/>
                  <a:pt x="4762504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1500" y="344065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7058422" y="357559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9766"/>
                </a:moveTo>
                <a:cubicBezTo>
                  <a:pt x="0" y="21534"/>
                  <a:pt x="6651" y="14883"/>
                  <a:pt x="14883" y="14883"/>
                </a:cubicBezTo>
                <a:lnTo>
                  <a:pt x="223242" y="14883"/>
                </a:lnTo>
                <a:cubicBezTo>
                  <a:pt x="231474" y="14883"/>
                  <a:pt x="238125" y="21534"/>
                  <a:pt x="238125" y="29766"/>
                </a:cubicBezTo>
                <a:cubicBezTo>
                  <a:pt x="238125" y="37998"/>
                  <a:pt x="231474" y="44648"/>
                  <a:pt x="223242" y="44648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14883" y="223242"/>
                </a:lnTo>
                <a:cubicBezTo>
                  <a:pt x="6651" y="223242"/>
                  <a:pt x="0" y="216591"/>
                  <a:pt x="0" y="208359"/>
                </a:cubicBezTo>
                <a:cubicBezTo>
                  <a:pt x="0" y="200127"/>
                  <a:pt x="6651" y="193477"/>
                  <a:pt x="14883" y="193477"/>
                </a:cubicBezTo>
                <a:lnTo>
                  <a:pt x="14883" y="44648"/>
                </a:lnTo>
                <a:cubicBezTo>
                  <a:pt x="6651" y="44648"/>
                  <a:pt x="0" y="37998"/>
                  <a:pt x="0" y="29766"/>
                </a:cubicBezTo>
                <a:close/>
                <a:moveTo>
                  <a:pt x="130225" y="55811"/>
                </a:moveTo>
                <a:cubicBezTo>
                  <a:pt x="130225" y="49625"/>
                  <a:pt x="125248" y="44648"/>
                  <a:pt x="119062" y="44648"/>
                </a:cubicBezTo>
                <a:cubicBezTo>
                  <a:pt x="112877" y="44648"/>
                  <a:pt x="107900" y="49625"/>
                  <a:pt x="107900" y="55811"/>
                </a:cubicBezTo>
                <a:lnTo>
                  <a:pt x="107900" y="63252"/>
                </a:lnTo>
                <a:lnTo>
                  <a:pt x="78135" y="63252"/>
                </a:lnTo>
                <a:cubicBezTo>
                  <a:pt x="71949" y="63252"/>
                  <a:pt x="66973" y="68228"/>
                  <a:pt x="66973" y="74414"/>
                </a:cubicBezTo>
                <a:cubicBezTo>
                  <a:pt x="66973" y="80600"/>
                  <a:pt x="71949" y="85576"/>
                  <a:pt x="78135" y="85576"/>
                </a:cubicBezTo>
                <a:lnTo>
                  <a:pt x="107900" y="85576"/>
                </a:lnTo>
                <a:lnTo>
                  <a:pt x="107900" y="107900"/>
                </a:lnTo>
                <a:lnTo>
                  <a:pt x="70693" y="107900"/>
                </a:lnTo>
                <a:cubicBezTo>
                  <a:pt x="64508" y="107900"/>
                  <a:pt x="59531" y="112877"/>
                  <a:pt x="59531" y="119062"/>
                </a:cubicBezTo>
                <a:cubicBezTo>
                  <a:pt x="59531" y="125248"/>
                  <a:pt x="64508" y="130225"/>
                  <a:pt x="70693" y="130225"/>
                </a:cubicBezTo>
                <a:lnTo>
                  <a:pt x="107900" y="130225"/>
                </a:lnTo>
                <a:lnTo>
                  <a:pt x="107900" y="152549"/>
                </a:lnTo>
                <a:lnTo>
                  <a:pt x="78135" y="152549"/>
                </a:lnTo>
                <a:cubicBezTo>
                  <a:pt x="71949" y="152549"/>
                  <a:pt x="66973" y="157525"/>
                  <a:pt x="66973" y="163711"/>
                </a:cubicBezTo>
                <a:cubicBezTo>
                  <a:pt x="66973" y="169897"/>
                  <a:pt x="71949" y="174873"/>
                  <a:pt x="78135" y="174873"/>
                </a:cubicBezTo>
                <a:lnTo>
                  <a:pt x="107900" y="174873"/>
                </a:lnTo>
                <a:lnTo>
                  <a:pt x="107900" y="182314"/>
                </a:lnTo>
                <a:cubicBezTo>
                  <a:pt x="107900" y="188500"/>
                  <a:pt x="112877" y="193477"/>
                  <a:pt x="119062" y="193477"/>
                </a:cubicBezTo>
                <a:cubicBezTo>
                  <a:pt x="125248" y="193477"/>
                  <a:pt x="130225" y="188500"/>
                  <a:pt x="130225" y="182314"/>
                </a:cubicBezTo>
                <a:lnTo>
                  <a:pt x="130225" y="174873"/>
                </a:lnTo>
                <a:lnTo>
                  <a:pt x="159990" y="174873"/>
                </a:lnTo>
                <a:cubicBezTo>
                  <a:pt x="166176" y="174873"/>
                  <a:pt x="171152" y="169897"/>
                  <a:pt x="171152" y="163711"/>
                </a:cubicBezTo>
                <a:cubicBezTo>
                  <a:pt x="171152" y="157525"/>
                  <a:pt x="166176" y="152549"/>
                  <a:pt x="159990" y="152549"/>
                </a:cubicBezTo>
                <a:lnTo>
                  <a:pt x="130225" y="152549"/>
                </a:lnTo>
                <a:lnTo>
                  <a:pt x="130225" y="130225"/>
                </a:lnTo>
                <a:lnTo>
                  <a:pt x="167432" y="130225"/>
                </a:lnTo>
                <a:cubicBezTo>
                  <a:pt x="173617" y="130225"/>
                  <a:pt x="178594" y="125248"/>
                  <a:pt x="178594" y="119062"/>
                </a:cubicBezTo>
                <a:cubicBezTo>
                  <a:pt x="178594" y="112877"/>
                  <a:pt x="173617" y="107900"/>
                  <a:pt x="167432" y="107900"/>
                </a:cubicBezTo>
                <a:lnTo>
                  <a:pt x="130225" y="107900"/>
                </a:lnTo>
                <a:lnTo>
                  <a:pt x="130225" y="85576"/>
                </a:lnTo>
                <a:lnTo>
                  <a:pt x="159990" y="85576"/>
                </a:lnTo>
                <a:cubicBezTo>
                  <a:pt x="166176" y="85576"/>
                  <a:pt x="171152" y="80600"/>
                  <a:pt x="171152" y="74414"/>
                </a:cubicBezTo>
                <a:cubicBezTo>
                  <a:pt x="171152" y="68228"/>
                  <a:pt x="166176" y="63252"/>
                  <a:pt x="159990" y="63252"/>
                </a:cubicBezTo>
                <a:lnTo>
                  <a:pt x="130225" y="63252"/>
                </a:lnTo>
                <a:lnTo>
                  <a:pt x="130225" y="558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88250" y="3472408"/>
            <a:ext cx="395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88250" y="3726408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imágenes médicas (rayos X, MRI)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2750" y="4348014"/>
            <a:ext cx="4857750" cy="825500"/>
          </a:xfrm>
          <a:custGeom>
            <a:avLst/>
            <a:gdLst/>
            <a:ahLst/>
            <a:cxnLst/>
            <a:rect l="l" t="t" r="r" b="b"/>
            <a:pathLst>
              <a:path w="4857750" h="825500">
                <a:moveTo>
                  <a:pt x="95246" y="0"/>
                </a:moveTo>
                <a:lnTo>
                  <a:pt x="4762504" y="0"/>
                </a:lnTo>
                <a:cubicBezTo>
                  <a:pt x="4815107" y="0"/>
                  <a:pt x="4857750" y="42643"/>
                  <a:pt x="4857750" y="95246"/>
                </a:cubicBezTo>
                <a:lnTo>
                  <a:pt x="4857750" y="730254"/>
                </a:lnTo>
                <a:cubicBezTo>
                  <a:pt x="4857750" y="782857"/>
                  <a:pt x="4815107" y="825500"/>
                  <a:pt x="4762504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921500" y="450676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7058422" y="464170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62880" y="54601"/>
                </a:moveTo>
                <a:lnTo>
                  <a:pt x="50741" y="89297"/>
                </a:lnTo>
                <a:lnTo>
                  <a:pt x="187384" y="89297"/>
                </a:lnTo>
                <a:lnTo>
                  <a:pt x="175245" y="54601"/>
                </a:lnTo>
                <a:cubicBezTo>
                  <a:pt x="173152" y="48648"/>
                  <a:pt x="167525" y="44648"/>
                  <a:pt x="161199" y="44648"/>
                </a:cubicBezTo>
                <a:lnTo>
                  <a:pt x="76926" y="44648"/>
                </a:lnTo>
                <a:cubicBezTo>
                  <a:pt x="70600" y="44648"/>
                  <a:pt x="64973" y="48648"/>
                  <a:pt x="62880" y="54601"/>
                </a:cubicBezTo>
                <a:close/>
                <a:moveTo>
                  <a:pt x="18417" y="91529"/>
                </a:moveTo>
                <a:lnTo>
                  <a:pt x="34789" y="44788"/>
                </a:lnTo>
                <a:cubicBezTo>
                  <a:pt x="41067" y="26882"/>
                  <a:pt x="57950" y="14883"/>
                  <a:pt x="76926" y="14883"/>
                </a:cubicBezTo>
                <a:lnTo>
                  <a:pt x="161199" y="14883"/>
                </a:lnTo>
                <a:cubicBezTo>
                  <a:pt x="180175" y="14883"/>
                  <a:pt x="197058" y="26882"/>
                  <a:pt x="203336" y="44788"/>
                </a:cubicBezTo>
                <a:lnTo>
                  <a:pt x="219708" y="91529"/>
                </a:lnTo>
                <a:cubicBezTo>
                  <a:pt x="230498" y="95994"/>
                  <a:pt x="238125" y="106645"/>
                  <a:pt x="238125" y="119062"/>
                </a:cubicBezTo>
                <a:lnTo>
                  <a:pt x="238125" y="208359"/>
                </a:lnTo>
                <a:cubicBezTo>
                  <a:pt x="238125" y="216591"/>
                  <a:pt x="231474" y="223242"/>
                  <a:pt x="223242" y="223242"/>
                </a:cubicBezTo>
                <a:lnTo>
                  <a:pt x="208359" y="223242"/>
                </a:lnTo>
                <a:cubicBezTo>
                  <a:pt x="200127" y="223242"/>
                  <a:pt x="193477" y="216591"/>
                  <a:pt x="193477" y="208359"/>
                </a:cubicBezTo>
                <a:lnTo>
                  <a:pt x="193477" y="193477"/>
                </a:lnTo>
                <a:lnTo>
                  <a:pt x="44648" y="193477"/>
                </a:lnTo>
                <a:lnTo>
                  <a:pt x="44648" y="208359"/>
                </a:lnTo>
                <a:cubicBezTo>
                  <a:pt x="44648" y="216591"/>
                  <a:pt x="37998" y="223242"/>
                  <a:pt x="29766" y="223242"/>
                </a:cubicBezTo>
                <a:lnTo>
                  <a:pt x="14883" y="223242"/>
                </a:lnTo>
                <a:cubicBezTo>
                  <a:pt x="6651" y="223242"/>
                  <a:pt x="0" y="216591"/>
                  <a:pt x="0" y="208359"/>
                </a:cubicBezTo>
                <a:lnTo>
                  <a:pt x="0" y="119062"/>
                </a:lnTo>
                <a:cubicBezTo>
                  <a:pt x="0" y="106645"/>
                  <a:pt x="7627" y="95994"/>
                  <a:pt x="18417" y="91529"/>
                </a:cubicBezTo>
                <a:close/>
                <a:moveTo>
                  <a:pt x="59531" y="141387"/>
                </a:moveTo>
                <a:cubicBezTo>
                  <a:pt x="59531" y="133173"/>
                  <a:pt x="52862" y="126504"/>
                  <a:pt x="44648" y="126504"/>
                </a:cubicBezTo>
                <a:cubicBezTo>
                  <a:pt x="36434" y="126504"/>
                  <a:pt x="29766" y="133173"/>
                  <a:pt x="29766" y="141387"/>
                </a:cubicBezTo>
                <a:cubicBezTo>
                  <a:pt x="29766" y="149601"/>
                  <a:pt x="36434" y="156270"/>
                  <a:pt x="44648" y="156270"/>
                </a:cubicBezTo>
                <a:cubicBezTo>
                  <a:pt x="52862" y="156270"/>
                  <a:pt x="59531" y="149601"/>
                  <a:pt x="59531" y="141387"/>
                </a:cubicBezTo>
                <a:close/>
                <a:moveTo>
                  <a:pt x="193477" y="156270"/>
                </a:moveTo>
                <a:cubicBezTo>
                  <a:pt x="201691" y="156270"/>
                  <a:pt x="208359" y="149601"/>
                  <a:pt x="208359" y="141387"/>
                </a:cubicBezTo>
                <a:cubicBezTo>
                  <a:pt x="208359" y="133173"/>
                  <a:pt x="201691" y="126504"/>
                  <a:pt x="193477" y="126504"/>
                </a:cubicBezTo>
                <a:cubicBezTo>
                  <a:pt x="185263" y="126504"/>
                  <a:pt x="178594" y="133173"/>
                  <a:pt x="178594" y="141387"/>
                </a:cubicBezTo>
                <a:cubicBezTo>
                  <a:pt x="178594" y="149601"/>
                  <a:pt x="185263" y="156270"/>
                  <a:pt x="193477" y="1562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588250" y="4538514"/>
            <a:ext cx="395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Objetos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88250" y="4792514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Vehículos autónomos y vigilancia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62750" y="5414119"/>
            <a:ext cx="4857750" cy="825500"/>
          </a:xfrm>
          <a:custGeom>
            <a:avLst/>
            <a:gdLst/>
            <a:ahLst/>
            <a:cxnLst/>
            <a:rect l="l" t="t" r="r" b="b"/>
            <a:pathLst>
              <a:path w="4857750" h="825500">
                <a:moveTo>
                  <a:pt x="95246" y="0"/>
                </a:moveTo>
                <a:lnTo>
                  <a:pt x="4762504" y="0"/>
                </a:lnTo>
                <a:cubicBezTo>
                  <a:pt x="4815107" y="0"/>
                  <a:pt x="4857750" y="42643"/>
                  <a:pt x="4857750" y="95246"/>
                </a:cubicBezTo>
                <a:lnTo>
                  <a:pt x="4857750" y="730254"/>
                </a:lnTo>
                <a:cubicBezTo>
                  <a:pt x="4857750" y="782857"/>
                  <a:pt x="4815107" y="825500"/>
                  <a:pt x="4762504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6921500" y="557286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Shape 41"/>
          <p:cNvSpPr/>
          <p:nvPr/>
        </p:nvSpPr>
        <p:spPr>
          <a:xfrm>
            <a:off x="7058422" y="570780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69345" y="30138"/>
                </a:moveTo>
                <a:lnTo>
                  <a:pt x="64508" y="44648"/>
                </a:lnTo>
                <a:lnTo>
                  <a:pt x="29766" y="44648"/>
                </a:lnTo>
                <a:cubicBezTo>
                  <a:pt x="13348" y="44648"/>
                  <a:pt x="0" y="57996"/>
                  <a:pt x="0" y="74414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208359" y="223242"/>
                </a:lnTo>
                <a:cubicBezTo>
                  <a:pt x="224777" y="223242"/>
                  <a:pt x="238125" y="209894"/>
                  <a:pt x="238125" y="193477"/>
                </a:cubicBezTo>
                <a:lnTo>
                  <a:pt x="238125" y="74414"/>
                </a:lnTo>
                <a:cubicBezTo>
                  <a:pt x="238125" y="57996"/>
                  <a:pt x="224777" y="44648"/>
                  <a:pt x="208359" y="44648"/>
                </a:cubicBezTo>
                <a:lnTo>
                  <a:pt x="173617" y="44648"/>
                </a:lnTo>
                <a:lnTo>
                  <a:pt x="168780" y="30138"/>
                </a:lnTo>
                <a:cubicBezTo>
                  <a:pt x="165757" y="21022"/>
                  <a:pt x="157246" y="14883"/>
                  <a:pt x="147619" y="14883"/>
                </a:cubicBezTo>
                <a:lnTo>
                  <a:pt x="90506" y="14883"/>
                </a:lnTo>
                <a:cubicBezTo>
                  <a:pt x="80879" y="14883"/>
                  <a:pt x="72368" y="21022"/>
                  <a:pt x="69345" y="30138"/>
                </a:cubicBezTo>
                <a:close/>
                <a:moveTo>
                  <a:pt x="119062" y="89297"/>
                </a:moveTo>
                <a:cubicBezTo>
                  <a:pt x="143705" y="89297"/>
                  <a:pt x="163711" y="109303"/>
                  <a:pt x="163711" y="133945"/>
                </a:cubicBezTo>
                <a:cubicBezTo>
                  <a:pt x="163711" y="158587"/>
                  <a:pt x="143705" y="178594"/>
                  <a:pt x="119062" y="178594"/>
                </a:cubicBezTo>
                <a:cubicBezTo>
                  <a:pt x="94420" y="178594"/>
                  <a:pt x="74414" y="158587"/>
                  <a:pt x="74414" y="133945"/>
                </a:cubicBezTo>
                <a:cubicBezTo>
                  <a:pt x="74414" y="109303"/>
                  <a:pt x="94420" y="89297"/>
                  <a:pt x="11906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588250" y="5604619"/>
            <a:ext cx="395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Visión por Computadora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88250" y="5858619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imágenes y segmentación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Recurrentes (RNNs)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Recurrent Neural Networks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28750"/>
            <a:ext cx="5397500" cy="4460875"/>
          </a:xfrm>
          <a:custGeom>
            <a:avLst/>
            <a:gdLst/>
            <a:ahLst/>
            <a:cxnLst/>
            <a:rect l="l" t="t" r="r" b="b"/>
            <a:pathLst>
              <a:path w="5397500" h="4460875">
                <a:moveTo>
                  <a:pt x="127001" y="0"/>
                </a:moveTo>
                <a:lnTo>
                  <a:pt x="5270499" y="0"/>
                </a:lnTo>
                <a:cubicBezTo>
                  <a:pt x="5340640" y="0"/>
                  <a:pt x="5397500" y="56860"/>
                  <a:pt x="5397500" y="127001"/>
                </a:cubicBezTo>
                <a:lnTo>
                  <a:pt x="5397500" y="4333874"/>
                </a:lnTo>
                <a:cubicBezTo>
                  <a:pt x="5397500" y="4404015"/>
                  <a:pt x="5340640" y="4460875"/>
                  <a:pt x="5270499" y="4460875"/>
                </a:cubicBezTo>
                <a:lnTo>
                  <a:pt x="127001" y="4460875"/>
                </a:lnTo>
                <a:cubicBezTo>
                  <a:pt x="56860" y="4460875"/>
                  <a:pt x="0" y="4404015"/>
                  <a:pt x="0" y="4333874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682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708422" y="1817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3"/>
                </a:cubicBezTo>
                <a:cubicBezTo>
                  <a:pt x="0" y="53350"/>
                  <a:pt x="53350" y="0"/>
                  <a:pt x="119062" y="0"/>
                </a:cubicBezTo>
                <a:close/>
                <a:moveTo>
                  <a:pt x="107900" y="55811"/>
                </a:moveTo>
                <a:lnTo>
                  <a:pt x="107900" y="119062"/>
                </a:lnTo>
                <a:cubicBezTo>
                  <a:pt x="107900" y="122783"/>
                  <a:pt x="109761" y="126271"/>
                  <a:pt x="112877" y="128364"/>
                </a:cubicBezTo>
                <a:lnTo>
                  <a:pt x="157525" y="158130"/>
                </a:lnTo>
                <a:cubicBezTo>
                  <a:pt x="162641" y="161572"/>
                  <a:pt x="169571" y="160176"/>
                  <a:pt x="173013" y="155014"/>
                </a:cubicBezTo>
                <a:cubicBezTo>
                  <a:pt x="176454" y="149851"/>
                  <a:pt x="175059" y="142968"/>
                  <a:pt x="169897" y="139526"/>
                </a:cubicBezTo>
                <a:lnTo>
                  <a:pt x="130225" y="113109"/>
                </a:lnTo>
                <a:lnTo>
                  <a:pt x="130225" y="55811"/>
                </a:lnTo>
                <a:cubicBezTo>
                  <a:pt x="130225" y="49625"/>
                  <a:pt x="125248" y="44648"/>
                  <a:pt x="119062" y="44648"/>
                </a:cubicBezTo>
                <a:cubicBezTo>
                  <a:pt x="112877" y="44648"/>
                  <a:pt x="107900" y="49625"/>
                  <a:pt x="107900" y="558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1793875"/>
            <a:ext cx="2246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Secuenciales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381250"/>
            <a:ext cx="4968875" cy="103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RNNs están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diseñadas específicamente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manejar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datos secuenciales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dependencias temporales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A diferencia de las redes tradicionales, las RNNs tienen memoria interna que les permite procesar secuencias de entradas.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603625"/>
            <a:ext cx="4889500" cy="2032000"/>
          </a:xfrm>
          <a:custGeom>
            <a:avLst/>
            <a:gdLst/>
            <a:ahLst/>
            <a:cxnLst/>
            <a:rect l="l" t="t" r="r" b="b"/>
            <a:pathLst>
              <a:path w="4889500" h="2032000">
                <a:moveTo>
                  <a:pt x="95260" y="0"/>
                </a:moveTo>
                <a:lnTo>
                  <a:pt x="4794240" y="0"/>
                </a:lnTo>
                <a:cubicBezTo>
                  <a:pt x="4846851" y="0"/>
                  <a:pt x="4889500" y="42649"/>
                  <a:pt x="4889500" y="95260"/>
                </a:cubicBezTo>
                <a:lnTo>
                  <a:pt x="4889500" y="1936740"/>
                </a:lnTo>
                <a:cubicBezTo>
                  <a:pt x="4889500" y="1989351"/>
                  <a:pt x="4846851" y="2032000"/>
                  <a:pt x="4794240" y="2032000"/>
                </a:cubicBezTo>
                <a:lnTo>
                  <a:pt x="95260" y="2032000"/>
                </a:lnTo>
                <a:cubicBezTo>
                  <a:pt x="42685" y="2032000"/>
                  <a:pt x="0" y="1989315"/>
                  <a:pt x="0" y="1936740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794125"/>
            <a:ext cx="457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Clave: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44" y="4175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5844" y="4143375"/>
            <a:ext cx="425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Memoria Interna: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Mantienen información de entradas anteriores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875" y="4492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115" y="4460875"/>
            <a:ext cx="43100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Conexiones Recurrentes: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salida se retroalimenta como entrada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3906" y="5032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209" y="5000625"/>
            <a:ext cx="431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Secuencial: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Ideal para datos ordenados temporalmente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6080125"/>
            <a:ext cx="5381625" cy="984250"/>
          </a:xfrm>
          <a:custGeom>
            <a:avLst/>
            <a:gdLst/>
            <a:ahLst/>
            <a:cxnLst/>
            <a:rect l="l" t="t" r="r" b="b"/>
            <a:pathLst>
              <a:path w="5381625" h="984250">
                <a:moveTo>
                  <a:pt x="31750" y="0"/>
                </a:moveTo>
                <a:lnTo>
                  <a:pt x="5286379" y="0"/>
                </a:lnTo>
                <a:cubicBezTo>
                  <a:pt x="5338982" y="0"/>
                  <a:pt x="5381625" y="42643"/>
                  <a:pt x="5381625" y="95246"/>
                </a:cubicBezTo>
                <a:lnTo>
                  <a:pt x="5381625" y="889004"/>
                </a:lnTo>
                <a:cubicBezTo>
                  <a:pt x="5381625" y="941607"/>
                  <a:pt x="5338982" y="984250"/>
                  <a:pt x="5286379" y="984250"/>
                </a:cubicBezTo>
                <a:lnTo>
                  <a:pt x="31750" y="984250"/>
                </a:lnTo>
                <a:cubicBezTo>
                  <a:pt x="14215" y="984250"/>
                  <a:pt x="0" y="970035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333375" y="6080125"/>
            <a:ext cx="31750" cy="984250"/>
          </a:xfrm>
          <a:custGeom>
            <a:avLst/>
            <a:gdLst/>
            <a:ahLst/>
            <a:cxnLst/>
            <a:rect l="l" t="t" r="r" b="b"/>
            <a:pathLst>
              <a:path w="31750" h="984250">
                <a:moveTo>
                  <a:pt x="31750" y="0"/>
                </a:moveTo>
                <a:lnTo>
                  <a:pt x="31750" y="0"/>
                </a:lnTo>
                <a:lnTo>
                  <a:pt x="31750" y="984250"/>
                </a:lnTo>
                <a:lnTo>
                  <a:pt x="31750" y="984250"/>
                </a:lnTo>
                <a:cubicBezTo>
                  <a:pt x="14227" y="984250"/>
                  <a:pt x="0" y="970023"/>
                  <a:pt x="0" y="952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Shape 18"/>
          <p:cNvSpPr/>
          <p:nvPr/>
        </p:nvSpPr>
        <p:spPr>
          <a:xfrm>
            <a:off x="527844" y="62865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62508" y="44648"/>
                </a:moveTo>
                <a:cubicBezTo>
                  <a:pt x="62508" y="39720"/>
                  <a:pt x="66509" y="35719"/>
                  <a:pt x="71438" y="35719"/>
                </a:cubicBezTo>
                <a:cubicBezTo>
                  <a:pt x="76366" y="35719"/>
                  <a:pt x="80367" y="39720"/>
                  <a:pt x="80367" y="44648"/>
                </a:cubicBezTo>
                <a:cubicBezTo>
                  <a:pt x="80367" y="49577"/>
                  <a:pt x="76366" y="53578"/>
                  <a:pt x="71438" y="53578"/>
                </a:cubicBezTo>
                <a:cubicBezTo>
                  <a:pt x="66509" y="53578"/>
                  <a:pt x="62508" y="49577"/>
                  <a:pt x="62508" y="44648"/>
                </a:cubicBezTo>
                <a:close/>
                <a:moveTo>
                  <a:pt x="60275" y="62508"/>
                </a:moveTo>
                <a:lnTo>
                  <a:pt x="73670" y="62508"/>
                </a:lnTo>
                <a:cubicBezTo>
                  <a:pt x="77381" y="62508"/>
                  <a:pt x="80367" y="65494"/>
                  <a:pt x="80367" y="69205"/>
                </a:cubicBezTo>
                <a:lnTo>
                  <a:pt x="80367" y="93762"/>
                </a:lnTo>
                <a:lnTo>
                  <a:pt x="82600" y="93762"/>
                </a:lnTo>
                <a:cubicBezTo>
                  <a:pt x="86311" y="93762"/>
                  <a:pt x="89297" y="96748"/>
                  <a:pt x="89297" y="100459"/>
                </a:cubicBezTo>
                <a:cubicBezTo>
                  <a:pt x="89297" y="104170"/>
                  <a:pt x="86311" y="107156"/>
                  <a:pt x="82600" y="107156"/>
                </a:cubicBezTo>
                <a:lnTo>
                  <a:pt x="60275" y="107156"/>
                </a:lnTo>
                <a:cubicBezTo>
                  <a:pt x="56564" y="107156"/>
                  <a:pt x="53578" y="104170"/>
                  <a:pt x="53578" y="100459"/>
                </a:cubicBezTo>
                <a:cubicBezTo>
                  <a:pt x="53578" y="96748"/>
                  <a:pt x="56564" y="93762"/>
                  <a:pt x="60275" y="93762"/>
                </a:cubicBezTo>
                <a:lnTo>
                  <a:pt x="66973" y="93762"/>
                </a:lnTo>
                <a:lnTo>
                  <a:pt x="66973" y="75902"/>
                </a:lnTo>
                <a:lnTo>
                  <a:pt x="60275" y="75902"/>
                </a:lnTo>
                <a:cubicBezTo>
                  <a:pt x="56564" y="75902"/>
                  <a:pt x="53578" y="72916"/>
                  <a:pt x="53578" y="69205"/>
                </a:cubicBezTo>
                <a:cubicBezTo>
                  <a:pt x="53578" y="65494"/>
                  <a:pt x="56564" y="62508"/>
                  <a:pt x="60275" y="6250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750094" y="6238875"/>
            <a:ext cx="48775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Variantes Populares: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LSTM (Long Short-Term Memory) y GRU (Gated Recurrent Unit) resuelven el problema del gradiente desvaneciente en secuencias largas.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69000" y="1428750"/>
            <a:ext cx="5905500" cy="5635625"/>
          </a:xfrm>
          <a:custGeom>
            <a:avLst/>
            <a:gdLst/>
            <a:ahLst/>
            <a:cxnLst/>
            <a:rect l="l" t="t" r="r" b="b"/>
            <a:pathLst>
              <a:path w="5905500" h="5635625">
                <a:moveTo>
                  <a:pt x="127027" y="0"/>
                </a:moveTo>
                <a:lnTo>
                  <a:pt x="5778473" y="0"/>
                </a:lnTo>
                <a:cubicBezTo>
                  <a:pt x="5848628" y="0"/>
                  <a:pt x="5905500" y="56872"/>
                  <a:pt x="5905500" y="127027"/>
                </a:cubicBezTo>
                <a:lnTo>
                  <a:pt x="5905500" y="5508598"/>
                </a:lnTo>
                <a:cubicBezTo>
                  <a:pt x="5905500" y="5578753"/>
                  <a:pt x="5848628" y="5635625"/>
                  <a:pt x="5778473" y="5635625"/>
                </a:cubicBezTo>
                <a:lnTo>
                  <a:pt x="127027" y="5635625"/>
                </a:lnTo>
                <a:cubicBezTo>
                  <a:pt x="56872" y="5635625"/>
                  <a:pt x="0" y="5578753"/>
                  <a:pt x="0" y="5508598"/>
                </a:cubicBezTo>
                <a:lnTo>
                  <a:pt x="0" y="127027"/>
                </a:lnTo>
                <a:cubicBezTo>
                  <a:pt x="0" y="56872"/>
                  <a:pt x="56872" y="0"/>
                  <a:pt x="1270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63469" y="1682750"/>
            <a:ext cx="5516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Principales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3000" y="2225104"/>
            <a:ext cx="5397500" cy="1333500"/>
          </a:xfrm>
          <a:custGeom>
            <a:avLst/>
            <a:gdLst/>
            <a:ahLst/>
            <a:cxnLst/>
            <a:rect l="l" t="t" r="r" b="b"/>
            <a:pathLst>
              <a:path w="5397500" h="1333500">
                <a:moveTo>
                  <a:pt x="95252" y="0"/>
                </a:moveTo>
                <a:lnTo>
                  <a:pt x="5302248" y="0"/>
                </a:lnTo>
                <a:cubicBezTo>
                  <a:pt x="5354854" y="0"/>
                  <a:pt x="5397500" y="42646"/>
                  <a:pt x="5397500" y="95252"/>
                </a:cubicBezTo>
                <a:lnTo>
                  <a:pt x="5397500" y="1238248"/>
                </a:lnTo>
                <a:cubicBezTo>
                  <a:pt x="5397500" y="1290854"/>
                  <a:pt x="5354854" y="1333500"/>
                  <a:pt x="5302248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3500" y="241560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8594" y="254260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85000" y="2526729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Traducción Automática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3500" y="2955354"/>
            <a:ext cx="5080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Translate, DeepL y sistemas de traducción en tiempo real que procesan secuencias de texto en diferentes idiomas.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3000" y="3817938"/>
            <a:ext cx="5397500" cy="1333500"/>
          </a:xfrm>
          <a:custGeom>
            <a:avLst/>
            <a:gdLst/>
            <a:ahLst/>
            <a:cxnLst/>
            <a:rect l="l" t="t" r="r" b="b"/>
            <a:pathLst>
              <a:path w="5397500" h="1333500">
                <a:moveTo>
                  <a:pt x="95252" y="0"/>
                </a:moveTo>
                <a:lnTo>
                  <a:pt x="5302248" y="0"/>
                </a:lnTo>
                <a:cubicBezTo>
                  <a:pt x="5354854" y="0"/>
                  <a:pt x="5397500" y="42646"/>
                  <a:pt x="5397500" y="95252"/>
                </a:cubicBezTo>
                <a:lnTo>
                  <a:pt x="5397500" y="1238248"/>
                </a:lnTo>
                <a:cubicBezTo>
                  <a:pt x="5397500" y="1290854"/>
                  <a:pt x="5354854" y="1333500"/>
                  <a:pt x="5302248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3500" y="400843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8594" y="41354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85000" y="4119562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Chatbots y Asistentes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3500" y="4548188"/>
            <a:ext cx="5080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Siri, Alexa, Google Assistant y chatbots empresariales que mantienen contexto en conversaciones.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3000" y="5410646"/>
            <a:ext cx="5397500" cy="1333500"/>
          </a:xfrm>
          <a:custGeom>
            <a:avLst/>
            <a:gdLst/>
            <a:ahLst/>
            <a:cxnLst/>
            <a:rect l="l" t="t" r="r" b="b"/>
            <a:pathLst>
              <a:path w="5397500" h="1333500">
                <a:moveTo>
                  <a:pt x="95252" y="0"/>
                </a:moveTo>
                <a:lnTo>
                  <a:pt x="5302248" y="0"/>
                </a:lnTo>
                <a:cubicBezTo>
                  <a:pt x="5354854" y="0"/>
                  <a:pt x="5397500" y="42646"/>
                  <a:pt x="5397500" y="95252"/>
                </a:cubicBezTo>
                <a:lnTo>
                  <a:pt x="5397500" y="1238248"/>
                </a:lnTo>
                <a:cubicBezTo>
                  <a:pt x="5397500" y="1290854"/>
                  <a:pt x="5354854" y="1333500"/>
                  <a:pt x="5302248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3500" y="5601146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6" name="Shape 34"/>
          <p:cNvSpPr/>
          <p:nvPr/>
        </p:nvSpPr>
        <p:spPr>
          <a:xfrm>
            <a:off x="6540500" y="57281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85000" y="5712271"/>
            <a:ext cx="2246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Series Temporales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3500" y="6140896"/>
            <a:ext cx="5080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precios de acciones, análisis de tendencias climáticas y pronóstico de demanda.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revolución en Procesamiento de Lenguaje Natural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28750"/>
            <a:ext cx="5937250" cy="3762375"/>
          </a:xfrm>
          <a:custGeom>
            <a:avLst/>
            <a:gdLst/>
            <a:ahLst/>
            <a:cxnLst/>
            <a:rect l="l" t="t" r="r" b="b"/>
            <a:pathLst>
              <a:path w="5937250" h="3762375">
                <a:moveTo>
                  <a:pt x="127018" y="0"/>
                </a:moveTo>
                <a:lnTo>
                  <a:pt x="5810232" y="0"/>
                </a:lnTo>
                <a:cubicBezTo>
                  <a:pt x="5880382" y="0"/>
                  <a:pt x="5937250" y="56868"/>
                  <a:pt x="5937250" y="127018"/>
                </a:cubicBezTo>
                <a:lnTo>
                  <a:pt x="5937250" y="3635357"/>
                </a:lnTo>
                <a:cubicBezTo>
                  <a:pt x="5937250" y="3705507"/>
                  <a:pt x="5880382" y="3762375"/>
                  <a:pt x="5810232" y="3762375"/>
                </a:cubicBezTo>
                <a:lnTo>
                  <a:pt x="127018" y="3762375"/>
                </a:lnTo>
                <a:cubicBezTo>
                  <a:pt x="56868" y="3762375"/>
                  <a:pt x="0" y="3705507"/>
                  <a:pt x="0" y="3635357"/>
                </a:cubicBezTo>
                <a:lnTo>
                  <a:pt x="0" y="127018"/>
                </a:lnTo>
                <a:cubicBezTo>
                  <a:pt x="0" y="56868"/>
                  <a:pt x="56868" y="0"/>
                  <a:pt x="1270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682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Shape 5"/>
          <p:cNvSpPr/>
          <p:nvPr/>
        </p:nvSpPr>
        <p:spPr>
          <a:xfrm>
            <a:off x="723305" y="1817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57572" y="-4604"/>
                </a:moveTo>
                <a:cubicBezTo>
                  <a:pt x="163106" y="-605"/>
                  <a:pt x="165153" y="6651"/>
                  <a:pt x="162641" y="12976"/>
                </a:cubicBezTo>
                <a:lnTo>
                  <a:pt x="126178" y="104180"/>
                </a:lnTo>
                <a:lnTo>
                  <a:pt x="193477" y="104180"/>
                </a:lnTo>
                <a:cubicBezTo>
                  <a:pt x="199755" y="104180"/>
                  <a:pt x="205336" y="108086"/>
                  <a:pt x="207476" y="113993"/>
                </a:cubicBezTo>
                <a:cubicBezTo>
                  <a:pt x="209615" y="119900"/>
                  <a:pt x="207801" y="126504"/>
                  <a:pt x="203011" y="130504"/>
                </a:cubicBezTo>
                <a:lnTo>
                  <a:pt x="69066" y="242125"/>
                </a:lnTo>
                <a:cubicBezTo>
                  <a:pt x="63810" y="246497"/>
                  <a:pt x="56322" y="246729"/>
                  <a:pt x="50788" y="242729"/>
                </a:cubicBezTo>
                <a:cubicBezTo>
                  <a:pt x="45253" y="238730"/>
                  <a:pt x="43207" y="231474"/>
                  <a:pt x="45718" y="225149"/>
                </a:cubicBezTo>
                <a:lnTo>
                  <a:pt x="82181" y="133945"/>
                </a:lnTo>
                <a:lnTo>
                  <a:pt x="14883" y="133945"/>
                </a:lnTo>
                <a:cubicBezTo>
                  <a:pt x="8604" y="133945"/>
                  <a:pt x="3023" y="130039"/>
                  <a:pt x="884" y="124132"/>
                </a:cubicBezTo>
                <a:cubicBezTo>
                  <a:pt x="-1256" y="118225"/>
                  <a:pt x="558" y="111621"/>
                  <a:pt x="5349" y="107621"/>
                </a:cubicBezTo>
                <a:lnTo>
                  <a:pt x="139294" y="-4000"/>
                </a:lnTo>
                <a:cubicBezTo>
                  <a:pt x="144549" y="-8372"/>
                  <a:pt x="152037" y="-8604"/>
                  <a:pt x="157572" y="-46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1793875"/>
            <a:ext cx="2706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de Vanguardia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381250"/>
            <a:ext cx="5508625" cy="103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Transformers son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avanzados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diseñados específicamente para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del lenguaje natural (NLP) 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Introducidos en 2017, revolucionaron el campo al utilizar el mecanismo de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 self-attention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lugar de procesamiento secuencial.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603625"/>
            <a:ext cx="2651125" cy="1333500"/>
          </a:xfrm>
          <a:custGeom>
            <a:avLst/>
            <a:gdLst/>
            <a:ahLst/>
            <a:cxnLst/>
            <a:rect l="l" t="t" r="r" b="b"/>
            <a:pathLst>
              <a:path w="2651125" h="1333500">
                <a:moveTo>
                  <a:pt x="95252" y="0"/>
                </a:moveTo>
                <a:lnTo>
                  <a:pt x="2555873" y="0"/>
                </a:lnTo>
                <a:cubicBezTo>
                  <a:pt x="2608479" y="0"/>
                  <a:pt x="2651125" y="42646"/>
                  <a:pt x="2651125" y="95252"/>
                </a:cubicBezTo>
                <a:lnTo>
                  <a:pt x="2651125" y="1238248"/>
                </a:lnTo>
                <a:cubicBezTo>
                  <a:pt x="2651125" y="1290854"/>
                  <a:pt x="2608479" y="1333500"/>
                  <a:pt x="2555873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30250" y="3762375"/>
            <a:ext cx="240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Innovaciones: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250" y="4079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Mecanismo de Atención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0250" y="4333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Procesamiento Paralelo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0250" y="4587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Captura de Dependencias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49625" y="3603625"/>
            <a:ext cx="2651125" cy="1333500"/>
          </a:xfrm>
          <a:custGeom>
            <a:avLst/>
            <a:gdLst/>
            <a:ahLst/>
            <a:cxnLst/>
            <a:rect l="l" t="t" r="r" b="b"/>
            <a:pathLst>
              <a:path w="2651125" h="1333500">
                <a:moveTo>
                  <a:pt x="95252" y="0"/>
                </a:moveTo>
                <a:lnTo>
                  <a:pt x="2555873" y="0"/>
                </a:lnTo>
                <a:cubicBezTo>
                  <a:pt x="2608479" y="0"/>
                  <a:pt x="2651125" y="42646"/>
                  <a:pt x="2651125" y="95252"/>
                </a:cubicBezTo>
                <a:lnTo>
                  <a:pt x="2651125" y="1238248"/>
                </a:lnTo>
                <a:cubicBezTo>
                  <a:pt x="2651125" y="1290854"/>
                  <a:pt x="2608479" y="1333500"/>
                  <a:pt x="2555873" y="1333500"/>
                </a:cubicBezTo>
                <a:lnTo>
                  <a:pt x="95252" y="1333500"/>
                </a:lnTo>
                <a:cubicBezTo>
                  <a:pt x="42646" y="1333500"/>
                  <a:pt x="0" y="1290854"/>
                  <a:pt x="0" y="1238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3508375" y="3762375"/>
            <a:ext cx="240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8375" y="4079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Entrenamiento más rápido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8375" y="4333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Mayor escalabilidad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8375" y="4587875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Mejor rendimiento en NLP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7500" y="5381625"/>
            <a:ext cx="5937250" cy="1428750"/>
          </a:xfrm>
          <a:custGeom>
            <a:avLst/>
            <a:gdLst/>
            <a:ahLst/>
            <a:cxnLst/>
            <a:rect l="l" t="t" r="r" b="b"/>
            <a:pathLst>
              <a:path w="5937250" h="1428750">
                <a:moveTo>
                  <a:pt x="127002" y="0"/>
                </a:moveTo>
                <a:lnTo>
                  <a:pt x="5810248" y="0"/>
                </a:lnTo>
                <a:cubicBezTo>
                  <a:pt x="5880389" y="0"/>
                  <a:pt x="5937250" y="56861"/>
                  <a:pt x="5937250" y="127002"/>
                </a:cubicBezTo>
                <a:lnTo>
                  <a:pt x="5937250" y="1301748"/>
                </a:lnTo>
                <a:cubicBezTo>
                  <a:pt x="5937250" y="1371889"/>
                  <a:pt x="5880389" y="1428750"/>
                  <a:pt x="5810248" y="1428750"/>
                </a:cubicBezTo>
                <a:lnTo>
                  <a:pt x="127002" y="1428750"/>
                </a:lnTo>
                <a:cubicBezTo>
                  <a:pt x="56861" y="1428750"/>
                  <a:pt x="0" y="1371889"/>
                  <a:pt x="0" y="1301748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0071E3">
                  <a:alpha val="8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7922" y="56038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5969" y="5572125"/>
            <a:ext cx="53776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Revolucionario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000" y="5921375"/>
            <a:ext cx="56276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Transformers han superado significativamente a las RNNs y LSTMs en tareas de NLP, permitiendo el desarrollo de modelos de lenguaje masivos y potentes como GPT y BERT.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08750" y="1428750"/>
            <a:ext cx="5365750" cy="5381625"/>
          </a:xfrm>
          <a:custGeom>
            <a:avLst/>
            <a:gdLst/>
            <a:ahLst/>
            <a:cxnLst/>
            <a:rect l="l" t="t" r="r" b="b"/>
            <a:pathLst>
              <a:path w="5365750" h="5381625">
                <a:moveTo>
                  <a:pt x="127007" y="0"/>
                </a:moveTo>
                <a:lnTo>
                  <a:pt x="5238743" y="0"/>
                </a:lnTo>
                <a:cubicBezTo>
                  <a:pt x="5308887" y="0"/>
                  <a:pt x="5365750" y="56863"/>
                  <a:pt x="5365750" y="127007"/>
                </a:cubicBezTo>
                <a:lnTo>
                  <a:pt x="5365750" y="5254618"/>
                </a:lnTo>
                <a:cubicBezTo>
                  <a:pt x="5365750" y="5324762"/>
                  <a:pt x="5308887" y="5381625"/>
                  <a:pt x="5238743" y="5381625"/>
                </a:cubicBezTo>
                <a:lnTo>
                  <a:pt x="127007" y="5381625"/>
                </a:lnTo>
                <a:cubicBezTo>
                  <a:pt x="56863" y="5381625"/>
                  <a:pt x="0" y="5324762"/>
                  <a:pt x="0" y="5254618"/>
                </a:cubicBezTo>
                <a:lnTo>
                  <a:pt x="0" y="127007"/>
                </a:lnTo>
                <a:cubicBezTo>
                  <a:pt x="0" y="56910"/>
                  <a:pt x="56910" y="0"/>
                  <a:pt x="127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03219" y="1682750"/>
            <a:ext cx="497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Basados en Transformers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78625" y="2188518"/>
            <a:ext cx="4841875" cy="1047750"/>
          </a:xfrm>
          <a:custGeom>
            <a:avLst/>
            <a:gdLst/>
            <a:ahLst/>
            <a:cxnLst/>
            <a:rect l="l" t="t" r="r" b="b"/>
            <a:pathLst>
              <a:path w="4841875" h="1047750">
                <a:moveTo>
                  <a:pt x="31750" y="0"/>
                </a:moveTo>
                <a:lnTo>
                  <a:pt x="4746624" y="0"/>
                </a:lnTo>
                <a:cubicBezTo>
                  <a:pt x="4799230" y="0"/>
                  <a:pt x="4841875" y="42645"/>
                  <a:pt x="4841875" y="95251"/>
                </a:cubicBezTo>
                <a:lnTo>
                  <a:pt x="4841875" y="952499"/>
                </a:lnTo>
                <a:cubicBezTo>
                  <a:pt x="4841875" y="1005105"/>
                  <a:pt x="4799230" y="1047750"/>
                  <a:pt x="4746624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778625" y="2188518"/>
            <a:ext cx="31750" cy="1047750"/>
          </a:xfrm>
          <a:custGeom>
            <a:avLst/>
            <a:gdLst/>
            <a:ahLst/>
            <a:cxnLst/>
            <a:rect l="l" t="t" r="r" b="b"/>
            <a:pathLst>
              <a:path w="31750" h="1047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6955234" y="2355205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63711" y="0"/>
                </a:moveTo>
                <a:cubicBezTo>
                  <a:pt x="163711" y="-8232"/>
                  <a:pt x="157060" y="-14883"/>
                  <a:pt x="148828" y="-14883"/>
                </a:cubicBezTo>
                <a:cubicBezTo>
                  <a:pt x="140596" y="-14883"/>
                  <a:pt x="133945" y="-8232"/>
                  <a:pt x="133945" y="0"/>
                </a:cubicBezTo>
                <a:lnTo>
                  <a:pt x="133945" y="29766"/>
                </a:lnTo>
                <a:lnTo>
                  <a:pt x="89297" y="29766"/>
                </a:lnTo>
                <a:cubicBezTo>
                  <a:pt x="64647" y="29766"/>
                  <a:pt x="44648" y="49764"/>
                  <a:pt x="44648" y="74414"/>
                </a:cubicBezTo>
                <a:lnTo>
                  <a:pt x="44648" y="178594"/>
                </a:lnTo>
                <a:cubicBezTo>
                  <a:pt x="44648" y="203243"/>
                  <a:pt x="64647" y="223242"/>
                  <a:pt x="89297" y="223242"/>
                </a:cubicBezTo>
                <a:lnTo>
                  <a:pt x="208359" y="223242"/>
                </a:lnTo>
                <a:cubicBezTo>
                  <a:pt x="233009" y="223242"/>
                  <a:pt x="253008" y="203243"/>
                  <a:pt x="253008" y="178594"/>
                </a:cubicBezTo>
                <a:lnTo>
                  <a:pt x="253008" y="74414"/>
                </a:lnTo>
                <a:cubicBezTo>
                  <a:pt x="253008" y="49764"/>
                  <a:pt x="233009" y="29766"/>
                  <a:pt x="208359" y="29766"/>
                </a:cubicBezTo>
                <a:lnTo>
                  <a:pt x="163711" y="29766"/>
                </a:lnTo>
                <a:lnTo>
                  <a:pt x="163711" y="0"/>
                </a:lnTo>
                <a:close/>
                <a:moveTo>
                  <a:pt x="74414" y="171152"/>
                </a:moveTo>
                <a:cubicBezTo>
                  <a:pt x="74414" y="164967"/>
                  <a:pt x="79391" y="159990"/>
                  <a:pt x="85576" y="159990"/>
                </a:cubicBezTo>
                <a:lnTo>
                  <a:pt x="100459" y="159990"/>
                </a:lnTo>
                <a:cubicBezTo>
                  <a:pt x="106645" y="159990"/>
                  <a:pt x="111621" y="164967"/>
                  <a:pt x="111621" y="171152"/>
                </a:cubicBezTo>
                <a:cubicBezTo>
                  <a:pt x="111621" y="177338"/>
                  <a:pt x="106645" y="182314"/>
                  <a:pt x="100459" y="182314"/>
                </a:cubicBezTo>
                <a:lnTo>
                  <a:pt x="85576" y="182314"/>
                </a:lnTo>
                <a:cubicBezTo>
                  <a:pt x="79391" y="182314"/>
                  <a:pt x="74414" y="177338"/>
                  <a:pt x="74414" y="171152"/>
                </a:cubicBezTo>
                <a:close/>
                <a:moveTo>
                  <a:pt x="130225" y="171152"/>
                </a:moveTo>
                <a:cubicBezTo>
                  <a:pt x="130225" y="164967"/>
                  <a:pt x="135201" y="159990"/>
                  <a:pt x="141387" y="159990"/>
                </a:cubicBezTo>
                <a:lnTo>
                  <a:pt x="156270" y="159990"/>
                </a:lnTo>
                <a:cubicBezTo>
                  <a:pt x="162455" y="159990"/>
                  <a:pt x="167432" y="164967"/>
                  <a:pt x="167432" y="171152"/>
                </a:cubicBezTo>
                <a:cubicBezTo>
                  <a:pt x="167432" y="177338"/>
                  <a:pt x="162455" y="182314"/>
                  <a:pt x="156270" y="182314"/>
                </a:cubicBezTo>
                <a:lnTo>
                  <a:pt x="141387" y="182314"/>
                </a:lnTo>
                <a:cubicBezTo>
                  <a:pt x="135201" y="182314"/>
                  <a:pt x="130225" y="177338"/>
                  <a:pt x="130225" y="171152"/>
                </a:cubicBezTo>
                <a:close/>
                <a:moveTo>
                  <a:pt x="186035" y="171152"/>
                </a:moveTo>
                <a:cubicBezTo>
                  <a:pt x="186035" y="164967"/>
                  <a:pt x="191012" y="159990"/>
                  <a:pt x="197197" y="159990"/>
                </a:cubicBezTo>
                <a:lnTo>
                  <a:pt x="212080" y="159990"/>
                </a:lnTo>
                <a:cubicBezTo>
                  <a:pt x="218266" y="159990"/>
                  <a:pt x="223242" y="164967"/>
                  <a:pt x="223242" y="171152"/>
                </a:cubicBezTo>
                <a:cubicBezTo>
                  <a:pt x="223242" y="177338"/>
                  <a:pt x="218266" y="182314"/>
                  <a:pt x="212080" y="182314"/>
                </a:cubicBezTo>
                <a:lnTo>
                  <a:pt x="197197" y="182314"/>
                </a:lnTo>
                <a:cubicBezTo>
                  <a:pt x="191012" y="182314"/>
                  <a:pt x="186035" y="177338"/>
                  <a:pt x="186035" y="171152"/>
                </a:cubicBezTo>
                <a:close/>
                <a:moveTo>
                  <a:pt x="104180" y="81855"/>
                </a:moveTo>
                <a:cubicBezTo>
                  <a:pt x="116501" y="81855"/>
                  <a:pt x="126504" y="91859"/>
                  <a:pt x="126504" y="104180"/>
                </a:cubicBezTo>
                <a:cubicBezTo>
                  <a:pt x="126504" y="116501"/>
                  <a:pt x="116501" y="126504"/>
                  <a:pt x="104180" y="126504"/>
                </a:cubicBezTo>
                <a:cubicBezTo>
                  <a:pt x="91859" y="126504"/>
                  <a:pt x="81855" y="116501"/>
                  <a:pt x="81855" y="104180"/>
                </a:cubicBezTo>
                <a:cubicBezTo>
                  <a:pt x="81855" y="91859"/>
                  <a:pt x="91859" y="81855"/>
                  <a:pt x="104180" y="81855"/>
                </a:cubicBezTo>
                <a:close/>
                <a:moveTo>
                  <a:pt x="171152" y="104180"/>
                </a:moveTo>
                <a:cubicBezTo>
                  <a:pt x="171152" y="91859"/>
                  <a:pt x="181155" y="81855"/>
                  <a:pt x="193477" y="81855"/>
                </a:cubicBezTo>
                <a:cubicBezTo>
                  <a:pt x="205798" y="81855"/>
                  <a:pt x="215801" y="91859"/>
                  <a:pt x="215801" y="104180"/>
                </a:cubicBezTo>
                <a:cubicBezTo>
                  <a:pt x="215801" y="116501"/>
                  <a:pt x="205798" y="126504"/>
                  <a:pt x="193477" y="126504"/>
                </a:cubicBezTo>
                <a:cubicBezTo>
                  <a:pt x="181155" y="126504"/>
                  <a:pt x="171152" y="116501"/>
                  <a:pt x="171152" y="104180"/>
                </a:cubicBezTo>
                <a:close/>
                <a:moveTo>
                  <a:pt x="29766" y="104180"/>
                </a:moveTo>
                <a:cubicBezTo>
                  <a:pt x="29766" y="95948"/>
                  <a:pt x="23115" y="89297"/>
                  <a:pt x="14883" y="89297"/>
                </a:cubicBezTo>
                <a:cubicBezTo>
                  <a:pt x="6651" y="89297"/>
                  <a:pt x="0" y="95948"/>
                  <a:pt x="0" y="104180"/>
                </a:cubicBezTo>
                <a:lnTo>
                  <a:pt x="0" y="148828"/>
                </a:lnTo>
                <a:cubicBezTo>
                  <a:pt x="0" y="157060"/>
                  <a:pt x="6651" y="163711"/>
                  <a:pt x="14883" y="163711"/>
                </a:cubicBezTo>
                <a:cubicBezTo>
                  <a:pt x="23115" y="163711"/>
                  <a:pt x="29766" y="157060"/>
                  <a:pt x="29766" y="148828"/>
                </a:cubicBezTo>
                <a:lnTo>
                  <a:pt x="29766" y="104180"/>
                </a:lnTo>
                <a:close/>
                <a:moveTo>
                  <a:pt x="282773" y="89297"/>
                </a:moveTo>
                <a:cubicBezTo>
                  <a:pt x="274541" y="89297"/>
                  <a:pt x="267891" y="95948"/>
                  <a:pt x="267891" y="104180"/>
                </a:cubicBezTo>
                <a:lnTo>
                  <a:pt x="267891" y="148828"/>
                </a:lnTo>
                <a:cubicBezTo>
                  <a:pt x="267891" y="157060"/>
                  <a:pt x="274541" y="163711"/>
                  <a:pt x="282773" y="163711"/>
                </a:cubicBezTo>
                <a:cubicBezTo>
                  <a:pt x="291005" y="163711"/>
                  <a:pt x="297656" y="157060"/>
                  <a:pt x="297656" y="148828"/>
                </a:cubicBezTo>
                <a:lnTo>
                  <a:pt x="297656" y="104180"/>
                </a:lnTo>
                <a:cubicBezTo>
                  <a:pt x="297656" y="95948"/>
                  <a:pt x="291005" y="89297"/>
                  <a:pt x="282773" y="8929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7377906" y="2347268"/>
            <a:ext cx="46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53250" y="2664768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Generative Pre-trained Transformer - Modelos generativos de texto (GPT-3, GPT-4)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8625" y="3422303"/>
            <a:ext cx="4841875" cy="1047750"/>
          </a:xfrm>
          <a:custGeom>
            <a:avLst/>
            <a:gdLst/>
            <a:ahLst/>
            <a:cxnLst/>
            <a:rect l="l" t="t" r="r" b="b"/>
            <a:pathLst>
              <a:path w="4841875" h="1047750">
                <a:moveTo>
                  <a:pt x="31750" y="0"/>
                </a:moveTo>
                <a:lnTo>
                  <a:pt x="4746624" y="0"/>
                </a:lnTo>
                <a:cubicBezTo>
                  <a:pt x="4799230" y="0"/>
                  <a:pt x="4841875" y="42645"/>
                  <a:pt x="4841875" y="95251"/>
                </a:cubicBezTo>
                <a:lnTo>
                  <a:pt x="4841875" y="952499"/>
                </a:lnTo>
                <a:cubicBezTo>
                  <a:pt x="4841875" y="1005105"/>
                  <a:pt x="4799230" y="1047750"/>
                  <a:pt x="4746624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778625" y="3422303"/>
            <a:ext cx="31750" cy="1047750"/>
          </a:xfrm>
          <a:custGeom>
            <a:avLst/>
            <a:gdLst/>
            <a:ahLst/>
            <a:cxnLst/>
            <a:rect l="l" t="t" r="r" b="b"/>
            <a:pathLst>
              <a:path w="31750" h="1047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6985000" y="358899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93477" y="96738"/>
                </a:moveTo>
                <a:cubicBezTo>
                  <a:pt x="193477" y="118086"/>
                  <a:pt x="186547" y="137806"/>
                  <a:pt x="174873" y="153805"/>
                </a:cubicBezTo>
                <a:lnTo>
                  <a:pt x="233753" y="212731"/>
                </a:lnTo>
                <a:cubicBezTo>
                  <a:pt x="239567" y="218545"/>
                  <a:pt x="239567" y="227986"/>
                  <a:pt x="233753" y="233800"/>
                </a:cubicBezTo>
                <a:cubicBezTo>
                  <a:pt x="227940" y="239613"/>
                  <a:pt x="218498" y="239613"/>
                  <a:pt x="212685" y="233800"/>
                </a:cubicBezTo>
                <a:lnTo>
                  <a:pt x="153805" y="174873"/>
                </a:lnTo>
                <a:cubicBezTo>
                  <a:pt x="137806" y="186547"/>
                  <a:pt x="118086" y="193477"/>
                  <a:pt x="96738" y="193477"/>
                </a:cubicBezTo>
                <a:cubicBezTo>
                  <a:pt x="43300" y="193477"/>
                  <a:pt x="0" y="150177"/>
                  <a:pt x="0" y="96738"/>
                </a:cubicBezTo>
                <a:cubicBezTo>
                  <a:pt x="0" y="43300"/>
                  <a:pt x="43300" y="0"/>
                  <a:pt x="96738" y="0"/>
                </a:cubicBezTo>
                <a:cubicBezTo>
                  <a:pt x="150177" y="0"/>
                  <a:pt x="193477" y="43300"/>
                  <a:pt x="193477" y="96738"/>
                </a:cubicBezTo>
                <a:close/>
                <a:moveTo>
                  <a:pt x="96738" y="163711"/>
                </a:moveTo>
                <a:cubicBezTo>
                  <a:pt x="133701" y="163711"/>
                  <a:pt x="163711" y="133701"/>
                  <a:pt x="163711" y="96738"/>
                </a:cubicBezTo>
                <a:cubicBezTo>
                  <a:pt x="163711" y="59775"/>
                  <a:pt x="133701" y="29766"/>
                  <a:pt x="96738" y="29766"/>
                </a:cubicBezTo>
                <a:cubicBezTo>
                  <a:pt x="59775" y="29766"/>
                  <a:pt x="29766" y="59775"/>
                  <a:pt x="29766" y="96738"/>
                </a:cubicBezTo>
                <a:cubicBezTo>
                  <a:pt x="29766" y="133701"/>
                  <a:pt x="59775" y="163711"/>
                  <a:pt x="96738" y="16371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7377906" y="3581053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3250" y="3898553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Bidirectional Encoder Representations - Comprensión contextual del lenguaje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78625" y="4656088"/>
            <a:ext cx="4841875" cy="841375"/>
          </a:xfrm>
          <a:custGeom>
            <a:avLst/>
            <a:gdLst/>
            <a:ahLst/>
            <a:cxnLst/>
            <a:rect l="l" t="t" r="r" b="b"/>
            <a:pathLst>
              <a:path w="4841875" h="841375">
                <a:moveTo>
                  <a:pt x="31750" y="0"/>
                </a:moveTo>
                <a:lnTo>
                  <a:pt x="4746623" y="0"/>
                </a:lnTo>
                <a:cubicBezTo>
                  <a:pt x="4799229" y="0"/>
                  <a:pt x="4841875" y="42646"/>
                  <a:pt x="4841875" y="95252"/>
                </a:cubicBezTo>
                <a:lnTo>
                  <a:pt x="4841875" y="746123"/>
                </a:lnTo>
                <a:cubicBezTo>
                  <a:pt x="4841875" y="798729"/>
                  <a:pt x="4799229" y="841375"/>
                  <a:pt x="4746623" y="841375"/>
                </a:cubicBezTo>
                <a:lnTo>
                  <a:pt x="31750" y="841375"/>
                </a:lnTo>
                <a:cubicBezTo>
                  <a:pt x="14215" y="841375"/>
                  <a:pt x="0" y="827160"/>
                  <a:pt x="0" y="80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778625" y="4656088"/>
            <a:ext cx="31750" cy="841375"/>
          </a:xfrm>
          <a:custGeom>
            <a:avLst/>
            <a:gdLst/>
            <a:ahLst/>
            <a:cxnLst/>
            <a:rect l="l" t="t" r="r" b="b"/>
            <a:pathLst>
              <a:path w="31750" h="841375">
                <a:moveTo>
                  <a:pt x="31750" y="0"/>
                </a:moveTo>
                <a:lnTo>
                  <a:pt x="31750" y="0"/>
                </a:lnTo>
                <a:lnTo>
                  <a:pt x="31750" y="841375"/>
                </a:lnTo>
                <a:lnTo>
                  <a:pt x="31750" y="841375"/>
                </a:lnTo>
                <a:cubicBezTo>
                  <a:pt x="14227" y="841375"/>
                  <a:pt x="0" y="827148"/>
                  <a:pt x="0" y="80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8" name="Shape 36"/>
          <p:cNvSpPr/>
          <p:nvPr/>
        </p:nvSpPr>
        <p:spPr>
          <a:xfrm>
            <a:off x="6985000" y="48227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70042"/>
                </a:moveTo>
                <a:lnTo>
                  <a:pt x="189105" y="114691"/>
                </a:lnTo>
                <a:cubicBezTo>
                  <a:pt x="184826" y="118969"/>
                  <a:pt x="178454" y="120225"/>
                  <a:pt x="172873" y="117900"/>
                </a:cubicBezTo>
                <a:cubicBezTo>
                  <a:pt x="167292" y="115574"/>
                  <a:pt x="163711" y="110179"/>
                  <a:pt x="163711" y="104180"/>
                </a:cubicBezTo>
                <a:lnTo>
                  <a:pt x="163711" y="74414"/>
                </a:lnTo>
                <a:lnTo>
                  <a:pt x="14883" y="74414"/>
                </a:lnTo>
                <a:cubicBezTo>
                  <a:pt x="6651" y="74414"/>
                  <a:pt x="0" y="67763"/>
                  <a:pt x="0" y="59531"/>
                </a:cubicBezTo>
                <a:cubicBezTo>
                  <a:pt x="0" y="51299"/>
                  <a:pt x="6651" y="44648"/>
                  <a:pt x="14883" y="44648"/>
                </a:cubicBezTo>
                <a:lnTo>
                  <a:pt x="163711" y="44648"/>
                </a:lnTo>
                <a:lnTo>
                  <a:pt x="163711" y="14883"/>
                </a:lnTo>
                <a:cubicBezTo>
                  <a:pt x="163711" y="8883"/>
                  <a:pt x="167339" y="3442"/>
                  <a:pt x="172920" y="1116"/>
                </a:cubicBezTo>
                <a:cubicBezTo>
                  <a:pt x="178501" y="-1209"/>
                  <a:pt x="184872" y="93"/>
                  <a:pt x="189151" y="4325"/>
                </a:cubicBezTo>
                <a:lnTo>
                  <a:pt x="233800" y="48974"/>
                </a:lnTo>
                <a:cubicBezTo>
                  <a:pt x="239613" y="54787"/>
                  <a:pt x="239613" y="64229"/>
                  <a:pt x="233800" y="70042"/>
                </a:cubicBezTo>
                <a:close/>
                <a:moveTo>
                  <a:pt x="48974" y="233753"/>
                </a:moveTo>
                <a:lnTo>
                  <a:pt x="4325" y="189105"/>
                </a:lnTo>
                <a:cubicBezTo>
                  <a:pt x="-1488" y="183291"/>
                  <a:pt x="-1488" y="173850"/>
                  <a:pt x="4325" y="168036"/>
                </a:cubicBezTo>
                <a:lnTo>
                  <a:pt x="48974" y="123388"/>
                </a:lnTo>
                <a:cubicBezTo>
                  <a:pt x="53253" y="119109"/>
                  <a:pt x="59624" y="117853"/>
                  <a:pt x="65205" y="120179"/>
                </a:cubicBezTo>
                <a:cubicBezTo>
                  <a:pt x="70786" y="122504"/>
                  <a:pt x="74414" y="127946"/>
                  <a:pt x="74414" y="133945"/>
                </a:cubicBezTo>
                <a:lnTo>
                  <a:pt x="74414" y="163711"/>
                </a:lnTo>
                <a:lnTo>
                  <a:pt x="223242" y="163711"/>
                </a:lnTo>
                <a:cubicBezTo>
                  <a:pt x="231474" y="163711"/>
                  <a:pt x="238125" y="170362"/>
                  <a:pt x="238125" y="178594"/>
                </a:cubicBezTo>
                <a:cubicBezTo>
                  <a:pt x="238125" y="186826"/>
                  <a:pt x="231474" y="193477"/>
                  <a:pt x="223242" y="193477"/>
                </a:cubicBezTo>
                <a:lnTo>
                  <a:pt x="74414" y="193477"/>
                </a:lnTo>
                <a:lnTo>
                  <a:pt x="74414" y="223242"/>
                </a:lnTo>
                <a:cubicBezTo>
                  <a:pt x="74414" y="229242"/>
                  <a:pt x="70786" y="234683"/>
                  <a:pt x="65205" y="237009"/>
                </a:cubicBezTo>
                <a:cubicBezTo>
                  <a:pt x="59624" y="239334"/>
                  <a:pt x="53253" y="238032"/>
                  <a:pt x="48974" y="2338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7"/>
          <p:cNvSpPr/>
          <p:nvPr/>
        </p:nvSpPr>
        <p:spPr>
          <a:xfrm>
            <a:off x="7377906" y="4814838"/>
            <a:ext cx="325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3250" y="5132338"/>
            <a:ext cx="4572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Text-to-Text Transfer Transformer - Marco unificado para tareas de NLP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78625" y="5683498"/>
            <a:ext cx="4841875" cy="841375"/>
          </a:xfrm>
          <a:custGeom>
            <a:avLst/>
            <a:gdLst/>
            <a:ahLst/>
            <a:cxnLst/>
            <a:rect l="l" t="t" r="r" b="b"/>
            <a:pathLst>
              <a:path w="4841875" h="841375">
                <a:moveTo>
                  <a:pt x="31750" y="0"/>
                </a:moveTo>
                <a:lnTo>
                  <a:pt x="4746623" y="0"/>
                </a:lnTo>
                <a:cubicBezTo>
                  <a:pt x="4799229" y="0"/>
                  <a:pt x="4841875" y="42646"/>
                  <a:pt x="4841875" y="95252"/>
                </a:cubicBezTo>
                <a:lnTo>
                  <a:pt x="4841875" y="746123"/>
                </a:lnTo>
                <a:cubicBezTo>
                  <a:pt x="4841875" y="798729"/>
                  <a:pt x="4799229" y="841375"/>
                  <a:pt x="4746623" y="841375"/>
                </a:cubicBezTo>
                <a:lnTo>
                  <a:pt x="31750" y="841375"/>
                </a:lnTo>
                <a:cubicBezTo>
                  <a:pt x="14215" y="841375"/>
                  <a:pt x="0" y="827160"/>
                  <a:pt x="0" y="80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778625" y="5683498"/>
            <a:ext cx="31750" cy="841375"/>
          </a:xfrm>
          <a:custGeom>
            <a:avLst/>
            <a:gdLst/>
            <a:ahLst/>
            <a:cxnLst/>
            <a:rect l="l" t="t" r="r" b="b"/>
            <a:pathLst>
              <a:path w="31750" h="841375">
                <a:moveTo>
                  <a:pt x="31750" y="0"/>
                </a:moveTo>
                <a:lnTo>
                  <a:pt x="31750" y="0"/>
                </a:lnTo>
                <a:lnTo>
                  <a:pt x="31750" y="841375"/>
                </a:lnTo>
                <a:lnTo>
                  <a:pt x="31750" y="841375"/>
                </a:lnTo>
                <a:cubicBezTo>
                  <a:pt x="14227" y="841375"/>
                  <a:pt x="0" y="827148"/>
                  <a:pt x="0" y="809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Shape 41"/>
          <p:cNvSpPr/>
          <p:nvPr/>
        </p:nvSpPr>
        <p:spPr>
          <a:xfrm>
            <a:off x="6985000" y="585018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23242"/>
                </a:moveTo>
                <a:cubicBezTo>
                  <a:pt x="184826" y="223242"/>
                  <a:pt x="238125" y="173245"/>
                  <a:pt x="238125" y="111621"/>
                </a:cubicBezTo>
                <a:cubicBezTo>
                  <a:pt x="238125" y="49997"/>
                  <a:pt x="184826" y="0"/>
                  <a:pt x="119062" y="0"/>
                </a:cubicBezTo>
                <a:cubicBezTo>
                  <a:pt x="53299" y="0"/>
                  <a:pt x="0" y="49997"/>
                  <a:pt x="0" y="111621"/>
                </a:cubicBezTo>
                <a:cubicBezTo>
                  <a:pt x="0" y="136875"/>
                  <a:pt x="8930" y="160130"/>
                  <a:pt x="23999" y="178826"/>
                </a:cubicBezTo>
                <a:lnTo>
                  <a:pt x="1302" y="221754"/>
                </a:lnTo>
                <a:cubicBezTo>
                  <a:pt x="-930" y="225940"/>
                  <a:pt x="-233" y="231056"/>
                  <a:pt x="2977" y="234544"/>
                </a:cubicBezTo>
                <a:cubicBezTo>
                  <a:pt x="6186" y="238032"/>
                  <a:pt x="11255" y="239102"/>
                  <a:pt x="15580" y="237241"/>
                </a:cubicBezTo>
                <a:lnTo>
                  <a:pt x="70647" y="213661"/>
                </a:lnTo>
                <a:cubicBezTo>
                  <a:pt x="85437" y="219801"/>
                  <a:pt x="101808" y="223242"/>
                  <a:pt x="119062" y="223242"/>
                </a:cubicBezTo>
                <a:close/>
                <a:moveTo>
                  <a:pt x="59531" y="96738"/>
                </a:moveTo>
                <a:cubicBezTo>
                  <a:pt x="67745" y="96738"/>
                  <a:pt x="74414" y="103407"/>
                  <a:pt x="74414" y="111621"/>
                </a:cubicBezTo>
                <a:cubicBezTo>
                  <a:pt x="74414" y="119835"/>
                  <a:pt x="67745" y="126504"/>
                  <a:pt x="59531" y="126504"/>
                </a:cubicBezTo>
                <a:cubicBezTo>
                  <a:pt x="51317" y="126504"/>
                  <a:pt x="44648" y="119835"/>
                  <a:pt x="44648" y="111621"/>
                </a:cubicBezTo>
                <a:cubicBezTo>
                  <a:pt x="44648" y="103407"/>
                  <a:pt x="51317" y="96738"/>
                  <a:pt x="59531" y="96738"/>
                </a:cubicBezTo>
                <a:close/>
                <a:moveTo>
                  <a:pt x="119062" y="96738"/>
                </a:moveTo>
                <a:cubicBezTo>
                  <a:pt x="127277" y="96738"/>
                  <a:pt x="133945" y="103407"/>
                  <a:pt x="133945" y="111621"/>
                </a:cubicBezTo>
                <a:cubicBezTo>
                  <a:pt x="133945" y="119835"/>
                  <a:pt x="127277" y="126504"/>
                  <a:pt x="119062" y="126504"/>
                </a:cubicBezTo>
                <a:cubicBezTo>
                  <a:pt x="110848" y="126504"/>
                  <a:pt x="104180" y="119835"/>
                  <a:pt x="104180" y="111621"/>
                </a:cubicBezTo>
                <a:cubicBezTo>
                  <a:pt x="104180" y="103407"/>
                  <a:pt x="110848" y="96738"/>
                  <a:pt x="119062" y="96738"/>
                </a:cubicBezTo>
                <a:close/>
                <a:moveTo>
                  <a:pt x="163711" y="111621"/>
                </a:moveTo>
                <a:cubicBezTo>
                  <a:pt x="163711" y="103407"/>
                  <a:pt x="170380" y="96738"/>
                  <a:pt x="178594" y="96738"/>
                </a:cubicBezTo>
                <a:cubicBezTo>
                  <a:pt x="186808" y="96738"/>
                  <a:pt x="193477" y="103407"/>
                  <a:pt x="193477" y="111621"/>
                </a:cubicBezTo>
                <a:cubicBezTo>
                  <a:pt x="193477" y="119835"/>
                  <a:pt x="186808" y="126504"/>
                  <a:pt x="178594" y="126504"/>
                </a:cubicBezTo>
                <a:cubicBezTo>
                  <a:pt x="170380" y="126504"/>
                  <a:pt x="163711" y="119835"/>
                  <a:pt x="163711" y="11162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7377906" y="5842248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53250" y="6159748"/>
            <a:ext cx="4572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Language Model Meta AI - Modelos de código abierto de Meta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059bbfa5d1e729da7671e22ecb5e978ccd2ee63.jp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995363" y="1700213"/>
            <a:ext cx="1743075" cy="428625"/>
          </a:xfrm>
          <a:custGeom>
            <a:avLst/>
            <a:gdLst/>
            <a:ahLst/>
            <a:cxnLst/>
            <a:rect l="l" t="t" r="r" b="b"/>
            <a:pathLst>
              <a:path w="1743075" h="428625">
                <a:moveTo>
                  <a:pt x="214313" y="0"/>
                </a:moveTo>
                <a:lnTo>
                  <a:pt x="1528763" y="0"/>
                </a:lnTo>
                <a:cubicBezTo>
                  <a:pt x="1647045" y="0"/>
                  <a:pt x="1743075" y="96030"/>
                  <a:pt x="1743075" y="214313"/>
                </a:cubicBezTo>
                <a:lnTo>
                  <a:pt x="1743075" y="214313"/>
                </a:lnTo>
                <a:cubicBezTo>
                  <a:pt x="1743075" y="332595"/>
                  <a:pt x="1647045" y="428625"/>
                  <a:pt x="152876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8725" y="1800225"/>
            <a:ext cx="1363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0600" y="2438400"/>
            <a:ext cx="59626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Deep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90600" y="445770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4819650"/>
            <a:ext cx="5762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5F5F7">
                    <a:alpha val="85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Comparativa técnica detallada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016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Diferencias Clave: ML vs DL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71600"/>
            <a:ext cx="11430000" cy="5105400"/>
          </a:xfrm>
          <a:custGeom>
            <a:avLst/>
            <a:gdLst/>
            <a:ahLst/>
            <a:cxnLst/>
            <a:rect l="l" t="t" r="r" b="b"/>
            <a:pathLst>
              <a:path w="11430000" h="5105400">
                <a:moveTo>
                  <a:pt x="152396" y="0"/>
                </a:moveTo>
                <a:lnTo>
                  <a:pt x="11277604" y="0"/>
                </a:lnTo>
                <a:cubicBezTo>
                  <a:pt x="11361770" y="0"/>
                  <a:pt x="11430000" y="68230"/>
                  <a:pt x="11430000" y="152396"/>
                </a:cubicBezTo>
                <a:lnTo>
                  <a:pt x="11430000" y="4953004"/>
                </a:lnTo>
                <a:cubicBezTo>
                  <a:pt x="11430000" y="5037170"/>
                  <a:pt x="11361770" y="5105400"/>
                  <a:pt x="11277604" y="5105400"/>
                </a:cubicBezTo>
                <a:lnTo>
                  <a:pt x="152396" y="5105400"/>
                </a:lnTo>
                <a:cubicBezTo>
                  <a:pt x="68230" y="5105400"/>
                  <a:pt x="0" y="5037170"/>
                  <a:pt x="0" y="49530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3716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0" y="0"/>
                </a:moveTo>
                <a:lnTo>
                  <a:pt x="11430000" y="0"/>
                </a:lnTo>
                <a:lnTo>
                  <a:pt x="11430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4186238" y="13716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9525" y="0"/>
                </a:lnTo>
                <a:lnTo>
                  <a:pt x="9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27100" y="1371600"/>
            <a:ext cx="3886200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96237" y="13716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9525" y="0"/>
                </a:lnTo>
                <a:lnTo>
                  <a:pt x="9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91000" y="1371600"/>
            <a:ext cx="3886200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8138" y="1371600"/>
            <a:ext cx="3895725" cy="5715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557463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138613" y="19431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381000" y="1943100"/>
            <a:ext cx="382905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0988" y="19431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43375" y="1943100"/>
            <a:ext cx="3819525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algoritmos estadísticos y modelos matemáticos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05750" y="1943100"/>
            <a:ext cx="382905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redes neuronales profundas con múltiples capas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024188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138613" y="25622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00" y="25622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Características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00988" y="25622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4143375" y="2562225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intervención humana (feature engineering)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05750" y="25622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Extrae características automáticamente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490913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38613" y="30289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381000" y="302895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Volumen de Datos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00988" y="30289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4143375" y="3028950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Funciona bien con datos pequeños y medianos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05750" y="302895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Necesita grandes volúmenes de datos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957638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4138613" y="349567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" y="349567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de Hardware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00988" y="349567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4143375" y="3495675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Puede ejecutarse en CPU estándar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5750" y="349567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GPU o TPU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4424363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6" name="Shape 34"/>
          <p:cNvSpPr/>
          <p:nvPr/>
        </p:nvSpPr>
        <p:spPr>
          <a:xfrm>
            <a:off x="4138613" y="39624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381000" y="39624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00988" y="39624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4143375" y="3962400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ventas, detección de fraude, segmentación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05750" y="39624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Reconocimiento de imágenes, chatbots, NLP avanzado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4891088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4138613" y="44291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381000" y="44291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de Entrenamiento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00988" y="44291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4143375" y="4429125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Generalmente más rápido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05750" y="44291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Mucho más largo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5357813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138613" y="48958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381000" y="489585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/ Rendimiento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900988" y="48958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4143375" y="4895850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Buena precisión en problemas simples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05750" y="489585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precisión en tareas complejas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824538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4" name="Shape 52"/>
          <p:cNvSpPr/>
          <p:nvPr/>
        </p:nvSpPr>
        <p:spPr>
          <a:xfrm>
            <a:off x="4138613" y="536257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381000" y="536257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Interpretabilidad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900988" y="536257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4143375" y="5362575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más interpretables (árboles, regresión)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05750" y="536257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"Caja negra": difícil de interpretar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1000" y="6291263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0" name="Shape 58"/>
          <p:cNvSpPr/>
          <p:nvPr/>
        </p:nvSpPr>
        <p:spPr>
          <a:xfrm>
            <a:off x="4138613" y="58293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381000" y="58293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de Datos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900988" y="58293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4143375" y="5829300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con datos estructurados y tabulares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905750" y="5829300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Excelente con datos no estructurados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1000" y="6757988"/>
            <a:ext cx="11287125" cy="9525"/>
          </a:xfrm>
          <a:custGeom>
            <a:avLst/>
            <a:gdLst/>
            <a:ahLst/>
            <a:cxnLst/>
            <a:rect l="l" t="t" r="r" b="b"/>
            <a:pathLst>
              <a:path w="11287125" h="9525">
                <a:moveTo>
                  <a:pt x="0" y="0"/>
                </a:moveTo>
                <a:lnTo>
                  <a:pt x="11287125" y="0"/>
                </a:lnTo>
                <a:lnTo>
                  <a:pt x="11287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6" name="Shape 64"/>
          <p:cNvSpPr/>
          <p:nvPr/>
        </p:nvSpPr>
        <p:spPr>
          <a:xfrm>
            <a:off x="4138613" y="62960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7" name="Text 65"/>
          <p:cNvSpPr/>
          <p:nvPr/>
        </p:nvSpPr>
        <p:spPr>
          <a:xfrm>
            <a:off x="381000" y="62960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Complejidad de Correlaciones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900988" y="6296025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9" name="Text 67"/>
          <p:cNvSpPr/>
          <p:nvPr/>
        </p:nvSpPr>
        <p:spPr>
          <a:xfrm>
            <a:off x="4143375" y="6296025"/>
            <a:ext cx="38195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Maneja correlaciones lineales o simples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905750" y="6296025"/>
            <a:ext cx="38290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Captura correlaciones no lineales complejas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138613" y="676275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381000" y="6762750"/>
            <a:ext cx="382905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Dependencia de Datos Etiquetados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900988" y="676275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4143375" y="6762750"/>
            <a:ext cx="3819525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datos etiquetados, puede usar semi-supervisado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905750" y="6762750"/>
            <a:ext cx="3829050" cy="609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Muy dependiente de grandes cantidades de datos etiquetados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8a5eab363c75ce2189f038e3707c3f275785bab.jpg">    </p:cNvPr>
          <p:cNvPicPr>
            <a:picLocks noChangeAspect="1"/>
          </p:cNvPicPr>
          <p:nvPr/>
        </p:nvPicPr>
        <p:blipFill>
          <a:blip r:embed="rId1"/>
          <a:srcRect l="0" r="0" t="1299" b="12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85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71E3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02510" y="79772"/>
            <a:ext cx="2990850" cy="504825"/>
          </a:xfrm>
          <a:custGeom>
            <a:avLst/>
            <a:gdLst/>
            <a:ahLst/>
            <a:cxnLst/>
            <a:rect l="l" t="t" r="r" b="b"/>
            <a:pathLst>
              <a:path w="2990850" h="504825">
                <a:moveTo>
                  <a:pt x="252413" y="0"/>
                </a:moveTo>
                <a:lnTo>
                  <a:pt x="2738438" y="0"/>
                </a:lnTo>
                <a:cubicBezTo>
                  <a:pt x="2877748" y="0"/>
                  <a:pt x="2990850" y="113102"/>
                  <a:pt x="2990850" y="252413"/>
                </a:cubicBezTo>
                <a:lnTo>
                  <a:pt x="2990850" y="252413"/>
                </a:lnTo>
                <a:cubicBezTo>
                  <a:pt x="2990850" y="391723"/>
                  <a:pt x="2877748" y="504825"/>
                  <a:pt x="2738438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64447" y="198834"/>
            <a:ext cx="24628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150" kern="0" dirty="0">
                <a:solidFill>
                  <a:srgbClr val="0071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ES AHORA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92660" y="894159"/>
            <a:ext cx="82105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Futuro 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3851" y="2913459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2092672" y="3351609"/>
            <a:ext cx="801052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5F5F7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El Deep Learning continúa revolucionando la inteligencia artificial,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5F5F7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abriendo nuevas posibilidades en cada industria y transformando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5F5F7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 forma en que interactuamos con la tecnología.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35969" y="5435203"/>
            <a:ext cx="1847850" cy="1343025"/>
          </a:xfrm>
          <a:custGeom>
            <a:avLst/>
            <a:gdLst/>
            <a:ahLst/>
            <a:cxnLst/>
            <a:rect l="l" t="t" r="r" b="b"/>
            <a:pathLst>
              <a:path w="1847850" h="1343025">
                <a:moveTo>
                  <a:pt x="152406" y="0"/>
                </a:moveTo>
                <a:lnTo>
                  <a:pt x="1695444" y="0"/>
                </a:lnTo>
                <a:cubicBezTo>
                  <a:pt x="1779615" y="0"/>
                  <a:pt x="1847850" y="68235"/>
                  <a:pt x="1847850" y="152406"/>
                </a:cubicBezTo>
                <a:lnTo>
                  <a:pt x="1847850" y="1190619"/>
                </a:lnTo>
                <a:cubicBezTo>
                  <a:pt x="1847850" y="1274790"/>
                  <a:pt x="1779615" y="1343025"/>
                  <a:pt x="1695444" y="1343025"/>
                </a:cubicBezTo>
                <a:lnTo>
                  <a:pt x="152406" y="1343025"/>
                </a:lnTo>
                <a:cubicBezTo>
                  <a:pt x="68235" y="1343025"/>
                  <a:pt x="0" y="1274790"/>
                  <a:pt x="0" y="11906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33080" y="56685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8"/>
          <p:cNvSpPr/>
          <p:nvPr/>
        </p:nvSpPr>
        <p:spPr>
          <a:xfrm>
            <a:off x="2221706" y="6278166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General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25516" y="5435203"/>
            <a:ext cx="1847850" cy="1343025"/>
          </a:xfrm>
          <a:custGeom>
            <a:avLst/>
            <a:gdLst/>
            <a:ahLst/>
            <a:cxnLst/>
            <a:rect l="l" t="t" r="r" b="b"/>
            <a:pathLst>
              <a:path w="1847850" h="1343025">
                <a:moveTo>
                  <a:pt x="152406" y="0"/>
                </a:moveTo>
                <a:lnTo>
                  <a:pt x="1695444" y="0"/>
                </a:lnTo>
                <a:cubicBezTo>
                  <a:pt x="1779615" y="0"/>
                  <a:pt x="1847850" y="68235"/>
                  <a:pt x="1847850" y="152406"/>
                </a:cubicBezTo>
                <a:lnTo>
                  <a:pt x="1847850" y="1190619"/>
                </a:lnTo>
                <a:cubicBezTo>
                  <a:pt x="1847850" y="1274790"/>
                  <a:pt x="1779615" y="1343025"/>
                  <a:pt x="1695444" y="1343025"/>
                </a:cubicBezTo>
                <a:lnTo>
                  <a:pt x="152406" y="1343025"/>
                </a:lnTo>
                <a:cubicBezTo>
                  <a:pt x="68235" y="1343025"/>
                  <a:pt x="0" y="1274790"/>
                  <a:pt x="0" y="11906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65477" y="5668566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1"/>
          <p:cNvSpPr/>
          <p:nvPr/>
        </p:nvSpPr>
        <p:spPr>
          <a:xfrm>
            <a:off x="4311253" y="6278166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5063" y="5435203"/>
            <a:ext cx="1847850" cy="1343025"/>
          </a:xfrm>
          <a:custGeom>
            <a:avLst/>
            <a:gdLst/>
            <a:ahLst/>
            <a:cxnLst/>
            <a:rect l="l" t="t" r="r" b="b"/>
            <a:pathLst>
              <a:path w="1847850" h="1343025">
                <a:moveTo>
                  <a:pt x="152406" y="0"/>
                </a:moveTo>
                <a:lnTo>
                  <a:pt x="1695444" y="0"/>
                </a:lnTo>
                <a:cubicBezTo>
                  <a:pt x="1779615" y="0"/>
                  <a:pt x="1847850" y="68235"/>
                  <a:pt x="1847850" y="152406"/>
                </a:cubicBezTo>
                <a:lnTo>
                  <a:pt x="1847850" y="1190619"/>
                </a:lnTo>
                <a:cubicBezTo>
                  <a:pt x="1847850" y="1274790"/>
                  <a:pt x="1779615" y="1343025"/>
                  <a:pt x="1695444" y="1343025"/>
                </a:cubicBezTo>
                <a:lnTo>
                  <a:pt x="152406" y="1343025"/>
                </a:lnTo>
                <a:cubicBezTo>
                  <a:pt x="68235" y="1343025"/>
                  <a:pt x="0" y="1274790"/>
                  <a:pt x="0" y="11906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12173" y="56685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0"/>
                </a:moveTo>
                <a:cubicBezTo>
                  <a:pt x="133499" y="0"/>
                  <a:pt x="114300" y="19199"/>
                  <a:pt x="114300" y="42863"/>
                </a:cubicBezTo>
                <a:lnTo>
                  <a:pt x="114300" y="228600"/>
                </a:lnTo>
                <a:cubicBezTo>
                  <a:pt x="114300" y="252264"/>
                  <a:pt x="133499" y="271463"/>
                  <a:pt x="157163" y="271463"/>
                </a:cubicBezTo>
                <a:lnTo>
                  <a:pt x="214313" y="271463"/>
                </a:lnTo>
                <a:cubicBezTo>
                  <a:pt x="237976" y="271463"/>
                  <a:pt x="257175" y="252264"/>
                  <a:pt x="257175" y="228600"/>
                </a:cubicBezTo>
                <a:lnTo>
                  <a:pt x="257175" y="171450"/>
                </a:lnTo>
                <a:lnTo>
                  <a:pt x="285750" y="171450"/>
                </a:lnTo>
                <a:cubicBezTo>
                  <a:pt x="348883" y="171450"/>
                  <a:pt x="400050" y="222617"/>
                  <a:pt x="400050" y="285750"/>
                </a:cubicBezTo>
                <a:cubicBezTo>
                  <a:pt x="400050" y="348883"/>
                  <a:pt x="348883" y="400050"/>
                  <a:pt x="285750" y="4000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2819"/>
                  <a:pt x="444431" y="400050"/>
                  <a:pt x="428625" y="400050"/>
                </a:cubicBezTo>
                <a:lnTo>
                  <a:pt x="413534" y="400050"/>
                </a:lnTo>
                <a:cubicBezTo>
                  <a:pt x="440680" y="369689"/>
                  <a:pt x="457200" y="329684"/>
                  <a:pt x="457200" y="285750"/>
                </a:cubicBezTo>
                <a:cubicBezTo>
                  <a:pt x="457200" y="191095"/>
                  <a:pt x="380405" y="114300"/>
                  <a:pt x="285750" y="114300"/>
                </a:cubicBezTo>
                <a:lnTo>
                  <a:pt x="257175" y="114300"/>
                </a:lnTo>
                <a:lnTo>
                  <a:pt x="257175" y="42863"/>
                </a:lnTo>
                <a:cubicBezTo>
                  <a:pt x="257175" y="19199"/>
                  <a:pt x="237976" y="0"/>
                  <a:pt x="214313" y="0"/>
                </a:cubicBezTo>
                <a:lnTo>
                  <a:pt x="157163" y="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64319" y="357188"/>
                </a:lnTo>
                <a:cubicBezTo>
                  <a:pt x="276195" y="357188"/>
                  <a:pt x="285750" y="347633"/>
                  <a:pt x="285750" y="335756"/>
                </a:cubicBezTo>
                <a:cubicBezTo>
                  <a:pt x="285750" y="323880"/>
                  <a:pt x="276195" y="314325"/>
                  <a:pt x="264319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6278166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04609" y="5435203"/>
            <a:ext cx="1847850" cy="1343025"/>
          </a:xfrm>
          <a:custGeom>
            <a:avLst/>
            <a:gdLst/>
            <a:ahLst/>
            <a:cxnLst/>
            <a:rect l="l" t="t" r="r" b="b"/>
            <a:pathLst>
              <a:path w="1847850" h="1343025">
                <a:moveTo>
                  <a:pt x="152406" y="0"/>
                </a:moveTo>
                <a:lnTo>
                  <a:pt x="1695444" y="0"/>
                </a:lnTo>
                <a:cubicBezTo>
                  <a:pt x="1779615" y="0"/>
                  <a:pt x="1847850" y="68235"/>
                  <a:pt x="1847850" y="152406"/>
                </a:cubicBezTo>
                <a:lnTo>
                  <a:pt x="1847850" y="1190619"/>
                </a:lnTo>
                <a:cubicBezTo>
                  <a:pt x="1847850" y="1274790"/>
                  <a:pt x="1779615" y="1343025"/>
                  <a:pt x="1695444" y="1343025"/>
                </a:cubicBezTo>
                <a:lnTo>
                  <a:pt x="152406" y="1343025"/>
                </a:lnTo>
                <a:cubicBezTo>
                  <a:pt x="68235" y="1343025"/>
                  <a:pt x="0" y="1274790"/>
                  <a:pt x="0" y="11906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01720" y="56685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7"/>
          <p:cNvSpPr/>
          <p:nvPr/>
        </p:nvSpPr>
        <p:spPr>
          <a:xfrm>
            <a:off x="8490347" y="6278166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Conectividad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Learning: Fundamentos y Arquitecturas</dc:title>
  <dc:subject>Deep Learning: Fundamentos y Arquitecturas</dc:subject>
  <dc:creator>Kimi</dc:creator>
  <cp:lastModifiedBy>Kimi</cp:lastModifiedBy>
  <cp:revision>1</cp:revision>
  <dcterms:created xsi:type="dcterms:W3CDTF">2026-02-18T12:28:20Z</dcterms:created>
  <dcterms:modified xsi:type="dcterms:W3CDTF">2026-02-18T12:28:20Z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{"Label":"Deep Learning: Fundamentos y Arquitecturas","ContentProducer":"001191110108MACG2KBH8F10000","ProduceID":"19c70b42-b1b2-81ac-8000-0000999e6890","ReservedCode1":"","ContentPropagator":"001191110108MACG2KBH8F20000","PropagateID":"19c70b42-b1b2-81ac-8000-0000999e6890","ReservedCode2":""}</vt:lpwstr>
  </property>
</Properties>
</file>