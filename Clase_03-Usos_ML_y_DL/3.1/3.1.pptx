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MiSans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8ed74bb28a59c679aef16165910d02e33c96be28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71E3">
                  <a:alpha val="8000"/>
                </a:srgbClr>
              </a:gs>
              <a:gs pos="100000">
                <a:srgbClr val="0071E3">
                  <a:alpha val="2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561856" y="1376363"/>
            <a:ext cx="1066800" cy="381000"/>
          </a:xfrm>
          <a:custGeom>
            <a:avLst/>
            <a:gdLst/>
            <a:ahLst/>
            <a:cxnLst/>
            <a:rect l="l" t="t" r="r" b="b"/>
            <a:pathLst>
              <a:path w="1066800" h="381000">
                <a:moveTo>
                  <a:pt x="190500" y="0"/>
                </a:moveTo>
                <a:lnTo>
                  <a:pt x="876300" y="0"/>
                </a:lnTo>
                <a:cubicBezTo>
                  <a:pt x="981440" y="0"/>
                  <a:pt x="1066800" y="85360"/>
                  <a:pt x="1066800" y="190500"/>
                </a:cubicBezTo>
                <a:lnTo>
                  <a:pt x="1066800" y="190500"/>
                </a:lnTo>
                <a:cubicBezTo>
                  <a:pt x="1066800" y="295640"/>
                  <a:pt x="981440" y="381000"/>
                  <a:pt x="8763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" name="Text 2"/>
          <p:cNvSpPr/>
          <p:nvPr/>
        </p:nvSpPr>
        <p:spPr>
          <a:xfrm>
            <a:off x="5523756" y="1376363"/>
            <a:ext cx="1143000" cy="381000"/>
          </a:xfrm>
          <a:prstGeom prst="rect">
            <a:avLst/>
          </a:prstGeom>
          <a:noFill/>
          <a:ln/>
        </p:spPr>
        <p:txBody>
          <a:bodyPr wrap="square" lIns="228600" tIns="76200" rIns="2286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Clase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759297" y="2290763"/>
            <a:ext cx="867727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Usos de Machine Learning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 Deep Learning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657624" y="4233863"/>
            <a:ext cx="68770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Fundamentos y Aplicaciones de la Inteligencia Artificial Moderna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720108" y="525303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" name="Text 6"/>
          <p:cNvSpPr/>
          <p:nvPr/>
        </p:nvSpPr>
        <p:spPr>
          <a:xfrm>
            <a:off x="4005858" y="5214938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Inteligencia Artificial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947172" y="5233988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11" name="Shape 8"/>
          <p:cNvSpPr/>
          <p:nvPr/>
        </p:nvSpPr>
        <p:spPr>
          <a:xfrm>
            <a:off x="6285309" y="525303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2" name="Text 9"/>
          <p:cNvSpPr/>
          <p:nvPr/>
        </p:nvSpPr>
        <p:spPr>
          <a:xfrm>
            <a:off x="6571059" y="5214938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Aprendizaje Automático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CONTENIDO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Índice de la Clase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528763"/>
            <a:ext cx="5553075" cy="2314575"/>
          </a:xfrm>
          <a:custGeom>
            <a:avLst/>
            <a:gdLst/>
            <a:ahLst/>
            <a:cxnLst/>
            <a:rect l="l" t="t" r="r" b="b"/>
            <a:pathLst>
              <a:path w="5553075" h="2314575">
                <a:moveTo>
                  <a:pt x="228611" y="0"/>
                </a:moveTo>
                <a:lnTo>
                  <a:pt x="5324464" y="0"/>
                </a:lnTo>
                <a:cubicBezTo>
                  <a:pt x="5450638" y="0"/>
                  <a:pt x="5553075" y="102437"/>
                  <a:pt x="5553075" y="228611"/>
                </a:cubicBezTo>
                <a:lnTo>
                  <a:pt x="5553075" y="2085964"/>
                </a:lnTo>
                <a:cubicBezTo>
                  <a:pt x="5553075" y="2212138"/>
                  <a:pt x="5450638" y="2314575"/>
                  <a:pt x="5324464" y="2314575"/>
                </a:cubicBezTo>
                <a:lnTo>
                  <a:pt x="228611" y="2314575"/>
                </a:lnTo>
                <a:cubicBezTo>
                  <a:pt x="102437" y="2314575"/>
                  <a:pt x="0" y="2212138"/>
                  <a:pt x="0" y="2085964"/>
                </a:cubicBezTo>
                <a:lnTo>
                  <a:pt x="0" y="228611"/>
                </a:lnTo>
                <a:cubicBezTo>
                  <a:pt x="0" y="102437"/>
                  <a:pt x="102437" y="0"/>
                  <a:pt x="22861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1525" y="2058591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Text 4"/>
          <p:cNvSpPr/>
          <p:nvPr/>
        </p:nvSpPr>
        <p:spPr>
          <a:xfrm>
            <a:off x="700088" y="2058591"/>
            <a:ext cx="904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62125" y="2058591"/>
            <a:ext cx="3905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Fundamentos del ML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62125" y="2477691"/>
            <a:ext cx="38766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 de Machine Learning, características clave y conceptos esenciales para comprender esta rama de la inteligencia artificial.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53163" y="1528763"/>
            <a:ext cx="5553075" cy="2314575"/>
          </a:xfrm>
          <a:custGeom>
            <a:avLst/>
            <a:gdLst/>
            <a:ahLst/>
            <a:cxnLst/>
            <a:rect l="l" t="t" r="r" b="b"/>
            <a:pathLst>
              <a:path w="5553075" h="2314575">
                <a:moveTo>
                  <a:pt x="228611" y="0"/>
                </a:moveTo>
                <a:lnTo>
                  <a:pt x="5324464" y="0"/>
                </a:lnTo>
                <a:cubicBezTo>
                  <a:pt x="5450638" y="0"/>
                  <a:pt x="5553075" y="102437"/>
                  <a:pt x="5553075" y="228611"/>
                </a:cubicBezTo>
                <a:lnTo>
                  <a:pt x="5553075" y="2085964"/>
                </a:lnTo>
                <a:cubicBezTo>
                  <a:pt x="5553075" y="2212138"/>
                  <a:pt x="5450638" y="2314575"/>
                  <a:pt x="5324464" y="2314575"/>
                </a:cubicBezTo>
                <a:lnTo>
                  <a:pt x="228611" y="2314575"/>
                </a:lnTo>
                <a:cubicBezTo>
                  <a:pt x="102437" y="2314575"/>
                  <a:pt x="0" y="2212138"/>
                  <a:pt x="0" y="2085964"/>
                </a:cubicBezTo>
                <a:lnTo>
                  <a:pt x="0" y="228611"/>
                </a:lnTo>
                <a:cubicBezTo>
                  <a:pt x="0" y="102437"/>
                  <a:pt x="102437" y="0"/>
                  <a:pt x="22861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38925" y="2058591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" name="Text 9"/>
          <p:cNvSpPr/>
          <p:nvPr/>
        </p:nvSpPr>
        <p:spPr>
          <a:xfrm>
            <a:off x="6567488" y="2058591"/>
            <a:ext cx="904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9525" y="2058591"/>
            <a:ext cx="3905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Tipos de Machine Learning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9525" y="2477691"/>
            <a:ext cx="38766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Aprendizaje Supervisado, No Supervisado y Por Refuerzo: sus diferencias, algoritmos y aplicaciones prácticas.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763" y="4157663"/>
            <a:ext cx="5553075" cy="2314575"/>
          </a:xfrm>
          <a:custGeom>
            <a:avLst/>
            <a:gdLst/>
            <a:ahLst/>
            <a:cxnLst/>
            <a:rect l="l" t="t" r="r" b="b"/>
            <a:pathLst>
              <a:path w="5553075" h="2314575">
                <a:moveTo>
                  <a:pt x="228611" y="0"/>
                </a:moveTo>
                <a:lnTo>
                  <a:pt x="5324464" y="0"/>
                </a:lnTo>
                <a:cubicBezTo>
                  <a:pt x="5450638" y="0"/>
                  <a:pt x="5553075" y="102437"/>
                  <a:pt x="5553075" y="228611"/>
                </a:cubicBezTo>
                <a:lnTo>
                  <a:pt x="5553075" y="2085964"/>
                </a:lnTo>
                <a:cubicBezTo>
                  <a:pt x="5553075" y="2212138"/>
                  <a:pt x="5450638" y="2314575"/>
                  <a:pt x="5324464" y="2314575"/>
                </a:cubicBezTo>
                <a:lnTo>
                  <a:pt x="228611" y="2314575"/>
                </a:lnTo>
                <a:cubicBezTo>
                  <a:pt x="102437" y="2314575"/>
                  <a:pt x="0" y="2212138"/>
                  <a:pt x="0" y="2085964"/>
                </a:cubicBezTo>
                <a:lnTo>
                  <a:pt x="0" y="228611"/>
                </a:lnTo>
                <a:cubicBezTo>
                  <a:pt x="0" y="102437"/>
                  <a:pt x="102437" y="0"/>
                  <a:pt x="22861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1525" y="4687491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6" name="Text 14"/>
          <p:cNvSpPr/>
          <p:nvPr/>
        </p:nvSpPr>
        <p:spPr>
          <a:xfrm>
            <a:off x="700088" y="4687491"/>
            <a:ext cx="904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62125" y="4687491"/>
            <a:ext cx="3905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Comparativa y Análisis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62125" y="5106591"/>
            <a:ext cx="38766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Comparación visual de los tres tipos de ML, destacando procesos de aprendizaje y casos de uso típicos.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53163" y="4157663"/>
            <a:ext cx="5553075" cy="2314575"/>
          </a:xfrm>
          <a:custGeom>
            <a:avLst/>
            <a:gdLst/>
            <a:ahLst/>
            <a:cxnLst/>
            <a:rect l="l" t="t" r="r" b="b"/>
            <a:pathLst>
              <a:path w="5553075" h="2314575">
                <a:moveTo>
                  <a:pt x="228611" y="0"/>
                </a:moveTo>
                <a:lnTo>
                  <a:pt x="5324464" y="0"/>
                </a:lnTo>
                <a:cubicBezTo>
                  <a:pt x="5450638" y="0"/>
                  <a:pt x="5553075" y="102437"/>
                  <a:pt x="5553075" y="228611"/>
                </a:cubicBezTo>
                <a:lnTo>
                  <a:pt x="5553075" y="2085964"/>
                </a:lnTo>
                <a:cubicBezTo>
                  <a:pt x="5553075" y="2212138"/>
                  <a:pt x="5450638" y="2314575"/>
                  <a:pt x="5324464" y="2314575"/>
                </a:cubicBezTo>
                <a:lnTo>
                  <a:pt x="228611" y="2314575"/>
                </a:lnTo>
                <a:cubicBezTo>
                  <a:pt x="102437" y="2314575"/>
                  <a:pt x="0" y="2212138"/>
                  <a:pt x="0" y="2085964"/>
                </a:cubicBezTo>
                <a:lnTo>
                  <a:pt x="0" y="228611"/>
                </a:lnTo>
                <a:cubicBezTo>
                  <a:pt x="0" y="102437"/>
                  <a:pt x="102437" y="0"/>
                  <a:pt x="22861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38925" y="4826794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1" name="Text 19"/>
          <p:cNvSpPr/>
          <p:nvPr/>
        </p:nvSpPr>
        <p:spPr>
          <a:xfrm>
            <a:off x="6567488" y="4826794"/>
            <a:ext cx="904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9525" y="4826794"/>
            <a:ext cx="3905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Aplicaciones Prácticas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9525" y="5245894"/>
            <a:ext cx="38766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Ejemplos reales de ML en diferentes industrias: finanzas, salud, comercio electrónico y más.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iro.medium.com/64cd9ab5b963ec27e4ba6a1d7c6591d534f0337a.jpe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D1D1F"/>
              </a:gs>
              <a:gs pos="50000">
                <a:srgbClr val="1D1D1F">
                  <a:alpha val="95000"/>
                </a:srgbClr>
              </a:gs>
              <a:gs pos="100000">
                <a:srgbClr val="0071E3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438275"/>
            <a:ext cx="1276350" cy="342900"/>
          </a:xfrm>
          <a:custGeom>
            <a:avLst/>
            <a:gdLst/>
            <a:ahLst/>
            <a:cxnLst/>
            <a:rect l="l" t="t" r="r" b="b"/>
            <a:pathLst>
              <a:path w="1276350" h="342900">
                <a:moveTo>
                  <a:pt x="171450" y="0"/>
                </a:moveTo>
                <a:lnTo>
                  <a:pt x="1104900" y="0"/>
                </a:lnTo>
                <a:cubicBezTo>
                  <a:pt x="1199526" y="0"/>
                  <a:pt x="1276350" y="76824"/>
                  <a:pt x="1276350" y="171450"/>
                </a:cubicBezTo>
                <a:lnTo>
                  <a:pt x="1276350" y="171450"/>
                </a:lnTo>
                <a:cubicBezTo>
                  <a:pt x="1276350" y="266076"/>
                  <a:pt x="1199526" y="342900"/>
                  <a:pt x="1104900" y="342900"/>
                </a:cubicBezTo>
                <a:lnTo>
                  <a:pt x="171450" y="342900"/>
                </a:lnTo>
                <a:cubicBezTo>
                  <a:pt x="76824" y="342900"/>
                  <a:pt x="0" y="266076"/>
                  <a:pt x="0" y="171450"/>
                </a:cubicBezTo>
                <a:lnTo>
                  <a:pt x="0" y="171450"/>
                </a:lnTo>
                <a:cubicBezTo>
                  <a:pt x="0" y="76824"/>
                  <a:pt x="76824" y="0"/>
                  <a:pt x="17145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1438275"/>
            <a:ext cx="1343025" cy="342900"/>
          </a:xfrm>
          <a:prstGeom prst="rect">
            <a:avLst/>
          </a:prstGeom>
          <a:noFill/>
          <a:ln/>
        </p:spPr>
        <p:txBody>
          <a:bodyPr wrap="square" lIns="190500" tIns="76200" rIns="1905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CAPÍTULO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09775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Fundamentos del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95287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 y conceptos esenciales para comprender esta revolucionaria tecnología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267325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5153025"/>
            <a:ext cx="3448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Conceptos básicos • Características clave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1.3.1 DEFINICIÓN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¿Qué es Machine Learning?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418034"/>
            <a:ext cx="6105525" cy="2619375"/>
          </a:xfrm>
          <a:custGeom>
            <a:avLst/>
            <a:gdLst/>
            <a:ahLst/>
            <a:cxnLst/>
            <a:rect l="l" t="t" r="r" b="b"/>
            <a:pathLst>
              <a:path w="6105525" h="2619375">
                <a:moveTo>
                  <a:pt x="228593" y="0"/>
                </a:moveTo>
                <a:lnTo>
                  <a:pt x="5876932" y="0"/>
                </a:lnTo>
                <a:cubicBezTo>
                  <a:pt x="6003180" y="0"/>
                  <a:pt x="6105525" y="102345"/>
                  <a:pt x="6105525" y="228593"/>
                </a:cubicBezTo>
                <a:lnTo>
                  <a:pt x="6105525" y="2390782"/>
                </a:lnTo>
                <a:cubicBezTo>
                  <a:pt x="6105525" y="2517030"/>
                  <a:pt x="6003180" y="2619375"/>
                  <a:pt x="5876932" y="2619375"/>
                </a:cubicBezTo>
                <a:lnTo>
                  <a:pt x="228593" y="2619375"/>
                </a:lnTo>
                <a:cubicBezTo>
                  <a:pt x="102345" y="2619375"/>
                  <a:pt x="0" y="2517030"/>
                  <a:pt x="0" y="2390782"/>
                </a:cubicBezTo>
                <a:lnTo>
                  <a:pt x="0" y="228593"/>
                </a:lnTo>
                <a:cubicBezTo>
                  <a:pt x="0" y="102345"/>
                  <a:pt x="102345" y="0"/>
                  <a:pt x="22859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5325" y="172759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19150" y="1879997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" name="Text 5"/>
          <p:cNvSpPr/>
          <p:nvPr/>
        </p:nvSpPr>
        <p:spPr>
          <a:xfrm>
            <a:off x="1419225" y="1727597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Aprendizaje Automático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9225" y="2146697"/>
            <a:ext cx="4848225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Machine Learning (ML)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 aprendizaje automático es una rama de la inteligencia artificial (IA) que permite a las computadoras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0071E3"/>
                </a:solidFill>
                <a:highlight>
                  <a:srgbClr val="0071E3">
                    <a:alpha val="1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aprender de los datos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 mejorar su rendimiento en tareas específicas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 ser programadas explícitamente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para cada caso.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763" y="4277916"/>
            <a:ext cx="6105525" cy="2152650"/>
          </a:xfrm>
          <a:custGeom>
            <a:avLst/>
            <a:gdLst/>
            <a:ahLst/>
            <a:cxnLst/>
            <a:rect l="l" t="t" r="r" b="b"/>
            <a:pathLst>
              <a:path w="6105525" h="2152650">
                <a:moveTo>
                  <a:pt x="228590" y="0"/>
                </a:moveTo>
                <a:lnTo>
                  <a:pt x="5876935" y="0"/>
                </a:lnTo>
                <a:cubicBezTo>
                  <a:pt x="6003182" y="0"/>
                  <a:pt x="6105525" y="102343"/>
                  <a:pt x="6105525" y="228590"/>
                </a:cubicBezTo>
                <a:lnTo>
                  <a:pt x="6105525" y="1924060"/>
                </a:lnTo>
                <a:cubicBezTo>
                  <a:pt x="6105525" y="2050307"/>
                  <a:pt x="6003182" y="2152650"/>
                  <a:pt x="5876935" y="2152650"/>
                </a:cubicBezTo>
                <a:lnTo>
                  <a:pt x="228590" y="2152650"/>
                </a:lnTo>
                <a:cubicBezTo>
                  <a:pt x="102343" y="2152650"/>
                  <a:pt x="0" y="2050307"/>
                  <a:pt x="0" y="1924060"/>
                </a:cubicBezTo>
                <a:lnTo>
                  <a:pt x="0" y="228590"/>
                </a:lnTo>
                <a:cubicBezTo>
                  <a:pt x="0" y="102428"/>
                  <a:pt x="102428" y="0"/>
                  <a:pt x="22859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5325" y="458747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76300" y="4739878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2" name="Text 10"/>
          <p:cNvSpPr/>
          <p:nvPr/>
        </p:nvSpPr>
        <p:spPr>
          <a:xfrm>
            <a:off x="1419225" y="4587478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Cómo Funciona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9225" y="5006578"/>
            <a:ext cx="4848225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 lugar de seguir reglas predefinidas, los modelos de Machine Learning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analizan patrones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en conjuntos de datos y generan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predicciones o clasificaciones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basadas en esos patrones identificados.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09482" y="1376363"/>
            <a:ext cx="5000625" cy="5095875"/>
          </a:xfrm>
          <a:custGeom>
            <a:avLst/>
            <a:gdLst/>
            <a:ahLst/>
            <a:cxnLst/>
            <a:rect l="l" t="t" r="r" b="b"/>
            <a:pathLst>
              <a:path w="5000625" h="5095875">
                <a:moveTo>
                  <a:pt x="228579" y="0"/>
                </a:moveTo>
                <a:lnTo>
                  <a:pt x="4772046" y="0"/>
                </a:lnTo>
                <a:cubicBezTo>
                  <a:pt x="4898202" y="0"/>
                  <a:pt x="5000625" y="102423"/>
                  <a:pt x="5000625" y="228579"/>
                </a:cubicBezTo>
                <a:lnTo>
                  <a:pt x="5000625" y="4867296"/>
                </a:lnTo>
                <a:cubicBezTo>
                  <a:pt x="5000625" y="4993537"/>
                  <a:pt x="4898287" y="5095875"/>
                  <a:pt x="4772046" y="5095875"/>
                </a:cubicBezTo>
                <a:lnTo>
                  <a:pt x="228579" y="5095875"/>
                </a:lnTo>
                <a:cubicBezTo>
                  <a:pt x="102423" y="5095875"/>
                  <a:pt x="0" y="4993452"/>
                  <a:pt x="0" y="4867296"/>
                </a:cubicBezTo>
                <a:lnTo>
                  <a:pt x="0" y="228579"/>
                </a:lnTo>
                <a:cubicBezTo>
                  <a:pt x="0" y="102338"/>
                  <a:pt x="102338" y="0"/>
                  <a:pt x="22857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61895" y="2000250"/>
            <a:ext cx="449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Proceso de Aprendizaje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19045" y="266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7" name="Text 15"/>
          <p:cNvSpPr/>
          <p:nvPr/>
        </p:nvSpPr>
        <p:spPr>
          <a:xfrm>
            <a:off x="7076182" y="2667000"/>
            <a:ext cx="542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728645" y="2533650"/>
            <a:ext cx="3771900" cy="723900"/>
          </a:xfrm>
          <a:custGeom>
            <a:avLst/>
            <a:gdLst/>
            <a:ahLst/>
            <a:cxnLst/>
            <a:rect l="l" t="t" r="r" b="b"/>
            <a:pathLst>
              <a:path w="3771900" h="723900">
                <a:moveTo>
                  <a:pt x="114297" y="0"/>
                </a:moveTo>
                <a:lnTo>
                  <a:pt x="3657603" y="0"/>
                </a:lnTo>
                <a:cubicBezTo>
                  <a:pt x="3720728" y="0"/>
                  <a:pt x="3771900" y="51172"/>
                  <a:pt x="3771900" y="114297"/>
                </a:cubicBezTo>
                <a:lnTo>
                  <a:pt x="3771900" y="609603"/>
                </a:lnTo>
                <a:cubicBezTo>
                  <a:pt x="3771900" y="672728"/>
                  <a:pt x="3720728" y="723900"/>
                  <a:pt x="365760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9" name="Text 17"/>
          <p:cNvSpPr/>
          <p:nvPr/>
        </p:nvSpPr>
        <p:spPr>
          <a:xfrm>
            <a:off x="7881045" y="2686050"/>
            <a:ext cx="354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Recolección de Datos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81045" y="2914650"/>
            <a:ext cx="3533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Obtener grandes volúmenes de información relevante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236422" y="34480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2" name="Shape 20"/>
          <p:cNvSpPr/>
          <p:nvPr/>
        </p:nvSpPr>
        <p:spPr>
          <a:xfrm>
            <a:off x="7119045" y="3962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3" name="Text 21"/>
          <p:cNvSpPr/>
          <p:nvPr/>
        </p:nvSpPr>
        <p:spPr>
          <a:xfrm>
            <a:off x="7076182" y="3962400"/>
            <a:ext cx="542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28645" y="3829050"/>
            <a:ext cx="3771900" cy="723900"/>
          </a:xfrm>
          <a:custGeom>
            <a:avLst/>
            <a:gdLst/>
            <a:ahLst/>
            <a:cxnLst/>
            <a:rect l="l" t="t" r="r" b="b"/>
            <a:pathLst>
              <a:path w="3771900" h="723900">
                <a:moveTo>
                  <a:pt x="114297" y="0"/>
                </a:moveTo>
                <a:lnTo>
                  <a:pt x="3657603" y="0"/>
                </a:lnTo>
                <a:cubicBezTo>
                  <a:pt x="3720728" y="0"/>
                  <a:pt x="3771900" y="51172"/>
                  <a:pt x="3771900" y="114297"/>
                </a:cubicBezTo>
                <a:lnTo>
                  <a:pt x="3771900" y="609603"/>
                </a:lnTo>
                <a:cubicBezTo>
                  <a:pt x="3771900" y="672728"/>
                  <a:pt x="3720728" y="723900"/>
                  <a:pt x="365760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5" name="Text 23"/>
          <p:cNvSpPr/>
          <p:nvPr/>
        </p:nvSpPr>
        <p:spPr>
          <a:xfrm>
            <a:off x="7881045" y="3981450"/>
            <a:ext cx="354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de Patrones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881045" y="4210050"/>
            <a:ext cx="3533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Identificar relaciones y estructuras en los datos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236422" y="47434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8" name="Shape 26"/>
          <p:cNvSpPr/>
          <p:nvPr/>
        </p:nvSpPr>
        <p:spPr>
          <a:xfrm>
            <a:off x="7119045" y="525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9" name="Text 27"/>
          <p:cNvSpPr/>
          <p:nvPr/>
        </p:nvSpPr>
        <p:spPr>
          <a:xfrm>
            <a:off x="7076182" y="5257800"/>
            <a:ext cx="542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728645" y="5124450"/>
            <a:ext cx="3771900" cy="723900"/>
          </a:xfrm>
          <a:custGeom>
            <a:avLst/>
            <a:gdLst/>
            <a:ahLst/>
            <a:cxnLst/>
            <a:rect l="l" t="t" r="r" b="b"/>
            <a:pathLst>
              <a:path w="3771900" h="723900">
                <a:moveTo>
                  <a:pt x="114297" y="0"/>
                </a:moveTo>
                <a:lnTo>
                  <a:pt x="3657603" y="0"/>
                </a:lnTo>
                <a:cubicBezTo>
                  <a:pt x="3720728" y="0"/>
                  <a:pt x="3771900" y="51172"/>
                  <a:pt x="3771900" y="114297"/>
                </a:cubicBezTo>
                <a:lnTo>
                  <a:pt x="3771900" y="609603"/>
                </a:lnTo>
                <a:cubicBezTo>
                  <a:pt x="3771900" y="672728"/>
                  <a:pt x="3720728" y="723900"/>
                  <a:pt x="365760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1" name="Text 29"/>
          <p:cNvSpPr/>
          <p:nvPr/>
        </p:nvSpPr>
        <p:spPr>
          <a:xfrm>
            <a:off x="7881045" y="5276850"/>
            <a:ext cx="354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Generación de Predicciones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881045" y="5505450"/>
            <a:ext cx="3533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Crear modelos que predicen resultados futuros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1.3.1.1 CARACTERÍSTICAS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Características Clave del Machine Learning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76363"/>
            <a:ext cx="3648075" cy="5095875"/>
          </a:xfrm>
          <a:custGeom>
            <a:avLst/>
            <a:gdLst/>
            <a:ahLst/>
            <a:cxnLst/>
            <a:rect l="l" t="t" r="r" b="b"/>
            <a:pathLst>
              <a:path w="3648075" h="5095875">
                <a:moveTo>
                  <a:pt x="228588" y="0"/>
                </a:moveTo>
                <a:lnTo>
                  <a:pt x="3419487" y="0"/>
                </a:lnTo>
                <a:cubicBezTo>
                  <a:pt x="3545732" y="0"/>
                  <a:pt x="3648075" y="102343"/>
                  <a:pt x="3648075" y="228588"/>
                </a:cubicBezTo>
                <a:lnTo>
                  <a:pt x="3648075" y="4867287"/>
                </a:lnTo>
                <a:cubicBezTo>
                  <a:pt x="3648075" y="4993532"/>
                  <a:pt x="3545732" y="5095875"/>
                  <a:pt x="3419487" y="5095875"/>
                </a:cubicBezTo>
                <a:lnTo>
                  <a:pt x="228588" y="5095875"/>
                </a:lnTo>
                <a:cubicBezTo>
                  <a:pt x="102343" y="5095875"/>
                  <a:pt x="0" y="4993532"/>
                  <a:pt x="0" y="4867287"/>
                </a:cubicBezTo>
                <a:lnTo>
                  <a:pt x="0" y="228588"/>
                </a:lnTo>
                <a:cubicBezTo>
                  <a:pt x="0" y="102427"/>
                  <a:pt x="102427" y="0"/>
                  <a:pt x="22858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5325" y="16859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Shape 4"/>
          <p:cNvSpPr/>
          <p:nvPr/>
        </p:nvSpPr>
        <p:spPr>
          <a:xfrm>
            <a:off x="877491" y="184785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95325" y="2524125"/>
            <a:ext cx="3143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Aprendizaje Basado en Datos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5325" y="3286125"/>
            <a:ext cx="3114675" cy="1962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modelos de ML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identifican patrones automáticamente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en grandes volúmenes de datos, extrayendo insights valiosos sin intervención humana directa.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95325" y="5400675"/>
            <a:ext cx="3028950" cy="762000"/>
          </a:xfrm>
          <a:custGeom>
            <a:avLst/>
            <a:gdLst/>
            <a:ahLst/>
            <a:cxnLst/>
            <a:rect l="l" t="t" r="r" b="b"/>
            <a:pathLst>
              <a:path w="3028950" h="762000">
                <a:moveTo>
                  <a:pt x="114300" y="0"/>
                </a:moveTo>
                <a:lnTo>
                  <a:pt x="2914650" y="0"/>
                </a:lnTo>
                <a:cubicBezTo>
                  <a:pt x="2977734" y="0"/>
                  <a:pt x="3028950" y="51216"/>
                  <a:pt x="3028950" y="114300"/>
                </a:cubicBezTo>
                <a:lnTo>
                  <a:pt x="3028950" y="647700"/>
                </a:lnTo>
                <a:cubicBezTo>
                  <a:pt x="3028950" y="710784"/>
                  <a:pt x="2977734" y="762000"/>
                  <a:pt x="291465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0" name="Shape 8"/>
          <p:cNvSpPr/>
          <p:nvPr/>
        </p:nvSpPr>
        <p:spPr>
          <a:xfrm>
            <a:off x="866775" y="55911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" name="Text 9"/>
          <p:cNvSpPr/>
          <p:nvPr/>
        </p:nvSpPr>
        <p:spPr>
          <a:xfrm>
            <a:off x="1076325" y="5553075"/>
            <a:ext cx="2562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Procesamiento de big data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6775" y="58578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3" name="Text 11"/>
          <p:cNvSpPr/>
          <p:nvPr/>
        </p:nvSpPr>
        <p:spPr>
          <a:xfrm>
            <a:off x="1076325" y="5819775"/>
            <a:ext cx="2562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Detección de correlaciones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71963" y="1376363"/>
            <a:ext cx="3648075" cy="5095875"/>
          </a:xfrm>
          <a:custGeom>
            <a:avLst/>
            <a:gdLst/>
            <a:ahLst/>
            <a:cxnLst/>
            <a:rect l="l" t="t" r="r" b="b"/>
            <a:pathLst>
              <a:path w="3648075" h="5095875">
                <a:moveTo>
                  <a:pt x="228588" y="0"/>
                </a:moveTo>
                <a:lnTo>
                  <a:pt x="3419487" y="0"/>
                </a:lnTo>
                <a:cubicBezTo>
                  <a:pt x="3545732" y="0"/>
                  <a:pt x="3648075" y="102343"/>
                  <a:pt x="3648075" y="228588"/>
                </a:cubicBezTo>
                <a:lnTo>
                  <a:pt x="3648075" y="4867287"/>
                </a:lnTo>
                <a:cubicBezTo>
                  <a:pt x="3648075" y="4993532"/>
                  <a:pt x="3545732" y="5095875"/>
                  <a:pt x="3419487" y="5095875"/>
                </a:cubicBezTo>
                <a:lnTo>
                  <a:pt x="228588" y="5095875"/>
                </a:lnTo>
                <a:cubicBezTo>
                  <a:pt x="102343" y="5095875"/>
                  <a:pt x="0" y="4993532"/>
                  <a:pt x="0" y="4867287"/>
                </a:cubicBezTo>
                <a:lnTo>
                  <a:pt x="0" y="228588"/>
                </a:lnTo>
                <a:cubicBezTo>
                  <a:pt x="0" y="102427"/>
                  <a:pt x="102427" y="0"/>
                  <a:pt x="22858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81525" y="16859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6" name="Shape 14"/>
          <p:cNvSpPr/>
          <p:nvPr/>
        </p:nvSpPr>
        <p:spPr>
          <a:xfrm>
            <a:off x="4763691" y="184785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93762" y="17859"/>
                </a:moveTo>
                <a:lnTo>
                  <a:pt x="13395" y="17859"/>
                </a:lnTo>
                <a:cubicBezTo>
                  <a:pt x="5972" y="17859"/>
                  <a:pt x="0" y="23831"/>
                  <a:pt x="0" y="31254"/>
                </a:cubicBezTo>
                <a:lnTo>
                  <a:pt x="0" y="111621"/>
                </a:lnTo>
                <a:cubicBezTo>
                  <a:pt x="0" y="117035"/>
                  <a:pt x="3237" y="121946"/>
                  <a:pt x="8260" y="124011"/>
                </a:cubicBezTo>
                <a:cubicBezTo>
                  <a:pt x="13283" y="126076"/>
                  <a:pt x="19031" y="124904"/>
                  <a:pt x="22882" y="121109"/>
                </a:cubicBezTo>
                <a:lnTo>
                  <a:pt x="45207" y="98785"/>
                </a:lnTo>
                <a:lnTo>
                  <a:pt x="89297" y="142875"/>
                </a:lnTo>
                <a:lnTo>
                  <a:pt x="45207" y="186965"/>
                </a:lnTo>
                <a:lnTo>
                  <a:pt x="22882" y="164641"/>
                </a:lnTo>
                <a:cubicBezTo>
                  <a:pt x="19031" y="160790"/>
                  <a:pt x="13283" y="159674"/>
                  <a:pt x="8260" y="161739"/>
                </a:cubicBezTo>
                <a:cubicBezTo>
                  <a:pt x="3237" y="163804"/>
                  <a:pt x="0" y="168715"/>
                  <a:pt x="0" y="174129"/>
                </a:cubicBezTo>
                <a:lnTo>
                  <a:pt x="0" y="254496"/>
                </a:lnTo>
                <a:cubicBezTo>
                  <a:pt x="0" y="261919"/>
                  <a:pt x="5972" y="267891"/>
                  <a:pt x="13395" y="267891"/>
                </a:cubicBezTo>
                <a:lnTo>
                  <a:pt x="93762" y="267891"/>
                </a:lnTo>
                <a:cubicBezTo>
                  <a:pt x="99175" y="267891"/>
                  <a:pt x="104087" y="264654"/>
                  <a:pt x="106152" y="259631"/>
                </a:cubicBezTo>
                <a:cubicBezTo>
                  <a:pt x="108217" y="254608"/>
                  <a:pt x="107100" y="248859"/>
                  <a:pt x="103250" y="245008"/>
                </a:cubicBezTo>
                <a:lnTo>
                  <a:pt x="80925" y="222684"/>
                </a:lnTo>
                <a:lnTo>
                  <a:pt x="125016" y="178594"/>
                </a:lnTo>
                <a:lnTo>
                  <a:pt x="169106" y="222684"/>
                </a:lnTo>
                <a:lnTo>
                  <a:pt x="146782" y="245008"/>
                </a:lnTo>
                <a:cubicBezTo>
                  <a:pt x="142931" y="248859"/>
                  <a:pt x="141815" y="254608"/>
                  <a:pt x="143880" y="259631"/>
                </a:cubicBezTo>
                <a:cubicBezTo>
                  <a:pt x="145945" y="264654"/>
                  <a:pt x="150856" y="267891"/>
                  <a:pt x="156270" y="267891"/>
                </a:cubicBezTo>
                <a:lnTo>
                  <a:pt x="236637" y="267891"/>
                </a:lnTo>
                <a:cubicBezTo>
                  <a:pt x="244060" y="267891"/>
                  <a:pt x="250031" y="261919"/>
                  <a:pt x="250031" y="254496"/>
                </a:cubicBezTo>
                <a:lnTo>
                  <a:pt x="250031" y="174129"/>
                </a:lnTo>
                <a:cubicBezTo>
                  <a:pt x="250031" y="168715"/>
                  <a:pt x="246794" y="163804"/>
                  <a:pt x="241771" y="161739"/>
                </a:cubicBezTo>
                <a:cubicBezTo>
                  <a:pt x="236748" y="159674"/>
                  <a:pt x="231000" y="160790"/>
                  <a:pt x="227149" y="164641"/>
                </a:cubicBezTo>
                <a:lnTo>
                  <a:pt x="204825" y="186965"/>
                </a:lnTo>
                <a:lnTo>
                  <a:pt x="160734" y="142875"/>
                </a:lnTo>
                <a:lnTo>
                  <a:pt x="204825" y="98785"/>
                </a:lnTo>
                <a:lnTo>
                  <a:pt x="227149" y="121109"/>
                </a:lnTo>
                <a:cubicBezTo>
                  <a:pt x="231000" y="124960"/>
                  <a:pt x="236748" y="126076"/>
                  <a:pt x="241771" y="124011"/>
                </a:cubicBezTo>
                <a:cubicBezTo>
                  <a:pt x="246794" y="121946"/>
                  <a:pt x="250031" y="117035"/>
                  <a:pt x="250031" y="111621"/>
                </a:cubicBezTo>
                <a:lnTo>
                  <a:pt x="250031" y="31254"/>
                </a:lnTo>
                <a:cubicBezTo>
                  <a:pt x="250031" y="23831"/>
                  <a:pt x="244060" y="17859"/>
                  <a:pt x="236637" y="17859"/>
                </a:cubicBezTo>
                <a:lnTo>
                  <a:pt x="156270" y="17859"/>
                </a:lnTo>
                <a:cubicBezTo>
                  <a:pt x="150856" y="17859"/>
                  <a:pt x="145945" y="21096"/>
                  <a:pt x="143880" y="26119"/>
                </a:cubicBezTo>
                <a:cubicBezTo>
                  <a:pt x="141815" y="31142"/>
                  <a:pt x="142987" y="36891"/>
                  <a:pt x="146782" y="40742"/>
                </a:cubicBezTo>
                <a:lnTo>
                  <a:pt x="169106" y="63066"/>
                </a:lnTo>
                <a:lnTo>
                  <a:pt x="125016" y="107156"/>
                </a:lnTo>
                <a:lnTo>
                  <a:pt x="80925" y="63066"/>
                </a:lnTo>
                <a:lnTo>
                  <a:pt x="103250" y="40742"/>
                </a:lnTo>
                <a:cubicBezTo>
                  <a:pt x="107100" y="36891"/>
                  <a:pt x="108217" y="31142"/>
                  <a:pt x="106152" y="26119"/>
                </a:cubicBezTo>
                <a:cubicBezTo>
                  <a:pt x="104087" y="21096"/>
                  <a:pt x="99175" y="17859"/>
                  <a:pt x="93762" y="1785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81525" y="2524125"/>
            <a:ext cx="3143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Generalización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81525" y="2981325"/>
            <a:ext cx="3114675" cy="2266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modelos pueden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hacer predicciones sobre datos nuevos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que nunca han visto, aplicando el conocimiento aprendido a situaciones desconocidas.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81525" y="5400675"/>
            <a:ext cx="3028950" cy="762000"/>
          </a:xfrm>
          <a:custGeom>
            <a:avLst/>
            <a:gdLst/>
            <a:ahLst/>
            <a:cxnLst/>
            <a:rect l="l" t="t" r="r" b="b"/>
            <a:pathLst>
              <a:path w="3028950" h="762000">
                <a:moveTo>
                  <a:pt x="114300" y="0"/>
                </a:moveTo>
                <a:lnTo>
                  <a:pt x="2914650" y="0"/>
                </a:lnTo>
                <a:cubicBezTo>
                  <a:pt x="2977734" y="0"/>
                  <a:pt x="3028950" y="51216"/>
                  <a:pt x="3028950" y="114300"/>
                </a:cubicBezTo>
                <a:lnTo>
                  <a:pt x="3028950" y="647700"/>
                </a:lnTo>
                <a:cubicBezTo>
                  <a:pt x="3028950" y="710784"/>
                  <a:pt x="2977734" y="762000"/>
                  <a:pt x="291465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2975" y="55911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1" name="Text 19"/>
          <p:cNvSpPr/>
          <p:nvPr/>
        </p:nvSpPr>
        <p:spPr>
          <a:xfrm>
            <a:off x="4962525" y="5553075"/>
            <a:ext cx="2562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Adaptabilidad a nuevos escenarios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52975" y="58578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3" name="Text 21"/>
          <p:cNvSpPr/>
          <p:nvPr/>
        </p:nvSpPr>
        <p:spPr>
          <a:xfrm>
            <a:off x="4962525" y="5819775"/>
            <a:ext cx="2562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Robustez ante variaciones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58163" y="1376363"/>
            <a:ext cx="3648075" cy="5095875"/>
          </a:xfrm>
          <a:custGeom>
            <a:avLst/>
            <a:gdLst/>
            <a:ahLst/>
            <a:cxnLst/>
            <a:rect l="l" t="t" r="r" b="b"/>
            <a:pathLst>
              <a:path w="3648075" h="5095875">
                <a:moveTo>
                  <a:pt x="228588" y="0"/>
                </a:moveTo>
                <a:lnTo>
                  <a:pt x="3419487" y="0"/>
                </a:lnTo>
                <a:cubicBezTo>
                  <a:pt x="3545732" y="0"/>
                  <a:pt x="3648075" y="102343"/>
                  <a:pt x="3648075" y="228588"/>
                </a:cubicBezTo>
                <a:lnTo>
                  <a:pt x="3648075" y="4867287"/>
                </a:lnTo>
                <a:cubicBezTo>
                  <a:pt x="3648075" y="4993532"/>
                  <a:pt x="3545732" y="5095875"/>
                  <a:pt x="3419487" y="5095875"/>
                </a:cubicBezTo>
                <a:lnTo>
                  <a:pt x="228588" y="5095875"/>
                </a:lnTo>
                <a:cubicBezTo>
                  <a:pt x="102343" y="5095875"/>
                  <a:pt x="0" y="4993532"/>
                  <a:pt x="0" y="4867287"/>
                </a:cubicBezTo>
                <a:lnTo>
                  <a:pt x="0" y="228588"/>
                </a:lnTo>
                <a:cubicBezTo>
                  <a:pt x="0" y="102427"/>
                  <a:pt x="102427" y="0"/>
                  <a:pt x="22858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67725" y="16859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6" name="Shape 24"/>
          <p:cNvSpPr/>
          <p:nvPr/>
        </p:nvSpPr>
        <p:spPr>
          <a:xfrm>
            <a:off x="8632031" y="18478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67946" y="107156"/>
                </a:moveTo>
                <a:lnTo>
                  <a:pt x="272355" y="107156"/>
                </a:lnTo>
                <a:cubicBezTo>
                  <a:pt x="279778" y="107156"/>
                  <a:pt x="285750" y="101185"/>
                  <a:pt x="285750" y="93762"/>
                </a:cubicBezTo>
                <a:lnTo>
                  <a:pt x="285750" y="13395"/>
                </a:lnTo>
                <a:cubicBezTo>
                  <a:pt x="285750" y="7981"/>
                  <a:pt x="282513" y="3070"/>
                  <a:pt x="277490" y="1005"/>
                </a:cubicBezTo>
                <a:cubicBezTo>
                  <a:pt x="272467" y="-1060"/>
                  <a:pt x="266719" y="112"/>
                  <a:pt x="262868" y="3907"/>
                </a:cubicBezTo>
                <a:lnTo>
                  <a:pt x="234014" y="32817"/>
                </a:lnTo>
                <a:cubicBezTo>
                  <a:pt x="209290" y="12334"/>
                  <a:pt x="177478" y="0"/>
                  <a:pt x="142875" y="0"/>
                </a:cubicBezTo>
                <a:cubicBezTo>
                  <a:pt x="70879" y="0"/>
                  <a:pt x="11330" y="53243"/>
                  <a:pt x="1451" y="122504"/>
                </a:cubicBezTo>
                <a:cubicBezTo>
                  <a:pt x="56" y="132271"/>
                  <a:pt x="6809" y="141312"/>
                  <a:pt x="16576" y="142708"/>
                </a:cubicBezTo>
                <a:cubicBezTo>
                  <a:pt x="26343" y="144103"/>
                  <a:pt x="35384" y="137294"/>
                  <a:pt x="36779" y="127583"/>
                </a:cubicBezTo>
                <a:cubicBezTo>
                  <a:pt x="44202" y="75623"/>
                  <a:pt x="88906" y="35719"/>
                  <a:pt x="142875" y="35719"/>
                </a:cubicBezTo>
                <a:cubicBezTo>
                  <a:pt x="167655" y="35719"/>
                  <a:pt x="190426" y="44090"/>
                  <a:pt x="208564" y="58210"/>
                </a:cubicBezTo>
                <a:lnTo>
                  <a:pt x="182500" y="84274"/>
                </a:lnTo>
                <a:cubicBezTo>
                  <a:pt x="178650" y="88125"/>
                  <a:pt x="177533" y="93873"/>
                  <a:pt x="179598" y="98896"/>
                </a:cubicBezTo>
                <a:cubicBezTo>
                  <a:pt x="181663" y="103919"/>
                  <a:pt x="186575" y="107156"/>
                  <a:pt x="191988" y="107156"/>
                </a:cubicBezTo>
                <a:lnTo>
                  <a:pt x="267946" y="107156"/>
                </a:lnTo>
                <a:close/>
                <a:moveTo>
                  <a:pt x="284355" y="163246"/>
                </a:moveTo>
                <a:cubicBezTo>
                  <a:pt x="285750" y="153479"/>
                  <a:pt x="278941" y="144438"/>
                  <a:pt x="269230" y="143042"/>
                </a:cubicBezTo>
                <a:cubicBezTo>
                  <a:pt x="259519" y="141647"/>
                  <a:pt x="250422" y="148456"/>
                  <a:pt x="249027" y="158167"/>
                </a:cubicBezTo>
                <a:cubicBezTo>
                  <a:pt x="241604" y="210071"/>
                  <a:pt x="196900" y="249975"/>
                  <a:pt x="142931" y="249975"/>
                </a:cubicBezTo>
                <a:cubicBezTo>
                  <a:pt x="118151" y="249975"/>
                  <a:pt x="95380" y="241604"/>
                  <a:pt x="77242" y="227484"/>
                </a:cubicBezTo>
                <a:lnTo>
                  <a:pt x="103250" y="201476"/>
                </a:lnTo>
                <a:cubicBezTo>
                  <a:pt x="107100" y="197625"/>
                  <a:pt x="108217" y="191877"/>
                  <a:pt x="106152" y="186854"/>
                </a:cubicBezTo>
                <a:cubicBezTo>
                  <a:pt x="104087" y="181831"/>
                  <a:pt x="99175" y="178594"/>
                  <a:pt x="93762" y="178594"/>
                </a:cubicBezTo>
                <a:lnTo>
                  <a:pt x="13395" y="178594"/>
                </a:lnTo>
                <a:cubicBezTo>
                  <a:pt x="5972" y="178594"/>
                  <a:pt x="0" y="184565"/>
                  <a:pt x="0" y="191988"/>
                </a:cubicBezTo>
                <a:lnTo>
                  <a:pt x="0" y="272355"/>
                </a:lnTo>
                <a:cubicBezTo>
                  <a:pt x="0" y="277769"/>
                  <a:pt x="3237" y="282680"/>
                  <a:pt x="8260" y="284745"/>
                </a:cubicBezTo>
                <a:cubicBezTo>
                  <a:pt x="13283" y="286810"/>
                  <a:pt x="19031" y="285638"/>
                  <a:pt x="22882" y="281843"/>
                </a:cubicBezTo>
                <a:lnTo>
                  <a:pt x="51792" y="252933"/>
                </a:lnTo>
                <a:cubicBezTo>
                  <a:pt x="76460" y="273416"/>
                  <a:pt x="108272" y="285750"/>
                  <a:pt x="142875" y="285750"/>
                </a:cubicBezTo>
                <a:cubicBezTo>
                  <a:pt x="214871" y="285750"/>
                  <a:pt x="274420" y="232507"/>
                  <a:pt x="284299" y="16324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8467725" y="2524125"/>
            <a:ext cx="3143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Retroalimentación Continua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67725" y="2981325"/>
            <a:ext cx="3114675" cy="2266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Algunos modelos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ajustan sus parámetros con el tiempo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para optimizar su precisión, mejorando continuamente su rendimiento.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467725" y="5400675"/>
            <a:ext cx="3028950" cy="762000"/>
          </a:xfrm>
          <a:custGeom>
            <a:avLst/>
            <a:gdLst/>
            <a:ahLst/>
            <a:cxnLst/>
            <a:rect l="l" t="t" r="r" b="b"/>
            <a:pathLst>
              <a:path w="3028950" h="762000">
                <a:moveTo>
                  <a:pt x="114300" y="0"/>
                </a:moveTo>
                <a:lnTo>
                  <a:pt x="2914650" y="0"/>
                </a:lnTo>
                <a:cubicBezTo>
                  <a:pt x="2977734" y="0"/>
                  <a:pt x="3028950" y="51216"/>
                  <a:pt x="3028950" y="114300"/>
                </a:cubicBezTo>
                <a:lnTo>
                  <a:pt x="3028950" y="647700"/>
                </a:lnTo>
                <a:cubicBezTo>
                  <a:pt x="3028950" y="710784"/>
                  <a:pt x="2977734" y="762000"/>
                  <a:pt x="291465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0" name="Shape 28"/>
          <p:cNvSpPr/>
          <p:nvPr/>
        </p:nvSpPr>
        <p:spPr>
          <a:xfrm>
            <a:off x="8639175" y="55911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1" name="Text 29"/>
          <p:cNvSpPr/>
          <p:nvPr/>
        </p:nvSpPr>
        <p:spPr>
          <a:xfrm>
            <a:off x="8848725" y="5553075"/>
            <a:ext cx="2562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Aprendizaje incremental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639175" y="58578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3" name="Text 31"/>
          <p:cNvSpPr/>
          <p:nvPr/>
        </p:nvSpPr>
        <p:spPr>
          <a:xfrm>
            <a:off x="8848725" y="5819775"/>
            <a:ext cx="2562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Auto-optimización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daxg39y63pxwu.cloudfront.net/f26284ac36358be0537c7df579e3b5c51ea7e47f.webp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3110" b="311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D1D1F"/>
              </a:gs>
              <a:gs pos="50000">
                <a:srgbClr val="1D1D1F">
                  <a:alpha val="95000"/>
                </a:srgbClr>
              </a:gs>
              <a:gs pos="100000">
                <a:srgbClr val="0071E3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438275"/>
            <a:ext cx="1295400" cy="342900"/>
          </a:xfrm>
          <a:custGeom>
            <a:avLst/>
            <a:gdLst/>
            <a:ahLst/>
            <a:cxnLst/>
            <a:rect l="l" t="t" r="r" b="b"/>
            <a:pathLst>
              <a:path w="1295400" h="342900">
                <a:moveTo>
                  <a:pt x="171450" y="0"/>
                </a:moveTo>
                <a:lnTo>
                  <a:pt x="1123950" y="0"/>
                </a:lnTo>
                <a:cubicBezTo>
                  <a:pt x="1218576" y="0"/>
                  <a:pt x="1295400" y="76824"/>
                  <a:pt x="1295400" y="171450"/>
                </a:cubicBezTo>
                <a:lnTo>
                  <a:pt x="1295400" y="171450"/>
                </a:lnTo>
                <a:cubicBezTo>
                  <a:pt x="1295400" y="266076"/>
                  <a:pt x="1218576" y="342900"/>
                  <a:pt x="1123950" y="342900"/>
                </a:cubicBezTo>
                <a:lnTo>
                  <a:pt x="171450" y="342900"/>
                </a:lnTo>
                <a:cubicBezTo>
                  <a:pt x="76824" y="342900"/>
                  <a:pt x="0" y="266076"/>
                  <a:pt x="0" y="171450"/>
                </a:cubicBezTo>
                <a:lnTo>
                  <a:pt x="0" y="171450"/>
                </a:lnTo>
                <a:cubicBezTo>
                  <a:pt x="0" y="76824"/>
                  <a:pt x="76824" y="0"/>
                  <a:pt x="17145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1438275"/>
            <a:ext cx="1362075" cy="342900"/>
          </a:xfrm>
          <a:prstGeom prst="rect">
            <a:avLst/>
          </a:prstGeom>
          <a:noFill/>
          <a:ln/>
        </p:spPr>
        <p:txBody>
          <a:bodyPr wrap="square" lIns="190500" tIns="76200" rIns="1905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CAPÍTULO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09775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Tipos de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95287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Supervisado, No Supervisado y Por Refuerzo: tres enfoques fundamentales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267325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5153025"/>
            <a:ext cx="3181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Algoritmos • Ejemplos • Aplicaciones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TIPO 1: SUPERVISADO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Aprendizaje Supervisado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76363"/>
            <a:ext cx="5238750" cy="2428875"/>
          </a:xfrm>
          <a:custGeom>
            <a:avLst/>
            <a:gdLst/>
            <a:ahLst/>
            <a:cxnLst/>
            <a:rect l="l" t="t" r="r" b="b"/>
            <a:pathLst>
              <a:path w="5238750" h="2428875">
                <a:moveTo>
                  <a:pt x="228606" y="0"/>
                </a:moveTo>
                <a:lnTo>
                  <a:pt x="5010144" y="0"/>
                </a:lnTo>
                <a:cubicBezTo>
                  <a:pt x="5136315" y="0"/>
                  <a:pt x="5238750" y="102435"/>
                  <a:pt x="5238750" y="228606"/>
                </a:cubicBezTo>
                <a:lnTo>
                  <a:pt x="5238750" y="2200269"/>
                </a:lnTo>
                <a:cubicBezTo>
                  <a:pt x="5238750" y="2326440"/>
                  <a:pt x="5136315" y="2428875"/>
                  <a:pt x="5010144" y="2428875"/>
                </a:cubicBezTo>
                <a:lnTo>
                  <a:pt x="228606" y="2428875"/>
                </a:lnTo>
                <a:cubicBezTo>
                  <a:pt x="102435" y="2428875"/>
                  <a:pt x="0" y="2326440"/>
                  <a:pt x="0" y="2200269"/>
                </a:cubicBezTo>
                <a:lnTo>
                  <a:pt x="0" y="228606"/>
                </a:lnTo>
                <a:cubicBezTo>
                  <a:pt x="0" y="102435"/>
                  <a:pt x="102435" y="0"/>
                  <a:pt x="22860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5325" y="16859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Shape 4"/>
          <p:cNvSpPr/>
          <p:nvPr/>
        </p:nvSpPr>
        <p:spPr>
          <a:xfrm>
            <a:off x="819150" y="183832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57150" y="42863"/>
                </a:moveTo>
                <a:cubicBezTo>
                  <a:pt x="57150" y="27102"/>
                  <a:pt x="69964" y="14288"/>
                  <a:pt x="85725" y="14288"/>
                </a:cubicBezTo>
                <a:lnTo>
                  <a:pt x="242888" y="14288"/>
                </a:lnTo>
                <a:cubicBezTo>
                  <a:pt x="258648" y="14288"/>
                  <a:pt x="271463" y="27102"/>
                  <a:pt x="271463" y="42863"/>
                </a:cubicBezTo>
                <a:lnTo>
                  <a:pt x="271463" y="150019"/>
                </a:lnTo>
                <a:lnTo>
                  <a:pt x="228600" y="150019"/>
                </a:lnTo>
                <a:lnTo>
                  <a:pt x="228600" y="142875"/>
                </a:lnTo>
                <a:cubicBezTo>
                  <a:pt x="228600" y="134972"/>
                  <a:pt x="222215" y="128588"/>
                  <a:pt x="214313" y="128588"/>
                </a:cubicBezTo>
                <a:lnTo>
                  <a:pt x="185738" y="128588"/>
                </a:lnTo>
                <a:cubicBezTo>
                  <a:pt x="177835" y="128588"/>
                  <a:pt x="171450" y="134972"/>
                  <a:pt x="171450" y="142875"/>
                </a:cubicBezTo>
                <a:lnTo>
                  <a:pt x="171450" y="150019"/>
                </a:lnTo>
                <a:lnTo>
                  <a:pt x="113809" y="150019"/>
                </a:lnTo>
                <a:cubicBezTo>
                  <a:pt x="118676" y="141625"/>
                  <a:pt x="121444" y="131847"/>
                  <a:pt x="121444" y="121444"/>
                </a:cubicBezTo>
                <a:cubicBezTo>
                  <a:pt x="121444" y="89877"/>
                  <a:pt x="95860" y="64294"/>
                  <a:pt x="64294" y="64294"/>
                </a:cubicBezTo>
                <a:cubicBezTo>
                  <a:pt x="61883" y="64294"/>
                  <a:pt x="59472" y="64428"/>
                  <a:pt x="57150" y="64740"/>
                </a:cubicBezTo>
                <a:lnTo>
                  <a:pt x="57150" y="42863"/>
                </a:lnTo>
                <a:close/>
                <a:moveTo>
                  <a:pt x="148679" y="200025"/>
                </a:moveTo>
                <a:cubicBezTo>
                  <a:pt x="146402" y="189220"/>
                  <a:pt x="141402" y="179442"/>
                  <a:pt x="134347" y="171450"/>
                </a:cubicBezTo>
                <a:lnTo>
                  <a:pt x="271463" y="171450"/>
                </a:lnTo>
                <a:cubicBezTo>
                  <a:pt x="271463" y="187211"/>
                  <a:pt x="258648" y="200025"/>
                  <a:pt x="242888" y="200025"/>
                </a:cubicBezTo>
                <a:lnTo>
                  <a:pt x="148679" y="200025"/>
                </a:lnTo>
                <a:close/>
                <a:moveTo>
                  <a:pt x="28575" y="121444"/>
                </a:moveTo>
                <a:cubicBezTo>
                  <a:pt x="28575" y="101730"/>
                  <a:pt x="44580" y="85725"/>
                  <a:pt x="64294" y="85725"/>
                </a:cubicBezTo>
                <a:cubicBezTo>
                  <a:pt x="84007" y="85725"/>
                  <a:pt x="100013" y="101730"/>
                  <a:pt x="100013" y="121444"/>
                </a:cubicBezTo>
                <a:cubicBezTo>
                  <a:pt x="100013" y="141157"/>
                  <a:pt x="84007" y="157163"/>
                  <a:pt x="64294" y="157163"/>
                </a:cubicBezTo>
                <a:cubicBezTo>
                  <a:pt x="44580" y="157163"/>
                  <a:pt x="28575" y="141157"/>
                  <a:pt x="28575" y="121444"/>
                </a:cubicBezTo>
                <a:close/>
                <a:moveTo>
                  <a:pt x="0" y="214313"/>
                </a:moveTo>
                <a:cubicBezTo>
                  <a:pt x="0" y="190649"/>
                  <a:pt x="19199" y="171450"/>
                  <a:pt x="42863" y="171450"/>
                </a:cubicBezTo>
                <a:lnTo>
                  <a:pt x="85725" y="171450"/>
                </a:lnTo>
                <a:cubicBezTo>
                  <a:pt x="109389" y="171450"/>
                  <a:pt x="128588" y="190649"/>
                  <a:pt x="128588" y="214313"/>
                </a:cubicBezTo>
                <a:cubicBezTo>
                  <a:pt x="128588" y="222215"/>
                  <a:pt x="122203" y="228600"/>
                  <a:pt x="114300" y="228600"/>
                </a:cubicBezTo>
                <a:lnTo>
                  <a:pt x="14288" y="228600"/>
                </a:lnTo>
                <a:cubicBezTo>
                  <a:pt x="6385" y="228600"/>
                  <a:pt x="0" y="222215"/>
                  <a:pt x="0" y="2143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419225" y="1685925"/>
            <a:ext cx="4010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9225" y="2105025"/>
            <a:ext cx="3981450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modelo aprende a partir de un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conjunto de datos etiquetado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donde cada entrada tiene su correspondiente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salida esperada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Es como aprender con un profesor que corrige cada respuesta.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763" y="4045744"/>
            <a:ext cx="5238750" cy="2428875"/>
          </a:xfrm>
          <a:custGeom>
            <a:avLst/>
            <a:gdLst/>
            <a:ahLst/>
            <a:cxnLst/>
            <a:rect l="l" t="t" r="r" b="b"/>
            <a:pathLst>
              <a:path w="5238750" h="2428875">
                <a:moveTo>
                  <a:pt x="228606" y="0"/>
                </a:moveTo>
                <a:lnTo>
                  <a:pt x="5010144" y="0"/>
                </a:lnTo>
                <a:cubicBezTo>
                  <a:pt x="5136315" y="0"/>
                  <a:pt x="5238750" y="102435"/>
                  <a:pt x="5238750" y="228606"/>
                </a:cubicBezTo>
                <a:lnTo>
                  <a:pt x="5238750" y="2200269"/>
                </a:lnTo>
                <a:cubicBezTo>
                  <a:pt x="5238750" y="2326440"/>
                  <a:pt x="5136315" y="2428875"/>
                  <a:pt x="5010144" y="2428875"/>
                </a:cubicBezTo>
                <a:lnTo>
                  <a:pt x="228606" y="2428875"/>
                </a:lnTo>
                <a:cubicBezTo>
                  <a:pt x="102435" y="2428875"/>
                  <a:pt x="0" y="2326440"/>
                  <a:pt x="0" y="2200269"/>
                </a:cubicBezTo>
                <a:lnTo>
                  <a:pt x="0" y="228606"/>
                </a:lnTo>
                <a:cubicBezTo>
                  <a:pt x="0" y="102435"/>
                  <a:pt x="102435" y="0"/>
                  <a:pt x="22860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5325" y="463153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7725" y="47839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4033" y="3840"/>
                </a:moveTo>
                <a:cubicBezTo>
                  <a:pt x="118542" y="-1250"/>
                  <a:pt x="110058" y="-1250"/>
                  <a:pt x="104611" y="3840"/>
                </a:cubicBezTo>
                <a:lnTo>
                  <a:pt x="4599" y="96709"/>
                </a:lnTo>
                <a:cubicBezTo>
                  <a:pt x="313" y="100727"/>
                  <a:pt x="-1116" y="106933"/>
                  <a:pt x="1027" y="112380"/>
                </a:cubicBezTo>
                <a:cubicBezTo>
                  <a:pt x="3170" y="117827"/>
                  <a:pt x="8394" y="121444"/>
                  <a:pt x="14288" y="121444"/>
                </a:cubicBezTo>
                <a:lnTo>
                  <a:pt x="21431" y="121444"/>
                </a:lnTo>
                <a:lnTo>
                  <a:pt x="21431" y="200025"/>
                </a:lnTo>
                <a:cubicBezTo>
                  <a:pt x="21431" y="215786"/>
                  <a:pt x="34245" y="228600"/>
                  <a:pt x="50006" y="228600"/>
                </a:cubicBezTo>
                <a:lnTo>
                  <a:pt x="178594" y="228600"/>
                </a:lnTo>
                <a:cubicBezTo>
                  <a:pt x="194355" y="228600"/>
                  <a:pt x="207169" y="215786"/>
                  <a:pt x="207169" y="200025"/>
                </a:cubicBezTo>
                <a:lnTo>
                  <a:pt x="207169" y="121444"/>
                </a:lnTo>
                <a:lnTo>
                  <a:pt x="214313" y="121444"/>
                </a:lnTo>
                <a:cubicBezTo>
                  <a:pt x="220206" y="121444"/>
                  <a:pt x="225475" y="117827"/>
                  <a:pt x="227618" y="112380"/>
                </a:cubicBezTo>
                <a:cubicBezTo>
                  <a:pt x="229761" y="106933"/>
                  <a:pt x="228332" y="100682"/>
                  <a:pt x="224046" y="96709"/>
                </a:cubicBezTo>
                <a:lnTo>
                  <a:pt x="124033" y="3840"/>
                </a:lnTo>
                <a:close/>
                <a:moveTo>
                  <a:pt x="107156" y="142875"/>
                </a:moveTo>
                <a:lnTo>
                  <a:pt x="121444" y="142875"/>
                </a:lnTo>
                <a:cubicBezTo>
                  <a:pt x="133276" y="142875"/>
                  <a:pt x="142875" y="152474"/>
                  <a:pt x="142875" y="164306"/>
                </a:cubicBezTo>
                <a:lnTo>
                  <a:pt x="142875" y="207169"/>
                </a:lnTo>
                <a:lnTo>
                  <a:pt x="85725" y="207169"/>
                </a:lnTo>
                <a:lnTo>
                  <a:pt x="85725" y="164306"/>
                </a:lnTo>
                <a:cubicBezTo>
                  <a:pt x="85725" y="152474"/>
                  <a:pt x="95324" y="142875"/>
                  <a:pt x="107156" y="14287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2" name="Text 10"/>
          <p:cNvSpPr/>
          <p:nvPr/>
        </p:nvSpPr>
        <p:spPr>
          <a:xfrm>
            <a:off x="1419225" y="4631531"/>
            <a:ext cx="4010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Ejemplo Práctico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9225" y="5050631"/>
            <a:ext cx="39814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Predicción de precios de viviendas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con base en características como ubicación, tamaño, número de habitaciones y antigüedad.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38838" y="1376363"/>
            <a:ext cx="5867400" cy="5095875"/>
          </a:xfrm>
          <a:custGeom>
            <a:avLst/>
            <a:gdLst/>
            <a:ahLst/>
            <a:cxnLst/>
            <a:rect l="l" t="t" r="r" b="b"/>
            <a:pathLst>
              <a:path w="5867400" h="5095875">
                <a:moveTo>
                  <a:pt x="228601" y="0"/>
                </a:moveTo>
                <a:lnTo>
                  <a:pt x="5638799" y="0"/>
                </a:lnTo>
                <a:cubicBezTo>
                  <a:pt x="5765052" y="0"/>
                  <a:pt x="5867400" y="102348"/>
                  <a:pt x="5867400" y="228601"/>
                </a:cubicBezTo>
                <a:lnTo>
                  <a:pt x="5867400" y="4867274"/>
                </a:lnTo>
                <a:cubicBezTo>
                  <a:pt x="5867400" y="4993527"/>
                  <a:pt x="5765052" y="5095875"/>
                  <a:pt x="5638799" y="5095875"/>
                </a:cubicBezTo>
                <a:lnTo>
                  <a:pt x="228601" y="5095875"/>
                </a:lnTo>
                <a:cubicBezTo>
                  <a:pt x="102348" y="5095875"/>
                  <a:pt x="0" y="4993527"/>
                  <a:pt x="0" y="4867274"/>
                </a:cubicBezTo>
                <a:lnTo>
                  <a:pt x="0" y="228601"/>
                </a:lnTo>
                <a:cubicBezTo>
                  <a:pt x="0" y="102433"/>
                  <a:pt x="102433" y="0"/>
                  <a:pt x="2286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48400" y="1685925"/>
            <a:ext cx="5362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Algoritmos Principales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48400" y="2293144"/>
            <a:ext cx="5248275" cy="838200"/>
          </a:xfrm>
          <a:custGeom>
            <a:avLst/>
            <a:gdLst/>
            <a:ahLst/>
            <a:cxnLst/>
            <a:rect l="l" t="t" r="r" b="b"/>
            <a:pathLst>
              <a:path w="5248275" h="838200">
                <a:moveTo>
                  <a:pt x="114297" y="0"/>
                </a:moveTo>
                <a:lnTo>
                  <a:pt x="5133978" y="0"/>
                </a:lnTo>
                <a:cubicBezTo>
                  <a:pt x="5197103" y="0"/>
                  <a:pt x="5248275" y="51172"/>
                  <a:pt x="5248275" y="114297"/>
                </a:cubicBezTo>
                <a:lnTo>
                  <a:pt x="5248275" y="723903"/>
                </a:lnTo>
                <a:cubicBezTo>
                  <a:pt x="5248275" y="787028"/>
                  <a:pt x="5197103" y="838200"/>
                  <a:pt x="5133978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438900" y="248364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483644"/>
            <a:ext cx="53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8500" y="2483644"/>
            <a:ext cx="2476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Regresión Lineal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48500" y="2750344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Para predicciones numéricas continuas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48400" y="3278981"/>
            <a:ext cx="5248275" cy="838200"/>
          </a:xfrm>
          <a:custGeom>
            <a:avLst/>
            <a:gdLst/>
            <a:ahLst/>
            <a:cxnLst/>
            <a:rect l="l" t="t" r="r" b="b"/>
            <a:pathLst>
              <a:path w="5248275" h="838200">
                <a:moveTo>
                  <a:pt x="114297" y="0"/>
                </a:moveTo>
                <a:lnTo>
                  <a:pt x="5133978" y="0"/>
                </a:lnTo>
                <a:cubicBezTo>
                  <a:pt x="5197103" y="0"/>
                  <a:pt x="5248275" y="51172"/>
                  <a:pt x="5248275" y="114297"/>
                </a:cubicBezTo>
                <a:lnTo>
                  <a:pt x="5248275" y="723903"/>
                </a:lnTo>
                <a:cubicBezTo>
                  <a:pt x="5248275" y="787028"/>
                  <a:pt x="5197103" y="838200"/>
                  <a:pt x="5133978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2" name="Shape 20"/>
          <p:cNvSpPr/>
          <p:nvPr/>
        </p:nvSpPr>
        <p:spPr>
          <a:xfrm>
            <a:off x="6438900" y="346948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469481"/>
            <a:ext cx="53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8500" y="3469481"/>
            <a:ext cx="2581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Árboles de Decisión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8500" y="3736181"/>
            <a:ext cx="2562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Clasificación mediante reglas jerárquicas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48400" y="4264819"/>
            <a:ext cx="5248275" cy="838200"/>
          </a:xfrm>
          <a:custGeom>
            <a:avLst/>
            <a:gdLst/>
            <a:ahLst/>
            <a:cxnLst/>
            <a:rect l="l" t="t" r="r" b="b"/>
            <a:pathLst>
              <a:path w="5248275" h="838200">
                <a:moveTo>
                  <a:pt x="114297" y="0"/>
                </a:moveTo>
                <a:lnTo>
                  <a:pt x="5133978" y="0"/>
                </a:lnTo>
                <a:cubicBezTo>
                  <a:pt x="5197103" y="0"/>
                  <a:pt x="5248275" y="51172"/>
                  <a:pt x="5248275" y="114297"/>
                </a:cubicBezTo>
                <a:lnTo>
                  <a:pt x="5248275" y="723903"/>
                </a:lnTo>
                <a:cubicBezTo>
                  <a:pt x="5248275" y="787028"/>
                  <a:pt x="5197103" y="838200"/>
                  <a:pt x="5133978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7" name="Shape 25"/>
          <p:cNvSpPr/>
          <p:nvPr/>
        </p:nvSpPr>
        <p:spPr>
          <a:xfrm>
            <a:off x="6438900" y="445531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4455319"/>
            <a:ext cx="53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48500" y="4455319"/>
            <a:ext cx="2686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48500" y="4722019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Ensemble de múltiples árboles de decisión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48400" y="5250656"/>
            <a:ext cx="5248275" cy="838200"/>
          </a:xfrm>
          <a:custGeom>
            <a:avLst/>
            <a:gdLst/>
            <a:ahLst/>
            <a:cxnLst/>
            <a:rect l="l" t="t" r="r" b="b"/>
            <a:pathLst>
              <a:path w="5248275" h="838200">
                <a:moveTo>
                  <a:pt x="114297" y="0"/>
                </a:moveTo>
                <a:lnTo>
                  <a:pt x="5133978" y="0"/>
                </a:lnTo>
                <a:cubicBezTo>
                  <a:pt x="5197103" y="0"/>
                  <a:pt x="5248275" y="51172"/>
                  <a:pt x="5248275" y="114297"/>
                </a:cubicBezTo>
                <a:lnTo>
                  <a:pt x="5248275" y="723903"/>
                </a:lnTo>
                <a:cubicBezTo>
                  <a:pt x="5248275" y="787028"/>
                  <a:pt x="5197103" y="838200"/>
                  <a:pt x="5133978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2" name="Shape 30"/>
          <p:cNvSpPr/>
          <p:nvPr/>
        </p:nvSpPr>
        <p:spPr>
          <a:xfrm>
            <a:off x="6438900" y="544115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5441156"/>
            <a:ext cx="53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48500" y="5441156"/>
            <a:ext cx="3028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SVM (Máquinas de Soporte Vectorial)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48500" y="5707856"/>
            <a:ext cx="3009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Clasificación mediante hiperplanos óptimos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TIPO 2: NO SUPERVISADO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Aprendizaje No Supervisado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76363"/>
            <a:ext cx="5238750" cy="2428875"/>
          </a:xfrm>
          <a:custGeom>
            <a:avLst/>
            <a:gdLst/>
            <a:ahLst/>
            <a:cxnLst/>
            <a:rect l="l" t="t" r="r" b="b"/>
            <a:pathLst>
              <a:path w="5238750" h="2428875">
                <a:moveTo>
                  <a:pt x="228606" y="0"/>
                </a:moveTo>
                <a:lnTo>
                  <a:pt x="5010144" y="0"/>
                </a:lnTo>
                <a:cubicBezTo>
                  <a:pt x="5136315" y="0"/>
                  <a:pt x="5238750" y="102435"/>
                  <a:pt x="5238750" y="228606"/>
                </a:cubicBezTo>
                <a:lnTo>
                  <a:pt x="5238750" y="2200269"/>
                </a:lnTo>
                <a:cubicBezTo>
                  <a:pt x="5238750" y="2326440"/>
                  <a:pt x="5136315" y="2428875"/>
                  <a:pt x="5010144" y="2428875"/>
                </a:cubicBezTo>
                <a:lnTo>
                  <a:pt x="228606" y="2428875"/>
                </a:lnTo>
                <a:cubicBezTo>
                  <a:pt x="102435" y="2428875"/>
                  <a:pt x="0" y="2326440"/>
                  <a:pt x="0" y="2200269"/>
                </a:cubicBezTo>
                <a:lnTo>
                  <a:pt x="0" y="228606"/>
                </a:lnTo>
                <a:cubicBezTo>
                  <a:pt x="0" y="102435"/>
                  <a:pt x="102435" y="0"/>
                  <a:pt x="22860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5325" y="182403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Shape 4"/>
          <p:cNvSpPr/>
          <p:nvPr/>
        </p:nvSpPr>
        <p:spPr>
          <a:xfrm>
            <a:off x="847725" y="19764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419225" y="1824038"/>
            <a:ext cx="4010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9225" y="2243138"/>
            <a:ext cx="398145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modelo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encuentra patrones ocultos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en los datos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 etiquetas predefinidas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Descubre estructuras y relaciones por sí mismo, como un explorador cartografiando territorio desconocido.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763" y="4043363"/>
            <a:ext cx="5238750" cy="2428875"/>
          </a:xfrm>
          <a:custGeom>
            <a:avLst/>
            <a:gdLst/>
            <a:ahLst/>
            <a:cxnLst/>
            <a:rect l="l" t="t" r="r" b="b"/>
            <a:pathLst>
              <a:path w="5238750" h="2428875">
                <a:moveTo>
                  <a:pt x="228606" y="0"/>
                </a:moveTo>
                <a:lnTo>
                  <a:pt x="5010144" y="0"/>
                </a:lnTo>
                <a:cubicBezTo>
                  <a:pt x="5136315" y="0"/>
                  <a:pt x="5238750" y="102435"/>
                  <a:pt x="5238750" y="228606"/>
                </a:cubicBezTo>
                <a:lnTo>
                  <a:pt x="5238750" y="2200269"/>
                </a:lnTo>
                <a:cubicBezTo>
                  <a:pt x="5238750" y="2326440"/>
                  <a:pt x="5136315" y="2428875"/>
                  <a:pt x="5010144" y="2428875"/>
                </a:cubicBezTo>
                <a:lnTo>
                  <a:pt x="228606" y="2428875"/>
                </a:lnTo>
                <a:cubicBezTo>
                  <a:pt x="102435" y="2428875"/>
                  <a:pt x="0" y="2326440"/>
                  <a:pt x="0" y="2200269"/>
                </a:cubicBezTo>
                <a:lnTo>
                  <a:pt x="0" y="228606"/>
                </a:lnTo>
                <a:cubicBezTo>
                  <a:pt x="0" y="102435"/>
                  <a:pt x="102435" y="0"/>
                  <a:pt x="22860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5325" y="463034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19150" y="4782741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2" name="Text 10"/>
          <p:cNvSpPr/>
          <p:nvPr/>
        </p:nvSpPr>
        <p:spPr>
          <a:xfrm>
            <a:off x="1419225" y="4630341"/>
            <a:ext cx="4010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Ejemplo Práctico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9225" y="5049441"/>
            <a:ext cx="39814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Segmentación de clientes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en grupos según su comportamiento de compra, permitiendo estrategias de marketing personalizadas.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38838" y="1376363"/>
            <a:ext cx="5867400" cy="5095875"/>
          </a:xfrm>
          <a:custGeom>
            <a:avLst/>
            <a:gdLst/>
            <a:ahLst/>
            <a:cxnLst/>
            <a:rect l="l" t="t" r="r" b="b"/>
            <a:pathLst>
              <a:path w="5867400" h="5095875">
                <a:moveTo>
                  <a:pt x="228601" y="0"/>
                </a:moveTo>
                <a:lnTo>
                  <a:pt x="5638799" y="0"/>
                </a:lnTo>
                <a:cubicBezTo>
                  <a:pt x="5765052" y="0"/>
                  <a:pt x="5867400" y="102348"/>
                  <a:pt x="5867400" y="228601"/>
                </a:cubicBezTo>
                <a:lnTo>
                  <a:pt x="5867400" y="4867274"/>
                </a:lnTo>
                <a:cubicBezTo>
                  <a:pt x="5867400" y="4993527"/>
                  <a:pt x="5765052" y="5095875"/>
                  <a:pt x="5638799" y="5095875"/>
                </a:cubicBezTo>
                <a:lnTo>
                  <a:pt x="228601" y="5095875"/>
                </a:lnTo>
                <a:cubicBezTo>
                  <a:pt x="102348" y="5095875"/>
                  <a:pt x="0" y="4993527"/>
                  <a:pt x="0" y="4867274"/>
                </a:cubicBezTo>
                <a:lnTo>
                  <a:pt x="0" y="228601"/>
                </a:lnTo>
                <a:cubicBezTo>
                  <a:pt x="0" y="102433"/>
                  <a:pt x="102433" y="0"/>
                  <a:pt x="2286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48400" y="1685925"/>
            <a:ext cx="5362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Algoritmos Principales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48400" y="2293144"/>
            <a:ext cx="5248275" cy="838200"/>
          </a:xfrm>
          <a:custGeom>
            <a:avLst/>
            <a:gdLst/>
            <a:ahLst/>
            <a:cxnLst/>
            <a:rect l="l" t="t" r="r" b="b"/>
            <a:pathLst>
              <a:path w="5248275" h="838200">
                <a:moveTo>
                  <a:pt x="114297" y="0"/>
                </a:moveTo>
                <a:lnTo>
                  <a:pt x="5133978" y="0"/>
                </a:lnTo>
                <a:cubicBezTo>
                  <a:pt x="5197103" y="0"/>
                  <a:pt x="5248275" y="51172"/>
                  <a:pt x="5248275" y="114297"/>
                </a:cubicBezTo>
                <a:lnTo>
                  <a:pt x="5248275" y="723903"/>
                </a:lnTo>
                <a:cubicBezTo>
                  <a:pt x="5248275" y="787028"/>
                  <a:pt x="5197103" y="838200"/>
                  <a:pt x="5133978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438900" y="248364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483644"/>
            <a:ext cx="53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8500" y="2483644"/>
            <a:ext cx="2962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K-Means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48500" y="2750344"/>
            <a:ext cx="2943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Agrupación en K clusters basada en centroides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48400" y="3278981"/>
            <a:ext cx="5248275" cy="838200"/>
          </a:xfrm>
          <a:custGeom>
            <a:avLst/>
            <a:gdLst/>
            <a:ahLst/>
            <a:cxnLst/>
            <a:rect l="l" t="t" r="r" b="b"/>
            <a:pathLst>
              <a:path w="5248275" h="838200">
                <a:moveTo>
                  <a:pt x="114297" y="0"/>
                </a:moveTo>
                <a:lnTo>
                  <a:pt x="5133978" y="0"/>
                </a:lnTo>
                <a:cubicBezTo>
                  <a:pt x="5197103" y="0"/>
                  <a:pt x="5248275" y="51172"/>
                  <a:pt x="5248275" y="114297"/>
                </a:cubicBezTo>
                <a:lnTo>
                  <a:pt x="5248275" y="723903"/>
                </a:lnTo>
                <a:cubicBezTo>
                  <a:pt x="5248275" y="787028"/>
                  <a:pt x="5197103" y="838200"/>
                  <a:pt x="5133978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2" name="Shape 20"/>
          <p:cNvSpPr/>
          <p:nvPr/>
        </p:nvSpPr>
        <p:spPr>
          <a:xfrm>
            <a:off x="6438900" y="346948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469481"/>
            <a:ext cx="53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8500" y="3469481"/>
            <a:ext cx="2628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DBSCAN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8500" y="3736181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Clustering basado en densidad de puntos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48400" y="4264819"/>
            <a:ext cx="5248275" cy="838200"/>
          </a:xfrm>
          <a:custGeom>
            <a:avLst/>
            <a:gdLst/>
            <a:ahLst/>
            <a:cxnLst/>
            <a:rect l="l" t="t" r="r" b="b"/>
            <a:pathLst>
              <a:path w="5248275" h="838200">
                <a:moveTo>
                  <a:pt x="114297" y="0"/>
                </a:moveTo>
                <a:lnTo>
                  <a:pt x="5133978" y="0"/>
                </a:lnTo>
                <a:cubicBezTo>
                  <a:pt x="5197103" y="0"/>
                  <a:pt x="5248275" y="51172"/>
                  <a:pt x="5248275" y="114297"/>
                </a:cubicBezTo>
                <a:lnTo>
                  <a:pt x="5248275" y="723903"/>
                </a:lnTo>
                <a:cubicBezTo>
                  <a:pt x="5248275" y="787028"/>
                  <a:pt x="5197103" y="838200"/>
                  <a:pt x="5133978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7" name="Shape 25"/>
          <p:cNvSpPr/>
          <p:nvPr/>
        </p:nvSpPr>
        <p:spPr>
          <a:xfrm>
            <a:off x="6438900" y="445531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4455319"/>
            <a:ext cx="53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48500" y="4455319"/>
            <a:ext cx="3695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Algoritmos de Asociación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48500" y="4722019"/>
            <a:ext cx="3676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Descubrimiento de reglas de asociación (ej: market basket)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48400" y="5250656"/>
            <a:ext cx="5248275" cy="838200"/>
          </a:xfrm>
          <a:custGeom>
            <a:avLst/>
            <a:gdLst/>
            <a:ahLst/>
            <a:cxnLst/>
            <a:rect l="l" t="t" r="r" b="b"/>
            <a:pathLst>
              <a:path w="5248275" h="838200">
                <a:moveTo>
                  <a:pt x="114297" y="0"/>
                </a:moveTo>
                <a:lnTo>
                  <a:pt x="5133978" y="0"/>
                </a:lnTo>
                <a:cubicBezTo>
                  <a:pt x="5197103" y="0"/>
                  <a:pt x="5248275" y="51172"/>
                  <a:pt x="5248275" y="114297"/>
                </a:cubicBezTo>
                <a:lnTo>
                  <a:pt x="5248275" y="723903"/>
                </a:lnTo>
                <a:cubicBezTo>
                  <a:pt x="5248275" y="787028"/>
                  <a:pt x="5197103" y="838200"/>
                  <a:pt x="5133978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2" name="Shape 30"/>
          <p:cNvSpPr/>
          <p:nvPr/>
        </p:nvSpPr>
        <p:spPr>
          <a:xfrm>
            <a:off x="6438900" y="544115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5441156"/>
            <a:ext cx="53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48500" y="5441156"/>
            <a:ext cx="346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PCA (Análisis de Componentes Principales)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48500" y="5707856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Reducción de dimensionalidad manteniendo varianza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TIPO 3: POR REFUERZO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Aprendizaje por Refuerzo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76363"/>
            <a:ext cx="5238750" cy="2428875"/>
          </a:xfrm>
          <a:custGeom>
            <a:avLst/>
            <a:gdLst/>
            <a:ahLst/>
            <a:cxnLst/>
            <a:rect l="l" t="t" r="r" b="b"/>
            <a:pathLst>
              <a:path w="5238750" h="2428875">
                <a:moveTo>
                  <a:pt x="228606" y="0"/>
                </a:moveTo>
                <a:lnTo>
                  <a:pt x="5010144" y="0"/>
                </a:lnTo>
                <a:cubicBezTo>
                  <a:pt x="5136315" y="0"/>
                  <a:pt x="5238750" y="102435"/>
                  <a:pt x="5238750" y="228606"/>
                </a:cubicBezTo>
                <a:lnTo>
                  <a:pt x="5238750" y="2200269"/>
                </a:lnTo>
                <a:cubicBezTo>
                  <a:pt x="5238750" y="2326440"/>
                  <a:pt x="5136315" y="2428875"/>
                  <a:pt x="5010144" y="2428875"/>
                </a:cubicBezTo>
                <a:lnTo>
                  <a:pt x="228606" y="2428875"/>
                </a:lnTo>
                <a:cubicBezTo>
                  <a:pt x="102435" y="2428875"/>
                  <a:pt x="0" y="2326440"/>
                  <a:pt x="0" y="2200269"/>
                </a:cubicBezTo>
                <a:lnTo>
                  <a:pt x="0" y="228606"/>
                </a:lnTo>
                <a:cubicBezTo>
                  <a:pt x="0" y="102435"/>
                  <a:pt x="102435" y="0"/>
                  <a:pt x="22860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5325" y="16859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Shape 4"/>
          <p:cNvSpPr/>
          <p:nvPr/>
        </p:nvSpPr>
        <p:spPr>
          <a:xfrm>
            <a:off x="819150" y="183832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00025" y="28575"/>
                </a:moveTo>
                <a:cubicBezTo>
                  <a:pt x="247352" y="28575"/>
                  <a:pt x="285750" y="66973"/>
                  <a:pt x="285750" y="114300"/>
                </a:cubicBezTo>
                <a:cubicBezTo>
                  <a:pt x="285750" y="161627"/>
                  <a:pt x="247352" y="200025"/>
                  <a:pt x="200025" y="200025"/>
                </a:cubicBezTo>
                <a:lnTo>
                  <a:pt x="85725" y="200025"/>
                </a:lnTo>
                <a:cubicBezTo>
                  <a:pt x="38398" y="200025"/>
                  <a:pt x="0" y="161627"/>
                  <a:pt x="0" y="114300"/>
                </a:cubicBezTo>
                <a:cubicBezTo>
                  <a:pt x="0" y="66973"/>
                  <a:pt x="38398" y="28575"/>
                  <a:pt x="85725" y="28575"/>
                </a:cubicBezTo>
                <a:lnTo>
                  <a:pt x="200025" y="28575"/>
                </a:lnTo>
                <a:close/>
                <a:moveTo>
                  <a:pt x="85725" y="78581"/>
                </a:moveTo>
                <a:cubicBezTo>
                  <a:pt x="79787" y="78581"/>
                  <a:pt x="75009" y="83359"/>
                  <a:pt x="75009" y="89297"/>
                </a:cubicBezTo>
                <a:lnTo>
                  <a:pt x="75009" y="103584"/>
                </a:lnTo>
                <a:lnTo>
                  <a:pt x="60722" y="103584"/>
                </a:lnTo>
                <a:cubicBezTo>
                  <a:pt x="54784" y="103584"/>
                  <a:pt x="50006" y="108362"/>
                  <a:pt x="50006" y="114300"/>
                </a:cubicBezTo>
                <a:cubicBezTo>
                  <a:pt x="50006" y="120238"/>
                  <a:pt x="54784" y="125016"/>
                  <a:pt x="60722" y="125016"/>
                </a:cubicBezTo>
                <a:lnTo>
                  <a:pt x="75009" y="125016"/>
                </a:lnTo>
                <a:lnTo>
                  <a:pt x="75009" y="139303"/>
                </a:lnTo>
                <a:cubicBezTo>
                  <a:pt x="75009" y="145241"/>
                  <a:pt x="79787" y="150019"/>
                  <a:pt x="85725" y="150019"/>
                </a:cubicBezTo>
                <a:cubicBezTo>
                  <a:pt x="91663" y="150019"/>
                  <a:pt x="96441" y="145241"/>
                  <a:pt x="96441" y="139303"/>
                </a:cubicBezTo>
                <a:lnTo>
                  <a:pt x="96441" y="125016"/>
                </a:lnTo>
                <a:lnTo>
                  <a:pt x="110728" y="125016"/>
                </a:lnTo>
                <a:cubicBezTo>
                  <a:pt x="116666" y="125016"/>
                  <a:pt x="121444" y="120238"/>
                  <a:pt x="121444" y="114300"/>
                </a:cubicBezTo>
                <a:cubicBezTo>
                  <a:pt x="121444" y="108362"/>
                  <a:pt x="116666" y="103584"/>
                  <a:pt x="110728" y="103584"/>
                </a:cubicBezTo>
                <a:lnTo>
                  <a:pt x="96441" y="103584"/>
                </a:lnTo>
                <a:lnTo>
                  <a:pt x="96441" y="89297"/>
                </a:lnTo>
                <a:cubicBezTo>
                  <a:pt x="96441" y="83359"/>
                  <a:pt x="91663" y="78581"/>
                  <a:pt x="85725" y="78581"/>
                </a:cubicBezTo>
                <a:close/>
                <a:moveTo>
                  <a:pt x="192881" y="121444"/>
                </a:moveTo>
                <a:cubicBezTo>
                  <a:pt x="184996" y="121444"/>
                  <a:pt x="178594" y="127846"/>
                  <a:pt x="178594" y="135731"/>
                </a:cubicBezTo>
                <a:cubicBezTo>
                  <a:pt x="178594" y="143617"/>
                  <a:pt x="184996" y="150019"/>
                  <a:pt x="192881" y="150019"/>
                </a:cubicBezTo>
                <a:cubicBezTo>
                  <a:pt x="200767" y="150019"/>
                  <a:pt x="207169" y="143617"/>
                  <a:pt x="207169" y="135731"/>
                </a:cubicBezTo>
                <a:cubicBezTo>
                  <a:pt x="207169" y="127846"/>
                  <a:pt x="200767" y="121444"/>
                  <a:pt x="192881" y="121444"/>
                </a:cubicBezTo>
                <a:close/>
                <a:moveTo>
                  <a:pt x="221456" y="78581"/>
                </a:moveTo>
                <a:cubicBezTo>
                  <a:pt x="213571" y="78581"/>
                  <a:pt x="207169" y="84983"/>
                  <a:pt x="207169" y="92869"/>
                </a:cubicBezTo>
                <a:cubicBezTo>
                  <a:pt x="207169" y="100754"/>
                  <a:pt x="213571" y="107156"/>
                  <a:pt x="221456" y="107156"/>
                </a:cubicBezTo>
                <a:cubicBezTo>
                  <a:pt x="229342" y="107156"/>
                  <a:pt x="235744" y="100754"/>
                  <a:pt x="235744" y="92869"/>
                </a:cubicBezTo>
                <a:cubicBezTo>
                  <a:pt x="235744" y="84983"/>
                  <a:pt x="229342" y="78581"/>
                  <a:pt x="221456" y="7858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419225" y="1685925"/>
            <a:ext cx="4010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9225" y="2105025"/>
            <a:ext cx="3981450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agente interactúa con un entorno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y aprende mediante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prueba y error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recibiendo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recompensas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por decisiones óptimas y penalizaciones por errores. Similar a entrenar a un animal con refuerzos positivos.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763" y="4045744"/>
            <a:ext cx="5238750" cy="2428875"/>
          </a:xfrm>
          <a:custGeom>
            <a:avLst/>
            <a:gdLst/>
            <a:ahLst/>
            <a:cxnLst/>
            <a:rect l="l" t="t" r="r" b="b"/>
            <a:pathLst>
              <a:path w="5238750" h="2428875">
                <a:moveTo>
                  <a:pt x="228606" y="0"/>
                </a:moveTo>
                <a:lnTo>
                  <a:pt x="5010144" y="0"/>
                </a:lnTo>
                <a:cubicBezTo>
                  <a:pt x="5136315" y="0"/>
                  <a:pt x="5238750" y="102435"/>
                  <a:pt x="5238750" y="228606"/>
                </a:cubicBezTo>
                <a:lnTo>
                  <a:pt x="5238750" y="2200269"/>
                </a:lnTo>
                <a:cubicBezTo>
                  <a:pt x="5238750" y="2326440"/>
                  <a:pt x="5136315" y="2428875"/>
                  <a:pt x="5010144" y="2428875"/>
                </a:cubicBezTo>
                <a:lnTo>
                  <a:pt x="228606" y="2428875"/>
                </a:lnTo>
                <a:cubicBezTo>
                  <a:pt x="102435" y="2428875"/>
                  <a:pt x="0" y="2326440"/>
                  <a:pt x="0" y="2200269"/>
                </a:cubicBezTo>
                <a:lnTo>
                  <a:pt x="0" y="228606"/>
                </a:lnTo>
                <a:cubicBezTo>
                  <a:pt x="0" y="102435"/>
                  <a:pt x="102435" y="0"/>
                  <a:pt x="22860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5325" y="463153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19150" y="4783931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2" name="Text 10"/>
          <p:cNvSpPr/>
          <p:nvPr/>
        </p:nvSpPr>
        <p:spPr>
          <a:xfrm>
            <a:off x="1419225" y="4631531"/>
            <a:ext cx="4010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Ejemplos Prácticos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9225" y="5050631"/>
            <a:ext cx="39814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Optimización de estrategias en videojuegos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(AlphaGo, Dota 2) y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algoritmos de trading financiero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que aprenden a maximizar ganancias.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38838" y="1376363"/>
            <a:ext cx="5867400" cy="5095875"/>
          </a:xfrm>
          <a:custGeom>
            <a:avLst/>
            <a:gdLst/>
            <a:ahLst/>
            <a:cxnLst/>
            <a:rect l="l" t="t" r="r" b="b"/>
            <a:pathLst>
              <a:path w="5867400" h="5095875">
                <a:moveTo>
                  <a:pt x="228601" y="0"/>
                </a:moveTo>
                <a:lnTo>
                  <a:pt x="5638799" y="0"/>
                </a:lnTo>
                <a:cubicBezTo>
                  <a:pt x="5765052" y="0"/>
                  <a:pt x="5867400" y="102348"/>
                  <a:pt x="5867400" y="228601"/>
                </a:cubicBezTo>
                <a:lnTo>
                  <a:pt x="5867400" y="4867274"/>
                </a:lnTo>
                <a:cubicBezTo>
                  <a:pt x="5867400" y="4993527"/>
                  <a:pt x="5765052" y="5095875"/>
                  <a:pt x="5638799" y="5095875"/>
                </a:cubicBezTo>
                <a:lnTo>
                  <a:pt x="228601" y="5095875"/>
                </a:lnTo>
                <a:cubicBezTo>
                  <a:pt x="102348" y="5095875"/>
                  <a:pt x="0" y="4993527"/>
                  <a:pt x="0" y="4867274"/>
                </a:cubicBezTo>
                <a:lnTo>
                  <a:pt x="0" y="228601"/>
                </a:lnTo>
                <a:cubicBezTo>
                  <a:pt x="0" y="102433"/>
                  <a:pt x="102433" y="0"/>
                  <a:pt x="2286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48400" y="1685925"/>
            <a:ext cx="5362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Algoritmos Principales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48400" y="2286000"/>
            <a:ext cx="5248275" cy="838200"/>
          </a:xfrm>
          <a:custGeom>
            <a:avLst/>
            <a:gdLst/>
            <a:ahLst/>
            <a:cxnLst/>
            <a:rect l="l" t="t" r="r" b="b"/>
            <a:pathLst>
              <a:path w="5248275" h="838200">
                <a:moveTo>
                  <a:pt x="114297" y="0"/>
                </a:moveTo>
                <a:lnTo>
                  <a:pt x="5133978" y="0"/>
                </a:lnTo>
                <a:cubicBezTo>
                  <a:pt x="5197103" y="0"/>
                  <a:pt x="5248275" y="51172"/>
                  <a:pt x="5248275" y="114297"/>
                </a:cubicBezTo>
                <a:lnTo>
                  <a:pt x="5248275" y="723903"/>
                </a:lnTo>
                <a:cubicBezTo>
                  <a:pt x="5248275" y="787028"/>
                  <a:pt x="5197103" y="838200"/>
                  <a:pt x="5133978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438900" y="247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476500"/>
            <a:ext cx="53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8500" y="2476500"/>
            <a:ext cx="3028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Q-Learning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48500" y="2743200"/>
            <a:ext cx="3009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Aprendizaje de valores Q para acciones óptimas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48400" y="3257550"/>
            <a:ext cx="5248275" cy="838200"/>
          </a:xfrm>
          <a:custGeom>
            <a:avLst/>
            <a:gdLst/>
            <a:ahLst/>
            <a:cxnLst/>
            <a:rect l="l" t="t" r="r" b="b"/>
            <a:pathLst>
              <a:path w="5248275" h="838200">
                <a:moveTo>
                  <a:pt x="114297" y="0"/>
                </a:moveTo>
                <a:lnTo>
                  <a:pt x="5133978" y="0"/>
                </a:lnTo>
                <a:cubicBezTo>
                  <a:pt x="5197103" y="0"/>
                  <a:pt x="5248275" y="51172"/>
                  <a:pt x="5248275" y="114297"/>
                </a:cubicBezTo>
                <a:lnTo>
                  <a:pt x="5248275" y="723903"/>
                </a:lnTo>
                <a:cubicBezTo>
                  <a:pt x="5248275" y="787028"/>
                  <a:pt x="5197103" y="838200"/>
                  <a:pt x="5133978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2" name="Shape 20"/>
          <p:cNvSpPr/>
          <p:nvPr/>
        </p:nvSpPr>
        <p:spPr>
          <a:xfrm>
            <a:off x="6438900" y="3448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448050"/>
            <a:ext cx="53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8500" y="3448050"/>
            <a:ext cx="3514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Q Networks (DQN)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8500" y="3714750"/>
            <a:ext cx="3495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Q-Learning combinado con redes neuronales profundas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48400" y="4229100"/>
            <a:ext cx="5248275" cy="838200"/>
          </a:xfrm>
          <a:custGeom>
            <a:avLst/>
            <a:gdLst/>
            <a:ahLst/>
            <a:cxnLst/>
            <a:rect l="l" t="t" r="r" b="b"/>
            <a:pathLst>
              <a:path w="5248275" h="838200">
                <a:moveTo>
                  <a:pt x="114297" y="0"/>
                </a:moveTo>
                <a:lnTo>
                  <a:pt x="5133978" y="0"/>
                </a:lnTo>
                <a:cubicBezTo>
                  <a:pt x="5197103" y="0"/>
                  <a:pt x="5248275" y="51172"/>
                  <a:pt x="5248275" y="114297"/>
                </a:cubicBezTo>
                <a:lnTo>
                  <a:pt x="5248275" y="723903"/>
                </a:lnTo>
                <a:cubicBezTo>
                  <a:pt x="5248275" y="787028"/>
                  <a:pt x="5197103" y="838200"/>
                  <a:pt x="5133978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7" name="Shape 25"/>
          <p:cNvSpPr/>
          <p:nvPr/>
        </p:nvSpPr>
        <p:spPr>
          <a:xfrm>
            <a:off x="6438900" y="4419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4419600"/>
            <a:ext cx="53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48500" y="4419600"/>
            <a:ext cx="3038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Aprendizaje basado en Políticas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48500" y="4686300"/>
            <a:ext cx="3019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Optimización directa de la política de decisiones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53163" y="5205413"/>
            <a:ext cx="5238750" cy="885825"/>
          </a:xfrm>
          <a:custGeom>
            <a:avLst/>
            <a:gdLst/>
            <a:ahLst/>
            <a:cxnLst/>
            <a:rect l="l" t="t" r="r" b="b"/>
            <a:pathLst>
              <a:path w="5238750" h="885825">
                <a:moveTo>
                  <a:pt x="114298" y="0"/>
                </a:moveTo>
                <a:lnTo>
                  <a:pt x="5124452" y="0"/>
                </a:lnTo>
                <a:cubicBezTo>
                  <a:pt x="5187535" y="0"/>
                  <a:pt x="5238750" y="51215"/>
                  <a:pt x="5238750" y="114298"/>
                </a:cubicBezTo>
                <a:lnTo>
                  <a:pt x="5238750" y="771527"/>
                </a:lnTo>
                <a:cubicBezTo>
                  <a:pt x="5238750" y="834610"/>
                  <a:pt x="5187535" y="885825"/>
                  <a:pt x="5124452" y="885825"/>
                </a:cubicBezTo>
                <a:lnTo>
                  <a:pt x="114298" y="885825"/>
                </a:lnTo>
                <a:cubicBezTo>
                  <a:pt x="51215" y="885825"/>
                  <a:pt x="0" y="834610"/>
                  <a:pt x="0" y="7715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270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86525" y="545782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3" name="Text 31"/>
          <p:cNvSpPr/>
          <p:nvPr/>
        </p:nvSpPr>
        <p:spPr>
          <a:xfrm>
            <a:off x="6696075" y="5400675"/>
            <a:ext cx="46767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Componentes clave: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Agente, Entorno, Estados, Acciones, Recompensas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COMPARATIVA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Comparativa de Tipos de Machine Learning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76363"/>
            <a:ext cx="11420475" cy="5095875"/>
          </a:xfrm>
          <a:custGeom>
            <a:avLst/>
            <a:gdLst/>
            <a:ahLst/>
            <a:cxnLst/>
            <a:rect l="l" t="t" r="r" b="b"/>
            <a:pathLst>
              <a:path w="11420475" h="5095875">
                <a:moveTo>
                  <a:pt x="228601" y="0"/>
                </a:moveTo>
                <a:lnTo>
                  <a:pt x="11191874" y="0"/>
                </a:lnTo>
                <a:cubicBezTo>
                  <a:pt x="11318127" y="0"/>
                  <a:pt x="11420475" y="102348"/>
                  <a:pt x="11420475" y="228601"/>
                </a:cubicBezTo>
                <a:lnTo>
                  <a:pt x="11420475" y="4867274"/>
                </a:lnTo>
                <a:cubicBezTo>
                  <a:pt x="11420475" y="4993527"/>
                  <a:pt x="11318127" y="5095875"/>
                  <a:pt x="11191874" y="5095875"/>
                </a:cubicBezTo>
                <a:lnTo>
                  <a:pt x="228601" y="5095875"/>
                </a:lnTo>
                <a:cubicBezTo>
                  <a:pt x="102348" y="5095875"/>
                  <a:pt x="0" y="4993527"/>
                  <a:pt x="0" y="4867274"/>
                </a:cubicBezTo>
                <a:lnTo>
                  <a:pt x="0" y="228601"/>
                </a:lnTo>
                <a:cubicBezTo>
                  <a:pt x="0" y="102433"/>
                  <a:pt x="102433" y="0"/>
                  <a:pt x="2286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2463" y="1685925"/>
            <a:ext cx="2676525" cy="495300"/>
          </a:xfrm>
          <a:prstGeom prst="rect">
            <a:avLst/>
          </a:prstGeom>
          <a:noFill/>
          <a:ln/>
        </p:spPr>
        <p:txBody>
          <a:bodyPr wrap="square" lIns="0" tIns="114300" rIns="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Característica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33763" y="1685925"/>
            <a:ext cx="2590800" cy="495300"/>
          </a:xfrm>
          <a:custGeom>
            <a:avLst/>
            <a:gdLst/>
            <a:ahLst/>
            <a:cxnLst/>
            <a:rect l="l" t="t" r="r" b="b"/>
            <a:pathLst>
              <a:path w="2590800" h="495300">
                <a:moveTo>
                  <a:pt x="114300" y="0"/>
                </a:moveTo>
                <a:lnTo>
                  <a:pt x="2476500" y="0"/>
                </a:lnTo>
                <a:cubicBezTo>
                  <a:pt x="2539626" y="0"/>
                  <a:pt x="2590800" y="51174"/>
                  <a:pt x="2590800" y="114300"/>
                </a:cubicBezTo>
                <a:lnTo>
                  <a:pt x="2590800" y="381000"/>
                </a:lnTo>
                <a:cubicBezTo>
                  <a:pt x="2590800" y="444126"/>
                  <a:pt x="2539626" y="495300"/>
                  <a:pt x="2476500" y="495300"/>
                </a:cubicBezTo>
                <a:lnTo>
                  <a:pt x="114300" y="495300"/>
                </a:lnTo>
                <a:cubicBezTo>
                  <a:pt x="51174" y="495300"/>
                  <a:pt x="0" y="444126"/>
                  <a:pt x="0" y="3810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386138" y="1685925"/>
            <a:ext cx="2686050" cy="495300"/>
          </a:xfrm>
          <a:prstGeom prst="rect">
            <a:avLst/>
          </a:prstGeom>
          <a:noFill/>
          <a:ln/>
        </p:spPr>
        <p:txBody>
          <a:bodyPr wrap="square" lIns="0" tIns="114300" rIns="0" bIns="11430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Supervisado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685925"/>
            <a:ext cx="2590800" cy="495300"/>
          </a:xfrm>
          <a:custGeom>
            <a:avLst/>
            <a:gdLst/>
            <a:ahLst/>
            <a:cxnLst/>
            <a:rect l="l" t="t" r="r" b="b"/>
            <a:pathLst>
              <a:path w="2590800" h="495300">
                <a:moveTo>
                  <a:pt x="114300" y="0"/>
                </a:moveTo>
                <a:lnTo>
                  <a:pt x="2476500" y="0"/>
                </a:lnTo>
                <a:cubicBezTo>
                  <a:pt x="2539626" y="0"/>
                  <a:pt x="2590800" y="51174"/>
                  <a:pt x="2590800" y="114300"/>
                </a:cubicBezTo>
                <a:lnTo>
                  <a:pt x="2590800" y="381000"/>
                </a:lnTo>
                <a:cubicBezTo>
                  <a:pt x="2590800" y="444126"/>
                  <a:pt x="2539626" y="495300"/>
                  <a:pt x="2476500" y="495300"/>
                </a:cubicBezTo>
                <a:lnTo>
                  <a:pt x="114300" y="495300"/>
                </a:lnTo>
                <a:cubicBezTo>
                  <a:pt x="51174" y="495300"/>
                  <a:pt x="0" y="444126"/>
                  <a:pt x="0" y="3810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124575" y="1685925"/>
            <a:ext cx="2686050" cy="495300"/>
          </a:xfrm>
          <a:prstGeom prst="rect">
            <a:avLst/>
          </a:prstGeom>
          <a:noFill/>
          <a:ln/>
        </p:spPr>
        <p:txBody>
          <a:bodyPr wrap="square" lIns="0" tIns="114300" rIns="0" bIns="11430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Supervisado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910638" y="1685925"/>
            <a:ext cx="2590800" cy="495300"/>
          </a:xfrm>
          <a:custGeom>
            <a:avLst/>
            <a:gdLst/>
            <a:ahLst/>
            <a:cxnLst/>
            <a:rect l="l" t="t" r="r" b="b"/>
            <a:pathLst>
              <a:path w="2590800" h="495300">
                <a:moveTo>
                  <a:pt x="114300" y="0"/>
                </a:moveTo>
                <a:lnTo>
                  <a:pt x="2476500" y="0"/>
                </a:lnTo>
                <a:cubicBezTo>
                  <a:pt x="2539626" y="0"/>
                  <a:pt x="2590800" y="51174"/>
                  <a:pt x="2590800" y="114300"/>
                </a:cubicBezTo>
                <a:lnTo>
                  <a:pt x="2590800" y="381000"/>
                </a:lnTo>
                <a:cubicBezTo>
                  <a:pt x="2590800" y="444126"/>
                  <a:pt x="2539626" y="495300"/>
                  <a:pt x="2476500" y="495300"/>
                </a:cubicBezTo>
                <a:lnTo>
                  <a:pt x="114300" y="495300"/>
                </a:lnTo>
                <a:cubicBezTo>
                  <a:pt x="51174" y="495300"/>
                  <a:pt x="0" y="444126"/>
                  <a:pt x="0" y="3810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863013" y="1685925"/>
            <a:ext cx="2686050" cy="495300"/>
          </a:xfrm>
          <a:prstGeom prst="rect">
            <a:avLst/>
          </a:prstGeom>
          <a:noFill/>
          <a:ln/>
        </p:spPr>
        <p:txBody>
          <a:bodyPr wrap="square" lIns="0" tIns="114300" rIns="0" bIns="11430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 Refuerzo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5325" y="2822228"/>
            <a:ext cx="10801350" cy="9525"/>
          </a:xfrm>
          <a:custGeom>
            <a:avLst/>
            <a:gdLst/>
            <a:ahLst/>
            <a:cxnLst/>
            <a:rect l="l" t="t" r="r" b="b"/>
            <a:pathLst>
              <a:path w="10801350" h="9525">
                <a:moveTo>
                  <a:pt x="0" y="0"/>
                </a:moveTo>
                <a:lnTo>
                  <a:pt x="10801350" y="0"/>
                </a:lnTo>
                <a:lnTo>
                  <a:pt x="108013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695325" y="2474565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Datos de Entrada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95663" y="2474565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Etiquetados (input + output)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34100" y="2474565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 etiquetas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72538" y="2474565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Interacción con entorno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95325" y="3418433"/>
            <a:ext cx="10801350" cy="9525"/>
          </a:xfrm>
          <a:custGeom>
            <a:avLst/>
            <a:gdLst/>
            <a:ahLst/>
            <a:cxnLst/>
            <a:rect l="l" t="t" r="r" b="b"/>
            <a:pathLst>
              <a:path w="10801350" h="9525">
                <a:moveTo>
                  <a:pt x="0" y="0"/>
                </a:moveTo>
                <a:lnTo>
                  <a:pt x="10801350" y="0"/>
                </a:lnTo>
                <a:lnTo>
                  <a:pt x="108013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18" name="Text 16"/>
          <p:cNvSpPr/>
          <p:nvPr/>
        </p:nvSpPr>
        <p:spPr>
          <a:xfrm>
            <a:off x="695325" y="3070771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Proceso de Aprendizaje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95663" y="3070771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Aprende de ejemplos previos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34100" y="3070771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Descubre patrones ocultos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72538" y="3070771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Prueba, error y recompensa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95325" y="4014788"/>
            <a:ext cx="10801350" cy="9525"/>
          </a:xfrm>
          <a:custGeom>
            <a:avLst/>
            <a:gdLst/>
            <a:ahLst/>
            <a:cxnLst/>
            <a:rect l="l" t="t" r="r" b="b"/>
            <a:pathLst>
              <a:path w="10801350" h="9525">
                <a:moveTo>
                  <a:pt x="0" y="0"/>
                </a:moveTo>
                <a:lnTo>
                  <a:pt x="10801350" y="0"/>
                </a:lnTo>
                <a:lnTo>
                  <a:pt x="108013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23" name="Text 21"/>
          <p:cNvSpPr/>
          <p:nvPr/>
        </p:nvSpPr>
        <p:spPr>
          <a:xfrm>
            <a:off x="695325" y="3667125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Objetivo Principal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395663" y="3667125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Predicción/Clasificación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34100" y="3667125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Descubrimiento de estructuras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872538" y="3667125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Optimización de decisiones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95325" y="4610993"/>
            <a:ext cx="10801350" cy="9525"/>
          </a:xfrm>
          <a:custGeom>
            <a:avLst/>
            <a:gdLst/>
            <a:ahLst/>
            <a:cxnLst/>
            <a:rect l="l" t="t" r="r" b="b"/>
            <a:pathLst>
              <a:path w="10801350" h="9525">
                <a:moveTo>
                  <a:pt x="0" y="0"/>
                </a:moveTo>
                <a:lnTo>
                  <a:pt x="10801350" y="0"/>
                </a:lnTo>
                <a:lnTo>
                  <a:pt x="108013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28" name="Text 26"/>
          <p:cNvSpPr/>
          <p:nvPr/>
        </p:nvSpPr>
        <p:spPr>
          <a:xfrm>
            <a:off x="695325" y="4263330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Complejidad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395663" y="4263330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134100" y="4263330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Alta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872538" y="4263330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Muy alta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5325" y="4973985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Casos de Uso Típicos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395663" y="4859685"/>
            <a:ext cx="266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Clasificación de imágenes, predicción de precios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134100" y="4859685"/>
            <a:ext cx="266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Segmentación de clientes, detección de anomalías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872538" y="4973985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Juegos, robótica, trading algorítmico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00088" y="5614988"/>
            <a:ext cx="10791825" cy="542925"/>
          </a:xfrm>
          <a:custGeom>
            <a:avLst/>
            <a:gdLst/>
            <a:ahLst/>
            <a:cxnLst/>
            <a:rect l="l" t="t" r="r" b="b"/>
            <a:pathLst>
              <a:path w="10791825" h="542925">
                <a:moveTo>
                  <a:pt x="114302" y="0"/>
                </a:moveTo>
                <a:lnTo>
                  <a:pt x="10677523" y="0"/>
                </a:lnTo>
                <a:cubicBezTo>
                  <a:pt x="10740650" y="0"/>
                  <a:pt x="10791825" y="51175"/>
                  <a:pt x="10791825" y="114302"/>
                </a:cubicBezTo>
                <a:lnTo>
                  <a:pt x="10791825" y="428623"/>
                </a:lnTo>
                <a:cubicBezTo>
                  <a:pt x="10791825" y="491750"/>
                  <a:pt x="10740650" y="542925"/>
                  <a:pt x="10677523" y="542925"/>
                </a:cubicBezTo>
                <a:lnTo>
                  <a:pt x="114302" y="542925"/>
                </a:lnTo>
                <a:cubicBezTo>
                  <a:pt x="51175" y="542925"/>
                  <a:pt x="0" y="491750"/>
                  <a:pt x="0" y="4286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270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41637" y="58197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8" name="Text 36"/>
          <p:cNvSpPr/>
          <p:nvPr/>
        </p:nvSpPr>
        <p:spPr>
          <a:xfrm>
            <a:off x="1066800" y="5772150"/>
            <a:ext cx="10306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Nota: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La elección del tipo de ML depende de la naturaleza de los datos disponibles y el objetivo del proyecto.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928" y="378928"/>
            <a:ext cx="11509930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spc="60" kern="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APLICACIONES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8928" y="682070"/>
            <a:ext cx="11661501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8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Aplicaciones del Machine Learning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3664" y="1368876"/>
            <a:ext cx="3647179" cy="2510396"/>
          </a:xfrm>
          <a:custGeom>
            <a:avLst/>
            <a:gdLst/>
            <a:ahLst/>
            <a:cxnLst/>
            <a:rect l="l" t="t" r="r" b="b"/>
            <a:pathLst>
              <a:path w="3647179" h="2510396">
                <a:moveTo>
                  <a:pt x="227367" y="0"/>
                </a:moveTo>
                <a:lnTo>
                  <a:pt x="3419813" y="0"/>
                </a:lnTo>
                <a:cubicBezTo>
                  <a:pt x="3545384" y="0"/>
                  <a:pt x="3647179" y="101795"/>
                  <a:pt x="3647179" y="227367"/>
                </a:cubicBezTo>
                <a:lnTo>
                  <a:pt x="3647179" y="2283030"/>
                </a:lnTo>
                <a:cubicBezTo>
                  <a:pt x="3647179" y="2408601"/>
                  <a:pt x="3545384" y="2510396"/>
                  <a:pt x="3419813" y="2510396"/>
                </a:cubicBezTo>
                <a:lnTo>
                  <a:pt x="227367" y="2510396"/>
                </a:lnTo>
                <a:cubicBezTo>
                  <a:pt x="101795" y="2510396"/>
                  <a:pt x="0" y="2408601"/>
                  <a:pt x="0" y="2283030"/>
                </a:cubicBezTo>
                <a:lnTo>
                  <a:pt x="0" y="227367"/>
                </a:lnTo>
                <a:cubicBezTo>
                  <a:pt x="0" y="101880"/>
                  <a:pt x="101880" y="0"/>
                  <a:pt x="22736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42098" dist="94732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5758" y="1600970"/>
            <a:ext cx="530499" cy="530499"/>
          </a:xfrm>
          <a:custGeom>
            <a:avLst/>
            <a:gdLst/>
            <a:ahLst/>
            <a:cxnLst/>
            <a:rect l="l" t="t" r="r" b="b"/>
            <a:pathLst>
              <a:path w="530499" h="530499">
                <a:moveTo>
                  <a:pt x="151569" y="0"/>
                </a:moveTo>
                <a:lnTo>
                  <a:pt x="378930" y="0"/>
                </a:lnTo>
                <a:cubicBezTo>
                  <a:pt x="462639" y="0"/>
                  <a:pt x="530499" y="67860"/>
                  <a:pt x="530499" y="151569"/>
                </a:cubicBezTo>
                <a:lnTo>
                  <a:pt x="530499" y="378930"/>
                </a:lnTo>
                <a:cubicBezTo>
                  <a:pt x="530499" y="462639"/>
                  <a:pt x="462639" y="530499"/>
                  <a:pt x="378930" y="530499"/>
                </a:cubicBezTo>
                <a:lnTo>
                  <a:pt x="151569" y="530499"/>
                </a:lnTo>
                <a:cubicBezTo>
                  <a:pt x="67860" y="530499"/>
                  <a:pt x="0" y="462639"/>
                  <a:pt x="0" y="378930"/>
                </a:cubicBezTo>
                <a:lnTo>
                  <a:pt x="0" y="151569"/>
                </a:lnTo>
                <a:cubicBezTo>
                  <a:pt x="0" y="67860"/>
                  <a:pt x="67860" y="0"/>
                  <a:pt x="151569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Shape 4"/>
          <p:cNvSpPr/>
          <p:nvPr/>
        </p:nvSpPr>
        <p:spPr>
          <a:xfrm>
            <a:off x="767329" y="1752541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120739" y="8970"/>
                </a:moveTo>
                <a:cubicBezTo>
                  <a:pt x="116387" y="6483"/>
                  <a:pt x="111014" y="6483"/>
                  <a:pt x="106618" y="8970"/>
                </a:cubicBezTo>
                <a:lnTo>
                  <a:pt x="7149" y="65809"/>
                </a:lnTo>
                <a:cubicBezTo>
                  <a:pt x="1554" y="69006"/>
                  <a:pt x="-1199" y="75578"/>
                  <a:pt x="444" y="81795"/>
                </a:cubicBezTo>
                <a:cubicBezTo>
                  <a:pt x="2087" y="88012"/>
                  <a:pt x="7771" y="92364"/>
                  <a:pt x="14210" y="92364"/>
                </a:cubicBezTo>
                <a:lnTo>
                  <a:pt x="28420" y="92364"/>
                </a:lnTo>
                <a:lnTo>
                  <a:pt x="28420" y="184727"/>
                </a:lnTo>
                <a:lnTo>
                  <a:pt x="28420" y="184727"/>
                </a:lnTo>
                <a:lnTo>
                  <a:pt x="5684" y="201779"/>
                </a:lnTo>
                <a:cubicBezTo>
                  <a:pt x="2087" y="204443"/>
                  <a:pt x="0" y="208662"/>
                  <a:pt x="0" y="213147"/>
                </a:cubicBezTo>
                <a:cubicBezTo>
                  <a:pt x="0" y="221007"/>
                  <a:pt x="6350" y="227357"/>
                  <a:pt x="14210" y="227357"/>
                </a:cubicBezTo>
                <a:lnTo>
                  <a:pt x="213147" y="227357"/>
                </a:lnTo>
                <a:cubicBezTo>
                  <a:pt x="221007" y="227357"/>
                  <a:pt x="227357" y="221007"/>
                  <a:pt x="227357" y="213147"/>
                </a:cubicBezTo>
                <a:cubicBezTo>
                  <a:pt x="227357" y="208662"/>
                  <a:pt x="225270" y="204443"/>
                  <a:pt x="221673" y="201779"/>
                </a:cubicBezTo>
                <a:lnTo>
                  <a:pt x="198937" y="184727"/>
                </a:lnTo>
                <a:lnTo>
                  <a:pt x="198937" y="92364"/>
                </a:lnTo>
                <a:lnTo>
                  <a:pt x="213147" y="92364"/>
                </a:lnTo>
                <a:cubicBezTo>
                  <a:pt x="219586" y="92364"/>
                  <a:pt x="225225" y="88012"/>
                  <a:pt x="226868" y="81795"/>
                </a:cubicBezTo>
                <a:cubicBezTo>
                  <a:pt x="228511" y="75578"/>
                  <a:pt x="225758" y="69006"/>
                  <a:pt x="220163" y="65809"/>
                </a:cubicBezTo>
                <a:lnTo>
                  <a:pt x="120694" y="8970"/>
                </a:lnTo>
                <a:close/>
                <a:moveTo>
                  <a:pt x="177622" y="92364"/>
                </a:moveTo>
                <a:lnTo>
                  <a:pt x="177622" y="184727"/>
                </a:lnTo>
                <a:lnTo>
                  <a:pt x="149203" y="184727"/>
                </a:lnTo>
                <a:lnTo>
                  <a:pt x="149203" y="92364"/>
                </a:lnTo>
                <a:lnTo>
                  <a:pt x="177622" y="92364"/>
                </a:lnTo>
                <a:close/>
                <a:moveTo>
                  <a:pt x="127888" y="92364"/>
                </a:moveTo>
                <a:lnTo>
                  <a:pt x="127888" y="184727"/>
                </a:lnTo>
                <a:lnTo>
                  <a:pt x="99469" y="184727"/>
                </a:lnTo>
                <a:lnTo>
                  <a:pt x="99469" y="92364"/>
                </a:lnTo>
                <a:lnTo>
                  <a:pt x="127888" y="92364"/>
                </a:lnTo>
                <a:close/>
                <a:moveTo>
                  <a:pt x="78154" y="92364"/>
                </a:moveTo>
                <a:lnTo>
                  <a:pt x="78154" y="184727"/>
                </a:lnTo>
                <a:lnTo>
                  <a:pt x="49734" y="184727"/>
                </a:lnTo>
                <a:lnTo>
                  <a:pt x="49734" y="92364"/>
                </a:lnTo>
                <a:lnTo>
                  <a:pt x="78154" y="92364"/>
                </a:lnTo>
                <a:close/>
                <a:moveTo>
                  <a:pt x="113678" y="42629"/>
                </a:moveTo>
                <a:cubicBezTo>
                  <a:pt x="121521" y="42629"/>
                  <a:pt x="127888" y="48997"/>
                  <a:pt x="127888" y="56839"/>
                </a:cubicBezTo>
                <a:cubicBezTo>
                  <a:pt x="127888" y="64682"/>
                  <a:pt x="121521" y="71049"/>
                  <a:pt x="113678" y="71049"/>
                </a:cubicBezTo>
                <a:cubicBezTo>
                  <a:pt x="105836" y="71049"/>
                  <a:pt x="99469" y="64682"/>
                  <a:pt x="99469" y="56839"/>
                </a:cubicBezTo>
                <a:cubicBezTo>
                  <a:pt x="99469" y="48997"/>
                  <a:pt x="105836" y="42629"/>
                  <a:pt x="113678" y="4262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297828" y="1733594"/>
            <a:ext cx="852587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Finanzas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4177" y="2349352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28717" y="20752"/>
                </a:moveTo>
                <a:cubicBezTo>
                  <a:pt x="132950" y="23831"/>
                  <a:pt x="133898" y="29752"/>
                  <a:pt x="130819" y="33985"/>
                </a:cubicBezTo>
                <a:lnTo>
                  <a:pt x="55033" y="138190"/>
                </a:lnTo>
                <a:cubicBezTo>
                  <a:pt x="53405" y="140440"/>
                  <a:pt x="50889" y="141831"/>
                  <a:pt x="48106" y="142068"/>
                </a:cubicBezTo>
                <a:cubicBezTo>
                  <a:pt x="45323" y="142305"/>
                  <a:pt x="42629" y="141269"/>
                  <a:pt x="40676" y="139315"/>
                </a:cubicBezTo>
                <a:lnTo>
                  <a:pt x="2783" y="101422"/>
                </a:lnTo>
                <a:cubicBezTo>
                  <a:pt x="-918" y="97722"/>
                  <a:pt x="-918" y="91712"/>
                  <a:pt x="2783" y="88012"/>
                </a:cubicBezTo>
                <a:cubicBezTo>
                  <a:pt x="6483" y="84311"/>
                  <a:pt x="12493" y="84311"/>
                  <a:pt x="16193" y="88012"/>
                </a:cubicBezTo>
                <a:lnTo>
                  <a:pt x="46241" y="118060"/>
                </a:lnTo>
                <a:lnTo>
                  <a:pt x="115514" y="22824"/>
                </a:lnTo>
                <a:cubicBezTo>
                  <a:pt x="118593" y="18591"/>
                  <a:pt x="124513" y="17644"/>
                  <a:pt x="128747" y="2072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" name="Text 7"/>
          <p:cNvSpPr/>
          <p:nvPr/>
        </p:nvSpPr>
        <p:spPr>
          <a:xfrm>
            <a:off x="918900" y="2311459"/>
            <a:ext cx="271880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Detección de fraude en transacciones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4177" y="2709333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28717" y="20752"/>
                </a:moveTo>
                <a:cubicBezTo>
                  <a:pt x="132950" y="23831"/>
                  <a:pt x="133898" y="29752"/>
                  <a:pt x="130819" y="33985"/>
                </a:cubicBezTo>
                <a:lnTo>
                  <a:pt x="55033" y="138190"/>
                </a:lnTo>
                <a:cubicBezTo>
                  <a:pt x="53405" y="140440"/>
                  <a:pt x="50889" y="141831"/>
                  <a:pt x="48106" y="142068"/>
                </a:cubicBezTo>
                <a:cubicBezTo>
                  <a:pt x="45323" y="142305"/>
                  <a:pt x="42629" y="141269"/>
                  <a:pt x="40676" y="139315"/>
                </a:cubicBezTo>
                <a:lnTo>
                  <a:pt x="2783" y="101422"/>
                </a:lnTo>
                <a:cubicBezTo>
                  <a:pt x="-918" y="97722"/>
                  <a:pt x="-918" y="91712"/>
                  <a:pt x="2783" y="88012"/>
                </a:cubicBezTo>
                <a:cubicBezTo>
                  <a:pt x="6483" y="84311"/>
                  <a:pt x="12493" y="84311"/>
                  <a:pt x="16193" y="88012"/>
                </a:cubicBezTo>
                <a:lnTo>
                  <a:pt x="46241" y="118060"/>
                </a:lnTo>
                <a:lnTo>
                  <a:pt x="115514" y="22824"/>
                </a:lnTo>
                <a:cubicBezTo>
                  <a:pt x="118593" y="18591"/>
                  <a:pt x="124513" y="17644"/>
                  <a:pt x="128747" y="2072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" name="Text 9"/>
          <p:cNvSpPr/>
          <p:nvPr/>
        </p:nvSpPr>
        <p:spPr>
          <a:xfrm>
            <a:off x="918900" y="2671441"/>
            <a:ext cx="2283040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Scoring crediticio automatizado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4177" y="3069315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28717" y="20752"/>
                </a:moveTo>
                <a:cubicBezTo>
                  <a:pt x="132950" y="23831"/>
                  <a:pt x="133898" y="29752"/>
                  <a:pt x="130819" y="33985"/>
                </a:cubicBezTo>
                <a:lnTo>
                  <a:pt x="55033" y="138190"/>
                </a:lnTo>
                <a:cubicBezTo>
                  <a:pt x="53405" y="140440"/>
                  <a:pt x="50889" y="141831"/>
                  <a:pt x="48106" y="142068"/>
                </a:cubicBezTo>
                <a:cubicBezTo>
                  <a:pt x="45323" y="142305"/>
                  <a:pt x="42629" y="141269"/>
                  <a:pt x="40676" y="139315"/>
                </a:cubicBezTo>
                <a:lnTo>
                  <a:pt x="2783" y="101422"/>
                </a:lnTo>
                <a:cubicBezTo>
                  <a:pt x="-918" y="97722"/>
                  <a:pt x="-918" y="91712"/>
                  <a:pt x="2783" y="88012"/>
                </a:cubicBezTo>
                <a:cubicBezTo>
                  <a:pt x="6483" y="84311"/>
                  <a:pt x="12493" y="84311"/>
                  <a:pt x="16193" y="88012"/>
                </a:cubicBezTo>
                <a:lnTo>
                  <a:pt x="46241" y="118060"/>
                </a:lnTo>
                <a:lnTo>
                  <a:pt x="115514" y="22824"/>
                </a:lnTo>
                <a:cubicBezTo>
                  <a:pt x="118593" y="18591"/>
                  <a:pt x="124513" y="17644"/>
                  <a:pt x="128747" y="2072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3" name="Text 11"/>
          <p:cNvSpPr/>
          <p:nvPr/>
        </p:nvSpPr>
        <p:spPr>
          <a:xfrm>
            <a:off x="918900" y="3031422"/>
            <a:ext cx="271880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Trading algorítmico de alta frecuencia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4177" y="3429296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28717" y="20752"/>
                </a:moveTo>
                <a:cubicBezTo>
                  <a:pt x="132950" y="23831"/>
                  <a:pt x="133898" y="29752"/>
                  <a:pt x="130819" y="33985"/>
                </a:cubicBezTo>
                <a:lnTo>
                  <a:pt x="55033" y="138190"/>
                </a:lnTo>
                <a:cubicBezTo>
                  <a:pt x="53405" y="140440"/>
                  <a:pt x="50889" y="141831"/>
                  <a:pt x="48106" y="142068"/>
                </a:cubicBezTo>
                <a:cubicBezTo>
                  <a:pt x="45323" y="142305"/>
                  <a:pt x="42629" y="141269"/>
                  <a:pt x="40676" y="139315"/>
                </a:cubicBezTo>
                <a:lnTo>
                  <a:pt x="2783" y="101422"/>
                </a:lnTo>
                <a:cubicBezTo>
                  <a:pt x="-918" y="97722"/>
                  <a:pt x="-918" y="91712"/>
                  <a:pt x="2783" y="88012"/>
                </a:cubicBezTo>
                <a:cubicBezTo>
                  <a:pt x="6483" y="84311"/>
                  <a:pt x="12493" y="84311"/>
                  <a:pt x="16193" y="88012"/>
                </a:cubicBezTo>
                <a:lnTo>
                  <a:pt x="46241" y="118060"/>
                </a:lnTo>
                <a:lnTo>
                  <a:pt x="115514" y="22824"/>
                </a:lnTo>
                <a:cubicBezTo>
                  <a:pt x="118593" y="18591"/>
                  <a:pt x="124513" y="17644"/>
                  <a:pt x="128747" y="2072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5" name="Text 13"/>
          <p:cNvSpPr/>
          <p:nvPr/>
        </p:nvSpPr>
        <p:spPr>
          <a:xfrm>
            <a:off x="918900" y="3391403"/>
            <a:ext cx="248197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Gestión de riesgos y cumplimiento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71078" y="1368876"/>
            <a:ext cx="3647179" cy="2510396"/>
          </a:xfrm>
          <a:custGeom>
            <a:avLst/>
            <a:gdLst/>
            <a:ahLst/>
            <a:cxnLst/>
            <a:rect l="l" t="t" r="r" b="b"/>
            <a:pathLst>
              <a:path w="3647179" h="2510396">
                <a:moveTo>
                  <a:pt x="227367" y="0"/>
                </a:moveTo>
                <a:lnTo>
                  <a:pt x="3419813" y="0"/>
                </a:lnTo>
                <a:cubicBezTo>
                  <a:pt x="3545384" y="0"/>
                  <a:pt x="3647179" y="101795"/>
                  <a:pt x="3647179" y="227367"/>
                </a:cubicBezTo>
                <a:lnTo>
                  <a:pt x="3647179" y="2283030"/>
                </a:lnTo>
                <a:cubicBezTo>
                  <a:pt x="3647179" y="2408601"/>
                  <a:pt x="3545384" y="2510396"/>
                  <a:pt x="3419813" y="2510396"/>
                </a:cubicBezTo>
                <a:lnTo>
                  <a:pt x="227367" y="2510396"/>
                </a:lnTo>
                <a:cubicBezTo>
                  <a:pt x="101795" y="2510396"/>
                  <a:pt x="0" y="2408601"/>
                  <a:pt x="0" y="2283030"/>
                </a:cubicBezTo>
                <a:lnTo>
                  <a:pt x="0" y="227367"/>
                </a:lnTo>
                <a:cubicBezTo>
                  <a:pt x="0" y="101880"/>
                  <a:pt x="101880" y="0"/>
                  <a:pt x="22736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42098" dist="94732" dir="540000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03171" y="1600970"/>
            <a:ext cx="530499" cy="530499"/>
          </a:xfrm>
          <a:custGeom>
            <a:avLst/>
            <a:gdLst/>
            <a:ahLst/>
            <a:cxnLst/>
            <a:rect l="l" t="t" r="r" b="b"/>
            <a:pathLst>
              <a:path w="530499" h="530499">
                <a:moveTo>
                  <a:pt x="151569" y="0"/>
                </a:moveTo>
                <a:lnTo>
                  <a:pt x="378930" y="0"/>
                </a:lnTo>
                <a:cubicBezTo>
                  <a:pt x="462639" y="0"/>
                  <a:pt x="530499" y="67860"/>
                  <a:pt x="530499" y="151569"/>
                </a:cubicBezTo>
                <a:lnTo>
                  <a:pt x="530499" y="378930"/>
                </a:lnTo>
                <a:cubicBezTo>
                  <a:pt x="530499" y="462639"/>
                  <a:pt x="462639" y="530499"/>
                  <a:pt x="378930" y="530499"/>
                </a:cubicBezTo>
                <a:lnTo>
                  <a:pt x="151569" y="530499"/>
                </a:lnTo>
                <a:cubicBezTo>
                  <a:pt x="67860" y="530499"/>
                  <a:pt x="0" y="462639"/>
                  <a:pt x="0" y="378930"/>
                </a:cubicBezTo>
                <a:lnTo>
                  <a:pt x="0" y="151569"/>
                </a:lnTo>
                <a:cubicBezTo>
                  <a:pt x="0" y="67860"/>
                  <a:pt x="67860" y="0"/>
                  <a:pt x="151569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" name="Shape 16"/>
          <p:cNvSpPr/>
          <p:nvPr/>
        </p:nvSpPr>
        <p:spPr>
          <a:xfrm>
            <a:off x="4654742" y="1752541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113678" y="47914"/>
                </a:moveTo>
                <a:lnTo>
                  <a:pt x="107017" y="38677"/>
                </a:lnTo>
                <a:cubicBezTo>
                  <a:pt x="95916" y="23313"/>
                  <a:pt x="78109" y="14210"/>
                  <a:pt x="59104" y="14210"/>
                </a:cubicBezTo>
                <a:cubicBezTo>
                  <a:pt x="26466" y="14210"/>
                  <a:pt x="0" y="40676"/>
                  <a:pt x="0" y="73314"/>
                </a:cubicBezTo>
                <a:lnTo>
                  <a:pt x="0" y="74468"/>
                </a:lnTo>
                <a:cubicBezTo>
                  <a:pt x="0" y="84948"/>
                  <a:pt x="2753" y="95783"/>
                  <a:pt x="7371" y="106573"/>
                </a:cubicBezTo>
                <a:lnTo>
                  <a:pt x="54441" y="106573"/>
                </a:lnTo>
                <a:cubicBezTo>
                  <a:pt x="55862" y="106573"/>
                  <a:pt x="57150" y="105730"/>
                  <a:pt x="57727" y="104398"/>
                </a:cubicBezTo>
                <a:lnTo>
                  <a:pt x="71848" y="70516"/>
                </a:lnTo>
                <a:cubicBezTo>
                  <a:pt x="73491" y="66608"/>
                  <a:pt x="77310" y="64033"/>
                  <a:pt x="81529" y="63944"/>
                </a:cubicBezTo>
                <a:cubicBezTo>
                  <a:pt x="85747" y="63855"/>
                  <a:pt x="89655" y="66342"/>
                  <a:pt x="91387" y="70205"/>
                </a:cubicBezTo>
                <a:lnTo>
                  <a:pt x="114167" y="120783"/>
                </a:lnTo>
                <a:lnTo>
                  <a:pt x="132551" y="84015"/>
                </a:lnTo>
                <a:cubicBezTo>
                  <a:pt x="134371" y="80419"/>
                  <a:pt x="138057" y="78109"/>
                  <a:pt x="142098" y="78109"/>
                </a:cubicBezTo>
                <a:cubicBezTo>
                  <a:pt x="146139" y="78109"/>
                  <a:pt x="149824" y="80374"/>
                  <a:pt x="151645" y="84015"/>
                </a:cubicBezTo>
                <a:lnTo>
                  <a:pt x="161947" y="104575"/>
                </a:lnTo>
                <a:cubicBezTo>
                  <a:pt x="162569" y="105774"/>
                  <a:pt x="163768" y="106529"/>
                  <a:pt x="165144" y="106529"/>
                </a:cubicBezTo>
                <a:lnTo>
                  <a:pt x="220030" y="106529"/>
                </a:lnTo>
                <a:cubicBezTo>
                  <a:pt x="224692" y="95738"/>
                  <a:pt x="227401" y="84903"/>
                  <a:pt x="227401" y="74424"/>
                </a:cubicBezTo>
                <a:lnTo>
                  <a:pt x="227401" y="73269"/>
                </a:lnTo>
                <a:cubicBezTo>
                  <a:pt x="227357" y="40676"/>
                  <a:pt x="200891" y="14210"/>
                  <a:pt x="168253" y="14210"/>
                </a:cubicBezTo>
                <a:cubicBezTo>
                  <a:pt x="149292" y="14210"/>
                  <a:pt x="131441" y="23313"/>
                  <a:pt x="120339" y="38677"/>
                </a:cubicBezTo>
                <a:lnTo>
                  <a:pt x="113678" y="47869"/>
                </a:lnTo>
                <a:close/>
                <a:moveTo>
                  <a:pt x="208529" y="127888"/>
                </a:moveTo>
                <a:lnTo>
                  <a:pt x="165100" y="127888"/>
                </a:lnTo>
                <a:cubicBezTo>
                  <a:pt x="155686" y="127888"/>
                  <a:pt x="147071" y="122559"/>
                  <a:pt x="142853" y="114122"/>
                </a:cubicBezTo>
                <a:lnTo>
                  <a:pt x="142098" y="112613"/>
                </a:lnTo>
                <a:lnTo>
                  <a:pt x="123226" y="150402"/>
                </a:lnTo>
                <a:cubicBezTo>
                  <a:pt x="121405" y="154087"/>
                  <a:pt x="117586" y="156397"/>
                  <a:pt x="113456" y="156308"/>
                </a:cubicBezTo>
                <a:cubicBezTo>
                  <a:pt x="109327" y="156219"/>
                  <a:pt x="105641" y="153777"/>
                  <a:pt x="103953" y="150047"/>
                </a:cubicBezTo>
                <a:lnTo>
                  <a:pt x="82062" y="101422"/>
                </a:lnTo>
                <a:lnTo>
                  <a:pt x="77399" y="112613"/>
                </a:lnTo>
                <a:cubicBezTo>
                  <a:pt x="73536" y="121893"/>
                  <a:pt x="64477" y="127933"/>
                  <a:pt x="54441" y="127933"/>
                </a:cubicBezTo>
                <a:lnTo>
                  <a:pt x="18828" y="127933"/>
                </a:lnTo>
                <a:cubicBezTo>
                  <a:pt x="39787" y="160704"/>
                  <a:pt x="73447" y="190855"/>
                  <a:pt x="94495" y="206930"/>
                </a:cubicBezTo>
                <a:cubicBezTo>
                  <a:pt x="100001" y="211104"/>
                  <a:pt x="106751" y="213191"/>
                  <a:pt x="113634" y="213191"/>
                </a:cubicBezTo>
                <a:cubicBezTo>
                  <a:pt x="120517" y="213191"/>
                  <a:pt x="127311" y="211149"/>
                  <a:pt x="132773" y="206930"/>
                </a:cubicBezTo>
                <a:cubicBezTo>
                  <a:pt x="153910" y="190811"/>
                  <a:pt x="187569" y="160659"/>
                  <a:pt x="208529" y="1278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185241" y="1733594"/>
            <a:ext cx="577865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Salud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31591" y="2349352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28717" y="20752"/>
                </a:moveTo>
                <a:cubicBezTo>
                  <a:pt x="132950" y="23831"/>
                  <a:pt x="133898" y="29752"/>
                  <a:pt x="130819" y="33985"/>
                </a:cubicBezTo>
                <a:lnTo>
                  <a:pt x="55033" y="138190"/>
                </a:lnTo>
                <a:cubicBezTo>
                  <a:pt x="53405" y="140440"/>
                  <a:pt x="50889" y="141831"/>
                  <a:pt x="48106" y="142068"/>
                </a:cubicBezTo>
                <a:cubicBezTo>
                  <a:pt x="45323" y="142305"/>
                  <a:pt x="42629" y="141269"/>
                  <a:pt x="40676" y="139315"/>
                </a:cubicBezTo>
                <a:lnTo>
                  <a:pt x="2783" y="101422"/>
                </a:lnTo>
                <a:cubicBezTo>
                  <a:pt x="-918" y="97722"/>
                  <a:pt x="-918" y="91712"/>
                  <a:pt x="2783" y="88012"/>
                </a:cubicBezTo>
                <a:cubicBezTo>
                  <a:pt x="6483" y="84311"/>
                  <a:pt x="12493" y="84311"/>
                  <a:pt x="16193" y="88012"/>
                </a:cubicBezTo>
                <a:lnTo>
                  <a:pt x="46241" y="118060"/>
                </a:lnTo>
                <a:lnTo>
                  <a:pt x="115514" y="22824"/>
                </a:lnTo>
                <a:cubicBezTo>
                  <a:pt x="118593" y="18591"/>
                  <a:pt x="124513" y="17644"/>
                  <a:pt x="128747" y="2072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1" name="Text 19"/>
          <p:cNvSpPr/>
          <p:nvPr/>
        </p:nvSpPr>
        <p:spPr>
          <a:xfrm>
            <a:off x="4806314" y="2311459"/>
            <a:ext cx="248197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Diagnóstico médico asistido por IA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31591" y="2709333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28717" y="20752"/>
                </a:moveTo>
                <a:cubicBezTo>
                  <a:pt x="132950" y="23831"/>
                  <a:pt x="133898" y="29752"/>
                  <a:pt x="130819" y="33985"/>
                </a:cubicBezTo>
                <a:lnTo>
                  <a:pt x="55033" y="138190"/>
                </a:lnTo>
                <a:cubicBezTo>
                  <a:pt x="53405" y="140440"/>
                  <a:pt x="50889" y="141831"/>
                  <a:pt x="48106" y="142068"/>
                </a:cubicBezTo>
                <a:cubicBezTo>
                  <a:pt x="45323" y="142305"/>
                  <a:pt x="42629" y="141269"/>
                  <a:pt x="40676" y="139315"/>
                </a:cubicBezTo>
                <a:lnTo>
                  <a:pt x="2783" y="101422"/>
                </a:lnTo>
                <a:cubicBezTo>
                  <a:pt x="-918" y="97722"/>
                  <a:pt x="-918" y="91712"/>
                  <a:pt x="2783" y="88012"/>
                </a:cubicBezTo>
                <a:cubicBezTo>
                  <a:pt x="6483" y="84311"/>
                  <a:pt x="12493" y="84311"/>
                  <a:pt x="16193" y="88012"/>
                </a:cubicBezTo>
                <a:lnTo>
                  <a:pt x="46241" y="118060"/>
                </a:lnTo>
                <a:lnTo>
                  <a:pt x="115514" y="22824"/>
                </a:lnTo>
                <a:cubicBezTo>
                  <a:pt x="118593" y="18591"/>
                  <a:pt x="124513" y="17644"/>
                  <a:pt x="128747" y="2072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3" name="Text 21"/>
          <p:cNvSpPr/>
          <p:nvPr/>
        </p:nvSpPr>
        <p:spPr>
          <a:xfrm>
            <a:off x="4806314" y="2671441"/>
            <a:ext cx="2832485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de imágenes médicas (MRI, CT)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31591" y="3069315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28717" y="20752"/>
                </a:moveTo>
                <a:cubicBezTo>
                  <a:pt x="132950" y="23831"/>
                  <a:pt x="133898" y="29752"/>
                  <a:pt x="130819" y="33985"/>
                </a:cubicBezTo>
                <a:lnTo>
                  <a:pt x="55033" y="138190"/>
                </a:lnTo>
                <a:cubicBezTo>
                  <a:pt x="53405" y="140440"/>
                  <a:pt x="50889" y="141831"/>
                  <a:pt x="48106" y="142068"/>
                </a:cubicBezTo>
                <a:cubicBezTo>
                  <a:pt x="45323" y="142305"/>
                  <a:pt x="42629" y="141269"/>
                  <a:pt x="40676" y="139315"/>
                </a:cubicBezTo>
                <a:lnTo>
                  <a:pt x="2783" y="101422"/>
                </a:lnTo>
                <a:cubicBezTo>
                  <a:pt x="-918" y="97722"/>
                  <a:pt x="-918" y="91712"/>
                  <a:pt x="2783" y="88012"/>
                </a:cubicBezTo>
                <a:cubicBezTo>
                  <a:pt x="6483" y="84311"/>
                  <a:pt x="12493" y="84311"/>
                  <a:pt x="16193" y="88012"/>
                </a:cubicBezTo>
                <a:lnTo>
                  <a:pt x="46241" y="118060"/>
                </a:lnTo>
                <a:lnTo>
                  <a:pt x="115514" y="22824"/>
                </a:lnTo>
                <a:cubicBezTo>
                  <a:pt x="118593" y="18591"/>
                  <a:pt x="124513" y="17644"/>
                  <a:pt x="128747" y="2072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5" name="Text 23"/>
          <p:cNvSpPr/>
          <p:nvPr/>
        </p:nvSpPr>
        <p:spPr>
          <a:xfrm>
            <a:off x="4806314" y="3031422"/>
            <a:ext cx="2084103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Descubrimiento de fármacos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31591" y="3429296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28717" y="20752"/>
                </a:moveTo>
                <a:cubicBezTo>
                  <a:pt x="132950" y="23831"/>
                  <a:pt x="133898" y="29752"/>
                  <a:pt x="130819" y="33985"/>
                </a:cubicBezTo>
                <a:lnTo>
                  <a:pt x="55033" y="138190"/>
                </a:lnTo>
                <a:cubicBezTo>
                  <a:pt x="53405" y="140440"/>
                  <a:pt x="50889" y="141831"/>
                  <a:pt x="48106" y="142068"/>
                </a:cubicBezTo>
                <a:cubicBezTo>
                  <a:pt x="45323" y="142305"/>
                  <a:pt x="42629" y="141269"/>
                  <a:pt x="40676" y="139315"/>
                </a:cubicBezTo>
                <a:lnTo>
                  <a:pt x="2783" y="101422"/>
                </a:lnTo>
                <a:cubicBezTo>
                  <a:pt x="-918" y="97722"/>
                  <a:pt x="-918" y="91712"/>
                  <a:pt x="2783" y="88012"/>
                </a:cubicBezTo>
                <a:cubicBezTo>
                  <a:pt x="6483" y="84311"/>
                  <a:pt x="12493" y="84311"/>
                  <a:pt x="16193" y="88012"/>
                </a:cubicBezTo>
                <a:lnTo>
                  <a:pt x="46241" y="118060"/>
                </a:lnTo>
                <a:lnTo>
                  <a:pt x="115514" y="22824"/>
                </a:lnTo>
                <a:cubicBezTo>
                  <a:pt x="118593" y="18591"/>
                  <a:pt x="124513" y="17644"/>
                  <a:pt x="128747" y="2072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7" name="Text 25"/>
          <p:cNvSpPr/>
          <p:nvPr/>
        </p:nvSpPr>
        <p:spPr>
          <a:xfrm>
            <a:off x="4806314" y="3391403"/>
            <a:ext cx="2548289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Medicina personalizada y genómica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58640" y="1368876"/>
            <a:ext cx="3647179" cy="2510396"/>
          </a:xfrm>
          <a:custGeom>
            <a:avLst/>
            <a:gdLst/>
            <a:ahLst/>
            <a:cxnLst/>
            <a:rect l="l" t="t" r="r" b="b"/>
            <a:pathLst>
              <a:path w="3647179" h="2510396">
                <a:moveTo>
                  <a:pt x="227367" y="0"/>
                </a:moveTo>
                <a:lnTo>
                  <a:pt x="3419813" y="0"/>
                </a:lnTo>
                <a:cubicBezTo>
                  <a:pt x="3545384" y="0"/>
                  <a:pt x="3647179" y="101795"/>
                  <a:pt x="3647179" y="227367"/>
                </a:cubicBezTo>
                <a:lnTo>
                  <a:pt x="3647179" y="2283030"/>
                </a:lnTo>
                <a:cubicBezTo>
                  <a:pt x="3647179" y="2408601"/>
                  <a:pt x="3545384" y="2510396"/>
                  <a:pt x="3419813" y="2510396"/>
                </a:cubicBezTo>
                <a:lnTo>
                  <a:pt x="227367" y="2510396"/>
                </a:lnTo>
                <a:cubicBezTo>
                  <a:pt x="101795" y="2510396"/>
                  <a:pt x="0" y="2408601"/>
                  <a:pt x="0" y="2283030"/>
                </a:cubicBezTo>
                <a:lnTo>
                  <a:pt x="0" y="227367"/>
                </a:lnTo>
                <a:cubicBezTo>
                  <a:pt x="0" y="101880"/>
                  <a:pt x="101880" y="0"/>
                  <a:pt x="22736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42098" dist="94732" dir="540000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90733" y="1600970"/>
            <a:ext cx="530499" cy="530499"/>
          </a:xfrm>
          <a:custGeom>
            <a:avLst/>
            <a:gdLst/>
            <a:ahLst/>
            <a:cxnLst/>
            <a:rect l="l" t="t" r="r" b="b"/>
            <a:pathLst>
              <a:path w="530499" h="530499">
                <a:moveTo>
                  <a:pt x="151569" y="0"/>
                </a:moveTo>
                <a:lnTo>
                  <a:pt x="378930" y="0"/>
                </a:lnTo>
                <a:cubicBezTo>
                  <a:pt x="462639" y="0"/>
                  <a:pt x="530499" y="67860"/>
                  <a:pt x="530499" y="151569"/>
                </a:cubicBezTo>
                <a:lnTo>
                  <a:pt x="530499" y="378930"/>
                </a:lnTo>
                <a:cubicBezTo>
                  <a:pt x="530499" y="462639"/>
                  <a:pt x="462639" y="530499"/>
                  <a:pt x="378930" y="530499"/>
                </a:cubicBezTo>
                <a:lnTo>
                  <a:pt x="151569" y="530499"/>
                </a:lnTo>
                <a:cubicBezTo>
                  <a:pt x="67860" y="530499"/>
                  <a:pt x="0" y="462639"/>
                  <a:pt x="0" y="378930"/>
                </a:cubicBezTo>
                <a:lnTo>
                  <a:pt x="0" y="151569"/>
                </a:lnTo>
                <a:cubicBezTo>
                  <a:pt x="0" y="67860"/>
                  <a:pt x="67860" y="0"/>
                  <a:pt x="151569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0" name="Shape 28"/>
          <p:cNvSpPr/>
          <p:nvPr/>
        </p:nvSpPr>
        <p:spPr>
          <a:xfrm>
            <a:off x="8513885" y="1752541"/>
            <a:ext cx="284196" cy="227357"/>
          </a:xfrm>
          <a:custGeom>
            <a:avLst/>
            <a:gdLst/>
            <a:ahLst/>
            <a:cxnLst/>
            <a:rect l="l" t="t" r="r" b="b"/>
            <a:pathLst>
              <a:path w="284196" h="227357">
                <a:moveTo>
                  <a:pt x="10657" y="-7105"/>
                </a:moveTo>
                <a:cubicBezTo>
                  <a:pt x="4751" y="-7105"/>
                  <a:pt x="0" y="-2353"/>
                  <a:pt x="0" y="3552"/>
                </a:cubicBezTo>
                <a:cubicBezTo>
                  <a:pt x="0" y="9458"/>
                  <a:pt x="4751" y="14210"/>
                  <a:pt x="10657" y="14210"/>
                </a:cubicBezTo>
                <a:lnTo>
                  <a:pt x="30773" y="14210"/>
                </a:lnTo>
                <a:cubicBezTo>
                  <a:pt x="32505" y="14210"/>
                  <a:pt x="33970" y="15453"/>
                  <a:pt x="34281" y="17141"/>
                </a:cubicBezTo>
                <a:lnTo>
                  <a:pt x="57416" y="144274"/>
                </a:lnTo>
                <a:cubicBezTo>
                  <a:pt x="60170" y="159460"/>
                  <a:pt x="73402" y="170517"/>
                  <a:pt x="88856" y="170517"/>
                </a:cubicBezTo>
                <a:lnTo>
                  <a:pt x="202490" y="170517"/>
                </a:lnTo>
                <a:cubicBezTo>
                  <a:pt x="208395" y="170517"/>
                  <a:pt x="213147" y="165766"/>
                  <a:pt x="213147" y="159860"/>
                </a:cubicBezTo>
                <a:cubicBezTo>
                  <a:pt x="213147" y="153954"/>
                  <a:pt x="208395" y="149203"/>
                  <a:pt x="202490" y="149203"/>
                </a:cubicBezTo>
                <a:lnTo>
                  <a:pt x="88856" y="149203"/>
                </a:lnTo>
                <a:cubicBezTo>
                  <a:pt x="83705" y="149203"/>
                  <a:pt x="79308" y="145517"/>
                  <a:pt x="78376" y="140455"/>
                </a:cubicBezTo>
                <a:lnTo>
                  <a:pt x="76111" y="127888"/>
                </a:lnTo>
                <a:lnTo>
                  <a:pt x="210927" y="127888"/>
                </a:lnTo>
                <a:cubicBezTo>
                  <a:pt x="224603" y="127888"/>
                  <a:pt x="236327" y="118163"/>
                  <a:pt x="238858" y="104708"/>
                </a:cubicBezTo>
                <a:lnTo>
                  <a:pt x="252623" y="31040"/>
                </a:lnTo>
                <a:cubicBezTo>
                  <a:pt x="254266" y="22292"/>
                  <a:pt x="247561" y="14210"/>
                  <a:pt x="238636" y="14210"/>
                </a:cubicBezTo>
                <a:lnTo>
                  <a:pt x="55374" y="14210"/>
                </a:lnTo>
                <a:lnTo>
                  <a:pt x="55196" y="13322"/>
                </a:lnTo>
                <a:cubicBezTo>
                  <a:pt x="53065" y="1510"/>
                  <a:pt x="42763" y="-7105"/>
                  <a:pt x="30729" y="-7105"/>
                </a:cubicBezTo>
                <a:lnTo>
                  <a:pt x="10657" y="-7105"/>
                </a:lnTo>
                <a:close/>
                <a:moveTo>
                  <a:pt x="92364" y="227357"/>
                </a:moveTo>
                <a:cubicBezTo>
                  <a:pt x="104128" y="227357"/>
                  <a:pt x="113678" y="217806"/>
                  <a:pt x="113678" y="206042"/>
                </a:cubicBezTo>
                <a:cubicBezTo>
                  <a:pt x="113678" y="194278"/>
                  <a:pt x="104128" y="184727"/>
                  <a:pt x="92364" y="184727"/>
                </a:cubicBezTo>
                <a:cubicBezTo>
                  <a:pt x="80600" y="184727"/>
                  <a:pt x="71049" y="194278"/>
                  <a:pt x="71049" y="206042"/>
                </a:cubicBezTo>
                <a:cubicBezTo>
                  <a:pt x="71049" y="217806"/>
                  <a:pt x="80600" y="227357"/>
                  <a:pt x="92364" y="227357"/>
                </a:cubicBezTo>
                <a:close/>
                <a:moveTo>
                  <a:pt x="191832" y="227357"/>
                </a:moveTo>
                <a:cubicBezTo>
                  <a:pt x="203596" y="227357"/>
                  <a:pt x="213147" y="217806"/>
                  <a:pt x="213147" y="206042"/>
                </a:cubicBezTo>
                <a:cubicBezTo>
                  <a:pt x="213147" y="194278"/>
                  <a:pt x="203596" y="184727"/>
                  <a:pt x="191832" y="184727"/>
                </a:cubicBezTo>
                <a:cubicBezTo>
                  <a:pt x="180068" y="184727"/>
                  <a:pt x="170517" y="194278"/>
                  <a:pt x="170517" y="206042"/>
                </a:cubicBezTo>
                <a:cubicBezTo>
                  <a:pt x="170517" y="217806"/>
                  <a:pt x="180068" y="227357"/>
                  <a:pt x="191832" y="22735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072803" y="1733594"/>
            <a:ext cx="1960951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Comercio Electrónico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419153" y="2320932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28717" y="20752"/>
                </a:moveTo>
                <a:cubicBezTo>
                  <a:pt x="132950" y="23831"/>
                  <a:pt x="133898" y="29752"/>
                  <a:pt x="130819" y="33985"/>
                </a:cubicBezTo>
                <a:lnTo>
                  <a:pt x="55033" y="138190"/>
                </a:lnTo>
                <a:cubicBezTo>
                  <a:pt x="53405" y="140440"/>
                  <a:pt x="50889" y="141831"/>
                  <a:pt x="48106" y="142068"/>
                </a:cubicBezTo>
                <a:cubicBezTo>
                  <a:pt x="45323" y="142305"/>
                  <a:pt x="42629" y="141269"/>
                  <a:pt x="40676" y="139315"/>
                </a:cubicBezTo>
                <a:lnTo>
                  <a:pt x="2783" y="101422"/>
                </a:lnTo>
                <a:cubicBezTo>
                  <a:pt x="-918" y="97722"/>
                  <a:pt x="-918" y="91712"/>
                  <a:pt x="2783" y="88012"/>
                </a:cubicBezTo>
                <a:cubicBezTo>
                  <a:pt x="6483" y="84311"/>
                  <a:pt x="12493" y="84311"/>
                  <a:pt x="16193" y="88012"/>
                </a:cubicBezTo>
                <a:lnTo>
                  <a:pt x="46241" y="118060"/>
                </a:lnTo>
                <a:lnTo>
                  <a:pt x="115514" y="22824"/>
                </a:lnTo>
                <a:cubicBezTo>
                  <a:pt x="118593" y="18591"/>
                  <a:pt x="124513" y="17644"/>
                  <a:pt x="128747" y="2072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3" name="Text 31"/>
          <p:cNvSpPr/>
          <p:nvPr/>
        </p:nvSpPr>
        <p:spPr>
          <a:xfrm>
            <a:off x="8693875" y="2283040"/>
            <a:ext cx="2955636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Sistemas de recomendación personalizados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419153" y="2851431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28717" y="20752"/>
                </a:moveTo>
                <a:cubicBezTo>
                  <a:pt x="132950" y="23831"/>
                  <a:pt x="133898" y="29752"/>
                  <a:pt x="130819" y="33985"/>
                </a:cubicBezTo>
                <a:lnTo>
                  <a:pt x="55033" y="138190"/>
                </a:lnTo>
                <a:cubicBezTo>
                  <a:pt x="53405" y="140440"/>
                  <a:pt x="50889" y="141831"/>
                  <a:pt x="48106" y="142068"/>
                </a:cubicBezTo>
                <a:cubicBezTo>
                  <a:pt x="45323" y="142305"/>
                  <a:pt x="42629" y="141269"/>
                  <a:pt x="40676" y="139315"/>
                </a:cubicBezTo>
                <a:lnTo>
                  <a:pt x="2783" y="101422"/>
                </a:lnTo>
                <a:cubicBezTo>
                  <a:pt x="-918" y="97722"/>
                  <a:pt x="-918" y="91712"/>
                  <a:pt x="2783" y="88012"/>
                </a:cubicBezTo>
                <a:cubicBezTo>
                  <a:pt x="6483" y="84311"/>
                  <a:pt x="12493" y="84311"/>
                  <a:pt x="16193" y="88012"/>
                </a:cubicBezTo>
                <a:lnTo>
                  <a:pt x="46241" y="118060"/>
                </a:lnTo>
                <a:lnTo>
                  <a:pt x="115514" y="22824"/>
                </a:lnTo>
                <a:cubicBezTo>
                  <a:pt x="118593" y="18591"/>
                  <a:pt x="124513" y="17644"/>
                  <a:pt x="128747" y="2072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5" name="Text 33"/>
          <p:cNvSpPr/>
          <p:nvPr/>
        </p:nvSpPr>
        <p:spPr>
          <a:xfrm>
            <a:off x="8693875" y="2813538"/>
            <a:ext cx="2254620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Predicción de demanda y stock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419153" y="3154573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28717" y="20752"/>
                </a:moveTo>
                <a:cubicBezTo>
                  <a:pt x="132950" y="23831"/>
                  <a:pt x="133898" y="29752"/>
                  <a:pt x="130819" y="33985"/>
                </a:cubicBezTo>
                <a:lnTo>
                  <a:pt x="55033" y="138190"/>
                </a:lnTo>
                <a:cubicBezTo>
                  <a:pt x="53405" y="140440"/>
                  <a:pt x="50889" y="141831"/>
                  <a:pt x="48106" y="142068"/>
                </a:cubicBezTo>
                <a:cubicBezTo>
                  <a:pt x="45323" y="142305"/>
                  <a:pt x="42629" y="141269"/>
                  <a:pt x="40676" y="139315"/>
                </a:cubicBezTo>
                <a:lnTo>
                  <a:pt x="2783" y="101422"/>
                </a:lnTo>
                <a:cubicBezTo>
                  <a:pt x="-918" y="97722"/>
                  <a:pt x="-918" y="91712"/>
                  <a:pt x="2783" y="88012"/>
                </a:cubicBezTo>
                <a:cubicBezTo>
                  <a:pt x="6483" y="84311"/>
                  <a:pt x="12493" y="84311"/>
                  <a:pt x="16193" y="88012"/>
                </a:cubicBezTo>
                <a:lnTo>
                  <a:pt x="46241" y="118060"/>
                </a:lnTo>
                <a:lnTo>
                  <a:pt x="115514" y="22824"/>
                </a:lnTo>
                <a:cubicBezTo>
                  <a:pt x="118593" y="18591"/>
                  <a:pt x="124513" y="17644"/>
                  <a:pt x="128747" y="2072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7" name="Text 35"/>
          <p:cNvSpPr/>
          <p:nvPr/>
        </p:nvSpPr>
        <p:spPr>
          <a:xfrm>
            <a:off x="8693875" y="3116681"/>
            <a:ext cx="2377772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Precios dinámicos y optimización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419153" y="3457716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28717" y="20752"/>
                </a:moveTo>
                <a:cubicBezTo>
                  <a:pt x="132950" y="23831"/>
                  <a:pt x="133898" y="29752"/>
                  <a:pt x="130819" y="33985"/>
                </a:cubicBezTo>
                <a:lnTo>
                  <a:pt x="55033" y="138190"/>
                </a:lnTo>
                <a:cubicBezTo>
                  <a:pt x="53405" y="140440"/>
                  <a:pt x="50889" y="141831"/>
                  <a:pt x="48106" y="142068"/>
                </a:cubicBezTo>
                <a:cubicBezTo>
                  <a:pt x="45323" y="142305"/>
                  <a:pt x="42629" y="141269"/>
                  <a:pt x="40676" y="139315"/>
                </a:cubicBezTo>
                <a:lnTo>
                  <a:pt x="2783" y="101422"/>
                </a:lnTo>
                <a:cubicBezTo>
                  <a:pt x="-918" y="97722"/>
                  <a:pt x="-918" y="91712"/>
                  <a:pt x="2783" y="88012"/>
                </a:cubicBezTo>
                <a:cubicBezTo>
                  <a:pt x="6483" y="84311"/>
                  <a:pt x="12493" y="84311"/>
                  <a:pt x="16193" y="88012"/>
                </a:cubicBezTo>
                <a:lnTo>
                  <a:pt x="46241" y="118060"/>
                </a:lnTo>
                <a:lnTo>
                  <a:pt x="115514" y="22824"/>
                </a:lnTo>
                <a:cubicBezTo>
                  <a:pt x="118593" y="18591"/>
                  <a:pt x="124513" y="17644"/>
                  <a:pt x="128747" y="2072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9" name="Text 37"/>
          <p:cNvSpPr/>
          <p:nvPr/>
        </p:nvSpPr>
        <p:spPr>
          <a:xfrm>
            <a:off x="8693875" y="3419823"/>
            <a:ext cx="2140942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Chatbots y atención al cliente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3664" y="4116103"/>
            <a:ext cx="3647179" cy="2737753"/>
          </a:xfrm>
          <a:custGeom>
            <a:avLst/>
            <a:gdLst/>
            <a:ahLst/>
            <a:cxnLst/>
            <a:rect l="l" t="t" r="r" b="b"/>
            <a:pathLst>
              <a:path w="3647179" h="2737753">
                <a:moveTo>
                  <a:pt x="227343" y="0"/>
                </a:moveTo>
                <a:lnTo>
                  <a:pt x="3419836" y="0"/>
                </a:lnTo>
                <a:cubicBezTo>
                  <a:pt x="3545395" y="0"/>
                  <a:pt x="3647179" y="101785"/>
                  <a:pt x="3647179" y="227343"/>
                </a:cubicBezTo>
                <a:lnTo>
                  <a:pt x="3647179" y="2510410"/>
                </a:lnTo>
                <a:cubicBezTo>
                  <a:pt x="3647179" y="2635968"/>
                  <a:pt x="3545395" y="2737753"/>
                  <a:pt x="3419836" y="2737753"/>
                </a:cubicBezTo>
                <a:lnTo>
                  <a:pt x="227343" y="2737753"/>
                </a:lnTo>
                <a:cubicBezTo>
                  <a:pt x="101785" y="2737753"/>
                  <a:pt x="0" y="2635968"/>
                  <a:pt x="0" y="2510410"/>
                </a:cubicBezTo>
                <a:lnTo>
                  <a:pt x="0" y="227343"/>
                </a:lnTo>
                <a:cubicBezTo>
                  <a:pt x="0" y="101869"/>
                  <a:pt x="101869" y="0"/>
                  <a:pt x="22734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42098" dist="94732" dir="540000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5758" y="4348196"/>
            <a:ext cx="530499" cy="530499"/>
          </a:xfrm>
          <a:custGeom>
            <a:avLst/>
            <a:gdLst/>
            <a:ahLst/>
            <a:cxnLst/>
            <a:rect l="l" t="t" r="r" b="b"/>
            <a:pathLst>
              <a:path w="530499" h="530499">
                <a:moveTo>
                  <a:pt x="151569" y="0"/>
                </a:moveTo>
                <a:lnTo>
                  <a:pt x="378930" y="0"/>
                </a:lnTo>
                <a:cubicBezTo>
                  <a:pt x="462639" y="0"/>
                  <a:pt x="530499" y="67860"/>
                  <a:pt x="530499" y="151569"/>
                </a:cubicBezTo>
                <a:lnTo>
                  <a:pt x="530499" y="378930"/>
                </a:lnTo>
                <a:cubicBezTo>
                  <a:pt x="530499" y="462639"/>
                  <a:pt x="462639" y="530499"/>
                  <a:pt x="378930" y="530499"/>
                </a:cubicBezTo>
                <a:lnTo>
                  <a:pt x="151569" y="530499"/>
                </a:lnTo>
                <a:cubicBezTo>
                  <a:pt x="67860" y="530499"/>
                  <a:pt x="0" y="462639"/>
                  <a:pt x="0" y="378930"/>
                </a:cubicBezTo>
                <a:lnTo>
                  <a:pt x="0" y="151569"/>
                </a:lnTo>
                <a:cubicBezTo>
                  <a:pt x="0" y="67860"/>
                  <a:pt x="67860" y="0"/>
                  <a:pt x="151569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2" name="Shape 40"/>
          <p:cNvSpPr/>
          <p:nvPr/>
        </p:nvSpPr>
        <p:spPr>
          <a:xfrm>
            <a:off x="767329" y="4499767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60036" y="52132"/>
                </a:moveTo>
                <a:lnTo>
                  <a:pt x="48447" y="85259"/>
                </a:lnTo>
                <a:lnTo>
                  <a:pt x="178910" y="85259"/>
                </a:lnTo>
                <a:lnTo>
                  <a:pt x="167320" y="52132"/>
                </a:lnTo>
                <a:cubicBezTo>
                  <a:pt x="165322" y="46448"/>
                  <a:pt x="159949" y="42629"/>
                  <a:pt x="153910" y="42629"/>
                </a:cubicBezTo>
                <a:lnTo>
                  <a:pt x="73447" y="42629"/>
                </a:lnTo>
                <a:cubicBezTo>
                  <a:pt x="67408" y="42629"/>
                  <a:pt x="62035" y="46448"/>
                  <a:pt x="60036" y="52132"/>
                </a:cubicBezTo>
                <a:close/>
                <a:moveTo>
                  <a:pt x="17585" y="87390"/>
                </a:moveTo>
                <a:lnTo>
                  <a:pt x="33215" y="42763"/>
                </a:lnTo>
                <a:cubicBezTo>
                  <a:pt x="39210" y="25666"/>
                  <a:pt x="55329" y="14210"/>
                  <a:pt x="73447" y="14210"/>
                </a:cubicBezTo>
                <a:lnTo>
                  <a:pt x="153910" y="14210"/>
                </a:lnTo>
                <a:cubicBezTo>
                  <a:pt x="172027" y="14210"/>
                  <a:pt x="188147" y="25666"/>
                  <a:pt x="194141" y="42763"/>
                </a:cubicBezTo>
                <a:lnTo>
                  <a:pt x="209772" y="87390"/>
                </a:lnTo>
                <a:cubicBezTo>
                  <a:pt x="220074" y="91653"/>
                  <a:pt x="227357" y="101822"/>
                  <a:pt x="227357" y="113678"/>
                </a:cubicBezTo>
                <a:lnTo>
                  <a:pt x="227357" y="198937"/>
                </a:lnTo>
                <a:cubicBezTo>
                  <a:pt x="227357" y="206797"/>
                  <a:pt x="221007" y="213147"/>
                  <a:pt x="213147" y="213147"/>
                </a:cubicBezTo>
                <a:lnTo>
                  <a:pt x="198937" y="213147"/>
                </a:lnTo>
                <a:cubicBezTo>
                  <a:pt x="191077" y="213147"/>
                  <a:pt x="184727" y="206797"/>
                  <a:pt x="184727" y="198937"/>
                </a:cubicBezTo>
                <a:lnTo>
                  <a:pt x="184727" y="184727"/>
                </a:lnTo>
                <a:lnTo>
                  <a:pt x="42629" y="184727"/>
                </a:lnTo>
                <a:lnTo>
                  <a:pt x="42629" y="198937"/>
                </a:lnTo>
                <a:cubicBezTo>
                  <a:pt x="42629" y="206797"/>
                  <a:pt x="36279" y="213147"/>
                  <a:pt x="28420" y="213147"/>
                </a:cubicBezTo>
                <a:lnTo>
                  <a:pt x="14210" y="213147"/>
                </a:lnTo>
                <a:cubicBezTo>
                  <a:pt x="6350" y="213147"/>
                  <a:pt x="0" y="206797"/>
                  <a:pt x="0" y="198937"/>
                </a:cubicBezTo>
                <a:lnTo>
                  <a:pt x="0" y="113678"/>
                </a:lnTo>
                <a:cubicBezTo>
                  <a:pt x="0" y="101822"/>
                  <a:pt x="7283" y="91653"/>
                  <a:pt x="17585" y="87390"/>
                </a:cubicBezTo>
                <a:close/>
                <a:moveTo>
                  <a:pt x="56839" y="134993"/>
                </a:moveTo>
                <a:cubicBezTo>
                  <a:pt x="56839" y="127150"/>
                  <a:pt x="50472" y="120783"/>
                  <a:pt x="42629" y="120783"/>
                </a:cubicBezTo>
                <a:cubicBezTo>
                  <a:pt x="34787" y="120783"/>
                  <a:pt x="28420" y="127150"/>
                  <a:pt x="28420" y="134993"/>
                </a:cubicBezTo>
                <a:cubicBezTo>
                  <a:pt x="28420" y="142836"/>
                  <a:pt x="34787" y="149203"/>
                  <a:pt x="42629" y="149203"/>
                </a:cubicBezTo>
                <a:cubicBezTo>
                  <a:pt x="50472" y="149203"/>
                  <a:pt x="56839" y="142836"/>
                  <a:pt x="56839" y="134993"/>
                </a:cubicBezTo>
                <a:close/>
                <a:moveTo>
                  <a:pt x="184727" y="149203"/>
                </a:moveTo>
                <a:cubicBezTo>
                  <a:pt x="192570" y="149203"/>
                  <a:pt x="198937" y="142836"/>
                  <a:pt x="198937" y="134993"/>
                </a:cubicBezTo>
                <a:cubicBezTo>
                  <a:pt x="198937" y="127150"/>
                  <a:pt x="192570" y="120783"/>
                  <a:pt x="184727" y="120783"/>
                </a:cubicBezTo>
                <a:cubicBezTo>
                  <a:pt x="176885" y="120783"/>
                  <a:pt x="170517" y="127150"/>
                  <a:pt x="170517" y="134993"/>
                </a:cubicBezTo>
                <a:cubicBezTo>
                  <a:pt x="170517" y="142836"/>
                  <a:pt x="176885" y="149203"/>
                  <a:pt x="184727" y="14920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1297828" y="4480821"/>
            <a:ext cx="1146256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Automoción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4177" y="5124998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28717" y="20752"/>
                </a:moveTo>
                <a:cubicBezTo>
                  <a:pt x="132950" y="23831"/>
                  <a:pt x="133898" y="29752"/>
                  <a:pt x="130819" y="33985"/>
                </a:cubicBezTo>
                <a:lnTo>
                  <a:pt x="55033" y="138190"/>
                </a:lnTo>
                <a:cubicBezTo>
                  <a:pt x="53405" y="140440"/>
                  <a:pt x="50889" y="141831"/>
                  <a:pt x="48106" y="142068"/>
                </a:cubicBezTo>
                <a:cubicBezTo>
                  <a:pt x="45323" y="142305"/>
                  <a:pt x="42629" y="141269"/>
                  <a:pt x="40676" y="139315"/>
                </a:cubicBezTo>
                <a:lnTo>
                  <a:pt x="2783" y="101422"/>
                </a:lnTo>
                <a:cubicBezTo>
                  <a:pt x="-918" y="97722"/>
                  <a:pt x="-918" y="91712"/>
                  <a:pt x="2783" y="88012"/>
                </a:cubicBezTo>
                <a:cubicBezTo>
                  <a:pt x="6483" y="84311"/>
                  <a:pt x="12493" y="84311"/>
                  <a:pt x="16193" y="88012"/>
                </a:cubicBezTo>
                <a:lnTo>
                  <a:pt x="46241" y="118060"/>
                </a:lnTo>
                <a:lnTo>
                  <a:pt x="115514" y="22824"/>
                </a:lnTo>
                <a:cubicBezTo>
                  <a:pt x="118593" y="18591"/>
                  <a:pt x="124513" y="17644"/>
                  <a:pt x="128747" y="2072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5" name="Text 43"/>
          <p:cNvSpPr/>
          <p:nvPr/>
        </p:nvSpPr>
        <p:spPr>
          <a:xfrm>
            <a:off x="918900" y="5087105"/>
            <a:ext cx="156307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Vehículos autónomos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4177" y="5541818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28717" y="20752"/>
                </a:moveTo>
                <a:cubicBezTo>
                  <a:pt x="132950" y="23831"/>
                  <a:pt x="133898" y="29752"/>
                  <a:pt x="130819" y="33985"/>
                </a:cubicBezTo>
                <a:lnTo>
                  <a:pt x="55033" y="138190"/>
                </a:lnTo>
                <a:cubicBezTo>
                  <a:pt x="53405" y="140440"/>
                  <a:pt x="50889" y="141831"/>
                  <a:pt x="48106" y="142068"/>
                </a:cubicBezTo>
                <a:cubicBezTo>
                  <a:pt x="45323" y="142305"/>
                  <a:pt x="42629" y="141269"/>
                  <a:pt x="40676" y="139315"/>
                </a:cubicBezTo>
                <a:lnTo>
                  <a:pt x="2783" y="101422"/>
                </a:lnTo>
                <a:cubicBezTo>
                  <a:pt x="-918" y="97722"/>
                  <a:pt x="-918" y="91712"/>
                  <a:pt x="2783" y="88012"/>
                </a:cubicBezTo>
                <a:cubicBezTo>
                  <a:pt x="6483" y="84311"/>
                  <a:pt x="12493" y="84311"/>
                  <a:pt x="16193" y="88012"/>
                </a:cubicBezTo>
                <a:lnTo>
                  <a:pt x="46241" y="118060"/>
                </a:lnTo>
                <a:lnTo>
                  <a:pt x="115514" y="22824"/>
                </a:lnTo>
                <a:cubicBezTo>
                  <a:pt x="118593" y="18591"/>
                  <a:pt x="124513" y="17644"/>
                  <a:pt x="128747" y="2072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7" name="Text 45"/>
          <p:cNvSpPr/>
          <p:nvPr/>
        </p:nvSpPr>
        <p:spPr>
          <a:xfrm>
            <a:off x="918900" y="5503925"/>
            <a:ext cx="2879851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Sistemas ADAS (asistencia al conductor)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4177" y="5958639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28717" y="20752"/>
                </a:moveTo>
                <a:cubicBezTo>
                  <a:pt x="132950" y="23831"/>
                  <a:pt x="133898" y="29752"/>
                  <a:pt x="130819" y="33985"/>
                </a:cubicBezTo>
                <a:lnTo>
                  <a:pt x="55033" y="138190"/>
                </a:lnTo>
                <a:cubicBezTo>
                  <a:pt x="53405" y="140440"/>
                  <a:pt x="50889" y="141831"/>
                  <a:pt x="48106" y="142068"/>
                </a:cubicBezTo>
                <a:cubicBezTo>
                  <a:pt x="45323" y="142305"/>
                  <a:pt x="42629" y="141269"/>
                  <a:pt x="40676" y="139315"/>
                </a:cubicBezTo>
                <a:lnTo>
                  <a:pt x="2783" y="101422"/>
                </a:lnTo>
                <a:cubicBezTo>
                  <a:pt x="-918" y="97722"/>
                  <a:pt x="-918" y="91712"/>
                  <a:pt x="2783" y="88012"/>
                </a:cubicBezTo>
                <a:cubicBezTo>
                  <a:pt x="6483" y="84311"/>
                  <a:pt x="12493" y="84311"/>
                  <a:pt x="16193" y="88012"/>
                </a:cubicBezTo>
                <a:lnTo>
                  <a:pt x="46241" y="118060"/>
                </a:lnTo>
                <a:lnTo>
                  <a:pt x="115514" y="22824"/>
                </a:lnTo>
                <a:cubicBezTo>
                  <a:pt x="118593" y="18591"/>
                  <a:pt x="124513" y="17644"/>
                  <a:pt x="128747" y="2072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9" name="Text 47"/>
          <p:cNvSpPr/>
          <p:nvPr/>
        </p:nvSpPr>
        <p:spPr>
          <a:xfrm>
            <a:off x="918900" y="5920746"/>
            <a:ext cx="185674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Mantenimiento predictivo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4177" y="6375459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28717" y="20752"/>
                </a:moveTo>
                <a:cubicBezTo>
                  <a:pt x="132950" y="23831"/>
                  <a:pt x="133898" y="29752"/>
                  <a:pt x="130819" y="33985"/>
                </a:cubicBezTo>
                <a:lnTo>
                  <a:pt x="55033" y="138190"/>
                </a:lnTo>
                <a:cubicBezTo>
                  <a:pt x="53405" y="140440"/>
                  <a:pt x="50889" y="141831"/>
                  <a:pt x="48106" y="142068"/>
                </a:cubicBezTo>
                <a:cubicBezTo>
                  <a:pt x="45323" y="142305"/>
                  <a:pt x="42629" y="141269"/>
                  <a:pt x="40676" y="139315"/>
                </a:cubicBezTo>
                <a:lnTo>
                  <a:pt x="2783" y="101422"/>
                </a:lnTo>
                <a:cubicBezTo>
                  <a:pt x="-918" y="97722"/>
                  <a:pt x="-918" y="91712"/>
                  <a:pt x="2783" y="88012"/>
                </a:cubicBezTo>
                <a:cubicBezTo>
                  <a:pt x="6483" y="84311"/>
                  <a:pt x="12493" y="84311"/>
                  <a:pt x="16193" y="88012"/>
                </a:cubicBezTo>
                <a:lnTo>
                  <a:pt x="46241" y="118060"/>
                </a:lnTo>
                <a:lnTo>
                  <a:pt x="115514" y="22824"/>
                </a:lnTo>
                <a:cubicBezTo>
                  <a:pt x="118593" y="18591"/>
                  <a:pt x="124513" y="17644"/>
                  <a:pt x="128747" y="2072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1" name="Text 49"/>
          <p:cNvSpPr/>
          <p:nvPr/>
        </p:nvSpPr>
        <p:spPr>
          <a:xfrm>
            <a:off x="918900" y="6337566"/>
            <a:ext cx="221672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Optimización de rutas y tráfico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271078" y="4116103"/>
            <a:ext cx="3647179" cy="2737753"/>
          </a:xfrm>
          <a:custGeom>
            <a:avLst/>
            <a:gdLst/>
            <a:ahLst/>
            <a:cxnLst/>
            <a:rect l="l" t="t" r="r" b="b"/>
            <a:pathLst>
              <a:path w="3647179" h="2737753">
                <a:moveTo>
                  <a:pt x="227343" y="0"/>
                </a:moveTo>
                <a:lnTo>
                  <a:pt x="3419836" y="0"/>
                </a:lnTo>
                <a:cubicBezTo>
                  <a:pt x="3545395" y="0"/>
                  <a:pt x="3647179" y="101785"/>
                  <a:pt x="3647179" y="227343"/>
                </a:cubicBezTo>
                <a:lnTo>
                  <a:pt x="3647179" y="2510410"/>
                </a:lnTo>
                <a:cubicBezTo>
                  <a:pt x="3647179" y="2635968"/>
                  <a:pt x="3545395" y="2737753"/>
                  <a:pt x="3419836" y="2737753"/>
                </a:cubicBezTo>
                <a:lnTo>
                  <a:pt x="227343" y="2737753"/>
                </a:lnTo>
                <a:cubicBezTo>
                  <a:pt x="101785" y="2737753"/>
                  <a:pt x="0" y="2635968"/>
                  <a:pt x="0" y="2510410"/>
                </a:cubicBezTo>
                <a:lnTo>
                  <a:pt x="0" y="227343"/>
                </a:lnTo>
                <a:cubicBezTo>
                  <a:pt x="0" y="101869"/>
                  <a:pt x="101869" y="0"/>
                  <a:pt x="22734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42098" dist="94732" dir="5400000">
              <a:srgbClr val="000000">
                <a:alpha val="10196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503171" y="4348196"/>
            <a:ext cx="530499" cy="530499"/>
          </a:xfrm>
          <a:custGeom>
            <a:avLst/>
            <a:gdLst/>
            <a:ahLst/>
            <a:cxnLst/>
            <a:rect l="l" t="t" r="r" b="b"/>
            <a:pathLst>
              <a:path w="530499" h="530499">
                <a:moveTo>
                  <a:pt x="151569" y="0"/>
                </a:moveTo>
                <a:lnTo>
                  <a:pt x="378930" y="0"/>
                </a:lnTo>
                <a:cubicBezTo>
                  <a:pt x="462639" y="0"/>
                  <a:pt x="530499" y="67860"/>
                  <a:pt x="530499" y="151569"/>
                </a:cubicBezTo>
                <a:lnTo>
                  <a:pt x="530499" y="378930"/>
                </a:lnTo>
                <a:cubicBezTo>
                  <a:pt x="530499" y="462639"/>
                  <a:pt x="462639" y="530499"/>
                  <a:pt x="378930" y="530499"/>
                </a:cubicBezTo>
                <a:lnTo>
                  <a:pt x="151569" y="530499"/>
                </a:lnTo>
                <a:cubicBezTo>
                  <a:pt x="67860" y="530499"/>
                  <a:pt x="0" y="462639"/>
                  <a:pt x="0" y="378930"/>
                </a:cubicBezTo>
                <a:lnTo>
                  <a:pt x="0" y="151569"/>
                </a:lnTo>
                <a:cubicBezTo>
                  <a:pt x="0" y="67860"/>
                  <a:pt x="67860" y="0"/>
                  <a:pt x="151569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4" name="Shape 52"/>
          <p:cNvSpPr/>
          <p:nvPr/>
        </p:nvSpPr>
        <p:spPr>
          <a:xfrm>
            <a:off x="4668952" y="4499767"/>
            <a:ext cx="198937" cy="227357"/>
          </a:xfrm>
          <a:custGeom>
            <a:avLst/>
            <a:gdLst/>
            <a:ahLst/>
            <a:cxnLst/>
            <a:rect l="l" t="t" r="r" b="b"/>
            <a:pathLst>
              <a:path w="198937" h="227357">
                <a:moveTo>
                  <a:pt x="0" y="42629"/>
                </a:moveTo>
                <a:cubicBezTo>
                  <a:pt x="0" y="26954"/>
                  <a:pt x="12744" y="14210"/>
                  <a:pt x="28420" y="14210"/>
                </a:cubicBezTo>
                <a:lnTo>
                  <a:pt x="170517" y="14210"/>
                </a:lnTo>
                <a:cubicBezTo>
                  <a:pt x="186193" y="14210"/>
                  <a:pt x="198937" y="26954"/>
                  <a:pt x="198937" y="42629"/>
                </a:cubicBezTo>
                <a:lnTo>
                  <a:pt x="198937" y="184727"/>
                </a:lnTo>
                <a:cubicBezTo>
                  <a:pt x="198937" y="200402"/>
                  <a:pt x="186193" y="213147"/>
                  <a:pt x="170517" y="213147"/>
                </a:cubicBezTo>
                <a:lnTo>
                  <a:pt x="28420" y="213147"/>
                </a:lnTo>
                <a:cubicBezTo>
                  <a:pt x="12744" y="213147"/>
                  <a:pt x="0" y="200402"/>
                  <a:pt x="0" y="184727"/>
                </a:cubicBezTo>
                <a:lnTo>
                  <a:pt x="0" y="42629"/>
                </a:lnTo>
                <a:close/>
                <a:moveTo>
                  <a:pt x="21315" y="163413"/>
                </a:moveTo>
                <a:lnTo>
                  <a:pt x="21315" y="177622"/>
                </a:lnTo>
                <a:cubicBezTo>
                  <a:pt x="21315" y="181530"/>
                  <a:pt x="24512" y="184727"/>
                  <a:pt x="28420" y="184727"/>
                </a:cubicBezTo>
                <a:lnTo>
                  <a:pt x="42629" y="184727"/>
                </a:lnTo>
                <a:cubicBezTo>
                  <a:pt x="46537" y="184727"/>
                  <a:pt x="49734" y="181530"/>
                  <a:pt x="49734" y="177622"/>
                </a:cubicBezTo>
                <a:lnTo>
                  <a:pt x="49734" y="163413"/>
                </a:lnTo>
                <a:cubicBezTo>
                  <a:pt x="49734" y="159505"/>
                  <a:pt x="46537" y="156308"/>
                  <a:pt x="42629" y="156308"/>
                </a:cubicBezTo>
                <a:lnTo>
                  <a:pt x="28420" y="156308"/>
                </a:lnTo>
                <a:cubicBezTo>
                  <a:pt x="24512" y="156308"/>
                  <a:pt x="21315" y="159505"/>
                  <a:pt x="21315" y="163413"/>
                </a:cubicBezTo>
                <a:close/>
                <a:moveTo>
                  <a:pt x="156308" y="156308"/>
                </a:moveTo>
                <a:cubicBezTo>
                  <a:pt x="152400" y="156308"/>
                  <a:pt x="149203" y="159505"/>
                  <a:pt x="149203" y="163413"/>
                </a:cubicBezTo>
                <a:lnTo>
                  <a:pt x="149203" y="177622"/>
                </a:lnTo>
                <a:cubicBezTo>
                  <a:pt x="149203" y="181530"/>
                  <a:pt x="152400" y="184727"/>
                  <a:pt x="156308" y="184727"/>
                </a:cubicBezTo>
                <a:lnTo>
                  <a:pt x="170517" y="184727"/>
                </a:lnTo>
                <a:cubicBezTo>
                  <a:pt x="174425" y="184727"/>
                  <a:pt x="177622" y="181530"/>
                  <a:pt x="177622" y="177622"/>
                </a:cubicBezTo>
                <a:lnTo>
                  <a:pt x="177622" y="163413"/>
                </a:lnTo>
                <a:cubicBezTo>
                  <a:pt x="177622" y="159505"/>
                  <a:pt x="174425" y="156308"/>
                  <a:pt x="170517" y="156308"/>
                </a:cubicBezTo>
                <a:lnTo>
                  <a:pt x="156308" y="156308"/>
                </a:lnTo>
                <a:close/>
                <a:moveTo>
                  <a:pt x="21315" y="106573"/>
                </a:moveTo>
                <a:lnTo>
                  <a:pt x="21315" y="120783"/>
                </a:lnTo>
                <a:cubicBezTo>
                  <a:pt x="21315" y="124691"/>
                  <a:pt x="24512" y="127888"/>
                  <a:pt x="28420" y="127888"/>
                </a:cubicBezTo>
                <a:lnTo>
                  <a:pt x="42629" y="127888"/>
                </a:lnTo>
                <a:cubicBezTo>
                  <a:pt x="46537" y="127888"/>
                  <a:pt x="49734" y="124691"/>
                  <a:pt x="49734" y="120783"/>
                </a:cubicBezTo>
                <a:lnTo>
                  <a:pt x="49734" y="106573"/>
                </a:lnTo>
                <a:cubicBezTo>
                  <a:pt x="49734" y="102666"/>
                  <a:pt x="46537" y="99469"/>
                  <a:pt x="42629" y="99469"/>
                </a:cubicBezTo>
                <a:lnTo>
                  <a:pt x="28420" y="99469"/>
                </a:lnTo>
                <a:cubicBezTo>
                  <a:pt x="24512" y="99469"/>
                  <a:pt x="21315" y="102666"/>
                  <a:pt x="21315" y="106573"/>
                </a:cubicBezTo>
                <a:close/>
                <a:moveTo>
                  <a:pt x="156308" y="99469"/>
                </a:moveTo>
                <a:cubicBezTo>
                  <a:pt x="152400" y="99469"/>
                  <a:pt x="149203" y="102666"/>
                  <a:pt x="149203" y="106573"/>
                </a:cubicBezTo>
                <a:lnTo>
                  <a:pt x="149203" y="120783"/>
                </a:lnTo>
                <a:cubicBezTo>
                  <a:pt x="149203" y="124691"/>
                  <a:pt x="152400" y="127888"/>
                  <a:pt x="156308" y="127888"/>
                </a:cubicBezTo>
                <a:lnTo>
                  <a:pt x="170517" y="127888"/>
                </a:lnTo>
                <a:cubicBezTo>
                  <a:pt x="174425" y="127888"/>
                  <a:pt x="177622" y="124691"/>
                  <a:pt x="177622" y="120783"/>
                </a:cubicBezTo>
                <a:lnTo>
                  <a:pt x="177622" y="106573"/>
                </a:lnTo>
                <a:cubicBezTo>
                  <a:pt x="177622" y="102666"/>
                  <a:pt x="174425" y="99469"/>
                  <a:pt x="170517" y="99469"/>
                </a:cubicBezTo>
                <a:lnTo>
                  <a:pt x="156308" y="99469"/>
                </a:lnTo>
                <a:close/>
                <a:moveTo>
                  <a:pt x="21315" y="49734"/>
                </a:moveTo>
                <a:lnTo>
                  <a:pt x="21315" y="63944"/>
                </a:lnTo>
                <a:cubicBezTo>
                  <a:pt x="21315" y="67852"/>
                  <a:pt x="24512" y="71049"/>
                  <a:pt x="28420" y="71049"/>
                </a:cubicBezTo>
                <a:lnTo>
                  <a:pt x="42629" y="71049"/>
                </a:lnTo>
                <a:cubicBezTo>
                  <a:pt x="46537" y="71049"/>
                  <a:pt x="49734" y="67852"/>
                  <a:pt x="49734" y="63944"/>
                </a:cubicBezTo>
                <a:lnTo>
                  <a:pt x="49734" y="49734"/>
                </a:lnTo>
                <a:cubicBezTo>
                  <a:pt x="49734" y="45827"/>
                  <a:pt x="46537" y="42629"/>
                  <a:pt x="42629" y="42629"/>
                </a:cubicBezTo>
                <a:lnTo>
                  <a:pt x="28420" y="42629"/>
                </a:lnTo>
                <a:cubicBezTo>
                  <a:pt x="24512" y="42629"/>
                  <a:pt x="21315" y="45827"/>
                  <a:pt x="21315" y="49734"/>
                </a:cubicBezTo>
                <a:close/>
                <a:moveTo>
                  <a:pt x="156308" y="42629"/>
                </a:moveTo>
                <a:cubicBezTo>
                  <a:pt x="152400" y="42629"/>
                  <a:pt x="149203" y="45827"/>
                  <a:pt x="149203" y="49734"/>
                </a:cubicBezTo>
                <a:lnTo>
                  <a:pt x="149203" y="63944"/>
                </a:lnTo>
                <a:cubicBezTo>
                  <a:pt x="149203" y="67852"/>
                  <a:pt x="152400" y="71049"/>
                  <a:pt x="156308" y="71049"/>
                </a:cubicBezTo>
                <a:lnTo>
                  <a:pt x="170517" y="71049"/>
                </a:lnTo>
                <a:cubicBezTo>
                  <a:pt x="174425" y="71049"/>
                  <a:pt x="177622" y="67852"/>
                  <a:pt x="177622" y="63944"/>
                </a:cubicBezTo>
                <a:lnTo>
                  <a:pt x="177622" y="49734"/>
                </a:lnTo>
                <a:cubicBezTo>
                  <a:pt x="177622" y="45827"/>
                  <a:pt x="174425" y="42629"/>
                  <a:pt x="170517" y="42629"/>
                </a:cubicBezTo>
                <a:lnTo>
                  <a:pt x="156308" y="4262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5185241" y="4480821"/>
            <a:ext cx="1487291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Entretenimiento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531591" y="5068159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28717" y="20752"/>
                </a:moveTo>
                <a:cubicBezTo>
                  <a:pt x="132950" y="23831"/>
                  <a:pt x="133898" y="29752"/>
                  <a:pt x="130819" y="33985"/>
                </a:cubicBezTo>
                <a:lnTo>
                  <a:pt x="55033" y="138190"/>
                </a:lnTo>
                <a:cubicBezTo>
                  <a:pt x="53405" y="140440"/>
                  <a:pt x="50889" y="141831"/>
                  <a:pt x="48106" y="142068"/>
                </a:cubicBezTo>
                <a:cubicBezTo>
                  <a:pt x="45323" y="142305"/>
                  <a:pt x="42629" y="141269"/>
                  <a:pt x="40676" y="139315"/>
                </a:cubicBezTo>
                <a:lnTo>
                  <a:pt x="2783" y="101422"/>
                </a:lnTo>
                <a:cubicBezTo>
                  <a:pt x="-918" y="97722"/>
                  <a:pt x="-918" y="91712"/>
                  <a:pt x="2783" y="88012"/>
                </a:cubicBezTo>
                <a:cubicBezTo>
                  <a:pt x="6483" y="84311"/>
                  <a:pt x="12493" y="84311"/>
                  <a:pt x="16193" y="88012"/>
                </a:cubicBezTo>
                <a:lnTo>
                  <a:pt x="46241" y="118060"/>
                </a:lnTo>
                <a:lnTo>
                  <a:pt x="115514" y="22824"/>
                </a:lnTo>
                <a:cubicBezTo>
                  <a:pt x="118593" y="18591"/>
                  <a:pt x="124513" y="17644"/>
                  <a:pt x="128747" y="2072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7" name="Text 55"/>
          <p:cNvSpPr/>
          <p:nvPr/>
        </p:nvSpPr>
        <p:spPr>
          <a:xfrm>
            <a:off x="4806314" y="5030266"/>
            <a:ext cx="2955636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Personalización de contenido (Netflix, Spotify)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531591" y="5598657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28717" y="20752"/>
                </a:moveTo>
                <a:cubicBezTo>
                  <a:pt x="132950" y="23831"/>
                  <a:pt x="133898" y="29752"/>
                  <a:pt x="130819" y="33985"/>
                </a:cubicBezTo>
                <a:lnTo>
                  <a:pt x="55033" y="138190"/>
                </a:lnTo>
                <a:cubicBezTo>
                  <a:pt x="53405" y="140440"/>
                  <a:pt x="50889" y="141831"/>
                  <a:pt x="48106" y="142068"/>
                </a:cubicBezTo>
                <a:cubicBezTo>
                  <a:pt x="45323" y="142305"/>
                  <a:pt x="42629" y="141269"/>
                  <a:pt x="40676" y="139315"/>
                </a:cubicBezTo>
                <a:lnTo>
                  <a:pt x="2783" y="101422"/>
                </a:lnTo>
                <a:cubicBezTo>
                  <a:pt x="-918" y="97722"/>
                  <a:pt x="-918" y="91712"/>
                  <a:pt x="2783" y="88012"/>
                </a:cubicBezTo>
                <a:cubicBezTo>
                  <a:pt x="6483" y="84311"/>
                  <a:pt x="12493" y="84311"/>
                  <a:pt x="16193" y="88012"/>
                </a:cubicBezTo>
                <a:lnTo>
                  <a:pt x="46241" y="118060"/>
                </a:lnTo>
                <a:lnTo>
                  <a:pt x="115514" y="22824"/>
                </a:lnTo>
                <a:cubicBezTo>
                  <a:pt x="118593" y="18591"/>
                  <a:pt x="124513" y="17644"/>
                  <a:pt x="128747" y="2072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9" name="Text 57"/>
          <p:cNvSpPr/>
          <p:nvPr/>
        </p:nvSpPr>
        <p:spPr>
          <a:xfrm>
            <a:off x="4806314" y="5560765"/>
            <a:ext cx="2955636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Generación de contenido (deepfakes, música)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531591" y="6129156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28717" y="20752"/>
                </a:moveTo>
                <a:cubicBezTo>
                  <a:pt x="132950" y="23831"/>
                  <a:pt x="133898" y="29752"/>
                  <a:pt x="130819" y="33985"/>
                </a:cubicBezTo>
                <a:lnTo>
                  <a:pt x="55033" y="138190"/>
                </a:lnTo>
                <a:cubicBezTo>
                  <a:pt x="53405" y="140440"/>
                  <a:pt x="50889" y="141831"/>
                  <a:pt x="48106" y="142068"/>
                </a:cubicBezTo>
                <a:cubicBezTo>
                  <a:pt x="45323" y="142305"/>
                  <a:pt x="42629" y="141269"/>
                  <a:pt x="40676" y="139315"/>
                </a:cubicBezTo>
                <a:lnTo>
                  <a:pt x="2783" y="101422"/>
                </a:lnTo>
                <a:cubicBezTo>
                  <a:pt x="-918" y="97722"/>
                  <a:pt x="-918" y="91712"/>
                  <a:pt x="2783" y="88012"/>
                </a:cubicBezTo>
                <a:cubicBezTo>
                  <a:pt x="6483" y="84311"/>
                  <a:pt x="12493" y="84311"/>
                  <a:pt x="16193" y="88012"/>
                </a:cubicBezTo>
                <a:lnTo>
                  <a:pt x="46241" y="118060"/>
                </a:lnTo>
                <a:lnTo>
                  <a:pt x="115514" y="22824"/>
                </a:lnTo>
                <a:cubicBezTo>
                  <a:pt x="118593" y="18591"/>
                  <a:pt x="124513" y="17644"/>
                  <a:pt x="128747" y="2072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1" name="Text 59"/>
          <p:cNvSpPr/>
          <p:nvPr/>
        </p:nvSpPr>
        <p:spPr>
          <a:xfrm>
            <a:off x="4806314" y="6091263"/>
            <a:ext cx="2917744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de sentimiento en redes sociales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531591" y="6432298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28717" y="20752"/>
                </a:moveTo>
                <a:cubicBezTo>
                  <a:pt x="132950" y="23831"/>
                  <a:pt x="133898" y="29752"/>
                  <a:pt x="130819" y="33985"/>
                </a:cubicBezTo>
                <a:lnTo>
                  <a:pt x="55033" y="138190"/>
                </a:lnTo>
                <a:cubicBezTo>
                  <a:pt x="53405" y="140440"/>
                  <a:pt x="50889" y="141831"/>
                  <a:pt x="48106" y="142068"/>
                </a:cubicBezTo>
                <a:cubicBezTo>
                  <a:pt x="45323" y="142305"/>
                  <a:pt x="42629" y="141269"/>
                  <a:pt x="40676" y="139315"/>
                </a:cubicBezTo>
                <a:lnTo>
                  <a:pt x="2783" y="101422"/>
                </a:lnTo>
                <a:cubicBezTo>
                  <a:pt x="-918" y="97722"/>
                  <a:pt x="-918" y="91712"/>
                  <a:pt x="2783" y="88012"/>
                </a:cubicBezTo>
                <a:cubicBezTo>
                  <a:pt x="6483" y="84311"/>
                  <a:pt x="12493" y="84311"/>
                  <a:pt x="16193" y="88012"/>
                </a:cubicBezTo>
                <a:lnTo>
                  <a:pt x="46241" y="118060"/>
                </a:lnTo>
                <a:lnTo>
                  <a:pt x="115514" y="22824"/>
                </a:lnTo>
                <a:cubicBezTo>
                  <a:pt x="118593" y="18591"/>
                  <a:pt x="124513" y="17644"/>
                  <a:pt x="128747" y="2072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3" name="Text 61"/>
          <p:cNvSpPr/>
          <p:nvPr/>
        </p:nvSpPr>
        <p:spPr>
          <a:xfrm>
            <a:off x="4806314" y="6394406"/>
            <a:ext cx="2605128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Detección de contenido inapropiado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158640" y="4116103"/>
            <a:ext cx="3647179" cy="2737753"/>
          </a:xfrm>
          <a:custGeom>
            <a:avLst/>
            <a:gdLst/>
            <a:ahLst/>
            <a:cxnLst/>
            <a:rect l="l" t="t" r="r" b="b"/>
            <a:pathLst>
              <a:path w="3647179" h="2737753">
                <a:moveTo>
                  <a:pt x="227343" y="0"/>
                </a:moveTo>
                <a:lnTo>
                  <a:pt x="3419836" y="0"/>
                </a:lnTo>
                <a:cubicBezTo>
                  <a:pt x="3545395" y="0"/>
                  <a:pt x="3647179" y="101785"/>
                  <a:pt x="3647179" y="227343"/>
                </a:cubicBezTo>
                <a:lnTo>
                  <a:pt x="3647179" y="2510410"/>
                </a:lnTo>
                <a:cubicBezTo>
                  <a:pt x="3647179" y="2635968"/>
                  <a:pt x="3545395" y="2737753"/>
                  <a:pt x="3419836" y="2737753"/>
                </a:cubicBezTo>
                <a:lnTo>
                  <a:pt x="227343" y="2737753"/>
                </a:lnTo>
                <a:cubicBezTo>
                  <a:pt x="101785" y="2737753"/>
                  <a:pt x="0" y="2635968"/>
                  <a:pt x="0" y="2510410"/>
                </a:cubicBezTo>
                <a:lnTo>
                  <a:pt x="0" y="227343"/>
                </a:lnTo>
                <a:cubicBezTo>
                  <a:pt x="0" y="101869"/>
                  <a:pt x="101869" y="0"/>
                  <a:pt x="22734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42098" dist="94732" dir="5400000">
              <a:srgbClr val="000000">
                <a:alpha val="10196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8390733" y="4348196"/>
            <a:ext cx="530499" cy="530499"/>
          </a:xfrm>
          <a:custGeom>
            <a:avLst/>
            <a:gdLst/>
            <a:ahLst/>
            <a:cxnLst/>
            <a:rect l="l" t="t" r="r" b="b"/>
            <a:pathLst>
              <a:path w="530499" h="530499">
                <a:moveTo>
                  <a:pt x="151569" y="0"/>
                </a:moveTo>
                <a:lnTo>
                  <a:pt x="378930" y="0"/>
                </a:lnTo>
                <a:cubicBezTo>
                  <a:pt x="462639" y="0"/>
                  <a:pt x="530499" y="67860"/>
                  <a:pt x="530499" y="151569"/>
                </a:cubicBezTo>
                <a:lnTo>
                  <a:pt x="530499" y="378930"/>
                </a:lnTo>
                <a:cubicBezTo>
                  <a:pt x="530499" y="462639"/>
                  <a:pt x="462639" y="530499"/>
                  <a:pt x="378930" y="530499"/>
                </a:cubicBezTo>
                <a:lnTo>
                  <a:pt x="151569" y="530499"/>
                </a:lnTo>
                <a:cubicBezTo>
                  <a:pt x="67860" y="530499"/>
                  <a:pt x="0" y="462639"/>
                  <a:pt x="0" y="378930"/>
                </a:cubicBezTo>
                <a:lnTo>
                  <a:pt x="0" y="151569"/>
                </a:lnTo>
                <a:cubicBezTo>
                  <a:pt x="0" y="67860"/>
                  <a:pt x="67860" y="0"/>
                  <a:pt x="151569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6" name="Shape 64"/>
          <p:cNvSpPr/>
          <p:nvPr/>
        </p:nvSpPr>
        <p:spPr>
          <a:xfrm>
            <a:off x="8542304" y="4499767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14210" y="14210"/>
                </a:moveTo>
                <a:cubicBezTo>
                  <a:pt x="6350" y="14210"/>
                  <a:pt x="0" y="20560"/>
                  <a:pt x="0" y="28420"/>
                </a:cubicBezTo>
                <a:lnTo>
                  <a:pt x="0" y="191832"/>
                </a:lnTo>
                <a:cubicBezTo>
                  <a:pt x="0" y="203600"/>
                  <a:pt x="9547" y="213147"/>
                  <a:pt x="21315" y="213147"/>
                </a:cubicBezTo>
                <a:lnTo>
                  <a:pt x="206042" y="213147"/>
                </a:lnTo>
                <a:cubicBezTo>
                  <a:pt x="217809" y="213147"/>
                  <a:pt x="227357" y="203600"/>
                  <a:pt x="227357" y="191832"/>
                </a:cubicBezTo>
                <a:lnTo>
                  <a:pt x="227357" y="67585"/>
                </a:lnTo>
                <a:cubicBezTo>
                  <a:pt x="227357" y="59503"/>
                  <a:pt x="218742" y="54397"/>
                  <a:pt x="211637" y="58216"/>
                </a:cubicBezTo>
                <a:lnTo>
                  <a:pt x="142098" y="95650"/>
                </a:lnTo>
                <a:lnTo>
                  <a:pt x="142098" y="67585"/>
                </a:lnTo>
                <a:cubicBezTo>
                  <a:pt x="142098" y="59503"/>
                  <a:pt x="133483" y="54397"/>
                  <a:pt x="126378" y="58216"/>
                </a:cubicBezTo>
                <a:lnTo>
                  <a:pt x="56839" y="95650"/>
                </a:lnTo>
                <a:lnTo>
                  <a:pt x="56839" y="28420"/>
                </a:lnTo>
                <a:cubicBezTo>
                  <a:pt x="56839" y="20560"/>
                  <a:pt x="50489" y="14210"/>
                  <a:pt x="42629" y="14210"/>
                </a:cubicBezTo>
                <a:lnTo>
                  <a:pt x="14210" y="1421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9072803" y="4480821"/>
            <a:ext cx="1193622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Manufactura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419153" y="5124998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28717" y="20752"/>
                </a:moveTo>
                <a:cubicBezTo>
                  <a:pt x="132950" y="23831"/>
                  <a:pt x="133898" y="29752"/>
                  <a:pt x="130819" y="33985"/>
                </a:cubicBezTo>
                <a:lnTo>
                  <a:pt x="55033" y="138190"/>
                </a:lnTo>
                <a:cubicBezTo>
                  <a:pt x="53405" y="140440"/>
                  <a:pt x="50889" y="141831"/>
                  <a:pt x="48106" y="142068"/>
                </a:cubicBezTo>
                <a:cubicBezTo>
                  <a:pt x="45323" y="142305"/>
                  <a:pt x="42629" y="141269"/>
                  <a:pt x="40676" y="139315"/>
                </a:cubicBezTo>
                <a:lnTo>
                  <a:pt x="2783" y="101422"/>
                </a:lnTo>
                <a:cubicBezTo>
                  <a:pt x="-918" y="97722"/>
                  <a:pt x="-918" y="91712"/>
                  <a:pt x="2783" y="88012"/>
                </a:cubicBezTo>
                <a:cubicBezTo>
                  <a:pt x="6483" y="84311"/>
                  <a:pt x="12493" y="84311"/>
                  <a:pt x="16193" y="88012"/>
                </a:cubicBezTo>
                <a:lnTo>
                  <a:pt x="46241" y="118060"/>
                </a:lnTo>
                <a:lnTo>
                  <a:pt x="115514" y="22824"/>
                </a:lnTo>
                <a:cubicBezTo>
                  <a:pt x="118593" y="18591"/>
                  <a:pt x="124513" y="17644"/>
                  <a:pt x="128747" y="2072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9" name="Text 67"/>
          <p:cNvSpPr/>
          <p:nvPr/>
        </p:nvSpPr>
        <p:spPr>
          <a:xfrm>
            <a:off x="8693875" y="5087105"/>
            <a:ext cx="2339879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Control de calidad automatizado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419153" y="5541818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28717" y="20752"/>
                </a:moveTo>
                <a:cubicBezTo>
                  <a:pt x="132950" y="23831"/>
                  <a:pt x="133898" y="29752"/>
                  <a:pt x="130819" y="33985"/>
                </a:cubicBezTo>
                <a:lnTo>
                  <a:pt x="55033" y="138190"/>
                </a:lnTo>
                <a:cubicBezTo>
                  <a:pt x="53405" y="140440"/>
                  <a:pt x="50889" y="141831"/>
                  <a:pt x="48106" y="142068"/>
                </a:cubicBezTo>
                <a:cubicBezTo>
                  <a:pt x="45323" y="142305"/>
                  <a:pt x="42629" y="141269"/>
                  <a:pt x="40676" y="139315"/>
                </a:cubicBezTo>
                <a:lnTo>
                  <a:pt x="2783" y="101422"/>
                </a:lnTo>
                <a:cubicBezTo>
                  <a:pt x="-918" y="97722"/>
                  <a:pt x="-918" y="91712"/>
                  <a:pt x="2783" y="88012"/>
                </a:cubicBezTo>
                <a:cubicBezTo>
                  <a:pt x="6483" y="84311"/>
                  <a:pt x="12493" y="84311"/>
                  <a:pt x="16193" y="88012"/>
                </a:cubicBezTo>
                <a:lnTo>
                  <a:pt x="46241" y="118060"/>
                </a:lnTo>
                <a:lnTo>
                  <a:pt x="115514" y="22824"/>
                </a:lnTo>
                <a:cubicBezTo>
                  <a:pt x="118593" y="18591"/>
                  <a:pt x="124513" y="17644"/>
                  <a:pt x="128747" y="2072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1" name="Text 69"/>
          <p:cNvSpPr/>
          <p:nvPr/>
        </p:nvSpPr>
        <p:spPr>
          <a:xfrm>
            <a:off x="8693875" y="5503925"/>
            <a:ext cx="271880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Optimización de procesos industriales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419153" y="5958639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28717" y="20752"/>
                </a:moveTo>
                <a:cubicBezTo>
                  <a:pt x="132950" y="23831"/>
                  <a:pt x="133898" y="29752"/>
                  <a:pt x="130819" y="33985"/>
                </a:cubicBezTo>
                <a:lnTo>
                  <a:pt x="55033" y="138190"/>
                </a:lnTo>
                <a:cubicBezTo>
                  <a:pt x="53405" y="140440"/>
                  <a:pt x="50889" y="141831"/>
                  <a:pt x="48106" y="142068"/>
                </a:cubicBezTo>
                <a:cubicBezTo>
                  <a:pt x="45323" y="142305"/>
                  <a:pt x="42629" y="141269"/>
                  <a:pt x="40676" y="139315"/>
                </a:cubicBezTo>
                <a:lnTo>
                  <a:pt x="2783" y="101422"/>
                </a:lnTo>
                <a:cubicBezTo>
                  <a:pt x="-918" y="97722"/>
                  <a:pt x="-918" y="91712"/>
                  <a:pt x="2783" y="88012"/>
                </a:cubicBezTo>
                <a:cubicBezTo>
                  <a:pt x="6483" y="84311"/>
                  <a:pt x="12493" y="84311"/>
                  <a:pt x="16193" y="88012"/>
                </a:cubicBezTo>
                <a:lnTo>
                  <a:pt x="46241" y="118060"/>
                </a:lnTo>
                <a:lnTo>
                  <a:pt x="115514" y="22824"/>
                </a:lnTo>
                <a:cubicBezTo>
                  <a:pt x="118593" y="18591"/>
                  <a:pt x="124513" y="17644"/>
                  <a:pt x="128747" y="2072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3" name="Text 71"/>
          <p:cNvSpPr/>
          <p:nvPr/>
        </p:nvSpPr>
        <p:spPr>
          <a:xfrm>
            <a:off x="8693875" y="5920746"/>
            <a:ext cx="2320932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Cadena de suministro predictiva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419153" y="6375459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28717" y="20752"/>
                </a:moveTo>
                <a:cubicBezTo>
                  <a:pt x="132950" y="23831"/>
                  <a:pt x="133898" y="29752"/>
                  <a:pt x="130819" y="33985"/>
                </a:cubicBezTo>
                <a:lnTo>
                  <a:pt x="55033" y="138190"/>
                </a:lnTo>
                <a:cubicBezTo>
                  <a:pt x="53405" y="140440"/>
                  <a:pt x="50889" y="141831"/>
                  <a:pt x="48106" y="142068"/>
                </a:cubicBezTo>
                <a:cubicBezTo>
                  <a:pt x="45323" y="142305"/>
                  <a:pt x="42629" y="141269"/>
                  <a:pt x="40676" y="139315"/>
                </a:cubicBezTo>
                <a:lnTo>
                  <a:pt x="2783" y="101422"/>
                </a:lnTo>
                <a:cubicBezTo>
                  <a:pt x="-918" y="97722"/>
                  <a:pt x="-918" y="91712"/>
                  <a:pt x="2783" y="88012"/>
                </a:cubicBezTo>
                <a:cubicBezTo>
                  <a:pt x="6483" y="84311"/>
                  <a:pt x="12493" y="84311"/>
                  <a:pt x="16193" y="88012"/>
                </a:cubicBezTo>
                <a:lnTo>
                  <a:pt x="46241" y="118060"/>
                </a:lnTo>
                <a:lnTo>
                  <a:pt x="115514" y="22824"/>
                </a:lnTo>
                <a:cubicBezTo>
                  <a:pt x="118593" y="18591"/>
                  <a:pt x="124513" y="17644"/>
                  <a:pt x="128747" y="2072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5" name="Text 73"/>
          <p:cNvSpPr/>
          <p:nvPr/>
        </p:nvSpPr>
        <p:spPr>
          <a:xfrm>
            <a:off x="8693875" y="6337566"/>
            <a:ext cx="224514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Robots industriales inteligentes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65df6cb6cfca0f2eb58f2cb977c48db50a0fb3b2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10166" b="1016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D1D1F"/>
              </a:gs>
              <a:gs pos="50000">
                <a:srgbClr val="1D1D1F">
                  <a:alpha val="95000"/>
                </a:srgbClr>
              </a:gs>
              <a:gs pos="100000">
                <a:srgbClr val="0071E3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810250" y="280988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142875" y="357188"/>
                </a:moveTo>
                <a:lnTo>
                  <a:pt x="27347" y="357188"/>
                </a:lnTo>
                <a:cubicBezTo>
                  <a:pt x="-446" y="357188"/>
                  <a:pt x="-17525" y="326938"/>
                  <a:pt x="-3237" y="303051"/>
                </a:cubicBezTo>
                <a:lnTo>
                  <a:pt x="55811" y="204601"/>
                </a:lnTo>
                <a:cubicBezTo>
                  <a:pt x="65522" y="188416"/>
                  <a:pt x="82934" y="178594"/>
                  <a:pt x="101798" y="178594"/>
                </a:cubicBezTo>
                <a:lnTo>
                  <a:pt x="207838" y="178594"/>
                </a:lnTo>
                <a:cubicBezTo>
                  <a:pt x="292782" y="34714"/>
                  <a:pt x="419472" y="27459"/>
                  <a:pt x="504192" y="39849"/>
                </a:cubicBezTo>
                <a:cubicBezTo>
                  <a:pt x="518480" y="41970"/>
                  <a:pt x="529642" y="53132"/>
                  <a:pt x="531651" y="67308"/>
                </a:cubicBezTo>
                <a:cubicBezTo>
                  <a:pt x="544041" y="152028"/>
                  <a:pt x="536786" y="278718"/>
                  <a:pt x="392906" y="363662"/>
                </a:cubicBezTo>
                <a:lnTo>
                  <a:pt x="392906" y="469702"/>
                </a:lnTo>
                <a:cubicBezTo>
                  <a:pt x="392906" y="488566"/>
                  <a:pt x="383084" y="505978"/>
                  <a:pt x="366899" y="515689"/>
                </a:cubicBezTo>
                <a:lnTo>
                  <a:pt x="268449" y="574737"/>
                </a:lnTo>
                <a:cubicBezTo>
                  <a:pt x="244673" y="589025"/>
                  <a:pt x="214313" y="571835"/>
                  <a:pt x="214313" y="544153"/>
                </a:cubicBezTo>
                <a:lnTo>
                  <a:pt x="214313" y="428625"/>
                </a:lnTo>
                <a:cubicBezTo>
                  <a:pt x="214313" y="389223"/>
                  <a:pt x="182277" y="357188"/>
                  <a:pt x="142875" y="357188"/>
                </a:cubicBezTo>
                <a:lnTo>
                  <a:pt x="142763" y="357188"/>
                </a:lnTo>
                <a:close/>
                <a:moveTo>
                  <a:pt x="446484" y="178594"/>
                </a:moveTo>
                <a:cubicBezTo>
                  <a:pt x="446484" y="149023"/>
                  <a:pt x="422477" y="125016"/>
                  <a:pt x="392906" y="125016"/>
                </a:cubicBezTo>
                <a:cubicBezTo>
                  <a:pt x="363336" y="125016"/>
                  <a:pt x="339328" y="149023"/>
                  <a:pt x="339328" y="178594"/>
                </a:cubicBezTo>
                <a:cubicBezTo>
                  <a:pt x="339328" y="208164"/>
                  <a:pt x="363336" y="232172"/>
                  <a:pt x="392906" y="232172"/>
                </a:cubicBezTo>
                <a:cubicBezTo>
                  <a:pt x="422477" y="232172"/>
                  <a:pt x="446484" y="208164"/>
                  <a:pt x="446484" y="178594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" name="Text 2"/>
          <p:cNvSpPr/>
          <p:nvPr/>
        </p:nvSpPr>
        <p:spPr>
          <a:xfrm>
            <a:off x="3609677" y="1157288"/>
            <a:ext cx="49720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Futuro del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771650" y="2890838"/>
            <a:ext cx="86487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Machine Learning está </a:t>
            </a:r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transformando industrias enteras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Comprender sus fundamentos es el primer paso para aprovechar su potencial en la era de la inteligencia artificial.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833563" y="4467225"/>
            <a:ext cx="2628900" cy="1381125"/>
          </a:xfrm>
          <a:custGeom>
            <a:avLst/>
            <a:gdLst/>
            <a:ahLst/>
            <a:cxnLst/>
            <a:rect l="l" t="t" r="r" b="b"/>
            <a:pathLst>
              <a:path w="2628900" h="1381125">
                <a:moveTo>
                  <a:pt x="152393" y="0"/>
                </a:moveTo>
                <a:lnTo>
                  <a:pt x="2476507" y="0"/>
                </a:lnTo>
                <a:cubicBezTo>
                  <a:pt x="2560671" y="0"/>
                  <a:pt x="2628900" y="68229"/>
                  <a:pt x="2628900" y="152393"/>
                </a:cubicBezTo>
                <a:lnTo>
                  <a:pt x="2628900" y="1228732"/>
                </a:lnTo>
                <a:cubicBezTo>
                  <a:pt x="2628900" y="1312896"/>
                  <a:pt x="2560671" y="1381125"/>
                  <a:pt x="2476507" y="1381125"/>
                </a:cubicBezTo>
                <a:lnTo>
                  <a:pt x="152393" y="1381125"/>
                </a:lnTo>
                <a:cubicBezTo>
                  <a:pt x="68229" y="1381125"/>
                  <a:pt x="0" y="1312896"/>
                  <a:pt x="0" y="1228732"/>
                </a:cubicBezTo>
                <a:lnTo>
                  <a:pt x="0" y="152393"/>
                </a:lnTo>
                <a:cubicBezTo>
                  <a:pt x="0" y="68229"/>
                  <a:pt x="68229" y="0"/>
                  <a:pt x="152393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81200" y="4700588"/>
            <a:ext cx="2333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85%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028825" y="5157788"/>
            <a:ext cx="2238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 las empresas adoptarán ML para 2025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779913" y="4467225"/>
            <a:ext cx="2628900" cy="1381125"/>
          </a:xfrm>
          <a:custGeom>
            <a:avLst/>
            <a:gdLst/>
            <a:ahLst/>
            <a:cxnLst/>
            <a:rect l="l" t="t" r="r" b="b"/>
            <a:pathLst>
              <a:path w="2628900" h="1381125">
                <a:moveTo>
                  <a:pt x="152393" y="0"/>
                </a:moveTo>
                <a:lnTo>
                  <a:pt x="2476507" y="0"/>
                </a:lnTo>
                <a:cubicBezTo>
                  <a:pt x="2560671" y="0"/>
                  <a:pt x="2628900" y="68229"/>
                  <a:pt x="2628900" y="152393"/>
                </a:cubicBezTo>
                <a:lnTo>
                  <a:pt x="2628900" y="1228732"/>
                </a:lnTo>
                <a:cubicBezTo>
                  <a:pt x="2628900" y="1312896"/>
                  <a:pt x="2560671" y="1381125"/>
                  <a:pt x="2476507" y="1381125"/>
                </a:cubicBezTo>
                <a:lnTo>
                  <a:pt x="152393" y="1381125"/>
                </a:lnTo>
                <a:cubicBezTo>
                  <a:pt x="68229" y="1381125"/>
                  <a:pt x="0" y="1312896"/>
                  <a:pt x="0" y="1228732"/>
                </a:cubicBezTo>
                <a:lnTo>
                  <a:pt x="0" y="152393"/>
                </a:lnTo>
                <a:cubicBezTo>
                  <a:pt x="0" y="68229"/>
                  <a:pt x="68229" y="0"/>
                  <a:pt x="152393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27550" y="4700588"/>
            <a:ext cx="2333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$190B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975175" y="5157788"/>
            <a:ext cx="2238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valor del mercado global de IA para 2025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26263" y="4467225"/>
            <a:ext cx="2628900" cy="1381125"/>
          </a:xfrm>
          <a:custGeom>
            <a:avLst/>
            <a:gdLst/>
            <a:ahLst/>
            <a:cxnLst/>
            <a:rect l="l" t="t" r="r" b="b"/>
            <a:pathLst>
              <a:path w="2628900" h="1381125">
                <a:moveTo>
                  <a:pt x="152393" y="0"/>
                </a:moveTo>
                <a:lnTo>
                  <a:pt x="2476507" y="0"/>
                </a:lnTo>
                <a:cubicBezTo>
                  <a:pt x="2560671" y="0"/>
                  <a:pt x="2628900" y="68229"/>
                  <a:pt x="2628900" y="152393"/>
                </a:cubicBezTo>
                <a:lnTo>
                  <a:pt x="2628900" y="1228732"/>
                </a:lnTo>
                <a:cubicBezTo>
                  <a:pt x="2628900" y="1312896"/>
                  <a:pt x="2560671" y="1381125"/>
                  <a:pt x="2476507" y="1381125"/>
                </a:cubicBezTo>
                <a:lnTo>
                  <a:pt x="152393" y="1381125"/>
                </a:lnTo>
                <a:cubicBezTo>
                  <a:pt x="68229" y="1381125"/>
                  <a:pt x="0" y="1312896"/>
                  <a:pt x="0" y="1228732"/>
                </a:cubicBezTo>
                <a:lnTo>
                  <a:pt x="0" y="152393"/>
                </a:lnTo>
                <a:cubicBezTo>
                  <a:pt x="0" y="68229"/>
                  <a:pt x="68229" y="0"/>
                  <a:pt x="152393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73901" y="4700588"/>
            <a:ext cx="2333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97M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921526" y="5157788"/>
            <a:ext cx="2238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nuevos empleos relacionados con IA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661196" y="6367463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6073" y="65566"/>
                </a:moveTo>
                <a:lnTo>
                  <a:pt x="86127" y="94398"/>
                </a:lnTo>
                <a:cubicBezTo>
                  <a:pt x="89408" y="95737"/>
                  <a:pt x="92891" y="96441"/>
                  <a:pt x="96441" y="96441"/>
                </a:cubicBezTo>
                <a:cubicBezTo>
                  <a:pt x="99990" y="96441"/>
                  <a:pt x="103473" y="95737"/>
                  <a:pt x="106754" y="94398"/>
                </a:cubicBezTo>
                <a:lnTo>
                  <a:pt x="187925" y="60979"/>
                </a:lnTo>
                <a:cubicBezTo>
                  <a:pt x="190939" y="59740"/>
                  <a:pt x="192881" y="56826"/>
                  <a:pt x="192881" y="53578"/>
                </a:cubicBezTo>
                <a:cubicBezTo>
                  <a:pt x="192881" y="50330"/>
                  <a:pt x="190939" y="47417"/>
                  <a:pt x="187925" y="46178"/>
                </a:cubicBezTo>
                <a:lnTo>
                  <a:pt x="106754" y="12758"/>
                </a:lnTo>
                <a:cubicBezTo>
                  <a:pt x="103473" y="11419"/>
                  <a:pt x="99990" y="10716"/>
                  <a:pt x="96441" y="10716"/>
                </a:cubicBezTo>
                <a:cubicBezTo>
                  <a:pt x="92891" y="10716"/>
                  <a:pt x="89408" y="11419"/>
                  <a:pt x="86127" y="12758"/>
                </a:cubicBezTo>
                <a:lnTo>
                  <a:pt x="4956" y="46178"/>
                </a:lnTo>
                <a:cubicBezTo>
                  <a:pt x="1942" y="47417"/>
                  <a:pt x="0" y="50330"/>
                  <a:pt x="0" y="53578"/>
                </a:cubicBezTo>
                <a:lnTo>
                  <a:pt x="0" y="152698"/>
                </a:lnTo>
                <a:cubicBezTo>
                  <a:pt x="0" y="157151"/>
                  <a:pt x="3583" y="160734"/>
                  <a:pt x="8037" y="160734"/>
                </a:cubicBezTo>
                <a:cubicBezTo>
                  <a:pt x="12490" y="160734"/>
                  <a:pt x="16073" y="157151"/>
                  <a:pt x="16073" y="152698"/>
                </a:cubicBezTo>
                <a:lnTo>
                  <a:pt x="16073" y="65566"/>
                </a:lnTo>
                <a:close/>
                <a:moveTo>
                  <a:pt x="32147" y="89576"/>
                </a:moveTo>
                <a:lnTo>
                  <a:pt x="32147" y="128588"/>
                </a:lnTo>
                <a:cubicBezTo>
                  <a:pt x="32147" y="146335"/>
                  <a:pt x="60945" y="160734"/>
                  <a:pt x="96441" y="160734"/>
                </a:cubicBezTo>
                <a:cubicBezTo>
                  <a:pt x="131936" y="160734"/>
                  <a:pt x="160734" y="146335"/>
                  <a:pt x="160734" y="128588"/>
                </a:cubicBezTo>
                <a:lnTo>
                  <a:pt x="160734" y="89542"/>
                </a:lnTo>
                <a:lnTo>
                  <a:pt x="112882" y="109266"/>
                </a:lnTo>
                <a:cubicBezTo>
                  <a:pt x="107659" y="111409"/>
                  <a:pt x="102100" y="112514"/>
                  <a:pt x="96441" y="112514"/>
                </a:cubicBezTo>
                <a:cubicBezTo>
                  <a:pt x="90781" y="112514"/>
                  <a:pt x="85223" y="111409"/>
                  <a:pt x="79999" y="109266"/>
                </a:cubicBezTo>
                <a:lnTo>
                  <a:pt x="32147" y="89542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7" name="Text 14"/>
          <p:cNvSpPr/>
          <p:nvPr/>
        </p:nvSpPr>
        <p:spPr>
          <a:xfrm>
            <a:off x="2881461" y="6310313"/>
            <a:ext cx="670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Continúa aprendiendo y explorando las infinitas posibilidades del Machine Learning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Usos de Machine Learning y Deep Learning</dc:title>
  <dc:subject>Usos de Machine Learning y Deep Learning</dc:subject>
  <dc:creator>Kimi</dc:creator>
  <cp:lastModifiedBy>Kimi</cp:lastModifiedBy>
  <cp:revision>1</cp:revision>
  <dcterms:created xsi:type="dcterms:W3CDTF">2026-02-18T12:12:28Z</dcterms:created>
  <dcterms:modified xsi:type="dcterms:W3CDTF">2026-02-18T12:12:28Z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{"Label":"Usos de Machine Learning y Deep Learning","ContentProducer":"001191110108MACG2KBH8F10000","ProduceID":"19c70a62-9582-845c-8000-000040a83ea2","ReservedCode1":"","ContentPropagator":"001191110108MACG2KBH8F20000","PropagateID":"19c70a62-9582-845c-8000-000040a83ea2","ReservedCode2":""}</vt:lpwstr>
  </property>
</Properties>
</file>