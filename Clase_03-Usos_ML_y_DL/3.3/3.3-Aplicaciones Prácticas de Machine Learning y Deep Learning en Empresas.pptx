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Liter" charset="-122" pitchFamily="34"/>
      <p:regular r:id="rId19"/>
    </p:embeddedFont>
    <p:embeddedFont>
      <p:font typeface="Quattrocento Sans" charset="-122" pitchFamily="34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b1bb6df320aee723b22b1a4ed43d093eb84a78e3.jp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111" r="111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D1D1F">
                  <a:alpha val="80000"/>
                </a:srgbClr>
              </a:gs>
              <a:gs pos="50000">
                <a:srgbClr val="1D1D1F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685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5" name="Shape 2"/>
          <p:cNvSpPr/>
          <p:nvPr/>
        </p:nvSpPr>
        <p:spPr>
          <a:xfrm>
            <a:off x="514350" y="8191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952500" y="800100"/>
            <a:ext cx="2257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F5F5F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Inteligencia Artificial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2175867"/>
            <a:ext cx="8877300" cy="2266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5400" b="1" dirty="0">
                <a:solidFill>
                  <a:srgbClr val="F5F5F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Aplicaciones Prácticas de</a:t>
            </a: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540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Machine Learning</a:t>
            </a: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5400" b="1" dirty="0">
                <a:solidFill>
                  <a:srgbClr val="F5F5F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 Deep Learning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4743450"/>
            <a:ext cx="86487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5F5F7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Transformando la Inteligencia Artificial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5F5F7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 Ventajas Competitivas Empresariales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09575" y="59817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8100" y="0"/>
                </a:moveTo>
                <a:cubicBezTo>
                  <a:pt x="43369" y="0"/>
                  <a:pt x="47625" y="4256"/>
                  <a:pt x="47625" y="9525"/>
                </a:cubicBezTo>
                <a:lnTo>
                  <a:pt x="47625" y="19050"/>
                </a:lnTo>
                <a:lnTo>
                  <a:pt x="85725" y="19050"/>
                </a:lnTo>
                <a:lnTo>
                  <a:pt x="85725" y="9525"/>
                </a:lnTo>
                <a:cubicBezTo>
                  <a:pt x="85725" y="4256"/>
                  <a:pt x="89981" y="0"/>
                  <a:pt x="95250" y="0"/>
                </a:cubicBezTo>
                <a:cubicBezTo>
                  <a:pt x="100519" y="0"/>
                  <a:pt x="104775" y="4256"/>
                  <a:pt x="104775" y="9525"/>
                </a:cubicBezTo>
                <a:lnTo>
                  <a:pt x="104775" y="19050"/>
                </a:lnTo>
                <a:lnTo>
                  <a:pt x="114300" y="19050"/>
                </a:lnTo>
                <a:cubicBezTo>
                  <a:pt x="124807" y="19050"/>
                  <a:pt x="133350" y="27593"/>
                  <a:pt x="133350" y="38100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38100"/>
                </a:lnTo>
                <a:cubicBezTo>
                  <a:pt x="0" y="27593"/>
                  <a:pt x="8543" y="19050"/>
                  <a:pt x="19050" y="19050"/>
                </a:cubicBezTo>
                <a:lnTo>
                  <a:pt x="28575" y="19050"/>
                </a:lnTo>
                <a:lnTo>
                  <a:pt x="28575" y="9525"/>
                </a:lnTo>
                <a:cubicBezTo>
                  <a:pt x="28575" y="4256"/>
                  <a:pt x="32831" y="0"/>
                  <a:pt x="38100" y="0"/>
                </a:cubicBezTo>
                <a:close/>
                <a:moveTo>
                  <a:pt x="19050" y="71438"/>
                </a:moveTo>
                <a:lnTo>
                  <a:pt x="19050" y="80962"/>
                </a:lnTo>
                <a:cubicBezTo>
                  <a:pt x="19050" y="83582"/>
                  <a:pt x="21193" y="85725"/>
                  <a:pt x="23813" y="85725"/>
                </a:cubicBezTo>
                <a:lnTo>
                  <a:pt x="33338" y="85725"/>
                </a:lnTo>
                <a:cubicBezTo>
                  <a:pt x="35957" y="85725"/>
                  <a:pt x="38100" y="83582"/>
                  <a:pt x="38100" y="80962"/>
                </a:cubicBezTo>
                <a:lnTo>
                  <a:pt x="38100" y="71438"/>
                </a:lnTo>
                <a:cubicBezTo>
                  <a:pt x="38100" y="68818"/>
                  <a:pt x="35957" y="66675"/>
                  <a:pt x="33338" y="66675"/>
                </a:cubicBezTo>
                <a:lnTo>
                  <a:pt x="23813" y="66675"/>
                </a:lnTo>
                <a:cubicBezTo>
                  <a:pt x="21193" y="66675"/>
                  <a:pt x="19050" y="68818"/>
                  <a:pt x="19050" y="71438"/>
                </a:cubicBezTo>
                <a:close/>
                <a:moveTo>
                  <a:pt x="57150" y="71438"/>
                </a:moveTo>
                <a:lnTo>
                  <a:pt x="57150" y="80962"/>
                </a:lnTo>
                <a:cubicBezTo>
                  <a:pt x="57150" y="83582"/>
                  <a:pt x="59293" y="85725"/>
                  <a:pt x="61912" y="85725"/>
                </a:cubicBezTo>
                <a:lnTo>
                  <a:pt x="71438" y="85725"/>
                </a:lnTo>
                <a:cubicBezTo>
                  <a:pt x="74057" y="85725"/>
                  <a:pt x="76200" y="83582"/>
                  <a:pt x="76200" y="80962"/>
                </a:cubicBezTo>
                <a:lnTo>
                  <a:pt x="76200" y="71438"/>
                </a:lnTo>
                <a:cubicBezTo>
                  <a:pt x="76200" y="68818"/>
                  <a:pt x="74057" y="66675"/>
                  <a:pt x="71438" y="66675"/>
                </a:cubicBezTo>
                <a:lnTo>
                  <a:pt x="61912" y="66675"/>
                </a:lnTo>
                <a:cubicBezTo>
                  <a:pt x="59293" y="66675"/>
                  <a:pt x="57150" y="68818"/>
                  <a:pt x="57150" y="71438"/>
                </a:cubicBezTo>
                <a:close/>
                <a:moveTo>
                  <a:pt x="100013" y="66675"/>
                </a:moveTo>
                <a:cubicBezTo>
                  <a:pt x="97393" y="66675"/>
                  <a:pt x="95250" y="68818"/>
                  <a:pt x="95250" y="71438"/>
                </a:cubicBezTo>
                <a:lnTo>
                  <a:pt x="95250" y="80962"/>
                </a:lnTo>
                <a:cubicBezTo>
                  <a:pt x="95250" y="83582"/>
                  <a:pt x="97393" y="85725"/>
                  <a:pt x="100013" y="85725"/>
                </a:cubicBezTo>
                <a:lnTo>
                  <a:pt x="109537" y="85725"/>
                </a:lnTo>
                <a:cubicBezTo>
                  <a:pt x="112157" y="85725"/>
                  <a:pt x="114300" y="83582"/>
                  <a:pt x="114300" y="80962"/>
                </a:cubicBezTo>
                <a:lnTo>
                  <a:pt x="114300" y="71438"/>
                </a:lnTo>
                <a:cubicBezTo>
                  <a:pt x="114300" y="68818"/>
                  <a:pt x="112157" y="66675"/>
                  <a:pt x="109537" y="66675"/>
                </a:cubicBezTo>
                <a:lnTo>
                  <a:pt x="100013" y="66675"/>
                </a:lnTo>
                <a:close/>
                <a:moveTo>
                  <a:pt x="19050" y="109537"/>
                </a:move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33338" y="123825"/>
                </a:lnTo>
                <a:cubicBezTo>
                  <a:pt x="35957" y="123825"/>
                  <a:pt x="38100" y="121682"/>
                  <a:pt x="38100" y="119062"/>
                </a:cubicBezTo>
                <a:lnTo>
                  <a:pt x="38100" y="109537"/>
                </a:lnTo>
                <a:cubicBezTo>
                  <a:pt x="38100" y="106918"/>
                  <a:pt x="35957" y="104775"/>
                  <a:pt x="33338" y="104775"/>
                </a:cubicBezTo>
                <a:lnTo>
                  <a:pt x="23813" y="104775"/>
                </a:lnTo>
                <a:cubicBezTo>
                  <a:pt x="21193" y="104775"/>
                  <a:pt x="19050" y="106918"/>
                  <a:pt x="19050" y="109537"/>
                </a:cubicBezTo>
                <a:close/>
                <a:moveTo>
                  <a:pt x="61912" y="104775"/>
                </a:moveTo>
                <a:cubicBezTo>
                  <a:pt x="59293" y="104775"/>
                  <a:pt x="57150" y="106918"/>
                  <a:pt x="57150" y="109537"/>
                </a:cubicBezTo>
                <a:lnTo>
                  <a:pt x="57150" y="119062"/>
                </a:lnTo>
                <a:cubicBezTo>
                  <a:pt x="57150" y="121682"/>
                  <a:pt x="59293" y="123825"/>
                  <a:pt x="61912" y="123825"/>
                </a:cubicBezTo>
                <a:lnTo>
                  <a:pt x="71438" y="123825"/>
                </a:lnTo>
                <a:cubicBezTo>
                  <a:pt x="74057" y="123825"/>
                  <a:pt x="76200" y="121682"/>
                  <a:pt x="76200" y="119062"/>
                </a:cubicBezTo>
                <a:lnTo>
                  <a:pt x="76200" y="109537"/>
                </a:lnTo>
                <a:cubicBezTo>
                  <a:pt x="76200" y="106918"/>
                  <a:pt x="74057" y="104775"/>
                  <a:pt x="71438" y="104775"/>
                </a:cubicBezTo>
                <a:lnTo>
                  <a:pt x="61912" y="104775"/>
                </a:lnTo>
                <a:close/>
                <a:moveTo>
                  <a:pt x="95250" y="109537"/>
                </a:moveTo>
                <a:lnTo>
                  <a:pt x="95250" y="119062"/>
                </a:lnTo>
                <a:cubicBezTo>
                  <a:pt x="95250" y="121682"/>
                  <a:pt x="97393" y="123825"/>
                  <a:pt x="100013" y="123825"/>
                </a:cubicBezTo>
                <a:lnTo>
                  <a:pt x="109537" y="123825"/>
                </a:lnTo>
                <a:cubicBezTo>
                  <a:pt x="112157" y="123825"/>
                  <a:pt x="114300" y="121682"/>
                  <a:pt x="114300" y="119062"/>
                </a:cubicBezTo>
                <a:lnTo>
                  <a:pt x="114300" y="109537"/>
                </a:lnTo>
                <a:cubicBezTo>
                  <a:pt x="114300" y="106918"/>
                  <a:pt x="112157" y="104775"/>
                  <a:pt x="109537" y="104775"/>
                </a:cubicBezTo>
                <a:lnTo>
                  <a:pt x="100013" y="104775"/>
                </a:lnTo>
                <a:cubicBezTo>
                  <a:pt x="97393" y="104775"/>
                  <a:pt x="95250" y="106918"/>
                  <a:pt x="95250" y="109537"/>
                </a:cubicBezTo>
                <a:close/>
              </a:path>
            </a:pathLst>
          </a:custGeom>
          <a:solidFill>
            <a:srgbClr val="F5F5F7">
              <a:alpha val="70196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647700" y="5943600"/>
            <a:ext cx="438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5F7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2026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279922" y="59817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9050" y="0"/>
                </a:moveTo>
                <a:cubicBezTo>
                  <a:pt x="8543" y="0"/>
                  <a:pt x="0" y="8543"/>
                  <a:pt x="0" y="19050"/>
                </a:cubicBezTo>
                <a:lnTo>
                  <a:pt x="0" y="133350"/>
                </a:lnTo>
                <a:cubicBezTo>
                  <a:pt x="0" y="143857"/>
                  <a:pt x="8543" y="152400"/>
                  <a:pt x="19050" y="152400"/>
                </a:cubicBezTo>
                <a:lnTo>
                  <a:pt x="95250" y="152400"/>
                </a:lnTo>
                <a:cubicBezTo>
                  <a:pt x="105757" y="152400"/>
                  <a:pt x="114300" y="143857"/>
                  <a:pt x="114300" y="133350"/>
                </a:cubicBezTo>
                <a:lnTo>
                  <a:pt x="114300" y="19050"/>
                </a:lnTo>
                <a:cubicBezTo>
                  <a:pt x="114300" y="8543"/>
                  <a:pt x="105757" y="0"/>
                  <a:pt x="95250" y="0"/>
                </a:cubicBezTo>
                <a:lnTo>
                  <a:pt x="19050" y="0"/>
                </a:lnTo>
                <a:close/>
                <a:moveTo>
                  <a:pt x="52388" y="104775"/>
                </a:moveTo>
                <a:lnTo>
                  <a:pt x="61912" y="104775"/>
                </a:lnTo>
                <a:cubicBezTo>
                  <a:pt x="67181" y="104775"/>
                  <a:pt x="71438" y="109031"/>
                  <a:pt x="71438" y="114300"/>
                </a:cubicBezTo>
                <a:lnTo>
                  <a:pt x="71438" y="138113"/>
                </a:lnTo>
                <a:lnTo>
                  <a:pt x="42863" y="138113"/>
                </a:lnTo>
                <a:lnTo>
                  <a:pt x="42863" y="114300"/>
                </a:lnTo>
                <a:cubicBezTo>
                  <a:pt x="42863" y="109031"/>
                  <a:pt x="47119" y="104775"/>
                  <a:pt x="52388" y="104775"/>
                </a:cubicBezTo>
                <a:close/>
                <a:moveTo>
                  <a:pt x="28575" y="33338"/>
                </a:moveTo>
                <a:cubicBezTo>
                  <a:pt x="28575" y="30718"/>
                  <a:pt x="30718" y="28575"/>
                  <a:pt x="33338" y="28575"/>
                </a:cubicBezTo>
                <a:lnTo>
                  <a:pt x="42863" y="28575"/>
                </a:lnTo>
                <a:cubicBezTo>
                  <a:pt x="45482" y="28575"/>
                  <a:pt x="47625" y="30718"/>
                  <a:pt x="47625" y="33338"/>
                </a:cubicBezTo>
                <a:lnTo>
                  <a:pt x="47625" y="42863"/>
                </a:lnTo>
                <a:cubicBezTo>
                  <a:pt x="47625" y="45482"/>
                  <a:pt x="45482" y="47625"/>
                  <a:pt x="42863" y="47625"/>
                </a:cubicBezTo>
                <a:lnTo>
                  <a:pt x="33338" y="47625"/>
                </a:lnTo>
                <a:cubicBezTo>
                  <a:pt x="30718" y="47625"/>
                  <a:pt x="28575" y="45482"/>
                  <a:pt x="28575" y="42863"/>
                </a:cubicBezTo>
                <a:lnTo>
                  <a:pt x="28575" y="33338"/>
                </a:lnTo>
                <a:close/>
                <a:moveTo>
                  <a:pt x="71438" y="28575"/>
                </a:moveTo>
                <a:lnTo>
                  <a:pt x="80962" y="28575"/>
                </a:lnTo>
                <a:cubicBezTo>
                  <a:pt x="83582" y="28575"/>
                  <a:pt x="85725" y="30718"/>
                  <a:pt x="85725" y="33338"/>
                </a:cubicBezTo>
                <a:lnTo>
                  <a:pt x="85725" y="42863"/>
                </a:lnTo>
                <a:cubicBezTo>
                  <a:pt x="85725" y="45482"/>
                  <a:pt x="83582" y="47625"/>
                  <a:pt x="80962" y="47625"/>
                </a:cubicBezTo>
                <a:lnTo>
                  <a:pt x="71438" y="47625"/>
                </a:lnTo>
                <a:cubicBezTo>
                  <a:pt x="68818" y="47625"/>
                  <a:pt x="66675" y="45482"/>
                  <a:pt x="66675" y="42863"/>
                </a:cubicBezTo>
                <a:lnTo>
                  <a:pt x="66675" y="33338"/>
                </a:lnTo>
                <a:cubicBezTo>
                  <a:pt x="66675" y="30718"/>
                  <a:pt x="68818" y="28575"/>
                  <a:pt x="71438" y="28575"/>
                </a:cubicBezTo>
                <a:close/>
                <a:moveTo>
                  <a:pt x="28575" y="71438"/>
                </a:moveTo>
                <a:cubicBezTo>
                  <a:pt x="28575" y="68818"/>
                  <a:pt x="30718" y="66675"/>
                  <a:pt x="33338" y="66675"/>
                </a:cubicBezTo>
                <a:lnTo>
                  <a:pt x="42863" y="66675"/>
                </a:lnTo>
                <a:cubicBezTo>
                  <a:pt x="45482" y="66675"/>
                  <a:pt x="47625" y="68818"/>
                  <a:pt x="47625" y="71438"/>
                </a:cubicBezTo>
                <a:lnTo>
                  <a:pt x="47625" y="80962"/>
                </a:lnTo>
                <a:cubicBezTo>
                  <a:pt x="47625" y="83582"/>
                  <a:pt x="45482" y="85725"/>
                  <a:pt x="42863" y="85725"/>
                </a:cubicBezTo>
                <a:lnTo>
                  <a:pt x="33338" y="85725"/>
                </a:lnTo>
                <a:cubicBezTo>
                  <a:pt x="30718" y="85725"/>
                  <a:pt x="28575" y="83582"/>
                  <a:pt x="28575" y="80962"/>
                </a:cubicBezTo>
                <a:lnTo>
                  <a:pt x="28575" y="71438"/>
                </a:lnTo>
                <a:close/>
                <a:moveTo>
                  <a:pt x="71438" y="66675"/>
                </a:moveTo>
                <a:lnTo>
                  <a:pt x="80962" y="66675"/>
                </a:lnTo>
                <a:cubicBezTo>
                  <a:pt x="83582" y="66675"/>
                  <a:pt x="85725" y="68818"/>
                  <a:pt x="85725" y="71438"/>
                </a:cubicBezTo>
                <a:lnTo>
                  <a:pt x="85725" y="80962"/>
                </a:lnTo>
                <a:cubicBezTo>
                  <a:pt x="85725" y="83582"/>
                  <a:pt x="83582" y="85725"/>
                  <a:pt x="80962" y="85725"/>
                </a:cubicBezTo>
                <a:lnTo>
                  <a:pt x="71438" y="85725"/>
                </a:lnTo>
                <a:cubicBezTo>
                  <a:pt x="68818" y="85725"/>
                  <a:pt x="66675" y="83582"/>
                  <a:pt x="66675" y="80962"/>
                </a:cubicBezTo>
                <a:lnTo>
                  <a:pt x="66675" y="71438"/>
                </a:lnTo>
                <a:cubicBezTo>
                  <a:pt x="66675" y="68818"/>
                  <a:pt x="68818" y="66675"/>
                  <a:pt x="71438" y="66675"/>
                </a:cubicBezTo>
                <a:close/>
              </a:path>
            </a:pathLst>
          </a:custGeom>
          <a:solidFill>
            <a:srgbClr val="F5F5F7">
              <a:alpha val="70196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1508522" y="5943600"/>
            <a:ext cx="1457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5F7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Empresas Modernas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Navegación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Contenido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528763"/>
            <a:ext cx="5553075" cy="2314575"/>
          </a:xfrm>
          <a:custGeom>
            <a:avLst/>
            <a:gdLst/>
            <a:ahLst/>
            <a:cxnLst/>
            <a:rect l="l" t="t" r="r" b="b"/>
            <a:pathLst>
              <a:path w="5553075" h="2314575">
                <a:moveTo>
                  <a:pt x="228611" y="0"/>
                </a:moveTo>
                <a:lnTo>
                  <a:pt x="5324464" y="0"/>
                </a:lnTo>
                <a:cubicBezTo>
                  <a:pt x="5450638" y="0"/>
                  <a:pt x="5553075" y="102437"/>
                  <a:pt x="5553075" y="228611"/>
                </a:cubicBezTo>
                <a:lnTo>
                  <a:pt x="5553075" y="2085964"/>
                </a:lnTo>
                <a:cubicBezTo>
                  <a:pt x="5553075" y="2212138"/>
                  <a:pt x="5450638" y="2314575"/>
                  <a:pt x="5324464" y="2314575"/>
                </a:cubicBezTo>
                <a:lnTo>
                  <a:pt x="228611" y="2314575"/>
                </a:lnTo>
                <a:cubicBezTo>
                  <a:pt x="102437" y="2314575"/>
                  <a:pt x="0" y="2212138"/>
                  <a:pt x="0" y="2085964"/>
                </a:cubicBezTo>
                <a:lnTo>
                  <a:pt x="0" y="228611"/>
                </a:lnTo>
                <a:cubicBezTo>
                  <a:pt x="0" y="102437"/>
                  <a:pt x="102437" y="0"/>
                  <a:pt x="228611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86868B">
                <a:alpha val="20000"/>
              </a:srgbClr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1525" y="22288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6" name="Text 4"/>
          <p:cNvSpPr/>
          <p:nvPr/>
        </p:nvSpPr>
        <p:spPr>
          <a:xfrm>
            <a:off x="714375" y="2228850"/>
            <a:ext cx="723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71625" y="2228850"/>
            <a:ext cx="4095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 Revolución de la IA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71625" y="2647950"/>
            <a:ext cx="40576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Cómo la inteligencia artificial ha transformado las operaciones empresariales modernas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53163" y="1528763"/>
            <a:ext cx="5553075" cy="2314575"/>
          </a:xfrm>
          <a:custGeom>
            <a:avLst/>
            <a:gdLst/>
            <a:ahLst/>
            <a:cxnLst/>
            <a:rect l="l" t="t" r="r" b="b"/>
            <a:pathLst>
              <a:path w="5553075" h="2314575">
                <a:moveTo>
                  <a:pt x="228611" y="0"/>
                </a:moveTo>
                <a:lnTo>
                  <a:pt x="5324464" y="0"/>
                </a:lnTo>
                <a:cubicBezTo>
                  <a:pt x="5450638" y="0"/>
                  <a:pt x="5553075" y="102437"/>
                  <a:pt x="5553075" y="228611"/>
                </a:cubicBezTo>
                <a:lnTo>
                  <a:pt x="5553075" y="2085964"/>
                </a:lnTo>
                <a:cubicBezTo>
                  <a:pt x="5553075" y="2212138"/>
                  <a:pt x="5450638" y="2314575"/>
                  <a:pt x="5324464" y="2314575"/>
                </a:cubicBezTo>
                <a:lnTo>
                  <a:pt x="228611" y="2314575"/>
                </a:lnTo>
                <a:cubicBezTo>
                  <a:pt x="102437" y="2314575"/>
                  <a:pt x="0" y="2212138"/>
                  <a:pt x="0" y="2085964"/>
                </a:cubicBezTo>
                <a:lnTo>
                  <a:pt x="0" y="228611"/>
                </a:lnTo>
                <a:cubicBezTo>
                  <a:pt x="0" y="102437"/>
                  <a:pt x="102437" y="0"/>
                  <a:pt x="228611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86868B">
                <a:alpha val="20000"/>
              </a:srgbClr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38925" y="22288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1" name="Text 9"/>
          <p:cNvSpPr/>
          <p:nvPr/>
        </p:nvSpPr>
        <p:spPr>
          <a:xfrm>
            <a:off x="6581775" y="2228850"/>
            <a:ext cx="723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39025" y="2228850"/>
            <a:ext cx="4095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439025" y="2647950"/>
            <a:ext cx="40576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Sistemas que aprenden de datos y realizan predicciones sin programación explícita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5763" y="4157663"/>
            <a:ext cx="5553075" cy="2314575"/>
          </a:xfrm>
          <a:custGeom>
            <a:avLst/>
            <a:gdLst/>
            <a:ahLst/>
            <a:cxnLst/>
            <a:rect l="l" t="t" r="r" b="b"/>
            <a:pathLst>
              <a:path w="5553075" h="2314575">
                <a:moveTo>
                  <a:pt x="228611" y="0"/>
                </a:moveTo>
                <a:lnTo>
                  <a:pt x="5324464" y="0"/>
                </a:lnTo>
                <a:cubicBezTo>
                  <a:pt x="5450638" y="0"/>
                  <a:pt x="5553075" y="102437"/>
                  <a:pt x="5553075" y="228611"/>
                </a:cubicBezTo>
                <a:lnTo>
                  <a:pt x="5553075" y="2085964"/>
                </a:lnTo>
                <a:cubicBezTo>
                  <a:pt x="5553075" y="2212138"/>
                  <a:pt x="5450638" y="2314575"/>
                  <a:pt x="5324464" y="2314575"/>
                </a:cubicBezTo>
                <a:lnTo>
                  <a:pt x="228611" y="2314575"/>
                </a:lnTo>
                <a:cubicBezTo>
                  <a:pt x="102437" y="2314575"/>
                  <a:pt x="0" y="2212138"/>
                  <a:pt x="0" y="2085964"/>
                </a:cubicBezTo>
                <a:lnTo>
                  <a:pt x="0" y="228611"/>
                </a:lnTo>
                <a:cubicBezTo>
                  <a:pt x="0" y="102437"/>
                  <a:pt x="102437" y="0"/>
                  <a:pt x="228611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86868B">
                <a:alpha val="20000"/>
              </a:srgbClr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1525" y="48577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6" name="Text 14"/>
          <p:cNvSpPr/>
          <p:nvPr/>
        </p:nvSpPr>
        <p:spPr>
          <a:xfrm>
            <a:off x="714375" y="4857750"/>
            <a:ext cx="723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71625" y="4857750"/>
            <a:ext cx="4095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Deep Learning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71625" y="5276850"/>
            <a:ext cx="40576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Redes neuronales avanzadas para procesamiento de datos complejos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53163" y="4157663"/>
            <a:ext cx="5553075" cy="2314575"/>
          </a:xfrm>
          <a:custGeom>
            <a:avLst/>
            <a:gdLst/>
            <a:ahLst/>
            <a:cxnLst/>
            <a:rect l="l" t="t" r="r" b="b"/>
            <a:pathLst>
              <a:path w="5553075" h="2314575">
                <a:moveTo>
                  <a:pt x="228611" y="0"/>
                </a:moveTo>
                <a:lnTo>
                  <a:pt x="5324464" y="0"/>
                </a:lnTo>
                <a:cubicBezTo>
                  <a:pt x="5450638" y="0"/>
                  <a:pt x="5553075" y="102437"/>
                  <a:pt x="5553075" y="228611"/>
                </a:cubicBezTo>
                <a:lnTo>
                  <a:pt x="5553075" y="2085964"/>
                </a:lnTo>
                <a:cubicBezTo>
                  <a:pt x="5553075" y="2212138"/>
                  <a:pt x="5450638" y="2314575"/>
                  <a:pt x="5324464" y="2314575"/>
                </a:cubicBezTo>
                <a:lnTo>
                  <a:pt x="228611" y="2314575"/>
                </a:lnTo>
                <a:cubicBezTo>
                  <a:pt x="102437" y="2314575"/>
                  <a:pt x="0" y="2212138"/>
                  <a:pt x="0" y="2085964"/>
                </a:cubicBezTo>
                <a:lnTo>
                  <a:pt x="0" y="228611"/>
                </a:lnTo>
                <a:cubicBezTo>
                  <a:pt x="0" y="102437"/>
                  <a:pt x="102437" y="0"/>
                  <a:pt x="228611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86868B">
                <a:alpha val="20000"/>
              </a:srgbClr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38925" y="48577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1" name="Text 19"/>
          <p:cNvSpPr/>
          <p:nvPr/>
        </p:nvSpPr>
        <p:spPr>
          <a:xfrm>
            <a:off x="6581775" y="4857750"/>
            <a:ext cx="723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439025" y="4857750"/>
            <a:ext cx="4095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Perspectivas Futuras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439025" y="5276850"/>
            <a:ext cx="40576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 futuro de la IA y su rol estratégico en la competitividad empresarial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Introducción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 Revolución de la Inteligencia Artificial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2192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Transformando operaciones empresariales mediante tecnologías de vanguardia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790700"/>
            <a:ext cx="7105650" cy="1295400"/>
          </a:xfrm>
          <a:custGeom>
            <a:avLst/>
            <a:gdLst/>
            <a:ahLst/>
            <a:cxnLst/>
            <a:rect l="l" t="t" r="r" b="b"/>
            <a:pathLst>
              <a:path w="7105650" h="1295400">
                <a:moveTo>
                  <a:pt x="38100" y="0"/>
                </a:moveTo>
                <a:lnTo>
                  <a:pt x="6953246" y="0"/>
                </a:lnTo>
                <a:cubicBezTo>
                  <a:pt x="7037416" y="0"/>
                  <a:pt x="7105650" y="68234"/>
                  <a:pt x="7105650" y="152404"/>
                </a:cubicBezTo>
                <a:lnTo>
                  <a:pt x="7105650" y="1142996"/>
                </a:lnTo>
                <a:cubicBezTo>
                  <a:pt x="7105650" y="1227166"/>
                  <a:pt x="7037416" y="1295400"/>
                  <a:pt x="6953246" y="1295400"/>
                </a:cubicBez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0050" y="1790700"/>
            <a:ext cx="38100" cy="1295400"/>
          </a:xfrm>
          <a:custGeom>
            <a:avLst/>
            <a:gdLst/>
            <a:ahLst/>
            <a:cxnLst/>
            <a:rect l="l" t="t" r="r" b="b"/>
            <a:pathLst>
              <a:path w="38100" h="1295400">
                <a:moveTo>
                  <a:pt x="38100" y="0"/>
                </a:moveTo>
                <a:lnTo>
                  <a:pt x="38100" y="0"/>
                </a:lnTo>
                <a:lnTo>
                  <a:pt x="38100" y="1295400"/>
                </a:ln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7" name="Shape 5"/>
          <p:cNvSpPr/>
          <p:nvPr/>
        </p:nvSpPr>
        <p:spPr>
          <a:xfrm>
            <a:off x="647700" y="2019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81050" y="21526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9" name="Text 7"/>
          <p:cNvSpPr/>
          <p:nvPr/>
        </p:nvSpPr>
        <p:spPr>
          <a:xfrm>
            <a:off x="1257300" y="2019300"/>
            <a:ext cx="6115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Optimización de Procesos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57300" y="2362200"/>
            <a:ext cx="6096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 IA automatiza tareas repetitivas, reduce errores humanos y acelera los flujos de trabajo empresariales, permitiendo a las organizaciones operar con mayor eficiencia.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0050" y="3314700"/>
            <a:ext cx="7105650" cy="1295400"/>
          </a:xfrm>
          <a:custGeom>
            <a:avLst/>
            <a:gdLst/>
            <a:ahLst/>
            <a:cxnLst/>
            <a:rect l="l" t="t" r="r" b="b"/>
            <a:pathLst>
              <a:path w="7105650" h="1295400">
                <a:moveTo>
                  <a:pt x="38100" y="0"/>
                </a:moveTo>
                <a:lnTo>
                  <a:pt x="6953246" y="0"/>
                </a:lnTo>
                <a:cubicBezTo>
                  <a:pt x="7037416" y="0"/>
                  <a:pt x="7105650" y="68234"/>
                  <a:pt x="7105650" y="152404"/>
                </a:cubicBezTo>
                <a:lnTo>
                  <a:pt x="7105650" y="1142996"/>
                </a:lnTo>
                <a:cubicBezTo>
                  <a:pt x="7105650" y="1227166"/>
                  <a:pt x="7037416" y="1295400"/>
                  <a:pt x="6953246" y="1295400"/>
                </a:cubicBez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00050" y="3314700"/>
            <a:ext cx="38100" cy="1295400"/>
          </a:xfrm>
          <a:custGeom>
            <a:avLst/>
            <a:gdLst/>
            <a:ahLst/>
            <a:cxnLst/>
            <a:rect l="l" t="t" r="r" b="b"/>
            <a:pathLst>
              <a:path w="38100" h="1295400">
                <a:moveTo>
                  <a:pt x="38100" y="0"/>
                </a:moveTo>
                <a:lnTo>
                  <a:pt x="38100" y="0"/>
                </a:lnTo>
                <a:lnTo>
                  <a:pt x="38100" y="1295400"/>
                </a:ln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3" name="Shape 11"/>
          <p:cNvSpPr/>
          <p:nvPr/>
        </p:nvSpPr>
        <p:spPr>
          <a:xfrm>
            <a:off x="647700" y="3543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81050" y="36766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5" name="Text 13"/>
          <p:cNvSpPr/>
          <p:nvPr/>
        </p:nvSpPr>
        <p:spPr>
          <a:xfrm>
            <a:off x="1257300" y="3543300"/>
            <a:ext cx="6115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Mejora en la Toma de Decisiones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57300" y="3886200"/>
            <a:ext cx="6096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Los algoritmos de ML y DL analizan grandes volúmenes de datos para proporcionar insights accionables que guían decisiones estratégicas informadas.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4838700"/>
            <a:ext cx="7105650" cy="1295400"/>
          </a:xfrm>
          <a:custGeom>
            <a:avLst/>
            <a:gdLst/>
            <a:ahLst/>
            <a:cxnLst/>
            <a:rect l="l" t="t" r="r" b="b"/>
            <a:pathLst>
              <a:path w="7105650" h="1295400">
                <a:moveTo>
                  <a:pt x="38100" y="0"/>
                </a:moveTo>
                <a:lnTo>
                  <a:pt x="6953246" y="0"/>
                </a:lnTo>
                <a:cubicBezTo>
                  <a:pt x="7037416" y="0"/>
                  <a:pt x="7105650" y="68234"/>
                  <a:pt x="7105650" y="152404"/>
                </a:cubicBezTo>
                <a:lnTo>
                  <a:pt x="7105650" y="1142996"/>
                </a:lnTo>
                <a:cubicBezTo>
                  <a:pt x="7105650" y="1227166"/>
                  <a:pt x="7037416" y="1295400"/>
                  <a:pt x="6953246" y="1295400"/>
                </a:cubicBez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00050" y="4838700"/>
            <a:ext cx="38100" cy="1295400"/>
          </a:xfrm>
          <a:custGeom>
            <a:avLst/>
            <a:gdLst/>
            <a:ahLst/>
            <a:cxnLst/>
            <a:rect l="l" t="t" r="r" b="b"/>
            <a:pathLst>
              <a:path w="38100" h="1295400">
                <a:moveTo>
                  <a:pt x="38100" y="0"/>
                </a:moveTo>
                <a:lnTo>
                  <a:pt x="38100" y="0"/>
                </a:lnTo>
                <a:lnTo>
                  <a:pt x="38100" y="1295400"/>
                </a:ln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9" name="Shape 17"/>
          <p:cNvSpPr/>
          <p:nvPr/>
        </p:nvSpPr>
        <p:spPr>
          <a:xfrm>
            <a:off x="647700" y="5067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81050" y="52006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53690" y="0"/>
                </a:moveTo>
                <a:lnTo>
                  <a:pt x="137033" y="0"/>
                </a:lnTo>
                <a:cubicBezTo>
                  <a:pt x="146893" y="0"/>
                  <a:pt x="154930" y="8111"/>
                  <a:pt x="154558" y="17934"/>
                </a:cubicBezTo>
                <a:cubicBezTo>
                  <a:pt x="154484" y="19906"/>
                  <a:pt x="154409" y="21878"/>
                  <a:pt x="154298" y="23812"/>
                </a:cubicBezTo>
                <a:lnTo>
                  <a:pt x="172752" y="23812"/>
                </a:lnTo>
                <a:cubicBezTo>
                  <a:pt x="182463" y="23812"/>
                  <a:pt x="191021" y="31849"/>
                  <a:pt x="190277" y="42342"/>
                </a:cubicBezTo>
                <a:cubicBezTo>
                  <a:pt x="187486" y="80925"/>
                  <a:pt x="167767" y="102133"/>
                  <a:pt x="146372" y="113221"/>
                </a:cubicBezTo>
                <a:cubicBezTo>
                  <a:pt x="140494" y="116272"/>
                  <a:pt x="134503" y="118542"/>
                  <a:pt x="128811" y="120216"/>
                </a:cubicBezTo>
                <a:cubicBezTo>
                  <a:pt x="121295" y="130857"/>
                  <a:pt x="113481" y="136475"/>
                  <a:pt x="107268" y="139489"/>
                </a:cubicBezTo>
                <a:lnTo>
                  <a:pt x="107268" y="166688"/>
                </a:lnTo>
                <a:lnTo>
                  <a:pt x="131080" y="166688"/>
                </a:lnTo>
                <a:cubicBezTo>
                  <a:pt x="137666" y="166688"/>
                  <a:pt x="142987" y="172008"/>
                  <a:pt x="142987" y="178594"/>
                </a:cubicBezTo>
                <a:cubicBezTo>
                  <a:pt x="142987" y="185179"/>
                  <a:pt x="137666" y="190500"/>
                  <a:pt x="131080" y="190500"/>
                </a:cubicBezTo>
                <a:lnTo>
                  <a:pt x="59643" y="190500"/>
                </a:lnTo>
                <a:cubicBezTo>
                  <a:pt x="53057" y="190500"/>
                  <a:pt x="47737" y="185179"/>
                  <a:pt x="47737" y="178594"/>
                </a:cubicBezTo>
                <a:cubicBezTo>
                  <a:pt x="47737" y="172008"/>
                  <a:pt x="53057" y="166688"/>
                  <a:pt x="59643" y="166688"/>
                </a:cubicBezTo>
                <a:lnTo>
                  <a:pt x="83455" y="166688"/>
                </a:lnTo>
                <a:lnTo>
                  <a:pt x="83455" y="139489"/>
                </a:lnTo>
                <a:cubicBezTo>
                  <a:pt x="77502" y="136624"/>
                  <a:pt x="70098" y="131304"/>
                  <a:pt x="62880" y="121518"/>
                </a:cubicBezTo>
                <a:cubicBezTo>
                  <a:pt x="56034" y="119732"/>
                  <a:pt x="48592" y="117016"/>
                  <a:pt x="41337" y="112923"/>
                </a:cubicBezTo>
                <a:cubicBezTo>
                  <a:pt x="21208" y="101650"/>
                  <a:pt x="3051" y="80404"/>
                  <a:pt x="446" y="42267"/>
                </a:cubicBezTo>
                <a:cubicBezTo>
                  <a:pt x="-260" y="31812"/>
                  <a:pt x="8260" y="23775"/>
                  <a:pt x="17971" y="23775"/>
                </a:cubicBezTo>
                <a:lnTo>
                  <a:pt x="36426" y="23775"/>
                </a:lnTo>
                <a:cubicBezTo>
                  <a:pt x="36314" y="21841"/>
                  <a:pt x="36240" y="19906"/>
                  <a:pt x="36165" y="17897"/>
                </a:cubicBezTo>
                <a:cubicBezTo>
                  <a:pt x="35793" y="8037"/>
                  <a:pt x="43830" y="-37"/>
                  <a:pt x="53690" y="-37"/>
                </a:cubicBezTo>
                <a:close/>
                <a:moveTo>
                  <a:pt x="37765" y="41672"/>
                </a:moveTo>
                <a:lnTo>
                  <a:pt x="18269" y="41672"/>
                </a:lnTo>
                <a:cubicBezTo>
                  <a:pt x="20575" y="73186"/>
                  <a:pt x="35049" y="88962"/>
                  <a:pt x="49969" y="97334"/>
                </a:cubicBezTo>
                <a:cubicBezTo>
                  <a:pt x="44611" y="83455"/>
                  <a:pt x="40184" y="65336"/>
                  <a:pt x="37765" y="41672"/>
                </a:cubicBezTo>
                <a:close/>
                <a:moveTo>
                  <a:pt x="141387" y="95548"/>
                </a:moveTo>
                <a:cubicBezTo>
                  <a:pt x="156456" y="86692"/>
                  <a:pt x="170073" y="70954"/>
                  <a:pt x="172380" y="41672"/>
                </a:cubicBezTo>
                <a:lnTo>
                  <a:pt x="152921" y="41672"/>
                </a:lnTo>
                <a:cubicBezTo>
                  <a:pt x="150614" y="64331"/>
                  <a:pt x="146447" y="81930"/>
                  <a:pt x="141387" y="95548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1" name="Text 19"/>
          <p:cNvSpPr/>
          <p:nvPr/>
        </p:nvSpPr>
        <p:spPr>
          <a:xfrm>
            <a:off x="1257300" y="5067300"/>
            <a:ext cx="6115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Ventajas Competitivas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57300" y="5410200"/>
            <a:ext cx="6096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Las empresas que adoptan IA de manera temprana obtienen ventajas significativas en eficiencia, innovación y satisfacción del cliente.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810500" y="1790700"/>
            <a:ext cx="4000500" cy="2952750"/>
          </a:xfrm>
          <a:custGeom>
            <a:avLst/>
            <a:gdLst/>
            <a:ahLst/>
            <a:cxnLst/>
            <a:rect l="l" t="t" r="r" b="b"/>
            <a:pathLst>
              <a:path w="4000500" h="2952750">
                <a:moveTo>
                  <a:pt x="152391" y="0"/>
                </a:moveTo>
                <a:lnTo>
                  <a:pt x="3848109" y="0"/>
                </a:lnTo>
                <a:cubicBezTo>
                  <a:pt x="3932216" y="0"/>
                  <a:pt x="4000500" y="68284"/>
                  <a:pt x="4000500" y="152391"/>
                </a:cubicBezTo>
                <a:lnTo>
                  <a:pt x="4000500" y="2800359"/>
                </a:lnTo>
                <a:cubicBezTo>
                  <a:pt x="4000500" y="2884466"/>
                  <a:pt x="3932216" y="2952750"/>
                  <a:pt x="3848109" y="2952750"/>
                </a:cubicBezTo>
                <a:lnTo>
                  <a:pt x="152391" y="2952750"/>
                </a:lnTo>
                <a:cubicBezTo>
                  <a:pt x="68284" y="2952750"/>
                  <a:pt x="0" y="2884466"/>
                  <a:pt x="0" y="2800359"/>
                </a:cubicBezTo>
                <a:lnTo>
                  <a:pt x="0" y="152391"/>
                </a:lnTo>
                <a:cubicBezTo>
                  <a:pt x="0" y="68284"/>
                  <a:pt x="68284" y="0"/>
                  <a:pt x="152391" y="0"/>
                </a:cubicBezTo>
                <a:close/>
              </a:path>
            </a:pathLst>
          </a:custGeom>
          <a:gradFill rotWithShape="1" flip="none">
            <a:gsLst>
              <a:gs pos="0">
                <a:srgbClr val="1D1D1F"/>
              </a:gs>
              <a:gs pos="100000">
                <a:srgbClr val="86868B"/>
              </a:gs>
            </a:gsLst>
            <a:lin ang="2700000" scaled="1"/>
          </a:gradFill>
          <a:ln/>
        </p:spPr>
      </p:sp>
      <p:sp>
        <p:nvSpPr>
          <p:cNvPr id="24" name="Text 22"/>
          <p:cNvSpPr/>
          <p:nvPr/>
        </p:nvSpPr>
        <p:spPr>
          <a:xfrm>
            <a:off x="8115300" y="2095500"/>
            <a:ext cx="350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Impacto de la IA en Empresas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115300" y="2667000"/>
            <a:ext cx="1171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Adopción Global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072961" y="2628900"/>
            <a:ext cx="5429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73%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115300" y="3009900"/>
            <a:ext cx="3390900" cy="95250"/>
          </a:xfrm>
          <a:custGeom>
            <a:avLst/>
            <a:gdLst/>
            <a:ahLst/>
            <a:cxnLst/>
            <a:rect l="l" t="t" r="r" b="b"/>
            <a:pathLst>
              <a:path w="3390900" h="95250">
                <a:moveTo>
                  <a:pt x="47625" y="0"/>
                </a:moveTo>
                <a:lnTo>
                  <a:pt x="3343275" y="0"/>
                </a:lnTo>
                <a:cubicBezTo>
                  <a:pt x="3369560" y="0"/>
                  <a:pt x="3390900" y="21340"/>
                  <a:pt x="3390900" y="47625"/>
                </a:cubicBezTo>
                <a:lnTo>
                  <a:pt x="3390900" y="47625"/>
                </a:lnTo>
                <a:cubicBezTo>
                  <a:pt x="3390900" y="73910"/>
                  <a:pt x="3369560" y="95250"/>
                  <a:pt x="334327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8115300" y="3009900"/>
            <a:ext cx="2476500" cy="95250"/>
          </a:xfrm>
          <a:custGeom>
            <a:avLst/>
            <a:gdLst/>
            <a:ahLst/>
            <a:cxnLst/>
            <a:rect l="l" t="t" r="r" b="b"/>
            <a:pathLst>
              <a:path w="2476500" h="95250">
                <a:moveTo>
                  <a:pt x="47625" y="0"/>
                </a:moveTo>
                <a:lnTo>
                  <a:pt x="2428875" y="0"/>
                </a:lnTo>
                <a:cubicBezTo>
                  <a:pt x="2455160" y="0"/>
                  <a:pt x="2476500" y="21340"/>
                  <a:pt x="2476500" y="47625"/>
                </a:cubicBezTo>
                <a:lnTo>
                  <a:pt x="2476500" y="47625"/>
                </a:lnTo>
                <a:cubicBezTo>
                  <a:pt x="2476500" y="73910"/>
                  <a:pt x="2455160" y="95250"/>
                  <a:pt x="242887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9" name="Text 27"/>
          <p:cNvSpPr/>
          <p:nvPr/>
        </p:nvSpPr>
        <p:spPr>
          <a:xfrm>
            <a:off x="8115300" y="3333750"/>
            <a:ext cx="1695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Incremento en Eficiencia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044386" y="3295650"/>
            <a:ext cx="571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40%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115300" y="3676650"/>
            <a:ext cx="3390900" cy="95250"/>
          </a:xfrm>
          <a:custGeom>
            <a:avLst/>
            <a:gdLst/>
            <a:ahLst/>
            <a:cxnLst/>
            <a:rect l="l" t="t" r="r" b="b"/>
            <a:pathLst>
              <a:path w="3390900" h="95250">
                <a:moveTo>
                  <a:pt x="47625" y="0"/>
                </a:moveTo>
                <a:lnTo>
                  <a:pt x="3343275" y="0"/>
                </a:lnTo>
                <a:cubicBezTo>
                  <a:pt x="3369560" y="0"/>
                  <a:pt x="3390900" y="21340"/>
                  <a:pt x="3390900" y="47625"/>
                </a:cubicBezTo>
                <a:lnTo>
                  <a:pt x="3390900" y="47625"/>
                </a:lnTo>
                <a:cubicBezTo>
                  <a:pt x="3390900" y="73910"/>
                  <a:pt x="3369560" y="95250"/>
                  <a:pt x="334327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8115300" y="3676650"/>
            <a:ext cx="1352550" cy="95250"/>
          </a:xfrm>
          <a:custGeom>
            <a:avLst/>
            <a:gdLst/>
            <a:ahLst/>
            <a:cxnLst/>
            <a:rect l="l" t="t" r="r" b="b"/>
            <a:pathLst>
              <a:path w="1352550" h="95250">
                <a:moveTo>
                  <a:pt x="47625" y="0"/>
                </a:moveTo>
                <a:lnTo>
                  <a:pt x="1304925" y="0"/>
                </a:lnTo>
                <a:cubicBezTo>
                  <a:pt x="1331210" y="0"/>
                  <a:pt x="1352550" y="21340"/>
                  <a:pt x="1352550" y="47625"/>
                </a:cubicBezTo>
                <a:lnTo>
                  <a:pt x="1352550" y="47625"/>
                </a:lnTo>
                <a:cubicBezTo>
                  <a:pt x="1352550" y="73910"/>
                  <a:pt x="1331210" y="95250"/>
                  <a:pt x="130492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3" name="Text 31"/>
          <p:cNvSpPr/>
          <p:nvPr/>
        </p:nvSpPr>
        <p:spPr>
          <a:xfrm>
            <a:off x="8115300" y="4000500"/>
            <a:ext cx="1466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Reducción de Costos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060311" y="3962400"/>
            <a:ext cx="5619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25%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115300" y="4343400"/>
            <a:ext cx="3390900" cy="95250"/>
          </a:xfrm>
          <a:custGeom>
            <a:avLst/>
            <a:gdLst/>
            <a:ahLst/>
            <a:cxnLst/>
            <a:rect l="l" t="t" r="r" b="b"/>
            <a:pathLst>
              <a:path w="3390900" h="95250">
                <a:moveTo>
                  <a:pt x="47625" y="0"/>
                </a:moveTo>
                <a:lnTo>
                  <a:pt x="3343275" y="0"/>
                </a:lnTo>
                <a:cubicBezTo>
                  <a:pt x="3369560" y="0"/>
                  <a:pt x="3390900" y="21340"/>
                  <a:pt x="3390900" y="47625"/>
                </a:cubicBezTo>
                <a:lnTo>
                  <a:pt x="3390900" y="47625"/>
                </a:lnTo>
                <a:cubicBezTo>
                  <a:pt x="3390900" y="73910"/>
                  <a:pt x="3369560" y="95250"/>
                  <a:pt x="334327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8115300" y="4343400"/>
            <a:ext cx="847725" cy="95250"/>
          </a:xfrm>
          <a:custGeom>
            <a:avLst/>
            <a:gdLst/>
            <a:ahLst/>
            <a:cxnLst/>
            <a:rect l="l" t="t" r="r" b="b"/>
            <a:pathLst>
              <a:path w="847725" h="95250">
                <a:moveTo>
                  <a:pt x="47625" y="0"/>
                </a:moveTo>
                <a:lnTo>
                  <a:pt x="800100" y="0"/>
                </a:lnTo>
                <a:cubicBezTo>
                  <a:pt x="826385" y="0"/>
                  <a:pt x="847725" y="21340"/>
                  <a:pt x="847725" y="47625"/>
                </a:cubicBezTo>
                <a:lnTo>
                  <a:pt x="847725" y="47625"/>
                </a:lnTo>
                <a:cubicBezTo>
                  <a:pt x="847725" y="73910"/>
                  <a:pt x="826385" y="95250"/>
                  <a:pt x="800100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7" name="Shape 35"/>
          <p:cNvSpPr/>
          <p:nvPr/>
        </p:nvSpPr>
        <p:spPr>
          <a:xfrm>
            <a:off x="7810500" y="4972050"/>
            <a:ext cx="4000500" cy="1514475"/>
          </a:xfrm>
          <a:custGeom>
            <a:avLst/>
            <a:gdLst/>
            <a:ahLst/>
            <a:cxnLst/>
            <a:rect l="l" t="t" r="r" b="b"/>
            <a:pathLst>
              <a:path w="4000500" h="1514475">
                <a:moveTo>
                  <a:pt x="152402" y="0"/>
                </a:moveTo>
                <a:lnTo>
                  <a:pt x="3848098" y="0"/>
                </a:lnTo>
                <a:cubicBezTo>
                  <a:pt x="3932267" y="0"/>
                  <a:pt x="4000500" y="68233"/>
                  <a:pt x="4000500" y="152402"/>
                </a:cubicBezTo>
                <a:lnTo>
                  <a:pt x="4000500" y="1362073"/>
                </a:lnTo>
                <a:cubicBezTo>
                  <a:pt x="4000500" y="1446242"/>
                  <a:pt x="3932267" y="1514475"/>
                  <a:pt x="3848098" y="1514475"/>
                </a:cubicBezTo>
                <a:lnTo>
                  <a:pt x="152402" y="1514475"/>
                </a:lnTo>
                <a:cubicBezTo>
                  <a:pt x="68233" y="1514475"/>
                  <a:pt x="0" y="1446242"/>
                  <a:pt x="0" y="1362073"/>
                </a:cubicBezTo>
                <a:lnTo>
                  <a:pt x="0" y="152402"/>
                </a:lnTo>
                <a:cubicBezTo>
                  <a:pt x="0" y="68233"/>
                  <a:pt x="68233" y="0"/>
                  <a:pt x="15240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9682163" y="5200650"/>
            <a:ext cx="257175" cy="342900"/>
          </a:xfrm>
          <a:custGeom>
            <a:avLst/>
            <a:gdLst/>
            <a:ahLst/>
            <a:cxnLst/>
            <a:rect l="l" t="t" r="r" b="b"/>
            <a:pathLst>
              <a:path w="257175" h="342900">
                <a:moveTo>
                  <a:pt x="196163" y="257175"/>
                </a:moveTo>
                <a:cubicBezTo>
                  <a:pt x="201052" y="242240"/>
                  <a:pt x="210830" y="228712"/>
                  <a:pt x="221880" y="217058"/>
                </a:cubicBezTo>
                <a:cubicBezTo>
                  <a:pt x="243780" y="194020"/>
                  <a:pt x="257175" y="162878"/>
                  <a:pt x="257175" y="128588"/>
                </a:cubicBezTo>
                <a:cubicBezTo>
                  <a:pt x="257175" y="57596"/>
                  <a:pt x="199579" y="0"/>
                  <a:pt x="128587" y="0"/>
                </a:cubicBezTo>
                <a:cubicBezTo>
                  <a:pt x="57596" y="0"/>
                  <a:pt x="0" y="57596"/>
                  <a:pt x="0" y="128588"/>
                </a:cubicBezTo>
                <a:cubicBezTo>
                  <a:pt x="0" y="162878"/>
                  <a:pt x="13395" y="194020"/>
                  <a:pt x="35295" y="217058"/>
                </a:cubicBezTo>
                <a:cubicBezTo>
                  <a:pt x="46345" y="228712"/>
                  <a:pt x="56190" y="242240"/>
                  <a:pt x="61012" y="257175"/>
                </a:cubicBezTo>
                <a:lnTo>
                  <a:pt x="196096" y="257175"/>
                </a:lnTo>
                <a:close/>
                <a:moveTo>
                  <a:pt x="192881" y="289322"/>
                </a:moveTo>
                <a:lnTo>
                  <a:pt x="64294" y="289322"/>
                </a:lnTo>
                <a:lnTo>
                  <a:pt x="64294" y="300038"/>
                </a:lnTo>
                <a:cubicBezTo>
                  <a:pt x="64294" y="329639"/>
                  <a:pt x="88270" y="353616"/>
                  <a:pt x="117872" y="353616"/>
                </a:cubicBezTo>
                <a:lnTo>
                  <a:pt x="139303" y="353616"/>
                </a:lnTo>
                <a:cubicBezTo>
                  <a:pt x="168905" y="353616"/>
                  <a:pt x="192881" y="329639"/>
                  <a:pt x="192881" y="300038"/>
                </a:cubicBezTo>
                <a:lnTo>
                  <a:pt x="192881" y="289322"/>
                </a:lnTo>
                <a:close/>
                <a:moveTo>
                  <a:pt x="123230" y="75009"/>
                </a:moveTo>
                <a:cubicBezTo>
                  <a:pt x="96575" y="75009"/>
                  <a:pt x="75009" y="96575"/>
                  <a:pt x="75009" y="123230"/>
                </a:cubicBezTo>
                <a:cubicBezTo>
                  <a:pt x="75009" y="132137"/>
                  <a:pt x="67843" y="139303"/>
                  <a:pt x="58936" y="139303"/>
                </a:cubicBezTo>
                <a:cubicBezTo>
                  <a:pt x="50029" y="139303"/>
                  <a:pt x="42863" y="132137"/>
                  <a:pt x="42863" y="123230"/>
                </a:cubicBezTo>
                <a:cubicBezTo>
                  <a:pt x="42863" y="78827"/>
                  <a:pt x="78827" y="42863"/>
                  <a:pt x="123230" y="42863"/>
                </a:cubicBezTo>
                <a:cubicBezTo>
                  <a:pt x="132137" y="42863"/>
                  <a:pt x="139303" y="50029"/>
                  <a:pt x="139303" y="58936"/>
                </a:cubicBezTo>
                <a:cubicBezTo>
                  <a:pt x="139303" y="67843"/>
                  <a:pt x="132137" y="75009"/>
                  <a:pt x="123230" y="75009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9" name="Text 37"/>
          <p:cNvSpPr/>
          <p:nvPr/>
        </p:nvSpPr>
        <p:spPr>
          <a:xfrm>
            <a:off x="7996237" y="5695950"/>
            <a:ext cx="36290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50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"La IA no reemplaza a los humanos, sino que amplifica su capacidad para crear valor"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datocms-assets.com/df743d86825ef34a738fc48e375dcc20d6796b76.webp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10552" b="10552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D1D1F">
                  <a:alpha val="90000"/>
                </a:srgbClr>
              </a:gs>
              <a:gs pos="50000">
                <a:srgbClr val="1D1D1F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323975"/>
            <a:ext cx="1495425" cy="419100"/>
          </a:xfrm>
          <a:custGeom>
            <a:avLst/>
            <a:gdLst/>
            <a:ahLst/>
            <a:cxnLst/>
            <a:rect l="l" t="t" r="r" b="b"/>
            <a:pathLst>
              <a:path w="1495425" h="419100">
                <a:moveTo>
                  <a:pt x="209550" y="0"/>
                </a:moveTo>
                <a:lnTo>
                  <a:pt x="1285875" y="0"/>
                </a:lnTo>
                <a:cubicBezTo>
                  <a:pt x="1401529" y="0"/>
                  <a:pt x="1495425" y="93896"/>
                  <a:pt x="1495425" y="209550"/>
                </a:cubicBezTo>
                <a:lnTo>
                  <a:pt x="1495425" y="209550"/>
                </a:lnTo>
                <a:cubicBezTo>
                  <a:pt x="1495425" y="325204"/>
                  <a:pt x="1401529" y="419100"/>
                  <a:pt x="1285875" y="419100"/>
                </a:cubicBezTo>
                <a:lnTo>
                  <a:pt x="209550" y="419100"/>
                </a:lnTo>
                <a:cubicBezTo>
                  <a:pt x="93896" y="419100"/>
                  <a:pt x="0" y="325204"/>
                  <a:pt x="0" y="209550"/>
                </a:cubicBezTo>
                <a:lnTo>
                  <a:pt x="0" y="209550"/>
                </a:lnTo>
                <a:cubicBezTo>
                  <a:pt x="0" y="93896"/>
                  <a:pt x="93896" y="0"/>
                  <a:pt x="20955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5" name="Text 2"/>
          <p:cNvSpPr/>
          <p:nvPr/>
        </p:nvSpPr>
        <p:spPr>
          <a:xfrm>
            <a:off x="609600" y="1409700"/>
            <a:ext cx="112365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spc="68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Sección 01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047875"/>
            <a:ext cx="62103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5F5F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Machine Learning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 Empresas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067175"/>
            <a:ext cx="59817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5F5F7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Sistemas que aprenden de los datos y realizan predicciones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5F5F7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 programación explícita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16719" y="530542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9" name="Text 6"/>
          <p:cNvSpPr/>
          <p:nvPr/>
        </p:nvSpPr>
        <p:spPr>
          <a:xfrm>
            <a:off x="733425" y="5267325"/>
            <a:ext cx="1857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5F5F7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Aprendizaje Automático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761655" y="53054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18492" y="11906"/>
                  <a:pt x="23812" y="17227"/>
                  <a:pt x="23812" y="23812"/>
                </a:cubicBez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178594" y="154781"/>
                </a:lnTo>
                <a:cubicBezTo>
                  <a:pt x="185179" y="154781"/>
                  <a:pt x="190500" y="160102"/>
                  <a:pt x="190500" y="166688"/>
                </a:cubicBezTo>
                <a:cubicBezTo>
                  <a:pt x="190500" y="173273"/>
                  <a:pt x="185179" y="178594"/>
                  <a:pt x="178594" y="178594"/>
                </a:cubicBezTo>
                <a:lnTo>
                  <a:pt x="29766" y="178594"/>
                </a:lnTo>
                <a:cubicBezTo>
                  <a:pt x="13320" y="178594"/>
                  <a:pt x="0" y="165274"/>
                  <a:pt x="0" y="148828"/>
                </a:cubicBezTo>
                <a:lnTo>
                  <a:pt x="0" y="23812"/>
                </a:lnTo>
                <a:cubicBezTo>
                  <a:pt x="0" y="17227"/>
                  <a:pt x="5321" y="11906"/>
                  <a:pt x="11906" y="11906"/>
                </a:cubicBezTo>
                <a:close/>
                <a:moveTo>
                  <a:pt x="47625" y="35719"/>
                </a:moveTo>
                <a:cubicBezTo>
                  <a:pt x="47625" y="29133"/>
                  <a:pt x="52946" y="23812"/>
                  <a:pt x="59531" y="23812"/>
                </a:cubicBezTo>
                <a:lnTo>
                  <a:pt x="130969" y="23812"/>
                </a:lnTo>
                <a:cubicBezTo>
                  <a:pt x="137554" y="23812"/>
                  <a:pt x="142875" y="29133"/>
                  <a:pt x="142875" y="35719"/>
                </a:cubicBezTo>
                <a:cubicBezTo>
                  <a:pt x="142875" y="42304"/>
                  <a:pt x="137554" y="47625"/>
                  <a:pt x="130969" y="47625"/>
                </a:cubicBezTo>
                <a:lnTo>
                  <a:pt x="59531" y="47625"/>
                </a:lnTo>
                <a:cubicBezTo>
                  <a:pt x="52946" y="47625"/>
                  <a:pt x="47625" y="42304"/>
                  <a:pt x="47625" y="35719"/>
                </a:cubicBezTo>
                <a:close/>
                <a:moveTo>
                  <a:pt x="59531" y="65484"/>
                </a:moveTo>
                <a:lnTo>
                  <a:pt x="107156" y="65484"/>
                </a:lnTo>
                <a:cubicBezTo>
                  <a:pt x="113742" y="65484"/>
                  <a:pt x="119063" y="70805"/>
                  <a:pt x="119063" y="77391"/>
                </a:cubicBezTo>
                <a:cubicBezTo>
                  <a:pt x="119063" y="83976"/>
                  <a:pt x="113742" y="89297"/>
                  <a:pt x="107156" y="89297"/>
                </a:cubicBezTo>
                <a:lnTo>
                  <a:pt x="59531" y="89297"/>
                </a:lnTo>
                <a:cubicBezTo>
                  <a:pt x="52946" y="89297"/>
                  <a:pt x="47625" y="83976"/>
                  <a:pt x="47625" y="77391"/>
                </a:cubicBezTo>
                <a:cubicBezTo>
                  <a:pt x="47625" y="70805"/>
                  <a:pt x="52946" y="65484"/>
                  <a:pt x="59531" y="65484"/>
                </a:cubicBezTo>
                <a:close/>
                <a:moveTo>
                  <a:pt x="59531" y="107156"/>
                </a:moveTo>
                <a:lnTo>
                  <a:pt x="154781" y="107156"/>
                </a:lnTo>
                <a:cubicBezTo>
                  <a:pt x="161367" y="107156"/>
                  <a:pt x="166688" y="112477"/>
                  <a:pt x="166688" y="119063"/>
                </a:cubicBezTo>
                <a:cubicBezTo>
                  <a:pt x="166688" y="125648"/>
                  <a:pt x="161367" y="130969"/>
                  <a:pt x="154781" y="130969"/>
                </a:cubicBezTo>
                <a:lnTo>
                  <a:pt x="59531" y="130969"/>
                </a:lnTo>
                <a:cubicBezTo>
                  <a:pt x="52946" y="130969"/>
                  <a:pt x="47625" y="125648"/>
                  <a:pt x="47625" y="119063"/>
                </a:cubicBezTo>
                <a:cubicBezTo>
                  <a:pt x="47625" y="112477"/>
                  <a:pt x="52946" y="107156"/>
                  <a:pt x="59531" y="107156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1" name="Text 8"/>
          <p:cNvSpPr/>
          <p:nvPr/>
        </p:nvSpPr>
        <p:spPr>
          <a:xfrm>
            <a:off x="3090267" y="5267325"/>
            <a:ext cx="142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5F5F7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Análisis Predictivo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660850" y="530542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3" name="Text 10"/>
          <p:cNvSpPr/>
          <p:nvPr/>
        </p:nvSpPr>
        <p:spPr>
          <a:xfrm>
            <a:off x="5013275" y="5267325"/>
            <a:ext cx="123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5F5F7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Automatización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Análisis de Datos y Predicción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049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Transformando datos históricos en insights predictivos accionables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600200"/>
            <a:ext cx="3657600" cy="3733800"/>
          </a:xfrm>
          <a:custGeom>
            <a:avLst/>
            <a:gdLst/>
            <a:ahLst/>
            <a:cxnLst/>
            <a:rect l="l" t="t" r="r" b="b"/>
            <a:pathLst>
              <a:path w="3657600" h="3733800">
                <a:moveTo>
                  <a:pt x="152412" y="0"/>
                </a:moveTo>
                <a:lnTo>
                  <a:pt x="3505188" y="0"/>
                </a:lnTo>
                <a:cubicBezTo>
                  <a:pt x="3589363" y="0"/>
                  <a:pt x="3657600" y="68237"/>
                  <a:pt x="3657600" y="152412"/>
                </a:cubicBezTo>
                <a:lnTo>
                  <a:pt x="3657600" y="3581388"/>
                </a:lnTo>
                <a:cubicBezTo>
                  <a:pt x="3657600" y="3665563"/>
                  <a:pt x="3589363" y="3733800"/>
                  <a:pt x="3505188" y="3733800"/>
                </a:cubicBezTo>
                <a:lnTo>
                  <a:pt x="152412" y="3733800"/>
                </a:lnTo>
                <a:cubicBezTo>
                  <a:pt x="68237" y="3733800"/>
                  <a:pt x="0" y="3665563"/>
                  <a:pt x="0" y="3581388"/>
                </a:cubicBezTo>
                <a:lnTo>
                  <a:pt x="0" y="152412"/>
                </a:lnTo>
                <a:cubicBezTo>
                  <a:pt x="0" y="68294"/>
                  <a:pt x="68294" y="0"/>
                  <a:pt x="15241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09600" y="18288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0071E3"/>
              </a:gs>
              <a:gs pos="100000">
                <a:srgbClr val="0071E3">
                  <a:alpha val="60000"/>
                </a:srgbClr>
              </a:gs>
            </a:gsLst>
            <a:lin ang="2700000" scaled="1"/>
          </a:gradFill>
          <a:ln/>
        </p:spPr>
      </p:sp>
      <p:sp>
        <p:nvSpPr>
          <p:cNvPr id="7" name="Shape 5"/>
          <p:cNvSpPr/>
          <p:nvPr/>
        </p:nvSpPr>
        <p:spPr>
          <a:xfrm>
            <a:off x="762000" y="1981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09600" y="2552700"/>
            <a:ext cx="3295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Predicción de Demanda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600" y="2933700"/>
            <a:ext cx="3276600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Modelos de regresión analizan patrones históricos de ventas, estacionalidad y tendencias del mercado para estimar con precisión la demanda futura de productos.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9600" y="4381500"/>
            <a:ext cx="3200400" cy="723900"/>
          </a:xfrm>
          <a:custGeom>
            <a:avLst/>
            <a:gdLst/>
            <a:ahLst/>
            <a:cxnLst/>
            <a:rect l="l" t="t" r="r" b="b"/>
            <a:pathLst>
              <a:path w="3200400" h="723900">
                <a:moveTo>
                  <a:pt x="114297" y="0"/>
                </a:moveTo>
                <a:lnTo>
                  <a:pt x="3086103" y="0"/>
                </a:lnTo>
                <a:cubicBezTo>
                  <a:pt x="3149228" y="0"/>
                  <a:pt x="3200400" y="51172"/>
                  <a:pt x="3200400" y="114297"/>
                </a:cubicBezTo>
                <a:lnTo>
                  <a:pt x="3200400" y="609603"/>
                </a:lnTo>
                <a:cubicBezTo>
                  <a:pt x="3200400" y="672728"/>
                  <a:pt x="3149228" y="723900"/>
                  <a:pt x="3086103" y="723900"/>
                </a:cubicBezTo>
                <a:lnTo>
                  <a:pt x="114297" y="723900"/>
                </a:lnTo>
                <a:cubicBezTo>
                  <a:pt x="51172" y="723900"/>
                  <a:pt x="0" y="672728"/>
                  <a:pt x="0" y="6096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4572000"/>
            <a:ext cx="590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Precisión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19463" y="4533900"/>
            <a:ext cx="428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92%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4876800"/>
            <a:ext cx="2895600" cy="76200"/>
          </a:xfrm>
          <a:custGeom>
            <a:avLst/>
            <a:gdLst/>
            <a:ahLst/>
            <a:cxnLst/>
            <a:rect l="l" t="t" r="r" b="b"/>
            <a:pathLst>
              <a:path w="2895600" h="76200">
                <a:moveTo>
                  <a:pt x="38100" y="0"/>
                </a:moveTo>
                <a:lnTo>
                  <a:pt x="2857500" y="0"/>
                </a:lnTo>
                <a:cubicBezTo>
                  <a:pt x="2878528" y="0"/>
                  <a:pt x="2895600" y="17072"/>
                  <a:pt x="2895600" y="38100"/>
                </a:cubicBezTo>
                <a:lnTo>
                  <a:pt x="2895600" y="38100"/>
                </a:lnTo>
                <a:cubicBezTo>
                  <a:pt x="2895600" y="59128"/>
                  <a:pt x="2878528" y="76200"/>
                  <a:pt x="28575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6868B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62000" y="4876800"/>
            <a:ext cx="2667000" cy="76200"/>
          </a:xfrm>
          <a:custGeom>
            <a:avLst/>
            <a:gdLst/>
            <a:ahLst/>
            <a:cxnLst/>
            <a:rect l="l" t="t" r="r" b="b"/>
            <a:pathLst>
              <a:path w="2667000" h="76200">
                <a:moveTo>
                  <a:pt x="38100" y="0"/>
                </a:moveTo>
                <a:lnTo>
                  <a:pt x="2628900" y="0"/>
                </a:lnTo>
                <a:cubicBezTo>
                  <a:pt x="2649928" y="0"/>
                  <a:pt x="2667000" y="17072"/>
                  <a:pt x="2667000" y="38100"/>
                </a:cubicBezTo>
                <a:lnTo>
                  <a:pt x="2667000" y="38100"/>
                </a:lnTo>
                <a:cubicBezTo>
                  <a:pt x="2667000" y="59128"/>
                  <a:pt x="2649928" y="76200"/>
                  <a:pt x="26289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5" name="Shape 13"/>
          <p:cNvSpPr/>
          <p:nvPr/>
        </p:nvSpPr>
        <p:spPr>
          <a:xfrm>
            <a:off x="4267200" y="1600200"/>
            <a:ext cx="3657600" cy="3733800"/>
          </a:xfrm>
          <a:custGeom>
            <a:avLst/>
            <a:gdLst/>
            <a:ahLst/>
            <a:cxnLst/>
            <a:rect l="l" t="t" r="r" b="b"/>
            <a:pathLst>
              <a:path w="3657600" h="3733800">
                <a:moveTo>
                  <a:pt x="152412" y="0"/>
                </a:moveTo>
                <a:lnTo>
                  <a:pt x="3505188" y="0"/>
                </a:lnTo>
                <a:cubicBezTo>
                  <a:pt x="3589363" y="0"/>
                  <a:pt x="3657600" y="68237"/>
                  <a:pt x="3657600" y="152412"/>
                </a:cubicBezTo>
                <a:lnTo>
                  <a:pt x="3657600" y="3581388"/>
                </a:lnTo>
                <a:cubicBezTo>
                  <a:pt x="3657600" y="3665563"/>
                  <a:pt x="3589363" y="3733800"/>
                  <a:pt x="3505188" y="3733800"/>
                </a:cubicBezTo>
                <a:lnTo>
                  <a:pt x="152412" y="3733800"/>
                </a:lnTo>
                <a:cubicBezTo>
                  <a:pt x="68237" y="3733800"/>
                  <a:pt x="0" y="3665563"/>
                  <a:pt x="0" y="3581388"/>
                </a:cubicBezTo>
                <a:lnTo>
                  <a:pt x="0" y="152412"/>
                </a:lnTo>
                <a:cubicBezTo>
                  <a:pt x="0" y="68294"/>
                  <a:pt x="68294" y="0"/>
                  <a:pt x="15241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95800" y="18288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0071E3"/>
              </a:gs>
              <a:gs pos="100000">
                <a:srgbClr val="0071E3">
                  <a:alpha val="60000"/>
                </a:srgbClr>
              </a:gs>
            </a:gsLst>
            <a:lin ang="2700000" scaled="1"/>
          </a:gradFill>
          <a:ln/>
        </p:spPr>
      </p:sp>
      <p:sp>
        <p:nvSpPr>
          <p:cNvPr id="17" name="Shape 15"/>
          <p:cNvSpPr/>
          <p:nvPr/>
        </p:nvSpPr>
        <p:spPr>
          <a:xfrm>
            <a:off x="4648200" y="1981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42863"/>
                </a:moveTo>
                <a:lnTo>
                  <a:pt x="57150" y="35719"/>
                </a:lnTo>
                <a:cubicBezTo>
                  <a:pt x="57150" y="15984"/>
                  <a:pt x="95548" y="0"/>
                  <a:pt x="142875" y="0"/>
                </a:cubicBezTo>
                <a:cubicBezTo>
                  <a:pt x="190202" y="0"/>
                  <a:pt x="228600" y="15984"/>
                  <a:pt x="228600" y="35719"/>
                </a:cubicBezTo>
                <a:lnTo>
                  <a:pt x="228600" y="42863"/>
                </a:lnTo>
                <a:cubicBezTo>
                  <a:pt x="228600" y="56525"/>
                  <a:pt x="210160" y="68401"/>
                  <a:pt x="183059" y="74429"/>
                </a:cubicBezTo>
                <a:cubicBezTo>
                  <a:pt x="181987" y="73179"/>
                  <a:pt x="180871" y="71973"/>
                  <a:pt x="179755" y="70857"/>
                </a:cubicBezTo>
                <a:cubicBezTo>
                  <a:pt x="172834" y="64026"/>
                  <a:pt x="163904" y="58847"/>
                  <a:pt x="154573" y="55007"/>
                </a:cubicBezTo>
                <a:cubicBezTo>
                  <a:pt x="135865" y="47193"/>
                  <a:pt x="111487" y="42907"/>
                  <a:pt x="85725" y="42907"/>
                </a:cubicBezTo>
                <a:cubicBezTo>
                  <a:pt x="75947" y="42907"/>
                  <a:pt x="66392" y="43532"/>
                  <a:pt x="57239" y="44738"/>
                </a:cubicBezTo>
                <a:cubicBezTo>
                  <a:pt x="57150" y="44157"/>
                  <a:pt x="57150" y="43532"/>
                  <a:pt x="57150" y="42907"/>
                </a:cubicBezTo>
                <a:close/>
                <a:moveTo>
                  <a:pt x="192881" y="157609"/>
                </a:moveTo>
                <a:lnTo>
                  <a:pt x="192881" y="136981"/>
                </a:lnTo>
                <a:cubicBezTo>
                  <a:pt x="199623" y="135240"/>
                  <a:pt x="205963" y="133186"/>
                  <a:pt x="211723" y="130775"/>
                </a:cubicBezTo>
                <a:cubicBezTo>
                  <a:pt x="217616" y="128320"/>
                  <a:pt x="223376" y="125328"/>
                  <a:pt x="228600" y="121712"/>
                </a:cubicBezTo>
                <a:lnTo>
                  <a:pt x="228600" y="128588"/>
                </a:lnTo>
                <a:cubicBezTo>
                  <a:pt x="228600" y="140553"/>
                  <a:pt x="214536" y="151135"/>
                  <a:pt x="192881" y="157609"/>
                </a:cubicBezTo>
                <a:close/>
                <a:moveTo>
                  <a:pt x="192881" y="114746"/>
                </a:moveTo>
                <a:lnTo>
                  <a:pt x="192881" y="100013"/>
                </a:lnTo>
                <a:cubicBezTo>
                  <a:pt x="192881" y="98003"/>
                  <a:pt x="192703" y="96083"/>
                  <a:pt x="192435" y="94208"/>
                </a:cubicBezTo>
                <a:cubicBezTo>
                  <a:pt x="199355" y="92467"/>
                  <a:pt x="205829" y="90368"/>
                  <a:pt x="211723" y="87868"/>
                </a:cubicBezTo>
                <a:cubicBezTo>
                  <a:pt x="217616" y="85368"/>
                  <a:pt x="223376" y="82421"/>
                  <a:pt x="228600" y="78804"/>
                </a:cubicBezTo>
                <a:lnTo>
                  <a:pt x="228600" y="85680"/>
                </a:lnTo>
                <a:cubicBezTo>
                  <a:pt x="228600" y="97646"/>
                  <a:pt x="214536" y="108228"/>
                  <a:pt x="192881" y="114702"/>
                </a:cubicBezTo>
                <a:close/>
                <a:moveTo>
                  <a:pt x="0" y="107156"/>
                </a:moveTo>
                <a:lnTo>
                  <a:pt x="0" y="100013"/>
                </a:lnTo>
                <a:cubicBezTo>
                  <a:pt x="0" y="80278"/>
                  <a:pt x="38398" y="64294"/>
                  <a:pt x="85725" y="64294"/>
                </a:cubicBezTo>
                <a:cubicBezTo>
                  <a:pt x="133052" y="64294"/>
                  <a:pt x="171450" y="80278"/>
                  <a:pt x="171450" y="100013"/>
                </a:cubicBezTo>
                <a:lnTo>
                  <a:pt x="171450" y="107156"/>
                </a:lnTo>
                <a:cubicBezTo>
                  <a:pt x="171450" y="126891"/>
                  <a:pt x="133052" y="142875"/>
                  <a:pt x="85725" y="142875"/>
                </a:cubicBezTo>
                <a:cubicBezTo>
                  <a:pt x="38398" y="142875"/>
                  <a:pt x="0" y="126891"/>
                  <a:pt x="0" y="107156"/>
                </a:cubicBezTo>
                <a:close/>
                <a:moveTo>
                  <a:pt x="171450" y="150019"/>
                </a:moveTo>
                <a:cubicBezTo>
                  <a:pt x="171450" y="169753"/>
                  <a:pt x="133052" y="185738"/>
                  <a:pt x="85725" y="185738"/>
                </a:cubicBezTo>
                <a:cubicBezTo>
                  <a:pt x="38398" y="185738"/>
                  <a:pt x="0" y="169753"/>
                  <a:pt x="0" y="150019"/>
                </a:cubicBezTo>
                <a:lnTo>
                  <a:pt x="0" y="143143"/>
                </a:lnTo>
                <a:cubicBezTo>
                  <a:pt x="5179" y="146759"/>
                  <a:pt x="10939" y="149706"/>
                  <a:pt x="16877" y="152207"/>
                </a:cubicBezTo>
                <a:cubicBezTo>
                  <a:pt x="35585" y="160020"/>
                  <a:pt x="59963" y="164306"/>
                  <a:pt x="85725" y="164306"/>
                </a:cubicBezTo>
                <a:cubicBezTo>
                  <a:pt x="111487" y="164306"/>
                  <a:pt x="135865" y="159975"/>
                  <a:pt x="154573" y="152207"/>
                </a:cubicBezTo>
                <a:cubicBezTo>
                  <a:pt x="160466" y="149751"/>
                  <a:pt x="166226" y="146759"/>
                  <a:pt x="171450" y="143143"/>
                </a:cubicBezTo>
                <a:lnTo>
                  <a:pt x="171450" y="150019"/>
                </a:lnTo>
                <a:close/>
                <a:moveTo>
                  <a:pt x="171450" y="186005"/>
                </a:moveTo>
                <a:lnTo>
                  <a:pt x="171450" y="192881"/>
                </a:lnTo>
                <a:cubicBezTo>
                  <a:pt x="171450" y="212616"/>
                  <a:pt x="133052" y="228600"/>
                  <a:pt x="85725" y="228600"/>
                </a:cubicBezTo>
                <a:cubicBezTo>
                  <a:pt x="38398" y="228600"/>
                  <a:pt x="0" y="212616"/>
                  <a:pt x="0" y="192881"/>
                </a:cubicBezTo>
                <a:lnTo>
                  <a:pt x="0" y="186005"/>
                </a:lnTo>
                <a:cubicBezTo>
                  <a:pt x="5179" y="189622"/>
                  <a:pt x="10939" y="192569"/>
                  <a:pt x="16877" y="195069"/>
                </a:cubicBezTo>
                <a:cubicBezTo>
                  <a:pt x="35585" y="202883"/>
                  <a:pt x="59963" y="207169"/>
                  <a:pt x="85725" y="207169"/>
                </a:cubicBezTo>
                <a:cubicBezTo>
                  <a:pt x="111487" y="207169"/>
                  <a:pt x="135865" y="202838"/>
                  <a:pt x="154573" y="195069"/>
                </a:cubicBezTo>
                <a:cubicBezTo>
                  <a:pt x="160466" y="192613"/>
                  <a:pt x="166226" y="189622"/>
                  <a:pt x="171450" y="18600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495800" y="2552700"/>
            <a:ext cx="3295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Análisis Financiero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95800" y="2933700"/>
            <a:ext cx="3276600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Detección de patrones complejos en mercados financieros para optimizar carteras de inversión, identificar oportunidades y gestionar riesgos de manera proactiva.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495800" y="4381500"/>
            <a:ext cx="3200400" cy="723900"/>
          </a:xfrm>
          <a:custGeom>
            <a:avLst/>
            <a:gdLst/>
            <a:ahLst/>
            <a:cxnLst/>
            <a:rect l="l" t="t" r="r" b="b"/>
            <a:pathLst>
              <a:path w="3200400" h="723900">
                <a:moveTo>
                  <a:pt x="114297" y="0"/>
                </a:moveTo>
                <a:lnTo>
                  <a:pt x="3086103" y="0"/>
                </a:lnTo>
                <a:cubicBezTo>
                  <a:pt x="3149228" y="0"/>
                  <a:pt x="3200400" y="51172"/>
                  <a:pt x="3200400" y="114297"/>
                </a:cubicBezTo>
                <a:lnTo>
                  <a:pt x="3200400" y="609603"/>
                </a:lnTo>
                <a:cubicBezTo>
                  <a:pt x="3200400" y="672728"/>
                  <a:pt x="3149228" y="723900"/>
                  <a:pt x="3086103" y="723900"/>
                </a:cubicBezTo>
                <a:lnTo>
                  <a:pt x="114297" y="723900"/>
                </a:lnTo>
                <a:cubicBezTo>
                  <a:pt x="51172" y="723900"/>
                  <a:pt x="0" y="672728"/>
                  <a:pt x="0" y="6096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21" name="Text 19"/>
          <p:cNvSpPr/>
          <p:nvPr/>
        </p:nvSpPr>
        <p:spPr>
          <a:xfrm>
            <a:off x="4648200" y="4572000"/>
            <a:ext cx="87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ROI Promedio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38988" y="4533900"/>
            <a:ext cx="495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+18%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648200" y="4876800"/>
            <a:ext cx="2895600" cy="76200"/>
          </a:xfrm>
          <a:custGeom>
            <a:avLst/>
            <a:gdLst/>
            <a:ahLst/>
            <a:cxnLst/>
            <a:rect l="l" t="t" r="r" b="b"/>
            <a:pathLst>
              <a:path w="2895600" h="76200">
                <a:moveTo>
                  <a:pt x="38100" y="0"/>
                </a:moveTo>
                <a:lnTo>
                  <a:pt x="2857500" y="0"/>
                </a:lnTo>
                <a:cubicBezTo>
                  <a:pt x="2878528" y="0"/>
                  <a:pt x="2895600" y="17072"/>
                  <a:pt x="2895600" y="38100"/>
                </a:cubicBezTo>
                <a:lnTo>
                  <a:pt x="2895600" y="38100"/>
                </a:lnTo>
                <a:cubicBezTo>
                  <a:pt x="2895600" y="59128"/>
                  <a:pt x="2878528" y="76200"/>
                  <a:pt x="28575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6868B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648200" y="4876800"/>
            <a:ext cx="2171700" cy="76200"/>
          </a:xfrm>
          <a:custGeom>
            <a:avLst/>
            <a:gdLst/>
            <a:ahLst/>
            <a:cxnLst/>
            <a:rect l="l" t="t" r="r" b="b"/>
            <a:pathLst>
              <a:path w="2171700" h="76200">
                <a:moveTo>
                  <a:pt x="38100" y="0"/>
                </a:moveTo>
                <a:lnTo>
                  <a:pt x="2133600" y="0"/>
                </a:lnTo>
                <a:cubicBezTo>
                  <a:pt x="2154628" y="0"/>
                  <a:pt x="2171700" y="17072"/>
                  <a:pt x="2171700" y="38100"/>
                </a:cubicBezTo>
                <a:lnTo>
                  <a:pt x="2171700" y="38100"/>
                </a:lnTo>
                <a:cubicBezTo>
                  <a:pt x="2171700" y="59128"/>
                  <a:pt x="2154628" y="76200"/>
                  <a:pt x="21336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5" name="Shape 23"/>
          <p:cNvSpPr/>
          <p:nvPr/>
        </p:nvSpPr>
        <p:spPr>
          <a:xfrm>
            <a:off x="8153400" y="1600200"/>
            <a:ext cx="3657600" cy="3733800"/>
          </a:xfrm>
          <a:custGeom>
            <a:avLst/>
            <a:gdLst/>
            <a:ahLst/>
            <a:cxnLst/>
            <a:rect l="l" t="t" r="r" b="b"/>
            <a:pathLst>
              <a:path w="3657600" h="3733800">
                <a:moveTo>
                  <a:pt x="152412" y="0"/>
                </a:moveTo>
                <a:lnTo>
                  <a:pt x="3505188" y="0"/>
                </a:lnTo>
                <a:cubicBezTo>
                  <a:pt x="3589363" y="0"/>
                  <a:pt x="3657600" y="68237"/>
                  <a:pt x="3657600" y="152412"/>
                </a:cubicBezTo>
                <a:lnTo>
                  <a:pt x="3657600" y="3581388"/>
                </a:lnTo>
                <a:cubicBezTo>
                  <a:pt x="3657600" y="3665563"/>
                  <a:pt x="3589363" y="3733800"/>
                  <a:pt x="3505188" y="3733800"/>
                </a:cubicBezTo>
                <a:lnTo>
                  <a:pt x="152412" y="3733800"/>
                </a:lnTo>
                <a:cubicBezTo>
                  <a:pt x="68237" y="3733800"/>
                  <a:pt x="0" y="3665563"/>
                  <a:pt x="0" y="3581388"/>
                </a:cubicBezTo>
                <a:lnTo>
                  <a:pt x="0" y="152412"/>
                </a:lnTo>
                <a:cubicBezTo>
                  <a:pt x="0" y="68294"/>
                  <a:pt x="68294" y="0"/>
                  <a:pt x="15241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382000" y="18288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0071E3"/>
              </a:gs>
              <a:gs pos="100000">
                <a:srgbClr val="0071E3">
                  <a:alpha val="60000"/>
                </a:srgbClr>
              </a:gs>
            </a:gsLst>
            <a:lin ang="2700000" scaled="1"/>
          </a:gradFill>
          <a:ln/>
        </p:spPr>
      </p:sp>
      <p:sp>
        <p:nvSpPr>
          <p:cNvPr id="27" name="Shape 25"/>
          <p:cNvSpPr/>
          <p:nvPr/>
        </p:nvSpPr>
        <p:spPr>
          <a:xfrm>
            <a:off x="8505825" y="19812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8382000" y="2552700"/>
            <a:ext cx="3295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Segmentación de Clientes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382000" y="2933700"/>
            <a:ext cx="3276600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Algoritmos de clustering identifican grupos de clientes con comportamientos similares, permitiendo estrategias de marketing personalizadas y más efectivas.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382000" y="4381500"/>
            <a:ext cx="3200400" cy="723900"/>
          </a:xfrm>
          <a:custGeom>
            <a:avLst/>
            <a:gdLst/>
            <a:ahLst/>
            <a:cxnLst/>
            <a:rect l="l" t="t" r="r" b="b"/>
            <a:pathLst>
              <a:path w="3200400" h="723900">
                <a:moveTo>
                  <a:pt x="114297" y="0"/>
                </a:moveTo>
                <a:lnTo>
                  <a:pt x="3086103" y="0"/>
                </a:lnTo>
                <a:cubicBezTo>
                  <a:pt x="3149228" y="0"/>
                  <a:pt x="3200400" y="51172"/>
                  <a:pt x="3200400" y="114297"/>
                </a:cubicBezTo>
                <a:lnTo>
                  <a:pt x="3200400" y="609603"/>
                </a:lnTo>
                <a:cubicBezTo>
                  <a:pt x="3200400" y="672728"/>
                  <a:pt x="3149228" y="723900"/>
                  <a:pt x="3086103" y="723900"/>
                </a:cubicBezTo>
                <a:lnTo>
                  <a:pt x="114297" y="723900"/>
                </a:lnTo>
                <a:cubicBezTo>
                  <a:pt x="51172" y="723900"/>
                  <a:pt x="0" y="672728"/>
                  <a:pt x="0" y="6096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31" name="Text 29"/>
          <p:cNvSpPr/>
          <p:nvPr/>
        </p:nvSpPr>
        <p:spPr>
          <a:xfrm>
            <a:off x="8534400" y="4572000"/>
            <a:ext cx="504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Eficacia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089928" y="4533900"/>
            <a:ext cx="428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85%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534400" y="4876800"/>
            <a:ext cx="2895600" cy="76200"/>
          </a:xfrm>
          <a:custGeom>
            <a:avLst/>
            <a:gdLst/>
            <a:ahLst/>
            <a:cxnLst/>
            <a:rect l="l" t="t" r="r" b="b"/>
            <a:pathLst>
              <a:path w="2895600" h="76200">
                <a:moveTo>
                  <a:pt x="38100" y="0"/>
                </a:moveTo>
                <a:lnTo>
                  <a:pt x="2857500" y="0"/>
                </a:lnTo>
                <a:cubicBezTo>
                  <a:pt x="2878528" y="0"/>
                  <a:pt x="2895600" y="17072"/>
                  <a:pt x="2895600" y="38100"/>
                </a:cubicBezTo>
                <a:lnTo>
                  <a:pt x="2895600" y="38100"/>
                </a:lnTo>
                <a:cubicBezTo>
                  <a:pt x="2895600" y="59128"/>
                  <a:pt x="2878528" y="76200"/>
                  <a:pt x="28575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6868B">
              <a:alpha val="2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8534400" y="4876800"/>
            <a:ext cx="2457450" cy="76200"/>
          </a:xfrm>
          <a:custGeom>
            <a:avLst/>
            <a:gdLst/>
            <a:ahLst/>
            <a:cxnLst/>
            <a:rect l="l" t="t" r="r" b="b"/>
            <a:pathLst>
              <a:path w="2457450" h="76200">
                <a:moveTo>
                  <a:pt x="38100" y="0"/>
                </a:moveTo>
                <a:lnTo>
                  <a:pt x="2419350" y="0"/>
                </a:lnTo>
                <a:cubicBezTo>
                  <a:pt x="2440378" y="0"/>
                  <a:pt x="2457450" y="17072"/>
                  <a:pt x="2457450" y="38100"/>
                </a:cubicBezTo>
                <a:lnTo>
                  <a:pt x="2457450" y="38100"/>
                </a:lnTo>
                <a:cubicBezTo>
                  <a:pt x="2457450" y="59128"/>
                  <a:pt x="2440378" y="76200"/>
                  <a:pt x="241935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5" name="Shape 33"/>
          <p:cNvSpPr/>
          <p:nvPr/>
        </p:nvSpPr>
        <p:spPr>
          <a:xfrm>
            <a:off x="381000" y="5562600"/>
            <a:ext cx="11430000" cy="914400"/>
          </a:xfrm>
          <a:custGeom>
            <a:avLst/>
            <a:gdLst/>
            <a:ahLst/>
            <a:cxnLst/>
            <a:rect l="l" t="t" r="r" b="b"/>
            <a:pathLst>
              <a:path w="11430000" h="914400">
                <a:moveTo>
                  <a:pt x="152403" y="0"/>
                </a:moveTo>
                <a:lnTo>
                  <a:pt x="11277597" y="0"/>
                </a:lnTo>
                <a:cubicBezTo>
                  <a:pt x="11361767" y="0"/>
                  <a:pt x="11430000" y="68233"/>
                  <a:pt x="11430000" y="152403"/>
                </a:cubicBezTo>
                <a:lnTo>
                  <a:pt x="11430000" y="761997"/>
                </a:lnTo>
                <a:cubicBezTo>
                  <a:pt x="11430000" y="846167"/>
                  <a:pt x="11361767" y="914400"/>
                  <a:pt x="11277597" y="914400"/>
                </a:cubicBezTo>
                <a:lnTo>
                  <a:pt x="152403" y="914400"/>
                </a:lnTo>
                <a:cubicBezTo>
                  <a:pt x="68290" y="914400"/>
                  <a:pt x="0" y="846110"/>
                  <a:pt x="0" y="7619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gradFill rotWithShape="1" flip="none">
            <a:gsLst>
              <a:gs pos="0">
                <a:srgbClr val="1D1D1F"/>
              </a:gs>
              <a:gs pos="100000">
                <a:srgbClr val="86868B"/>
              </a:gs>
            </a:gsLst>
            <a:lin ang="0" scaled="1"/>
          </a:gradFill>
          <a:ln/>
        </p:spPr>
      </p:sp>
      <p:sp>
        <p:nvSpPr>
          <p:cNvPr id="36" name="Shape 34"/>
          <p:cNvSpPr/>
          <p:nvPr/>
        </p:nvSpPr>
        <p:spPr>
          <a:xfrm>
            <a:off x="600075" y="59055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00013" y="71438"/>
                </a:moveTo>
                <a:cubicBezTo>
                  <a:pt x="100013" y="63552"/>
                  <a:pt x="106415" y="57150"/>
                  <a:pt x="114300" y="57150"/>
                </a:cubicBezTo>
                <a:cubicBezTo>
                  <a:pt x="122185" y="57150"/>
                  <a:pt x="128588" y="63552"/>
                  <a:pt x="128588" y="71438"/>
                </a:cubicBezTo>
                <a:cubicBezTo>
                  <a:pt x="128588" y="79323"/>
                  <a:pt x="122185" y="85725"/>
                  <a:pt x="114300" y="85725"/>
                </a:cubicBezTo>
                <a:cubicBezTo>
                  <a:pt x="106415" y="85725"/>
                  <a:pt x="100013" y="79323"/>
                  <a:pt x="100013" y="71438"/>
                </a:cubicBezTo>
                <a:close/>
                <a:moveTo>
                  <a:pt x="96441" y="100013"/>
                </a:moveTo>
                <a:lnTo>
                  <a:pt x="117872" y="100013"/>
                </a:lnTo>
                <a:cubicBezTo>
                  <a:pt x="123810" y="100013"/>
                  <a:pt x="128588" y="104790"/>
                  <a:pt x="128588" y="110728"/>
                </a:cubicBezTo>
                <a:lnTo>
                  <a:pt x="128588" y="150019"/>
                </a:lnTo>
                <a:lnTo>
                  <a:pt x="132159" y="150019"/>
                </a:lnTo>
                <a:cubicBezTo>
                  <a:pt x="138098" y="150019"/>
                  <a:pt x="142875" y="154796"/>
                  <a:pt x="142875" y="160734"/>
                </a:cubicBezTo>
                <a:cubicBezTo>
                  <a:pt x="142875" y="166673"/>
                  <a:pt x="138098" y="171450"/>
                  <a:pt x="132159" y="171450"/>
                </a:cubicBezTo>
                <a:lnTo>
                  <a:pt x="96441" y="171450"/>
                </a:lnTo>
                <a:cubicBezTo>
                  <a:pt x="90502" y="171450"/>
                  <a:pt x="85725" y="166673"/>
                  <a:pt x="85725" y="160734"/>
                </a:cubicBezTo>
                <a:cubicBezTo>
                  <a:pt x="85725" y="154796"/>
                  <a:pt x="90502" y="150019"/>
                  <a:pt x="96441" y="150019"/>
                </a:cubicBezTo>
                <a:lnTo>
                  <a:pt x="107156" y="150019"/>
                </a:lnTo>
                <a:lnTo>
                  <a:pt x="107156" y="121444"/>
                </a:lnTo>
                <a:lnTo>
                  <a:pt x="96441" y="121444"/>
                </a:lnTo>
                <a:cubicBezTo>
                  <a:pt x="90502" y="121444"/>
                  <a:pt x="85725" y="116666"/>
                  <a:pt x="85725" y="110728"/>
                </a:cubicBezTo>
                <a:cubicBezTo>
                  <a:pt x="85725" y="104790"/>
                  <a:pt x="90502" y="100013"/>
                  <a:pt x="96441" y="100013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7" name="Text 35"/>
          <p:cNvSpPr/>
          <p:nvPr/>
        </p:nvSpPr>
        <p:spPr>
          <a:xfrm>
            <a:off x="1009650" y="5905500"/>
            <a:ext cx="819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Caso de Éxito: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Amazon utiliza modelos de predicción de demanda para optimizar inventarios, reduciendo costos en un 20%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712797" y="5753100"/>
            <a:ext cx="904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$2.5B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788997" y="6096000"/>
            <a:ext cx="828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Ahorro Anual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2625" y="352625"/>
            <a:ext cx="11548460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b="1" spc="97" kern="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2625" y="599462"/>
            <a:ext cx="11645432" cy="352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99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Automatización y Procesos Empresariales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52625" y="1022612"/>
            <a:ext cx="11566091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9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Optimizando operaciones mediante inteligencia automatizada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0256" y="1481024"/>
            <a:ext cx="6188564" cy="2600607"/>
          </a:xfrm>
          <a:custGeom>
            <a:avLst/>
            <a:gdLst/>
            <a:ahLst/>
            <a:cxnLst/>
            <a:rect l="l" t="t" r="r" b="b"/>
            <a:pathLst>
              <a:path w="6188564" h="2600607">
                <a:moveTo>
                  <a:pt x="35262" y="0"/>
                </a:moveTo>
                <a:lnTo>
                  <a:pt x="6047507" y="0"/>
                </a:lnTo>
                <a:cubicBezTo>
                  <a:pt x="6125411" y="0"/>
                  <a:pt x="6188564" y="63153"/>
                  <a:pt x="6188564" y="141057"/>
                </a:cubicBezTo>
                <a:lnTo>
                  <a:pt x="6188564" y="2459550"/>
                </a:lnTo>
                <a:cubicBezTo>
                  <a:pt x="6188564" y="2537454"/>
                  <a:pt x="6125411" y="2600607"/>
                  <a:pt x="6047507" y="2600607"/>
                </a:cubicBezTo>
                <a:lnTo>
                  <a:pt x="35262" y="2600607"/>
                </a:lnTo>
                <a:cubicBezTo>
                  <a:pt x="15788" y="2600607"/>
                  <a:pt x="0" y="2584820"/>
                  <a:pt x="0" y="2565345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6447" dist="8816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70256" y="1481024"/>
            <a:ext cx="35262" cy="2600607"/>
          </a:xfrm>
          <a:custGeom>
            <a:avLst/>
            <a:gdLst/>
            <a:ahLst/>
            <a:cxnLst/>
            <a:rect l="l" t="t" r="r" b="b"/>
            <a:pathLst>
              <a:path w="35262" h="2600607">
                <a:moveTo>
                  <a:pt x="35262" y="0"/>
                </a:moveTo>
                <a:lnTo>
                  <a:pt x="35262" y="0"/>
                </a:lnTo>
                <a:lnTo>
                  <a:pt x="35262" y="2600607"/>
                </a:lnTo>
                <a:lnTo>
                  <a:pt x="35262" y="2600607"/>
                </a:lnTo>
                <a:cubicBezTo>
                  <a:pt x="15788" y="2600607"/>
                  <a:pt x="0" y="2584820"/>
                  <a:pt x="0" y="2565345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7" name="Shape 5"/>
          <p:cNvSpPr/>
          <p:nvPr/>
        </p:nvSpPr>
        <p:spPr>
          <a:xfrm>
            <a:off x="599462" y="2040816"/>
            <a:ext cx="423150" cy="423150"/>
          </a:xfrm>
          <a:custGeom>
            <a:avLst/>
            <a:gdLst/>
            <a:ahLst/>
            <a:cxnLst/>
            <a:rect l="l" t="t" r="r" b="b"/>
            <a:pathLst>
              <a:path w="423150" h="423150">
                <a:moveTo>
                  <a:pt x="105787" y="0"/>
                </a:moveTo>
                <a:lnTo>
                  <a:pt x="317362" y="0"/>
                </a:lnTo>
                <a:cubicBezTo>
                  <a:pt x="375787" y="0"/>
                  <a:pt x="423150" y="47363"/>
                  <a:pt x="423150" y="105787"/>
                </a:cubicBezTo>
                <a:lnTo>
                  <a:pt x="423150" y="317362"/>
                </a:lnTo>
                <a:cubicBezTo>
                  <a:pt x="423150" y="375787"/>
                  <a:pt x="375787" y="423150"/>
                  <a:pt x="317362" y="423150"/>
                </a:cubicBezTo>
                <a:lnTo>
                  <a:pt x="105787" y="423150"/>
                </a:lnTo>
                <a:cubicBezTo>
                  <a:pt x="47363" y="423150"/>
                  <a:pt x="0" y="375787"/>
                  <a:pt x="0" y="317362"/>
                </a:cubicBezTo>
                <a:lnTo>
                  <a:pt x="0" y="105787"/>
                </a:lnTo>
                <a:cubicBezTo>
                  <a:pt x="0" y="47402"/>
                  <a:pt x="47402" y="0"/>
                  <a:pt x="105787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11861" y="2164234"/>
            <a:ext cx="198351" cy="176312"/>
          </a:xfrm>
          <a:custGeom>
            <a:avLst/>
            <a:gdLst/>
            <a:ahLst/>
            <a:cxnLst/>
            <a:rect l="l" t="t" r="r" b="b"/>
            <a:pathLst>
              <a:path w="198351" h="176312">
                <a:moveTo>
                  <a:pt x="132234" y="49588"/>
                </a:moveTo>
                <a:cubicBezTo>
                  <a:pt x="132234" y="83060"/>
                  <a:pt x="102619" y="110195"/>
                  <a:pt x="66117" y="110195"/>
                </a:cubicBezTo>
                <a:cubicBezTo>
                  <a:pt x="56923" y="110195"/>
                  <a:pt x="48176" y="108473"/>
                  <a:pt x="40221" y="105374"/>
                </a:cubicBezTo>
                <a:lnTo>
                  <a:pt x="12121" y="120251"/>
                </a:lnTo>
                <a:cubicBezTo>
                  <a:pt x="8919" y="121938"/>
                  <a:pt x="4993" y="121352"/>
                  <a:pt x="2411" y="118804"/>
                </a:cubicBezTo>
                <a:cubicBezTo>
                  <a:pt x="-172" y="116256"/>
                  <a:pt x="-758" y="112296"/>
                  <a:pt x="964" y="109093"/>
                </a:cubicBezTo>
                <a:lnTo>
                  <a:pt x="13223" y="85952"/>
                </a:lnTo>
                <a:cubicBezTo>
                  <a:pt x="4924" y="75828"/>
                  <a:pt x="0" y="63225"/>
                  <a:pt x="0" y="49588"/>
                </a:cubicBezTo>
                <a:cubicBezTo>
                  <a:pt x="0" y="16116"/>
                  <a:pt x="29615" y="-11020"/>
                  <a:pt x="66117" y="-11020"/>
                </a:cubicBezTo>
                <a:cubicBezTo>
                  <a:pt x="102619" y="-11020"/>
                  <a:pt x="132234" y="16116"/>
                  <a:pt x="132234" y="49588"/>
                </a:cubicBezTo>
                <a:close/>
                <a:moveTo>
                  <a:pt x="132234" y="176312"/>
                </a:moveTo>
                <a:cubicBezTo>
                  <a:pt x="99830" y="176312"/>
                  <a:pt x="72867" y="154928"/>
                  <a:pt x="67219" y="126725"/>
                </a:cubicBezTo>
                <a:cubicBezTo>
                  <a:pt x="108542" y="126208"/>
                  <a:pt x="144459" y="96800"/>
                  <a:pt x="148419" y="56923"/>
                </a:cubicBezTo>
                <a:cubicBezTo>
                  <a:pt x="177104" y="63534"/>
                  <a:pt x="198351" y="87330"/>
                  <a:pt x="198351" y="115705"/>
                </a:cubicBezTo>
                <a:cubicBezTo>
                  <a:pt x="198351" y="129342"/>
                  <a:pt x="193427" y="141945"/>
                  <a:pt x="185128" y="152069"/>
                </a:cubicBezTo>
                <a:lnTo>
                  <a:pt x="197387" y="175210"/>
                </a:lnTo>
                <a:cubicBezTo>
                  <a:pt x="199075" y="178413"/>
                  <a:pt x="198489" y="182339"/>
                  <a:pt x="195941" y="184921"/>
                </a:cubicBezTo>
                <a:cubicBezTo>
                  <a:pt x="193393" y="187504"/>
                  <a:pt x="189432" y="188089"/>
                  <a:pt x="186230" y="186368"/>
                </a:cubicBezTo>
                <a:lnTo>
                  <a:pt x="158130" y="171491"/>
                </a:lnTo>
                <a:cubicBezTo>
                  <a:pt x="150175" y="174591"/>
                  <a:pt x="141429" y="176312"/>
                  <a:pt x="132234" y="176312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9" name="Text 7"/>
          <p:cNvSpPr/>
          <p:nvPr/>
        </p:nvSpPr>
        <p:spPr>
          <a:xfrm>
            <a:off x="1163662" y="2040816"/>
            <a:ext cx="5271740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8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Automatización de Atención al Cliente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63662" y="2358178"/>
            <a:ext cx="5254108" cy="458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1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Chatbots inteligentes y asistentes virtuales utilizan NLP para comprender consultas, proporcionar respuestas instantáneas y escalar casos complejos a agentes humanos.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63662" y="2922377"/>
            <a:ext cx="1049059" cy="599462"/>
          </a:xfrm>
          <a:custGeom>
            <a:avLst/>
            <a:gdLst/>
            <a:ahLst/>
            <a:cxnLst/>
            <a:rect l="l" t="t" r="r" b="b"/>
            <a:pathLst>
              <a:path w="1049059" h="599462">
                <a:moveTo>
                  <a:pt x="70527" y="0"/>
                </a:moveTo>
                <a:lnTo>
                  <a:pt x="978532" y="0"/>
                </a:lnTo>
                <a:cubicBezTo>
                  <a:pt x="1017483" y="0"/>
                  <a:pt x="1049059" y="31576"/>
                  <a:pt x="1049059" y="70527"/>
                </a:cubicBezTo>
                <a:lnTo>
                  <a:pt x="1049059" y="528935"/>
                </a:lnTo>
                <a:cubicBezTo>
                  <a:pt x="1049059" y="567886"/>
                  <a:pt x="1017483" y="599462"/>
                  <a:pt x="978532" y="599462"/>
                </a:cubicBezTo>
                <a:lnTo>
                  <a:pt x="70527" y="599462"/>
                </a:lnTo>
                <a:cubicBezTo>
                  <a:pt x="31602" y="599462"/>
                  <a:pt x="0" y="567860"/>
                  <a:pt x="0" y="528935"/>
                </a:cubicBezTo>
                <a:lnTo>
                  <a:pt x="0" y="70527"/>
                </a:lnTo>
                <a:cubicBezTo>
                  <a:pt x="0" y="31602"/>
                  <a:pt x="31602" y="0"/>
                  <a:pt x="70527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12" name="Text 10"/>
          <p:cNvSpPr/>
          <p:nvPr/>
        </p:nvSpPr>
        <p:spPr>
          <a:xfrm>
            <a:off x="1304711" y="3036980"/>
            <a:ext cx="825913" cy="14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Disponibilidad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04711" y="3204477"/>
            <a:ext cx="855115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8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24/7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351015" y="2922377"/>
            <a:ext cx="1243002" cy="599462"/>
          </a:xfrm>
          <a:custGeom>
            <a:avLst/>
            <a:gdLst/>
            <a:ahLst/>
            <a:cxnLst/>
            <a:rect l="l" t="t" r="r" b="b"/>
            <a:pathLst>
              <a:path w="1243002" h="599462">
                <a:moveTo>
                  <a:pt x="70527" y="0"/>
                </a:moveTo>
                <a:lnTo>
                  <a:pt x="1172475" y="0"/>
                </a:lnTo>
                <a:cubicBezTo>
                  <a:pt x="1211426" y="0"/>
                  <a:pt x="1243002" y="31576"/>
                  <a:pt x="1243002" y="70527"/>
                </a:cubicBezTo>
                <a:lnTo>
                  <a:pt x="1243002" y="528935"/>
                </a:lnTo>
                <a:cubicBezTo>
                  <a:pt x="1243002" y="567886"/>
                  <a:pt x="1211426" y="599462"/>
                  <a:pt x="1172475" y="599462"/>
                </a:cubicBezTo>
                <a:lnTo>
                  <a:pt x="70527" y="599462"/>
                </a:lnTo>
                <a:cubicBezTo>
                  <a:pt x="31602" y="599462"/>
                  <a:pt x="0" y="567860"/>
                  <a:pt x="0" y="528935"/>
                </a:cubicBezTo>
                <a:lnTo>
                  <a:pt x="0" y="70527"/>
                </a:lnTo>
                <a:cubicBezTo>
                  <a:pt x="0" y="31602"/>
                  <a:pt x="31602" y="0"/>
                  <a:pt x="70527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15" name="Text 13"/>
          <p:cNvSpPr/>
          <p:nvPr/>
        </p:nvSpPr>
        <p:spPr>
          <a:xfrm>
            <a:off x="2492065" y="3036980"/>
            <a:ext cx="1020408" cy="14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Reducción Costos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492065" y="3204477"/>
            <a:ext cx="1049059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8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-30%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70256" y="4257944"/>
            <a:ext cx="6188564" cy="2600607"/>
          </a:xfrm>
          <a:custGeom>
            <a:avLst/>
            <a:gdLst/>
            <a:ahLst/>
            <a:cxnLst/>
            <a:rect l="l" t="t" r="r" b="b"/>
            <a:pathLst>
              <a:path w="6188564" h="2600607">
                <a:moveTo>
                  <a:pt x="35262" y="0"/>
                </a:moveTo>
                <a:lnTo>
                  <a:pt x="6047507" y="0"/>
                </a:lnTo>
                <a:cubicBezTo>
                  <a:pt x="6125411" y="0"/>
                  <a:pt x="6188564" y="63153"/>
                  <a:pt x="6188564" y="141057"/>
                </a:cubicBezTo>
                <a:lnTo>
                  <a:pt x="6188564" y="2459550"/>
                </a:lnTo>
                <a:cubicBezTo>
                  <a:pt x="6188564" y="2537454"/>
                  <a:pt x="6125411" y="2600607"/>
                  <a:pt x="6047507" y="2600607"/>
                </a:cubicBezTo>
                <a:lnTo>
                  <a:pt x="35262" y="2600607"/>
                </a:lnTo>
                <a:cubicBezTo>
                  <a:pt x="15788" y="2600607"/>
                  <a:pt x="0" y="2584820"/>
                  <a:pt x="0" y="2565345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6447" dist="8816" dir="540000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0256" y="4257944"/>
            <a:ext cx="35262" cy="2600607"/>
          </a:xfrm>
          <a:custGeom>
            <a:avLst/>
            <a:gdLst/>
            <a:ahLst/>
            <a:cxnLst/>
            <a:rect l="l" t="t" r="r" b="b"/>
            <a:pathLst>
              <a:path w="35262" h="2600607">
                <a:moveTo>
                  <a:pt x="35262" y="0"/>
                </a:moveTo>
                <a:lnTo>
                  <a:pt x="35262" y="0"/>
                </a:lnTo>
                <a:lnTo>
                  <a:pt x="35262" y="2600607"/>
                </a:lnTo>
                <a:lnTo>
                  <a:pt x="35262" y="2600607"/>
                </a:lnTo>
                <a:cubicBezTo>
                  <a:pt x="15788" y="2600607"/>
                  <a:pt x="0" y="2584820"/>
                  <a:pt x="0" y="2565345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9" name="Shape 17"/>
          <p:cNvSpPr/>
          <p:nvPr/>
        </p:nvSpPr>
        <p:spPr>
          <a:xfrm>
            <a:off x="599462" y="4703132"/>
            <a:ext cx="423150" cy="423150"/>
          </a:xfrm>
          <a:custGeom>
            <a:avLst/>
            <a:gdLst/>
            <a:ahLst/>
            <a:cxnLst/>
            <a:rect l="l" t="t" r="r" b="b"/>
            <a:pathLst>
              <a:path w="423150" h="423150">
                <a:moveTo>
                  <a:pt x="105787" y="0"/>
                </a:moveTo>
                <a:lnTo>
                  <a:pt x="317362" y="0"/>
                </a:lnTo>
                <a:cubicBezTo>
                  <a:pt x="375787" y="0"/>
                  <a:pt x="423150" y="47363"/>
                  <a:pt x="423150" y="105787"/>
                </a:cubicBezTo>
                <a:lnTo>
                  <a:pt x="423150" y="317362"/>
                </a:lnTo>
                <a:cubicBezTo>
                  <a:pt x="423150" y="375787"/>
                  <a:pt x="375787" y="423150"/>
                  <a:pt x="317362" y="423150"/>
                </a:cubicBezTo>
                <a:lnTo>
                  <a:pt x="105787" y="423150"/>
                </a:lnTo>
                <a:cubicBezTo>
                  <a:pt x="47363" y="423150"/>
                  <a:pt x="0" y="375787"/>
                  <a:pt x="0" y="317362"/>
                </a:cubicBezTo>
                <a:lnTo>
                  <a:pt x="0" y="105787"/>
                </a:lnTo>
                <a:cubicBezTo>
                  <a:pt x="0" y="47402"/>
                  <a:pt x="47402" y="0"/>
                  <a:pt x="105787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11861" y="4826551"/>
            <a:ext cx="198351" cy="176312"/>
          </a:xfrm>
          <a:custGeom>
            <a:avLst/>
            <a:gdLst/>
            <a:ahLst/>
            <a:cxnLst/>
            <a:rect l="l" t="t" r="r" b="b"/>
            <a:pathLst>
              <a:path w="198351" h="176312">
                <a:moveTo>
                  <a:pt x="0" y="33059"/>
                </a:moveTo>
                <a:cubicBezTo>
                  <a:pt x="0" y="20903"/>
                  <a:pt x="9883" y="11020"/>
                  <a:pt x="22039" y="11020"/>
                </a:cubicBezTo>
                <a:lnTo>
                  <a:pt x="121215" y="11020"/>
                </a:lnTo>
                <a:cubicBezTo>
                  <a:pt x="133371" y="11020"/>
                  <a:pt x="143254" y="20903"/>
                  <a:pt x="143254" y="33059"/>
                </a:cubicBezTo>
                <a:lnTo>
                  <a:pt x="143254" y="44078"/>
                </a:lnTo>
                <a:lnTo>
                  <a:pt x="160713" y="44078"/>
                </a:lnTo>
                <a:cubicBezTo>
                  <a:pt x="166567" y="44078"/>
                  <a:pt x="172180" y="46385"/>
                  <a:pt x="176312" y="50518"/>
                </a:cubicBezTo>
                <a:lnTo>
                  <a:pt x="191912" y="66117"/>
                </a:lnTo>
                <a:cubicBezTo>
                  <a:pt x="196044" y="70249"/>
                  <a:pt x="198351" y="75863"/>
                  <a:pt x="198351" y="81717"/>
                </a:cubicBezTo>
                <a:lnTo>
                  <a:pt x="198351" y="132234"/>
                </a:lnTo>
                <a:cubicBezTo>
                  <a:pt x="198351" y="144390"/>
                  <a:pt x="188468" y="154273"/>
                  <a:pt x="176312" y="154273"/>
                </a:cubicBezTo>
                <a:lnTo>
                  <a:pt x="175176" y="154273"/>
                </a:lnTo>
                <a:cubicBezTo>
                  <a:pt x="171595" y="166980"/>
                  <a:pt x="159886" y="176312"/>
                  <a:pt x="146009" y="176312"/>
                </a:cubicBezTo>
                <a:cubicBezTo>
                  <a:pt x="132131" y="176312"/>
                  <a:pt x="120457" y="166980"/>
                  <a:pt x="116841" y="154273"/>
                </a:cubicBezTo>
                <a:lnTo>
                  <a:pt x="81510" y="154273"/>
                </a:lnTo>
                <a:cubicBezTo>
                  <a:pt x="77929" y="166980"/>
                  <a:pt x="66220" y="176312"/>
                  <a:pt x="52343" y="176312"/>
                </a:cubicBezTo>
                <a:cubicBezTo>
                  <a:pt x="38465" y="176312"/>
                  <a:pt x="26791" y="166980"/>
                  <a:pt x="23175" y="154273"/>
                </a:cubicBezTo>
                <a:lnTo>
                  <a:pt x="22039" y="154273"/>
                </a:lnTo>
                <a:cubicBezTo>
                  <a:pt x="9883" y="154273"/>
                  <a:pt x="0" y="144390"/>
                  <a:pt x="0" y="132234"/>
                </a:cubicBezTo>
                <a:lnTo>
                  <a:pt x="0" y="33059"/>
                </a:lnTo>
                <a:close/>
                <a:moveTo>
                  <a:pt x="176312" y="99176"/>
                </a:moveTo>
                <a:lnTo>
                  <a:pt x="176312" y="81717"/>
                </a:lnTo>
                <a:lnTo>
                  <a:pt x="160713" y="66117"/>
                </a:lnTo>
                <a:lnTo>
                  <a:pt x="143254" y="66117"/>
                </a:lnTo>
                <a:lnTo>
                  <a:pt x="143254" y="99176"/>
                </a:lnTo>
                <a:lnTo>
                  <a:pt x="176312" y="99176"/>
                </a:lnTo>
                <a:close/>
                <a:moveTo>
                  <a:pt x="66117" y="146009"/>
                </a:moveTo>
                <a:cubicBezTo>
                  <a:pt x="66117" y="138406"/>
                  <a:pt x="59945" y="132234"/>
                  <a:pt x="52343" y="132234"/>
                </a:cubicBezTo>
                <a:cubicBezTo>
                  <a:pt x="44740" y="132234"/>
                  <a:pt x="38568" y="138406"/>
                  <a:pt x="38568" y="146009"/>
                </a:cubicBezTo>
                <a:cubicBezTo>
                  <a:pt x="38568" y="153611"/>
                  <a:pt x="44740" y="159783"/>
                  <a:pt x="52343" y="159783"/>
                </a:cubicBezTo>
                <a:cubicBezTo>
                  <a:pt x="59945" y="159783"/>
                  <a:pt x="66117" y="153611"/>
                  <a:pt x="66117" y="146009"/>
                </a:cubicBezTo>
                <a:close/>
                <a:moveTo>
                  <a:pt x="146009" y="159783"/>
                </a:moveTo>
                <a:cubicBezTo>
                  <a:pt x="153611" y="159783"/>
                  <a:pt x="159783" y="153611"/>
                  <a:pt x="159783" y="146009"/>
                </a:cubicBezTo>
                <a:cubicBezTo>
                  <a:pt x="159783" y="138406"/>
                  <a:pt x="153611" y="132234"/>
                  <a:pt x="146009" y="132234"/>
                </a:cubicBezTo>
                <a:cubicBezTo>
                  <a:pt x="138406" y="132234"/>
                  <a:pt x="132234" y="138406"/>
                  <a:pt x="132234" y="146009"/>
                </a:cubicBezTo>
                <a:cubicBezTo>
                  <a:pt x="132234" y="153611"/>
                  <a:pt x="138406" y="159783"/>
                  <a:pt x="146009" y="159783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1" name="Text 19"/>
          <p:cNvSpPr/>
          <p:nvPr/>
        </p:nvSpPr>
        <p:spPr>
          <a:xfrm>
            <a:off x="1163662" y="4703132"/>
            <a:ext cx="5271740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8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Optimización de la Cadena de Suministro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63662" y="5020495"/>
            <a:ext cx="5254108" cy="687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1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Modelos predictivos analizan patrones de demanda, tiempos de entrega y condiciones del mercado para gestionar inventarios de manera óptima y prevenir escasez.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163662" y="5813900"/>
            <a:ext cx="784590" cy="599462"/>
          </a:xfrm>
          <a:custGeom>
            <a:avLst/>
            <a:gdLst/>
            <a:ahLst/>
            <a:cxnLst/>
            <a:rect l="l" t="t" r="r" b="b"/>
            <a:pathLst>
              <a:path w="784590" h="599462">
                <a:moveTo>
                  <a:pt x="70527" y="0"/>
                </a:moveTo>
                <a:lnTo>
                  <a:pt x="714063" y="0"/>
                </a:lnTo>
                <a:cubicBezTo>
                  <a:pt x="752988" y="0"/>
                  <a:pt x="784590" y="31602"/>
                  <a:pt x="784590" y="70527"/>
                </a:cubicBezTo>
                <a:lnTo>
                  <a:pt x="784590" y="528935"/>
                </a:lnTo>
                <a:cubicBezTo>
                  <a:pt x="784590" y="567860"/>
                  <a:pt x="752988" y="599462"/>
                  <a:pt x="714063" y="599462"/>
                </a:cubicBezTo>
                <a:lnTo>
                  <a:pt x="70527" y="599462"/>
                </a:lnTo>
                <a:cubicBezTo>
                  <a:pt x="31602" y="599462"/>
                  <a:pt x="0" y="567860"/>
                  <a:pt x="0" y="528935"/>
                </a:cubicBezTo>
                <a:lnTo>
                  <a:pt x="0" y="70527"/>
                </a:lnTo>
                <a:cubicBezTo>
                  <a:pt x="0" y="31602"/>
                  <a:pt x="31602" y="0"/>
                  <a:pt x="70527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24" name="Text 22"/>
          <p:cNvSpPr/>
          <p:nvPr/>
        </p:nvSpPr>
        <p:spPr>
          <a:xfrm>
            <a:off x="1304711" y="5928503"/>
            <a:ext cx="562547" cy="14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Eficiencia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04711" y="6096000"/>
            <a:ext cx="590646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8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+35%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2087649" y="5813900"/>
            <a:ext cx="1172477" cy="599462"/>
          </a:xfrm>
          <a:custGeom>
            <a:avLst/>
            <a:gdLst/>
            <a:ahLst/>
            <a:cxnLst/>
            <a:rect l="l" t="t" r="r" b="b"/>
            <a:pathLst>
              <a:path w="1172477" h="599462">
                <a:moveTo>
                  <a:pt x="70527" y="0"/>
                </a:moveTo>
                <a:lnTo>
                  <a:pt x="1101951" y="0"/>
                </a:lnTo>
                <a:cubicBezTo>
                  <a:pt x="1140901" y="0"/>
                  <a:pt x="1172477" y="31576"/>
                  <a:pt x="1172477" y="70527"/>
                </a:cubicBezTo>
                <a:lnTo>
                  <a:pt x="1172477" y="528935"/>
                </a:lnTo>
                <a:cubicBezTo>
                  <a:pt x="1172477" y="567886"/>
                  <a:pt x="1140901" y="599462"/>
                  <a:pt x="1101951" y="599462"/>
                </a:cubicBezTo>
                <a:lnTo>
                  <a:pt x="70527" y="599462"/>
                </a:lnTo>
                <a:cubicBezTo>
                  <a:pt x="31602" y="599462"/>
                  <a:pt x="0" y="567860"/>
                  <a:pt x="0" y="528935"/>
                </a:cubicBezTo>
                <a:lnTo>
                  <a:pt x="0" y="70527"/>
                </a:lnTo>
                <a:cubicBezTo>
                  <a:pt x="0" y="31602"/>
                  <a:pt x="31602" y="0"/>
                  <a:pt x="70527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27" name="Text 25"/>
          <p:cNvSpPr/>
          <p:nvPr/>
        </p:nvSpPr>
        <p:spPr>
          <a:xfrm>
            <a:off x="2228698" y="5928503"/>
            <a:ext cx="951260" cy="14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Reducción Stock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228698" y="6096000"/>
            <a:ext cx="978534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8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-25%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766125" y="1481024"/>
            <a:ext cx="5077796" cy="3402829"/>
          </a:xfrm>
          <a:custGeom>
            <a:avLst/>
            <a:gdLst/>
            <a:ahLst/>
            <a:cxnLst/>
            <a:rect l="l" t="t" r="r" b="b"/>
            <a:pathLst>
              <a:path w="5077796" h="3402829">
                <a:moveTo>
                  <a:pt x="141047" y="0"/>
                </a:moveTo>
                <a:lnTo>
                  <a:pt x="4936749" y="0"/>
                </a:lnTo>
                <a:cubicBezTo>
                  <a:pt x="5014647" y="0"/>
                  <a:pt x="5077796" y="63149"/>
                  <a:pt x="5077796" y="141047"/>
                </a:cubicBezTo>
                <a:lnTo>
                  <a:pt x="5077796" y="3261781"/>
                </a:lnTo>
                <a:cubicBezTo>
                  <a:pt x="5077796" y="3339680"/>
                  <a:pt x="5014647" y="3402829"/>
                  <a:pt x="4936749" y="3402829"/>
                </a:cubicBezTo>
                <a:lnTo>
                  <a:pt x="141047" y="3402829"/>
                </a:lnTo>
                <a:cubicBezTo>
                  <a:pt x="63149" y="3402829"/>
                  <a:pt x="0" y="3339680"/>
                  <a:pt x="0" y="3261781"/>
                </a:cubicBezTo>
                <a:lnTo>
                  <a:pt x="0" y="141047"/>
                </a:lnTo>
                <a:cubicBezTo>
                  <a:pt x="0" y="63201"/>
                  <a:pt x="63201" y="0"/>
                  <a:pt x="141047" y="0"/>
                </a:cubicBezTo>
                <a:close/>
              </a:path>
            </a:pathLst>
          </a:custGeom>
          <a:gradFill rotWithShape="1" flip="none">
            <a:gsLst>
              <a:gs pos="0">
                <a:srgbClr val="1D1D1F"/>
              </a:gs>
              <a:gs pos="100000">
                <a:srgbClr val="86868B"/>
              </a:gs>
            </a:gsLst>
            <a:lin ang="2700000" scaled="1"/>
          </a:gradFill>
          <a:ln/>
        </p:spPr>
      </p:sp>
      <p:sp>
        <p:nvSpPr>
          <p:cNvPr id="30" name="Shape 28"/>
          <p:cNvSpPr/>
          <p:nvPr/>
        </p:nvSpPr>
        <p:spPr>
          <a:xfrm>
            <a:off x="6977700" y="1692599"/>
            <a:ext cx="493675" cy="493675"/>
          </a:xfrm>
          <a:custGeom>
            <a:avLst/>
            <a:gdLst/>
            <a:ahLst/>
            <a:cxnLst/>
            <a:rect l="l" t="t" r="r" b="b"/>
            <a:pathLst>
              <a:path w="493675" h="493675">
                <a:moveTo>
                  <a:pt x="105790" y="0"/>
                </a:moveTo>
                <a:lnTo>
                  <a:pt x="387885" y="0"/>
                </a:lnTo>
                <a:cubicBezTo>
                  <a:pt x="446311" y="0"/>
                  <a:pt x="493675" y="47364"/>
                  <a:pt x="493675" y="105790"/>
                </a:cubicBezTo>
                <a:lnTo>
                  <a:pt x="493675" y="387885"/>
                </a:lnTo>
                <a:cubicBezTo>
                  <a:pt x="493675" y="446311"/>
                  <a:pt x="446311" y="493675"/>
                  <a:pt x="387885" y="493675"/>
                </a:cubicBezTo>
                <a:lnTo>
                  <a:pt x="105790" y="493675"/>
                </a:lnTo>
                <a:cubicBezTo>
                  <a:pt x="47364" y="493675"/>
                  <a:pt x="0" y="446311"/>
                  <a:pt x="0" y="387885"/>
                </a:cubicBezTo>
                <a:lnTo>
                  <a:pt x="0" y="105790"/>
                </a:lnTo>
                <a:cubicBezTo>
                  <a:pt x="0" y="47364"/>
                  <a:pt x="47364" y="0"/>
                  <a:pt x="10579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1" name="Shape 29"/>
          <p:cNvSpPr/>
          <p:nvPr/>
        </p:nvSpPr>
        <p:spPr>
          <a:xfrm>
            <a:off x="7118749" y="1833649"/>
            <a:ext cx="211575" cy="211575"/>
          </a:xfrm>
          <a:custGeom>
            <a:avLst/>
            <a:gdLst/>
            <a:ahLst/>
            <a:cxnLst/>
            <a:rect l="l" t="t" r="r" b="b"/>
            <a:pathLst>
              <a:path w="211575" h="211575">
                <a:moveTo>
                  <a:pt x="105787" y="0"/>
                </a:moveTo>
                <a:cubicBezTo>
                  <a:pt x="107688" y="0"/>
                  <a:pt x="109589" y="413"/>
                  <a:pt x="111325" y="1198"/>
                </a:cubicBezTo>
                <a:lnTo>
                  <a:pt x="189178" y="34216"/>
                </a:lnTo>
                <a:cubicBezTo>
                  <a:pt x="198269" y="38059"/>
                  <a:pt x="205046" y="47026"/>
                  <a:pt x="205004" y="57852"/>
                </a:cubicBezTo>
                <a:cubicBezTo>
                  <a:pt x="204798" y="98845"/>
                  <a:pt x="187938" y="173847"/>
                  <a:pt x="116738" y="207938"/>
                </a:cubicBezTo>
                <a:cubicBezTo>
                  <a:pt x="109837" y="211244"/>
                  <a:pt x="101820" y="211244"/>
                  <a:pt x="94919" y="207938"/>
                </a:cubicBezTo>
                <a:cubicBezTo>
                  <a:pt x="23678" y="173847"/>
                  <a:pt x="6860" y="98845"/>
                  <a:pt x="6653" y="57852"/>
                </a:cubicBezTo>
                <a:cubicBezTo>
                  <a:pt x="6612" y="47026"/>
                  <a:pt x="13389" y="38059"/>
                  <a:pt x="22480" y="34216"/>
                </a:cubicBezTo>
                <a:lnTo>
                  <a:pt x="100291" y="1198"/>
                </a:lnTo>
                <a:cubicBezTo>
                  <a:pt x="102027" y="413"/>
                  <a:pt x="103887" y="0"/>
                  <a:pt x="105787" y="0"/>
                </a:cubicBezTo>
                <a:close/>
                <a:moveTo>
                  <a:pt x="105787" y="27604"/>
                </a:moveTo>
                <a:lnTo>
                  <a:pt x="105787" y="183847"/>
                </a:lnTo>
                <a:cubicBezTo>
                  <a:pt x="162813" y="156243"/>
                  <a:pt x="178144" y="95085"/>
                  <a:pt x="178516" y="58472"/>
                </a:cubicBezTo>
                <a:lnTo>
                  <a:pt x="105787" y="27645"/>
                </a:lnTo>
                <a:lnTo>
                  <a:pt x="105787" y="2764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6977700" y="2362586"/>
            <a:ext cx="4760434" cy="28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6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Detección de Fraude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77700" y="2785735"/>
            <a:ext cx="4725171" cy="687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1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Algoritmos de clasificación analizan transacciones en tiempo real, identificando patrones sospechosos y anomalías que indican actividad fraudulenta.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977700" y="3684928"/>
            <a:ext cx="1190108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Tasa de Detección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1033986" y="3649666"/>
            <a:ext cx="696434" cy="28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6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98.5%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977700" y="4002291"/>
            <a:ext cx="4654646" cy="88156"/>
          </a:xfrm>
          <a:custGeom>
            <a:avLst/>
            <a:gdLst/>
            <a:ahLst/>
            <a:cxnLst/>
            <a:rect l="l" t="t" r="r" b="b"/>
            <a:pathLst>
              <a:path w="4654646" h="88156">
                <a:moveTo>
                  <a:pt x="44078" y="0"/>
                </a:moveTo>
                <a:lnTo>
                  <a:pt x="4610568" y="0"/>
                </a:lnTo>
                <a:cubicBezTo>
                  <a:pt x="4634912" y="0"/>
                  <a:pt x="4654646" y="19734"/>
                  <a:pt x="4654646" y="44078"/>
                </a:cubicBezTo>
                <a:lnTo>
                  <a:pt x="4654646" y="44078"/>
                </a:lnTo>
                <a:cubicBezTo>
                  <a:pt x="4654646" y="68422"/>
                  <a:pt x="4634912" y="88156"/>
                  <a:pt x="4610568" y="88156"/>
                </a:cubicBezTo>
                <a:lnTo>
                  <a:pt x="44078" y="88156"/>
                </a:lnTo>
                <a:cubicBezTo>
                  <a:pt x="19734" y="88156"/>
                  <a:pt x="0" y="68422"/>
                  <a:pt x="0" y="44078"/>
                </a:cubicBezTo>
                <a:lnTo>
                  <a:pt x="0" y="44078"/>
                </a:lnTo>
                <a:cubicBezTo>
                  <a:pt x="0" y="19734"/>
                  <a:pt x="19734" y="0"/>
                  <a:pt x="44078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977700" y="4002291"/>
            <a:ext cx="4584121" cy="88156"/>
          </a:xfrm>
          <a:custGeom>
            <a:avLst/>
            <a:gdLst/>
            <a:ahLst/>
            <a:cxnLst/>
            <a:rect l="l" t="t" r="r" b="b"/>
            <a:pathLst>
              <a:path w="4584121" h="88156">
                <a:moveTo>
                  <a:pt x="44078" y="0"/>
                </a:moveTo>
                <a:lnTo>
                  <a:pt x="4540043" y="0"/>
                </a:lnTo>
                <a:cubicBezTo>
                  <a:pt x="4564387" y="0"/>
                  <a:pt x="4584121" y="19734"/>
                  <a:pt x="4584121" y="44078"/>
                </a:cubicBezTo>
                <a:lnTo>
                  <a:pt x="4584121" y="44078"/>
                </a:lnTo>
                <a:cubicBezTo>
                  <a:pt x="4584121" y="68422"/>
                  <a:pt x="4564387" y="88156"/>
                  <a:pt x="4540043" y="88156"/>
                </a:cubicBezTo>
                <a:lnTo>
                  <a:pt x="44078" y="88156"/>
                </a:lnTo>
                <a:cubicBezTo>
                  <a:pt x="19734" y="88156"/>
                  <a:pt x="0" y="68422"/>
                  <a:pt x="0" y="44078"/>
                </a:cubicBezTo>
                <a:lnTo>
                  <a:pt x="0" y="44078"/>
                </a:lnTo>
                <a:cubicBezTo>
                  <a:pt x="0" y="19734"/>
                  <a:pt x="19734" y="0"/>
                  <a:pt x="44078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8" name="Text 36"/>
          <p:cNvSpPr/>
          <p:nvPr/>
        </p:nvSpPr>
        <p:spPr>
          <a:xfrm>
            <a:off x="6977700" y="4266759"/>
            <a:ext cx="1022612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Falsos Positivos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152446" y="4231497"/>
            <a:ext cx="581831" cy="28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6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0.3%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977700" y="4584121"/>
            <a:ext cx="4654646" cy="88156"/>
          </a:xfrm>
          <a:custGeom>
            <a:avLst/>
            <a:gdLst/>
            <a:ahLst/>
            <a:cxnLst/>
            <a:rect l="l" t="t" r="r" b="b"/>
            <a:pathLst>
              <a:path w="4654646" h="88156">
                <a:moveTo>
                  <a:pt x="44078" y="0"/>
                </a:moveTo>
                <a:lnTo>
                  <a:pt x="4610568" y="0"/>
                </a:lnTo>
                <a:cubicBezTo>
                  <a:pt x="4634912" y="0"/>
                  <a:pt x="4654646" y="19734"/>
                  <a:pt x="4654646" y="44078"/>
                </a:cubicBezTo>
                <a:lnTo>
                  <a:pt x="4654646" y="44078"/>
                </a:lnTo>
                <a:cubicBezTo>
                  <a:pt x="4654646" y="68422"/>
                  <a:pt x="4634912" y="88156"/>
                  <a:pt x="4610568" y="88156"/>
                </a:cubicBezTo>
                <a:lnTo>
                  <a:pt x="44078" y="88156"/>
                </a:lnTo>
                <a:cubicBezTo>
                  <a:pt x="19734" y="88156"/>
                  <a:pt x="0" y="68422"/>
                  <a:pt x="0" y="44078"/>
                </a:cubicBezTo>
                <a:lnTo>
                  <a:pt x="0" y="44078"/>
                </a:lnTo>
                <a:cubicBezTo>
                  <a:pt x="0" y="19734"/>
                  <a:pt x="19734" y="0"/>
                  <a:pt x="44078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977700" y="4584121"/>
            <a:ext cx="229206" cy="88156"/>
          </a:xfrm>
          <a:custGeom>
            <a:avLst/>
            <a:gdLst/>
            <a:ahLst/>
            <a:cxnLst/>
            <a:rect l="l" t="t" r="r" b="b"/>
            <a:pathLst>
              <a:path w="229206" h="88156">
                <a:moveTo>
                  <a:pt x="44078" y="0"/>
                </a:moveTo>
                <a:lnTo>
                  <a:pt x="185128" y="0"/>
                </a:lnTo>
                <a:cubicBezTo>
                  <a:pt x="209472" y="0"/>
                  <a:pt x="229206" y="19734"/>
                  <a:pt x="229206" y="44078"/>
                </a:cubicBezTo>
                <a:lnTo>
                  <a:pt x="229206" y="44078"/>
                </a:lnTo>
                <a:cubicBezTo>
                  <a:pt x="229206" y="68422"/>
                  <a:pt x="209472" y="88156"/>
                  <a:pt x="185128" y="88156"/>
                </a:cubicBezTo>
                <a:lnTo>
                  <a:pt x="44078" y="88156"/>
                </a:lnTo>
                <a:cubicBezTo>
                  <a:pt x="19734" y="88156"/>
                  <a:pt x="0" y="68422"/>
                  <a:pt x="0" y="44078"/>
                </a:cubicBezTo>
                <a:lnTo>
                  <a:pt x="0" y="44078"/>
                </a:lnTo>
                <a:cubicBezTo>
                  <a:pt x="0" y="19734"/>
                  <a:pt x="19734" y="0"/>
                  <a:pt x="44078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2" name="Shape 40"/>
          <p:cNvSpPr/>
          <p:nvPr/>
        </p:nvSpPr>
        <p:spPr>
          <a:xfrm>
            <a:off x="6766125" y="5060165"/>
            <a:ext cx="5077796" cy="1798386"/>
          </a:xfrm>
          <a:custGeom>
            <a:avLst/>
            <a:gdLst/>
            <a:ahLst/>
            <a:cxnLst/>
            <a:rect l="l" t="t" r="r" b="b"/>
            <a:pathLst>
              <a:path w="5077796" h="1798386">
                <a:moveTo>
                  <a:pt x="141047" y="0"/>
                </a:moveTo>
                <a:lnTo>
                  <a:pt x="4936749" y="0"/>
                </a:lnTo>
                <a:cubicBezTo>
                  <a:pt x="5014647" y="0"/>
                  <a:pt x="5077796" y="63149"/>
                  <a:pt x="5077796" y="141047"/>
                </a:cubicBezTo>
                <a:lnTo>
                  <a:pt x="5077796" y="1657339"/>
                </a:lnTo>
                <a:cubicBezTo>
                  <a:pt x="5077796" y="1735237"/>
                  <a:pt x="5014647" y="1798386"/>
                  <a:pt x="4936749" y="1798386"/>
                </a:cubicBezTo>
                <a:lnTo>
                  <a:pt x="141047" y="1798386"/>
                </a:lnTo>
                <a:cubicBezTo>
                  <a:pt x="63149" y="1798386"/>
                  <a:pt x="0" y="1735237"/>
                  <a:pt x="0" y="1657339"/>
                </a:cubicBezTo>
                <a:lnTo>
                  <a:pt x="0" y="141047"/>
                </a:lnTo>
                <a:cubicBezTo>
                  <a:pt x="0" y="63201"/>
                  <a:pt x="63201" y="0"/>
                  <a:pt x="14104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6447" dist="8816" dir="5400000">
              <a:srgbClr val="000000">
                <a:alpha val="10196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942437" y="5236477"/>
            <a:ext cx="4804512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9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Beneficios Clave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942437" y="5624364"/>
            <a:ext cx="282100" cy="282100"/>
          </a:xfrm>
          <a:custGeom>
            <a:avLst/>
            <a:gdLst/>
            <a:ahLst/>
            <a:cxnLst/>
            <a:rect l="l" t="t" r="r" b="b"/>
            <a:pathLst>
              <a:path w="282100" h="282100">
                <a:moveTo>
                  <a:pt x="70525" y="0"/>
                </a:moveTo>
                <a:lnTo>
                  <a:pt x="211575" y="0"/>
                </a:lnTo>
                <a:cubicBezTo>
                  <a:pt x="250525" y="0"/>
                  <a:pt x="282100" y="31575"/>
                  <a:pt x="282100" y="70525"/>
                </a:cubicBezTo>
                <a:lnTo>
                  <a:pt x="282100" y="211575"/>
                </a:lnTo>
                <a:cubicBezTo>
                  <a:pt x="282100" y="250525"/>
                  <a:pt x="250525" y="282100"/>
                  <a:pt x="211575" y="282100"/>
                </a:cubicBezTo>
                <a:lnTo>
                  <a:pt x="70525" y="282100"/>
                </a:lnTo>
                <a:cubicBezTo>
                  <a:pt x="31575" y="282100"/>
                  <a:pt x="0" y="250525"/>
                  <a:pt x="0" y="211575"/>
                </a:cubicBezTo>
                <a:lnTo>
                  <a:pt x="0" y="70525"/>
                </a:lnTo>
                <a:cubicBezTo>
                  <a:pt x="0" y="31601"/>
                  <a:pt x="31601" y="0"/>
                  <a:pt x="70525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031695" y="5703705"/>
            <a:ext cx="107991" cy="123419"/>
          </a:xfrm>
          <a:custGeom>
            <a:avLst/>
            <a:gdLst/>
            <a:ahLst/>
            <a:cxnLst/>
            <a:rect l="l" t="t" r="r" b="b"/>
            <a:pathLst>
              <a:path w="107991" h="123419">
                <a:moveTo>
                  <a:pt x="104809" y="16898"/>
                </a:moveTo>
                <a:cubicBezTo>
                  <a:pt x="108256" y="19405"/>
                  <a:pt x="109028" y="24226"/>
                  <a:pt x="106521" y="27673"/>
                </a:cubicBezTo>
                <a:lnTo>
                  <a:pt x="44812" y="112523"/>
                </a:lnTo>
                <a:cubicBezTo>
                  <a:pt x="43486" y="114355"/>
                  <a:pt x="41437" y="115488"/>
                  <a:pt x="39171" y="115681"/>
                </a:cubicBezTo>
                <a:cubicBezTo>
                  <a:pt x="36905" y="115874"/>
                  <a:pt x="34711" y="115030"/>
                  <a:pt x="33121" y="113439"/>
                </a:cubicBezTo>
                <a:lnTo>
                  <a:pt x="2266" y="82584"/>
                </a:lnTo>
                <a:cubicBezTo>
                  <a:pt x="-747" y="79571"/>
                  <a:pt x="-747" y="74678"/>
                  <a:pt x="2266" y="71665"/>
                </a:cubicBezTo>
                <a:cubicBezTo>
                  <a:pt x="5279" y="68652"/>
                  <a:pt x="10172" y="68652"/>
                  <a:pt x="13186" y="71665"/>
                </a:cubicBezTo>
                <a:lnTo>
                  <a:pt x="37652" y="96132"/>
                </a:lnTo>
                <a:lnTo>
                  <a:pt x="94059" y="18585"/>
                </a:lnTo>
                <a:cubicBezTo>
                  <a:pt x="96565" y="15138"/>
                  <a:pt x="101386" y="14367"/>
                  <a:pt x="104834" y="16874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6" name="Text 44"/>
          <p:cNvSpPr/>
          <p:nvPr/>
        </p:nvSpPr>
        <p:spPr>
          <a:xfrm>
            <a:off x="7330324" y="5659627"/>
            <a:ext cx="1974698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Reducción de errores humanos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942437" y="6012252"/>
            <a:ext cx="282100" cy="282100"/>
          </a:xfrm>
          <a:custGeom>
            <a:avLst/>
            <a:gdLst/>
            <a:ahLst/>
            <a:cxnLst/>
            <a:rect l="l" t="t" r="r" b="b"/>
            <a:pathLst>
              <a:path w="282100" h="282100">
                <a:moveTo>
                  <a:pt x="70525" y="0"/>
                </a:moveTo>
                <a:lnTo>
                  <a:pt x="211575" y="0"/>
                </a:lnTo>
                <a:cubicBezTo>
                  <a:pt x="250525" y="0"/>
                  <a:pt x="282100" y="31575"/>
                  <a:pt x="282100" y="70525"/>
                </a:cubicBezTo>
                <a:lnTo>
                  <a:pt x="282100" y="211575"/>
                </a:lnTo>
                <a:cubicBezTo>
                  <a:pt x="282100" y="250525"/>
                  <a:pt x="250525" y="282100"/>
                  <a:pt x="211575" y="282100"/>
                </a:cubicBezTo>
                <a:lnTo>
                  <a:pt x="70525" y="282100"/>
                </a:lnTo>
                <a:cubicBezTo>
                  <a:pt x="31575" y="282100"/>
                  <a:pt x="0" y="250525"/>
                  <a:pt x="0" y="211575"/>
                </a:cubicBezTo>
                <a:lnTo>
                  <a:pt x="0" y="70525"/>
                </a:lnTo>
                <a:cubicBezTo>
                  <a:pt x="0" y="31601"/>
                  <a:pt x="31601" y="0"/>
                  <a:pt x="70525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031695" y="6091592"/>
            <a:ext cx="107991" cy="123419"/>
          </a:xfrm>
          <a:custGeom>
            <a:avLst/>
            <a:gdLst/>
            <a:ahLst/>
            <a:cxnLst/>
            <a:rect l="l" t="t" r="r" b="b"/>
            <a:pathLst>
              <a:path w="107991" h="123419">
                <a:moveTo>
                  <a:pt x="104809" y="16898"/>
                </a:moveTo>
                <a:cubicBezTo>
                  <a:pt x="108256" y="19405"/>
                  <a:pt x="109028" y="24226"/>
                  <a:pt x="106521" y="27673"/>
                </a:cubicBezTo>
                <a:lnTo>
                  <a:pt x="44812" y="112523"/>
                </a:lnTo>
                <a:cubicBezTo>
                  <a:pt x="43486" y="114355"/>
                  <a:pt x="41437" y="115488"/>
                  <a:pt x="39171" y="115681"/>
                </a:cubicBezTo>
                <a:cubicBezTo>
                  <a:pt x="36905" y="115874"/>
                  <a:pt x="34711" y="115030"/>
                  <a:pt x="33121" y="113439"/>
                </a:cubicBezTo>
                <a:lnTo>
                  <a:pt x="2266" y="82584"/>
                </a:lnTo>
                <a:cubicBezTo>
                  <a:pt x="-747" y="79571"/>
                  <a:pt x="-747" y="74678"/>
                  <a:pt x="2266" y="71665"/>
                </a:cubicBezTo>
                <a:cubicBezTo>
                  <a:pt x="5279" y="68652"/>
                  <a:pt x="10172" y="68652"/>
                  <a:pt x="13186" y="71665"/>
                </a:cubicBezTo>
                <a:lnTo>
                  <a:pt x="37652" y="96132"/>
                </a:lnTo>
                <a:lnTo>
                  <a:pt x="94059" y="18585"/>
                </a:lnTo>
                <a:cubicBezTo>
                  <a:pt x="96565" y="15138"/>
                  <a:pt x="101386" y="14367"/>
                  <a:pt x="104834" y="16874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9" name="Text 47"/>
          <p:cNvSpPr/>
          <p:nvPr/>
        </p:nvSpPr>
        <p:spPr>
          <a:xfrm>
            <a:off x="7330324" y="6047514"/>
            <a:ext cx="1904174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Ahorro de tiempo significativo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942437" y="6400139"/>
            <a:ext cx="282100" cy="282100"/>
          </a:xfrm>
          <a:custGeom>
            <a:avLst/>
            <a:gdLst/>
            <a:ahLst/>
            <a:cxnLst/>
            <a:rect l="l" t="t" r="r" b="b"/>
            <a:pathLst>
              <a:path w="282100" h="282100">
                <a:moveTo>
                  <a:pt x="70525" y="0"/>
                </a:moveTo>
                <a:lnTo>
                  <a:pt x="211575" y="0"/>
                </a:lnTo>
                <a:cubicBezTo>
                  <a:pt x="250525" y="0"/>
                  <a:pt x="282100" y="31575"/>
                  <a:pt x="282100" y="70525"/>
                </a:cubicBezTo>
                <a:lnTo>
                  <a:pt x="282100" y="211575"/>
                </a:lnTo>
                <a:cubicBezTo>
                  <a:pt x="282100" y="250525"/>
                  <a:pt x="250525" y="282100"/>
                  <a:pt x="211575" y="282100"/>
                </a:cubicBezTo>
                <a:lnTo>
                  <a:pt x="70525" y="282100"/>
                </a:lnTo>
                <a:cubicBezTo>
                  <a:pt x="31575" y="282100"/>
                  <a:pt x="0" y="250525"/>
                  <a:pt x="0" y="211575"/>
                </a:cubicBezTo>
                <a:lnTo>
                  <a:pt x="0" y="70525"/>
                </a:lnTo>
                <a:cubicBezTo>
                  <a:pt x="0" y="31601"/>
                  <a:pt x="31601" y="0"/>
                  <a:pt x="70525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031695" y="6479479"/>
            <a:ext cx="107991" cy="123419"/>
          </a:xfrm>
          <a:custGeom>
            <a:avLst/>
            <a:gdLst/>
            <a:ahLst/>
            <a:cxnLst/>
            <a:rect l="l" t="t" r="r" b="b"/>
            <a:pathLst>
              <a:path w="107991" h="123419">
                <a:moveTo>
                  <a:pt x="104809" y="16898"/>
                </a:moveTo>
                <a:cubicBezTo>
                  <a:pt x="108256" y="19405"/>
                  <a:pt x="109028" y="24226"/>
                  <a:pt x="106521" y="27673"/>
                </a:cubicBezTo>
                <a:lnTo>
                  <a:pt x="44812" y="112523"/>
                </a:lnTo>
                <a:cubicBezTo>
                  <a:pt x="43486" y="114355"/>
                  <a:pt x="41437" y="115488"/>
                  <a:pt x="39171" y="115681"/>
                </a:cubicBezTo>
                <a:cubicBezTo>
                  <a:pt x="36905" y="115874"/>
                  <a:pt x="34711" y="115030"/>
                  <a:pt x="33121" y="113439"/>
                </a:cubicBezTo>
                <a:lnTo>
                  <a:pt x="2266" y="82584"/>
                </a:lnTo>
                <a:cubicBezTo>
                  <a:pt x="-747" y="79571"/>
                  <a:pt x="-747" y="74678"/>
                  <a:pt x="2266" y="71665"/>
                </a:cubicBezTo>
                <a:cubicBezTo>
                  <a:pt x="5279" y="68652"/>
                  <a:pt x="10172" y="68652"/>
                  <a:pt x="13186" y="71665"/>
                </a:cubicBezTo>
                <a:lnTo>
                  <a:pt x="37652" y="96132"/>
                </a:lnTo>
                <a:lnTo>
                  <a:pt x="94059" y="18585"/>
                </a:lnTo>
                <a:cubicBezTo>
                  <a:pt x="96565" y="15138"/>
                  <a:pt x="101386" y="14367"/>
                  <a:pt x="104834" y="16874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52" name="Text 50"/>
          <p:cNvSpPr/>
          <p:nvPr/>
        </p:nvSpPr>
        <p:spPr>
          <a:xfrm>
            <a:off x="7330324" y="6435401"/>
            <a:ext cx="1472208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Escalabilidad operativa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Marketing y Ventas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049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Personalización inteligente y optimización de estrategias comerciales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562100"/>
            <a:ext cx="3686175" cy="3886200"/>
          </a:xfrm>
          <a:custGeom>
            <a:avLst/>
            <a:gdLst/>
            <a:ahLst/>
            <a:cxnLst/>
            <a:rect l="l" t="t" r="r" b="b"/>
            <a:pathLst>
              <a:path w="3686175" h="3886200">
                <a:moveTo>
                  <a:pt x="152386" y="0"/>
                </a:moveTo>
                <a:lnTo>
                  <a:pt x="3533789" y="0"/>
                </a:lnTo>
                <a:cubicBezTo>
                  <a:pt x="3617949" y="0"/>
                  <a:pt x="3686175" y="68226"/>
                  <a:pt x="3686175" y="152386"/>
                </a:cubicBezTo>
                <a:lnTo>
                  <a:pt x="3686175" y="3733814"/>
                </a:lnTo>
                <a:cubicBezTo>
                  <a:pt x="3686175" y="3817974"/>
                  <a:pt x="3617949" y="3886200"/>
                  <a:pt x="3533789" y="3886200"/>
                </a:cubicBezTo>
                <a:lnTo>
                  <a:pt x="152386" y="3886200"/>
                </a:lnTo>
                <a:cubicBezTo>
                  <a:pt x="68226" y="3886200"/>
                  <a:pt x="0" y="3817974"/>
                  <a:pt x="0" y="3733814"/>
                </a:cubicBezTo>
                <a:lnTo>
                  <a:pt x="0" y="152386"/>
                </a:lnTo>
                <a:cubicBezTo>
                  <a:pt x="0" y="68282"/>
                  <a:pt x="68282" y="0"/>
                  <a:pt x="15238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71500" y="1752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0071E3"/>
              </a:gs>
              <a:gs pos="100000">
                <a:srgbClr val="0071E3">
                  <a:alpha val="60000"/>
                </a:srgbClr>
              </a:gs>
            </a:gsLst>
            <a:lin ang="2700000" scaled="1"/>
          </a:gradFill>
          <a:ln/>
        </p:spPr>
      </p:sp>
      <p:sp>
        <p:nvSpPr>
          <p:cNvPr id="7" name="Shape 5"/>
          <p:cNvSpPr/>
          <p:nvPr/>
        </p:nvSpPr>
        <p:spPr>
          <a:xfrm>
            <a:off x="704850" y="18859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9766" y="59531"/>
                </a:moveTo>
                <a:cubicBezTo>
                  <a:pt x="36351" y="59531"/>
                  <a:pt x="41672" y="64852"/>
                  <a:pt x="41672" y="71438"/>
                </a:cubicBezTo>
                <a:lnTo>
                  <a:pt x="41672" y="166688"/>
                </a:lnTo>
                <a:cubicBezTo>
                  <a:pt x="41672" y="173273"/>
                  <a:pt x="36351" y="178594"/>
                  <a:pt x="29766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71438"/>
                </a:lnTo>
                <a:cubicBezTo>
                  <a:pt x="0" y="64852"/>
                  <a:pt x="5321" y="59531"/>
                  <a:pt x="11906" y="59531"/>
                </a:cubicBezTo>
                <a:lnTo>
                  <a:pt x="29766" y="59531"/>
                </a:lnTo>
                <a:close/>
                <a:moveTo>
                  <a:pt x="100682" y="5953"/>
                </a:moveTo>
                <a:cubicBezTo>
                  <a:pt x="110840" y="5953"/>
                  <a:pt x="119063" y="14176"/>
                  <a:pt x="119063" y="24333"/>
                </a:cubicBezTo>
                <a:lnTo>
                  <a:pt x="119063" y="25896"/>
                </a:lnTo>
                <a:cubicBezTo>
                  <a:pt x="119063" y="28426"/>
                  <a:pt x="118579" y="30956"/>
                  <a:pt x="117649" y="33300"/>
                </a:cubicBezTo>
                <a:lnTo>
                  <a:pt x="107156" y="59531"/>
                </a:lnTo>
                <a:lnTo>
                  <a:pt x="166688" y="59531"/>
                </a:lnTo>
                <a:cubicBezTo>
                  <a:pt x="176547" y="59531"/>
                  <a:pt x="184547" y="67531"/>
                  <a:pt x="184547" y="77391"/>
                </a:cubicBezTo>
                <a:cubicBezTo>
                  <a:pt x="184547" y="84720"/>
                  <a:pt x="180119" y="91008"/>
                  <a:pt x="173794" y="93762"/>
                </a:cubicBezTo>
                <a:cubicBezTo>
                  <a:pt x="180119" y="96515"/>
                  <a:pt x="184547" y="102803"/>
                  <a:pt x="184547" y="110133"/>
                </a:cubicBezTo>
                <a:cubicBezTo>
                  <a:pt x="184547" y="118839"/>
                  <a:pt x="178296" y="126095"/>
                  <a:pt x="170036" y="127657"/>
                </a:cubicBezTo>
                <a:cubicBezTo>
                  <a:pt x="171673" y="130373"/>
                  <a:pt x="172641" y="133536"/>
                  <a:pt x="172641" y="136922"/>
                </a:cubicBezTo>
                <a:cubicBezTo>
                  <a:pt x="172641" y="145182"/>
                  <a:pt x="167060" y="152102"/>
                  <a:pt x="159469" y="154149"/>
                </a:cubicBezTo>
                <a:cubicBezTo>
                  <a:pt x="160288" y="156195"/>
                  <a:pt x="160734" y="158428"/>
                  <a:pt x="160734" y="160734"/>
                </a:cubicBezTo>
                <a:cubicBezTo>
                  <a:pt x="160734" y="170594"/>
                  <a:pt x="152735" y="178594"/>
                  <a:pt x="142875" y="178594"/>
                </a:cubicBezTo>
                <a:lnTo>
                  <a:pt x="110170" y="178594"/>
                </a:lnTo>
                <a:cubicBezTo>
                  <a:pt x="96664" y="178594"/>
                  <a:pt x="83530" y="173980"/>
                  <a:pt x="73000" y="165534"/>
                </a:cubicBezTo>
                <a:lnTo>
                  <a:pt x="68461" y="161925"/>
                </a:lnTo>
                <a:cubicBezTo>
                  <a:pt x="62805" y="157423"/>
                  <a:pt x="59531" y="150577"/>
                  <a:pt x="59531" y="143321"/>
                </a:cubicBezTo>
                <a:lnTo>
                  <a:pt x="59531" y="73893"/>
                </a:lnTo>
                <a:cubicBezTo>
                  <a:pt x="59531" y="68349"/>
                  <a:pt x="60833" y="62880"/>
                  <a:pt x="63289" y="57931"/>
                </a:cubicBezTo>
                <a:lnTo>
                  <a:pt x="84200" y="16111"/>
                </a:lnTo>
                <a:cubicBezTo>
                  <a:pt x="87325" y="9897"/>
                  <a:pt x="93687" y="5953"/>
                  <a:pt x="100682" y="595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571500" y="2362200"/>
            <a:ext cx="3390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Personalización de Recomendaciones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" y="2705100"/>
            <a:ext cx="338137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Motores de recomendación analizan el comportamiento del usuario para sugerir productos o contenido relevante, aumentando las tasas de conversión.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500" y="3810000"/>
            <a:ext cx="3305175" cy="685800"/>
          </a:xfrm>
          <a:custGeom>
            <a:avLst/>
            <a:gdLst/>
            <a:ahLst/>
            <a:cxnLst/>
            <a:rect l="l" t="t" r="r" b="b"/>
            <a:pathLst>
              <a:path w="3305175" h="685800">
                <a:moveTo>
                  <a:pt x="114302" y="0"/>
                </a:moveTo>
                <a:lnTo>
                  <a:pt x="3190873" y="0"/>
                </a:lnTo>
                <a:cubicBezTo>
                  <a:pt x="3253958" y="0"/>
                  <a:pt x="3305175" y="51217"/>
                  <a:pt x="3305175" y="114302"/>
                </a:cubicBezTo>
                <a:lnTo>
                  <a:pt x="3305175" y="571498"/>
                </a:lnTo>
                <a:cubicBezTo>
                  <a:pt x="3305175" y="634583"/>
                  <a:pt x="3253958" y="685800"/>
                  <a:pt x="3190873" y="685800"/>
                </a:cubicBezTo>
                <a:lnTo>
                  <a:pt x="114302" y="685800"/>
                </a:lnTo>
                <a:cubicBezTo>
                  <a:pt x="51217" y="685800"/>
                  <a:pt x="0" y="634583"/>
                  <a:pt x="0" y="5714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962400"/>
            <a:ext cx="533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Amazon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23196" y="3924300"/>
            <a:ext cx="419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35%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4229100"/>
            <a:ext cx="3133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 ventas generadas por recomendaciones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71500" y="4572000"/>
            <a:ext cx="3305175" cy="685800"/>
          </a:xfrm>
          <a:custGeom>
            <a:avLst/>
            <a:gdLst/>
            <a:ahLst/>
            <a:cxnLst/>
            <a:rect l="l" t="t" r="r" b="b"/>
            <a:pathLst>
              <a:path w="3305175" h="685800">
                <a:moveTo>
                  <a:pt x="114302" y="0"/>
                </a:moveTo>
                <a:lnTo>
                  <a:pt x="3190873" y="0"/>
                </a:lnTo>
                <a:cubicBezTo>
                  <a:pt x="3253958" y="0"/>
                  <a:pt x="3305175" y="51217"/>
                  <a:pt x="3305175" y="114302"/>
                </a:cubicBezTo>
                <a:lnTo>
                  <a:pt x="3305175" y="571498"/>
                </a:lnTo>
                <a:cubicBezTo>
                  <a:pt x="3305175" y="634583"/>
                  <a:pt x="3253958" y="685800"/>
                  <a:pt x="3190873" y="685800"/>
                </a:cubicBezTo>
                <a:lnTo>
                  <a:pt x="114302" y="685800"/>
                </a:lnTo>
                <a:cubicBezTo>
                  <a:pt x="51217" y="685800"/>
                  <a:pt x="0" y="634583"/>
                  <a:pt x="0" y="5714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724400"/>
            <a:ext cx="438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Netflix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08462" y="4686300"/>
            <a:ext cx="438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80%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" y="4991100"/>
            <a:ext cx="3133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 contenido visto es recomendado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54401" y="1562100"/>
            <a:ext cx="3686175" cy="3886200"/>
          </a:xfrm>
          <a:custGeom>
            <a:avLst/>
            <a:gdLst/>
            <a:ahLst/>
            <a:cxnLst/>
            <a:rect l="l" t="t" r="r" b="b"/>
            <a:pathLst>
              <a:path w="3686175" h="3886200">
                <a:moveTo>
                  <a:pt x="152386" y="0"/>
                </a:moveTo>
                <a:lnTo>
                  <a:pt x="3533789" y="0"/>
                </a:lnTo>
                <a:cubicBezTo>
                  <a:pt x="3617949" y="0"/>
                  <a:pt x="3686175" y="68226"/>
                  <a:pt x="3686175" y="152386"/>
                </a:cubicBezTo>
                <a:lnTo>
                  <a:pt x="3686175" y="3733814"/>
                </a:lnTo>
                <a:cubicBezTo>
                  <a:pt x="3686175" y="3817974"/>
                  <a:pt x="3617949" y="3886200"/>
                  <a:pt x="3533789" y="3886200"/>
                </a:cubicBezTo>
                <a:lnTo>
                  <a:pt x="152386" y="3886200"/>
                </a:lnTo>
                <a:cubicBezTo>
                  <a:pt x="68226" y="3886200"/>
                  <a:pt x="0" y="3817974"/>
                  <a:pt x="0" y="3733814"/>
                </a:cubicBezTo>
                <a:lnTo>
                  <a:pt x="0" y="152386"/>
                </a:lnTo>
                <a:cubicBezTo>
                  <a:pt x="0" y="68282"/>
                  <a:pt x="68282" y="0"/>
                  <a:pt x="15238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444901" y="1752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0071E3"/>
              </a:gs>
              <a:gs pos="100000">
                <a:srgbClr val="0071E3">
                  <a:alpha val="60000"/>
                </a:srgbClr>
              </a:gs>
            </a:gsLst>
            <a:lin ang="2700000" scaled="1"/>
          </a:gradFill>
          <a:ln/>
        </p:spPr>
      </p:sp>
      <p:sp>
        <p:nvSpPr>
          <p:cNvPr id="20" name="Shape 18"/>
          <p:cNvSpPr/>
          <p:nvPr/>
        </p:nvSpPr>
        <p:spPr>
          <a:xfrm>
            <a:off x="4578251" y="18859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6688" y="95250"/>
                </a:moveTo>
                <a:cubicBezTo>
                  <a:pt x="166688" y="55823"/>
                  <a:pt x="134677" y="23812"/>
                  <a:pt x="95250" y="23812"/>
                </a:cubicBezTo>
                <a:cubicBezTo>
                  <a:pt x="55823" y="23812"/>
                  <a:pt x="23813" y="55823"/>
                  <a:pt x="23812" y="95250"/>
                </a:cubicBezTo>
                <a:cubicBezTo>
                  <a:pt x="23812" y="134677"/>
                  <a:pt x="55823" y="166688"/>
                  <a:pt x="95250" y="166688"/>
                </a:cubicBezTo>
                <a:cubicBezTo>
                  <a:pt x="134677" y="166688"/>
                  <a:pt x="166688" y="134677"/>
                  <a:pt x="166688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25016"/>
                </a:moveTo>
                <a:cubicBezTo>
                  <a:pt x="111678" y="125016"/>
                  <a:pt x="125016" y="111678"/>
                  <a:pt x="125016" y="95250"/>
                </a:cubicBezTo>
                <a:cubicBezTo>
                  <a:pt x="125016" y="78822"/>
                  <a:pt x="111678" y="65484"/>
                  <a:pt x="95250" y="65484"/>
                </a:cubicBezTo>
                <a:cubicBezTo>
                  <a:pt x="78822" y="65484"/>
                  <a:pt x="65484" y="78822"/>
                  <a:pt x="65484" y="95250"/>
                </a:cubicBezTo>
                <a:cubicBezTo>
                  <a:pt x="65484" y="111678"/>
                  <a:pt x="78822" y="125016"/>
                  <a:pt x="95250" y="125016"/>
                </a:cubicBezTo>
                <a:close/>
                <a:moveTo>
                  <a:pt x="95250" y="41672"/>
                </a:moveTo>
                <a:cubicBezTo>
                  <a:pt x="124821" y="41672"/>
                  <a:pt x="148828" y="65679"/>
                  <a:pt x="148828" y="95250"/>
                </a:cubicBezTo>
                <a:cubicBezTo>
                  <a:pt x="148828" y="124821"/>
                  <a:pt x="124821" y="148828"/>
                  <a:pt x="95250" y="148828"/>
                </a:cubicBezTo>
                <a:cubicBezTo>
                  <a:pt x="65679" y="148828"/>
                  <a:pt x="41672" y="124821"/>
                  <a:pt x="41672" y="95250"/>
                </a:cubicBezTo>
                <a:cubicBezTo>
                  <a:pt x="41672" y="65679"/>
                  <a:pt x="65679" y="41672"/>
                  <a:pt x="95250" y="41672"/>
                </a:cubicBezTo>
                <a:close/>
                <a:moveTo>
                  <a:pt x="83344" y="95250"/>
                </a:moveTo>
                <a:cubicBezTo>
                  <a:pt x="83344" y="88679"/>
                  <a:pt x="88679" y="83344"/>
                  <a:pt x="95250" y="83344"/>
                </a:cubicBezTo>
                <a:cubicBezTo>
                  <a:pt x="101821" y="83344"/>
                  <a:pt x="107156" y="88679"/>
                  <a:pt x="107156" y="95250"/>
                </a:cubicBezTo>
                <a:cubicBezTo>
                  <a:pt x="107156" y="101821"/>
                  <a:pt x="101821" y="107156"/>
                  <a:pt x="95250" y="107156"/>
                </a:cubicBezTo>
                <a:cubicBezTo>
                  <a:pt x="88679" y="107156"/>
                  <a:pt x="83344" y="101821"/>
                  <a:pt x="83344" y="952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4444901" y="2362200"/>
            <a:ext cx="3390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Optimización de Campañas Publicitarias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444901" y="2705100"/>
            <a:ext cx="3381375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Modelos de ML predicen el rendimiento de anuncios, optimizan la segmentación de audiencia y ajustan presupuestos en tiempo real para maximizar el ROI.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444901" y="3886200"/>
            <a:ext cx="3305175" cy="1371600"/>
          </a:xfrm>
          <a:custGeom>
            <a:avLst/>
            <a:gdLst/>
            <a:ahLst/>
            <a:cxnLst/>
            <a:rect l="l" t="t" r="r" b="b"/>
            <a:pathLst>
              <a:path w="3305175" h="1371600">
                <a:moveTo>
                  <a:pt x="114295" y="0"/>
                </a:moveTo>
                <a:lnTo>
                  <a:pt x="3190880" y="0"/>
                </a:lnTo>
                <a:cubicBezTo>
                  <a:pt x="3253961" y="0"/>
                  <a:pt x="3305175" y="51214"/>
                  <a:pt x="3305175" y="114295"/>
                </a:cubicBezTo>
                <a:lnTo>
                  <a:pt x="3305175" y="1257305"/>
                </a:lnTo>
                <a:cubicBezTo>
                  <a:pt x="3305175" y="1320386"/>
                  <a:pt x="3253961" y="1371600"/>
                  <a:pt x="3190880" y="1371600"/>
                </a:cubicBezTo>
                <a:lnTo>
                  <a:pt x="114295" y="1371600"/>
                </a:lnTo>
                <a:cubicBezTo>
                  <a:pt x="51214" y="1371600"/>
                  <a:pt x="0" y="1320386"/>
                  <a:pt x="0" y="12573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24" name="Text 22"/>
          <p:cNvSpPr/>
          <p:nvPr/>
        </p:nvSpPr>
        <p:spPr>
          <a:xfrm>
            <a:off x="4540151" y="4324350"/>
            <a:ext cx="15525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+45%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68726" y="4667250"/>
            <a:ext cx="14954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CTR Mejorado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095851" y="4324350"/>
            <a:ext cx="15525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-30%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124426" y="4667250"/>
            <a:ext cx="14954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Costo por Adquisición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127950" y="1562100"/>
            <a:ext cx="3686175" cy="3886200"/>
          </a:xfrm>
          <a:custGeom>
            <a:avLst/>
            <a:gdLst/>
            <a:ahLst/>
            <a:cxnLst/>
            <a:rect l="l" t="t" r="r" b="b"/>
            <a:pathLst>
              <a:path w="3686175" h="3886200">
                <a:moveTo>
                  <a:pt x="152386" y="0"/>
                </a:moveTo>
                <a:lnTo>
                  <a:pt x="3533789" y="0"/>
                </a:lnTo>
                <a:cubicBezTo>
                  <a:pt x="3617949" y="0"/>
                  <a:pt x="3686175" y="68226"/>
                  <a:pt x="3686175" y="152386"/>
                </a:cubicBezTo>
                <a:lnTo>
                  <a:pt x="3686175" y="3733814"/>
                </a:lnTo>
                <a:cubicBezTo>
                  <a:pt x="3686175" y="3817974"/>
                  <a:pt x="3617949" y="3886200"/>
                  <a:pt x="3533789" y="3886200"/>
                </a:cubicBezTo>
                <a:lnTo>
                  <a:pt x="152386" y="3886200"/>
                </a:lnTo>
                <a:cubicBezTo>
                  <a:pt x="68226" y="3886200"/>
                  <a:pt x="0" y="3817974"/>
                  <a:pt x="0" y="3733814"/>
                </a:cubicBezTo>
                <a:lnTo>
                  <a:pt x="0" y="152386"/>
                </a:lnTo>
                <a:cubicBezTo>
                  <a:pt x="0" y="68282"/>
                  <a:pt x="68282" y="0"/>
                  <a:pt x="15238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318450" y="1752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0071E3"/>
              </a:gs>
              <a:gs pos="100000">
                <a:srgbClr val="0071E3">
                  <a:alpha val="60000"/>
                </a:srgbClr>
              </a:gs>
            </a:gsLst>
            <a:lin ang="2700000" scaled="1"/>
          </a:gradFill>
          <a:ln/>
        </p:spPr>
      </p:sp>
      <p:sp>
        <p:nvSpPr>
          <p:cNvPr id="30" name="Shape 28"/>
          <p:cNvSpPr/>
          <p:nvPr/>
        </p:nvSpPr>
        <p:spPr>
          <a:xfrm>
            <a:off x="8451800" y="18859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61540" y="119769"/>
                </a:moveTo>
                <a:cubicBezTo>
                  <a:pt x="69131" y="130187"/>
                  <a:pt x="81409" y="136922"/>
                  <a:pt x="95250" y="136922"/>
                </a:cubicBezTo>
                <a:cubicBezTo>
                  <a:pt x="109091" y="136922"/>
                  <a:pt x="121369" y="130187"/>
                  <a:pt x="128960" y="119769"/>
                </a:cubicBezTo>
                <a:cubicBezTo>
                  <a:pt x="131862" y="115788"/>
                  <a:pt x="137443" y="114895"/>
                  <a:pt x="141424" y="117797"/>
                </a:cubicBezTo>
                <a:cubicBezTo>
                  <a:pt x="145405" y="120700"/>
                  <a:pt x="146298" y="126281"/>
                  <a:pt x="143396" y="130262"/>
                </a:cubicBezTo>
                <a:cubicBezTo>
                  <a:pt x="132569" y="145107"/>
                  <a:pt x="115044" y="154781"/>
                  <a:pt x="95250" y="154781"/>
                </a:cubicBezTo>
                <a:cubicBezTo>
                  <a:pt x="75456" y="154781"/>
                  <a:pt x="57931" y="145107"/>
                  <a:pt x="47104" y="130262"/>
                </a:cubicBezTo>
                <a:cubicBezTo>
                  <a:pt x="44202" y="126281"/>
                  <a:pt x="45095" y="120700"/>
                  <a:pt x="49076" y="117797"/>
                </a:cubicBezTo>
                <a:cubicBezTo>
                  <a:pt x="53057" y="114895"/>
                  <a:pt x="58638" y="115788"/>
                  <a:pt x="61540" y="119769"/>
                </a:cubicBezTo>
                <a:close/>
                <a:moveTo>
                  <a:pt x="53578" y="77391"/>
                </a:moveTo>
                <a:cubicBezTo>
                  <a:pt x="53578" y="70819"/>
                  <a:pt x="58913" y="65484"/>
                  <a:pt x="65484" y="65484"/>
                </a:cubicBezTo>
                <a:cubicBezTo>
                  <a:pt x="72056" y="65484"/>
                  <a:pt x="77391" y="70819"/>
                  <a:pt x="77391" y="77391"/>
                </a:cubicBezTo>
                <a:cubicBezTo>
                  <a:pt x="77391" y="83962"/>
                  <a:pt x="72056" y="89297"/>
                  <a:pt x="65484" y="89297"/>
                </a:cubicBezTo>
                <a:cubicBezTo>
                  <a:pt x="58913" y="89297"/>
                  <a:pt x="53578" y="83962"/>
                  <a:pt x="53578" y="77391"/>
                </a:cubicBezTo>
                <a:close/>
                <a:moveTo>
                  <a:pt x="125016" y="65484"/>
                </a:moveTo>
                <a:cubicBezTo>
                  <a:pt x="131587" y="65484"/>
                  <a:pt x="136922" y="70819"/>
                  <a:pt x="136922" y="77391"/>
                </a:cubicBezTo>
                <a:cubicBezTo>
                  <a:pt x="136922" y="83962"/>
                  <a:pt x="131587" y="89297"/>
                  <a:pt x="125016" y="89297"/>
                </a:cubicBezTo>
                <a:cubicBezTo>
                  <a:pt x="118444" y="89297"/>
                  <a:pt x="113109" y="83962"/>
                  <a:pt x="113109" y="77391"/>
                </a:cubicBezTo>
                <a:cubicBezTo>
                  <a:pt x="113109" y="70819"/>
                  <a:pt x="118444" y="65484"/>
                  <a:pt x="125016" y="6548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8318450" y="2362200"/>
            <a:ext cx="3390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Análisis de Sentimiento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318450" y="2705100"/>
            <a:ext cx="3381375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Evaluación automática de opiniones en redes sociales, reseñas y encuestas para comprender la percepción de marca y responder proactivamente.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318450" y="3886200"/>
            <a:ext cx="3305175" cy="1371600"/>
          </a:xfrm>
          <a:custGeom>
            <a:avLst/>
            <a:gdLst/>
            <a:ahLst/>
            <a:cxnLst/>
            <a:rect l="l" t="t" r="r" b="b"/>
            <a:pathLst>
              <a:path w="3305175" h="1371600">
                <a:moveTo>
                  <a:pt x="114295" y="0"/>
                </a:moveTo>
                <a:lnTo>
                  <a:pt x="3190880" y="0"/>
                </a:lnTo>
                <a:cubicBezTo>
                  <a:pt x="3253961" y="0"/>
                  <a:pt x="3305175" y="51214"/>
                  <a:pt x="3305175" y="114295"/>
                </a:cubicBezTo>
                <a:lnTo>
                  <a:pt x="3305175" y="1257305"/>
                </a:lnTo>
                <a:cubicBezTo>
                  <a:pt x="3305175" y="1320386"/>
                  <a:pt x="3253961" y="1371600"/>
                  <a:pt x="3190880" y="1371600"/>
                </a:cubicBezTo>
                <a:lnTo>
                  <a:pt x="114295" y="1371600"/>
                </a:lnTo>
                <a:cubicBezTo>
                  <a:pt x="51214" y="1371600"/>
                  <a:pt x="0" y="1320386"/>
                  <a:pt x="0" y="12573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34" name="Text 32"/>
          <p:cNvSpPr/>
          <p:nvPr/>
        </p:nvSpPr>
        <p:spPr>
          <a:xfrm>
            <a:off x="8470850" y="4171950"/>
            <a:ext cx="590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Precisión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1124158" y="4133850"/>
            <a:ext cx="428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89%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470850" y="4438650"/>
            <a:ext cx="3000375" cy="76200"/>
          </a:xfrm>
          <a:custGeom>
            <a:avLst/>
            <a:gdLst/>
            <a:ahLst/>
            <a:cxnLst/>
            <a:rect l="l" t="t" r="r" b="b"/>
            <a:pathLst>
              <a:path w="3000375" h="76200">
                <a:moveTo>
                  <a:pt x="38100" y="0"/>
                </a:moveTo>
                <a:lnTo>
                  <a:pt x="2962275" y="0"/>
                </a:lnTo>
                <a:cubicBezTo>
                  <a:pt x="2983303" y="0"/>
                  <a:pt x="3000375" y="17072"/>
                  <a:pt x="3000375" y="38100"/>
                </a:cubicBezTo>
                <a:lnTo>
                  <a:pt x="3000375" y="38100"/>
                </a:lnTo>
                <a:cubicBezTo>
                  <a:pt x="3000375" y="59128"/>
                  <a:pt x="2983303" y="76200"/>
                  <a:pt x="296227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6868B">
              <a:alpha val="2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470850" y="4438650"/>
            <a:ext cx="2667000" cy="76200"/>
          </a:xfrm>
          <a:custGeom>
            <a:avLst/>
            <a:gdLst/>
            <a:ahLst/>
            <a:cxnLst/>
            <a:rect l="l" t="t" r="r" b="b"/>
            <a:pathLst>
              <a:path w="2667000" h="76200">
                <a:moveTo>
                  <a:pt x="38100" y="0"/>
                </a:moveTo>
                <a:lnTo>
                  <a:pt x="2628900" y="0"/>
                </a:lnTo>
                <a:cubicBezTo>
                  <a:pt x="2649928" y="0"/>
                  <a:pt x="2667000" y="17072"/>
                  <a:pt x="2667000" y="38100"/>
                </a:cubicBezTo>
                <a:lnTo>
                  <a:pt x="2667000" y="38100"/>
                </a:lnTo>
                <a:cubicBezTo>
                  <a:pt x="2667000" y="59128"/>
                  <a:pt x="2649928" y="76200"/>
                  <a:pt x="26289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8" name="Text 36"/>
          <p:cNvSpPr/>
          <p:nvPr/>
        </p:nvSpPr>
        <p:spPr>
          <a:xfrm>
            <a:off x="8470850" y="4667250"/>
            <a:ext cx="781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Tiempo Real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220301" y="4629150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&lt;1s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470850" y="4933950"/>
            <a:ext cx="3000375" cy="76200"/>
          </a:xfrm>
          <a:custGeom>
            <a:avLst/>
            <a:gdLst/>
            <a:ahLst/>
            <a:cxnLst/>
            <a:rect l="l" t="t" r="r" b="b"/>
            <a:pathLst>
              <a:path w="3000375" h="76200">
                <a:moveTo>
                  <a:pt x="38100" y="0"/>
                </a:moveTo>
                <a:lnTo>
                  <a:pt x="2962275" y="0"/>
                </a:lnTo>
                <a:cubicBezTo>
                  <a:pt x="2983303" y="0"/>
                  <a:pt x="3000375" y="17072"/>
                  <a:pt x="3000375" y="38100"/>
                </a:cubicBezTo>
                <a:lnTo>
                  <a:pt x="3000375" y="38100"/>
                </a:lnTo>
                <a:cubicBezTo>
                  <a:pt x="3000375" y="59128"/>
                  <a:pt x="2983303" y="76200"/>
                  <a:pt x="296227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6868B">
              <a:alpha val="2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470850" y="4933950"/>
            <a:ext cx="2847975" cy="76200"/>
          </a:xfrm>
          <a:custGeom>
            <a:avLst/>
            <a:gdLst/>
            <a:ahLst/>
            <a:cxnLst/>
            <a:rect l="l" t="t" r="r" b="b"/>
            <a:pathLst>
              <a:path w="2847975" h="76200">
                <a:moveTo>
                  <a:pt x="38100" y="0"/>
                </a:moveTo>
                <a:lnTo>
                  <a:pt x="2809875" y="0"/>
                </a:lnTo>
                <a:cubicBezTo>
                  <a:pt x="2830903" y="0"/>
                  <a:pt x="2847975" y="17072"/>
                  <a:pt x="2847975" y="38100"/>
                </a:cubicBezTo>
                <a:lnTo>
                  <a:pt x="2847975" y="38100"/>
                </a:lnTo>
                <a:cubicBezTo>
                  <a:pt x="2847975" y="59128"/>
                  <a:pt x="2830903" y="76200"/>
                  <a:pt x="280987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2" name="Shape 40"/>
          <p:cNvSpPr/>
          <p:nvPr/>
        </p:nvSpPr>
        <p:spPr>
          <a:xfrm>
            <a:off x="381000" y="5600700"/>
            <a:ext cx="2743200" cy="876300"/>
          </a:xfrm>
          <a:custGeom>
            <a:avLst/>
            <a:gdLst/>
            <a:ahLst/>
            <a:cxnLst/>
            <a:rect l="l" t="t" r="r" b="b"/>
            <a:pathLst>
              <a:path w="2743200" h="876300">
                <a:moveTo>
                  <a:pt x="114296" y="0"/>
                </a:moveTo>
                <a:lnTo>
                  <a:pt x="2628904" y="0"/>
                </a:lnTo>
                <a:cubicBezTo>
                  <a:pt x="2692028" y="0"/>
                  <a:pt x="2743200" y="51172"/>
                  <a:pt x="2743200" y="114296"/>
                </a:cubicBezTo>
                <a:lnTo>
                  <a:pt x="2743200" y="762004"/>
                </a:lnTo>
                <a:cubicBezTo>
                  <a:pt x="2743200" y="825128"/>
                  <a:pt x="2692028" y="876300"/>
                  <a:pt x="2628904" y="876300"/>
                </a:cubicBezTo>
                <a:lnTo>
                  <a:pt x="114296" y="876300"/>
                </a:lnTo>
                <a:cubicBezTo>
                  <a:pt x="51172" y="876300"/>
                  <a:pt x="0" y="825128"/>
                  <a:pt x="0" y="762004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61963" y="5753100"/>
            <a:ext cx="25812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3.2x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00063" y="6134100"/>
            <a:ext cx="2505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ROI en Marketing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276600" y="5600700"/>
            <a:ext cx="2743200" cy="876300"/>
          </a:xfrm>
          <a:custGeom>
            <a:avLst/>
            <a:gdLst/>
            <a:ahLst/>
            <a:cxnLst/>
            <a:rect l="l" t="t" r="r" b="b"/>
            <a:pathLst>
              <a:path w="2743200" h="876300">
                <a:moveTo>
                  <a:pt x="114296" y="0"/>
                </a:moveTo>
                <a:lnTo>
                  <a:pt x="2628904" y="0"/>
                </a:lnTo>
                <a:cubicBezTo>
                  <a:pt x="2692028" y="0"/>
                  <a:pt x="2743200" y="51172"/>
                  <a:pt x="2743200" y="114296"/>
                </a:cubicBezTo>
                <a:lnTo>
                  <a:pt x="2743200" y="762004"/>
                </a:lnTo>
                <a:cubicBezTo>
                  <a:pt x="2743200" y="825128"/>
                  <a:pt x="2692028" y="876300"/>
                  <a:pt x="2628904" y="876300"/>
                </a:cubicBezTo>
                <a:lnTo>
                  <a:pt x="114296" y="876300"/>
                </a:lnTo>
                <a:cubicBezTo>
                  <a:pt x="51172" y="876300"/>
                  <a:pt x="0" y="825128"/>
                  <a:pt x="0" y="762004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3357563" y="5753100"/>
            <a:ext cx="25812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+60%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3395663" y="6134100"/>
            <a:ext cx="2505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Conversión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172200" y="5600700"/>
            <a:ext cx="2743200" cy="876300"/>
          </a:xfrm>
          <a:custGeom>
            <a:avLst/>
            <a:gdLst/>
            <a:ahLst/>
            <a:cxnLst/>
            <a:rect l="l" t="t" r="r" b="b"/>
            <a:pathLst>
              <a:path w="2743200" h="876300">
                <a:moveTo>
                  <a:pt x="114296" y="0"/>
                </a:moveTo>
                <a:lnTo>
                  <a:pt x="2628904" y="0"/>
                </a:lnTo>
                <a:cubicBezTo>
                  <a:pt x="2692028" y="0"/>
                  <a:pt x="2743200" y="51172"/>
                  <a:pt x="2743200" y="114296"/>
                </a:cubicBezTo>
                <a:lnTo>
                  <a:pt x="2743200" y="762004"/>
                </a:lnTo>
                <a:cubicBezTo>
                  <a:pt x="2743200" y="825128"/>
                  <a:pt x="2692028" y="876300"/>
                  <a:pt x="2628904" y="876300"/>
                </a:cubicBezTo>
                <a:lnTo>
                  <a:pt x="114296" y="876300"/>
                </a:lnTo>
                <a:cubicBezTo>
                  <a:pt x="51172" y="876300"/>
                  <a:pt x="0" y="825128"/>
                  <a:pt x="0" y="762004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6253163" y="5753100"/>
            <a:ext cx="25812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-40%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291263" y="6134100"/>
            <a:ext cx="2505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Churn Rate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9067800" y="5600700"/>
            <a:ext cx="2743200" cy="876300"/>
          </a:xfrm>
          <a:custGeom>
            <a:avLst/>
            <a:gdLst/>
            <a:ahLst/>
            <a:cxnLst/>
            <a:rect l="l" t="t" r="r" b="b"/>
            <a:pathLst>
              <a:path w="2743200" h="876300">
                <a:moveTo>
                  <a:pt x="114296" y="0"/>
                </a:moveTo>
                <a:lnTo>
                  <a:pt x="2628904" y="0"/>
                </a:lnTo>
                <a:cubicBezTo>
                  <a:pt x="2692028" y="0"/>
                  <a:pt x="2743200" y="51172"/>
                  <a:pt x="2743200" y="114296"/>
                </a:cubicBezTo>
                <a:lnTo>
                  <a:pt x="2743200" y="762004"/>
                </a:lnTo>
                <a:cubicBezTo>
                  <a:pt x="2743200" y="825128"/>
                  <a:pt x="2692028" y="876300"/>
                  <a:pt x="2628904" y="876300"/>
                </a:cubicBezTo>
                <a:lnTo>
                  <a:pt x="114296" y="876300"/>
                </a:lnTo>
                <a:cubicBezTo>
                  <a:pt x="51172" y="876300"/>
                  <a:pt x="0" y="825128"/>
                  <a:pt x="0" y="762004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9148763" y="5753100"/>
            <a:ext cx="25812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+25%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9186863" y="6134100"/>
            <a:ext cx="2505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LTV Cliente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owardsdatascience.com/2d6cc5b534db5379319425f322673b1b2e4e9e35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21826" b="2182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D1D1F">
                  <a:alpha val="90000"/>
                </a:srgbClr>
              </a:gs>
              <a:gs pos="50000">
                <a:srgbClr val="1D1D1F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10284916" y="1323975"/>
            <a:ext cx="1524000" cy="419100"/>
          </a:xfrm>
          <a:custGeom>
            <a:avLst/>
            <a:gdLst/>
            <a:ahLst/>
            <a:cxnLst/>
            <a:rect l="l" t="t" r="r" b="b"/>
            <a:pathLst>
              <a:path w="1524000" h="419100">
                <a:moveTo>
                  <a:pt x="209550" y="0"/>
                </a:moveTo>
                <a:lnTo>
                  <a:pt x="1314450" y="0"/>
                </a:lnTo>
                <a:cubicBezTo>
                  <a:pt x="1430104" y="0"/>
                  <a:pt x="1524000" y="93896"/>
                  <a:pt x="1524000" y="209550"/>
                </a:cubicBezTo>
                <a:lnTo>
                  <a:pt x="1524000" y="209550"/>
                </a:lnTo>
                <a:cubicBezTo>
                  <a:pt x="1524000" y="325204"/>
                  <a:pt x="1430104" y="419100"/>
                  <a:pt x="1314450" y="419100"/>
                </a:cubicBezTo>
                <a:lnTo>
                  <a:pt x="209550" y="419100"/>
                </a:lnTo>
                <a:cubicBezTo>
                  <a:pt x="93896" y="419100"/>
                  <a:pt x="0" y="325204"/>
                  <a:pt x="0" y="209550"/>
                </a:cubicBezTo>
                <a:lnTo>
                  <a:pt x="0" y="209550"/>
                </a:lnTo>
                <a:cubicBezTo>
                  <a:pt x="0" y="93896"/>
                  <a:pt x="93896" y="0"/>
                  <a:pt x="20955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5" name="Text 2"/>
          <p:cNvSpPr/>
          <p:nvPr/>
        </p:nvSpPr>
        <p:spPr>
          <a:xfrm>
            <a:off x="10427791" y="1409700"/>
            <a:ext cx="115460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50" b="1" spc="68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Sección 02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375499" y="2047875"/>
            <a:ext cx="5438775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5400" b="1" dirty="0">
                <a:solidFill>
                  <a:srgbClr val="F5F5F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Deep Learning</a:t>
            </a:r>
            <a:endParaRPr lang="en-US" sz="1600" dirty="0"/>
          </a:p>
          <a:p>
            <a:pPr algn="r">
              <a:lnSpc>
                <a:spcPct val="100000"/>
              </a:lnSpc>
            </a:pPr>
            <a:r>
              <a:rPr lang="en-US" sz="540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 Empresas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604099" y="4067175"/>
            <a:ext cx="52101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800" dirty="0">
                <a:solidFill>
                  <a:srgbClr val="F5F5F7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Redes neuronales avanzadas para el procesamiento</a:t>
            </a:r>
            <a:endParaRPr lang="en-US" sz="1600" dirty="0"/>
          </a:p>
          <a:p>
            <a:pPr algn="r">
              <a:lnSpc>
                <a:spcPct val="140000"/>
              </a:lnSpc>
            </a:pPr>
            <a:r>
              <a:rPr lang="en-US" sz="1800" dirty="0">
                <a:solidFill>
                  <a:srgbClr val="F5F5F7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 datos complejos: imágenes, textos y audio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855172" y="530542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7156" y="11906"/>
                </a:moveTo>
                <a:cubicBezTo>
                  <a:pt x="77093" y="11906"/>
                  <a:pt x="53020" y="25598"/>
                  <a:pt x="35496" y="41895"/>
                </a:cubicBezTo>
                <a:cubicBezTo>
                  <a:pt x="18083" y="58080"/>
                  <a:pt x="6437" y="77391"/>
                  <a:pt x="893" y="90674"/>
                </a:cubicBezTo>
                <a:cubicBezTo>
                  <a:pt x="-335" y="93613"/>
                  <a:pt x="-335" y="96887"/>
                  <a:pt x="893" y="99826"/>
                </a:cubicBezTo>
                <a:cubicBezTo>
                  <a:pt x="6437" y="113109"/>
                  <a:pt x="18083" y="132457"/>
                  <a:pt x="35496" y="148605"/>
                </a:cubicBezTo>
                <a:cubicBezTo>
                  <a:pt x="53020" y="164864"/>
                  <a:pt x="77093" y="178594"/>
                  <a:pt x="107156" y="178594"/>
                </a:cubicBezTo>
                <a:cubicBezTo>
                  <a:pt x="137220" y="178594"/>
                  <a:pt x="161292" y="164902"/>
                  <a:pt x="178817" y="148605"/>
                </a:cubicBezTo>
                <a:cubicBezTo>
                  <a:pt x="196230" y="132420"/>
                  <a:pt x="207876" y="113109"/>
                  <a:pt x="213420" y="99826"/>
                </a:cubicBezTo>
                <a:cubicBezTo>
                  <a:pt x="214647" y="96887"/>
                  <a:pt x="214647" y="93613"/>
                  <a:pt x="213420" y="90674"/>
                </a:cubicBezTo>
                <a:cubicBezTo>
                  <a:pt x="207876" y="77391"/>
                  <a:pt x="196230" y="58043"/>
                  <a:pt x="178817" y="41895"/>
                </a:cubicBezTo>
                <a:cubicBezTo>
                  <a:pt x="161292" y="25636"/>
                  <a:pt x="137220" y="11906"/>
                  <a:pt x="107156" y="11906"/>
                </a:cubicBezTo>
                <a:close/>
                <a:moveTo>
                  <a:pt x="53578" y="95250"/>
                </a:moveTo>
                <a:cubicBezTo>
                  <a:pt x="53578" y="65679"/>
                  <a:pt x="77586" y="41672"/>
                  <a:pt x="107156" y="41672"/>
                </a:cubicBezTo>
                <a:cubicBezTo>
                  <a:pt x="136727" y="41672"/>
                  <a:pt x="160734" y="65679"/>
                  <a:pt x="160734" y="95250"/>
                </a:cubicBezTo>
                <a:cubicBezTo>
                  <a:pt x="160734" y="124821"/>
                  <a:pt x="136727" y="148828"/>
                  <a:pt x="107156" y="148828"/>
                </a:cubicBezTo>
                <a:cubicBezTo>
                  <a:pt x="77586" y="148828"/>
                  <a:pt x="53578" y="124821"/>
                  <a:pt x="53578" y="95250"/>
                </a:cubicBezTo>
                <a:close/>
                <a:moveTo>
                  <a:pt x="107156" y="71438"/>
                </a:moveTo>
                <a:cubicBezTo>
                  <a:pt x="107156" y="84572"/>
                  <a:pt x="96478" y="95250"/>
                  <a:pt x="83344" y="95250"/>
                </a:cubicBezTo>
                <a:cubicBezTo>
                  <a:pt x="79065" y="95250"/>
                  <a:pt x="75047" y="94134"/>
                  <a:pt x="71549" y="92125"/>
                </a:cubicBezTo>
                <a:cubicBezTo>
                  <a:pt x="71177" y="96180"/>
                  <a:pt x="71512" y="100347"/>
                  <a:pt x="72628" y="104477"/>
                </a:cubicBezTo>
                <a:cubicBezTo>
                  <a:pt x="77725" y="123527"/>
                  <a:pt x="97334" y="134838"/>
                  <a:pt x="116384" y="129741"/>
                </a:cubicBezTo>
                <a:cubicBezTo>
                  <a:pt x="135434" y="124644"/>
                  <a:pt x="146745" y="105035"/>
                  <a:pt x="141647" y="85985"/>
                </a:cubicBezTo>
                <a:cubicBezTo>
                  <a:pt x="137108" y="68982"/>
                  <a:pt x="120997" y="58155"/>
                  <a:pt x="104031" y="59643"/>
                </a:cubicBezTo>
                <a:cubicBezTo>
                  <a:pt x="106003" y="63103"/>
                  <a:pt x="107156" y="67121"/>
                  <a:pt x="107156" y="71438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9" name="Text 6"/>
          <p:cNvSpPr/>
          <p:nvPr/>
        </p:nvSpPr>
        <p:spPr>
          <a:xfrm>
            <a:off x="7109966" y="5267325"/>
            <a:ext cx="190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50" dirty="0">
                <a:solidFill>
                  <a:srgbClr val="F5F5F7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Visión por Computadora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255175" y="530542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59531" y="0"/>
                </a:moveTo>
                <a:cubicBezTo>
                  <a:pt x="66117" y="0"/>
                  <a:pt x="71438" y="5321"/>
                  <a:pt x="71438" y="11906"/>
                </a:cubicBezTo>
                <a:lnTo>
                  <a:pt x="71438" y="23812"/>
                </a:lnTo>
                <a:lnTo>
                  <a:pt x="119063" y="23812"/>
                </a:lnTo>
                <a:cubicBezTo>
                  <a:pt x="125648" y="23812"/>
                  <a:pt x="130969" y="29133"/>
                  <a:pt x="130969" y="35719"/>
                </a:cubicBezTo>
                <a:cubicBezTo>
                  <a:pt x="130969" y="42304"/>
                  <a:pt x="125648" y="47625"/>
                  <a:pt x="119063" y="47625"/>
                </a:cubicBezTo>
                <a:lnTo>
                  <a:pt x="115491" y="47625"/>
                </a:lnTo>
                <a:lnTo>
                  <a:pt x="112365" y="56220"/>
                </a:lnTo>
                <a:cubicBezTo>
                  <a:pt x="106263" y="73037"/>
                  <a:pt x="97073" y="88404"/>
                  <a:pt x="85502" y="101612"/>
                </a:cubicBezTo>
                <a:cubicBezTo>
                  <a:pt x="90785" y="104887"/>
                  <a:pt x="96292" y="107789"/>
                  <a:pt x="102022" y="110356"/>
                </a:cubicBezTo>
                <a:lnTo>
                  <a:pt x="120774" y="118690"/>
                </a:lnTo>
                <a:lnTo>
                  <a:pt x="143917" y="66601"/>
                </a:lnTo>
                <a:cubicBezTo>
                  <a:pt x="145814" y="62285"/>
                  <a:pt x="150093" y="59531"/>
                  <a:pt x="154781" y="59531"/>
                </a:cubicBezTo>
                <a:cubicBezTo>
                  <a:pt x="159469" y="59531"/>
                  <a:pt x="163748" y="62285"/>
                  <a:pt x="165646" y="66601"/>
                </a:cubicBezTo>
                <a:lnTo>
                  <a:pt x="213271" y="173757"/>
                </a:lnTo>
                <a:cubicBezTo>
                  <a:pt x="215950" y="179784"/>
                  <a:pt x="213233" y="186817"/>
                  <a:pt x="207243" y="189458"/>
                </a:cubicBezTo>
                <a:cubicBezTo>
                  <a:pt x="201253" y="192100"/>
                  <a:pt x="194183" y="189421"/>
                  <a:pt x="191542" y="183431"/>
                </a:cubicBezTo>
                <a:lnTo>
                  <a:pt x="184100" y="166688"/>
                </a:lnTo>
                <a:lnTo>
                  <a:pt x="125499" y="166688"/>
                </a:lnTo>
                <a:lnTo>
                  <a:pt x="118058" y="183431"/>
                </a:lnTo>
                <a:cubicBezTo>
                  <a:pt x="115379" y="189458"/>
                  <a:pt x="108347" y="192137"/>
                  <a:pt x="102357" y="189458"/>
                </a:cubicBezTo>
                <a:cubicBezTo>
                  <a:pt x="96366" y="186779"/>
                  <a:pt x="93650" y="179747"/>
                  <a:pt x="96329" y="173757"/>
                </a:cubicBezTo>
                <a:lnTo>
                  <a:pt x="111137" y="140457"/>
                </a:lnTo>
                <a:lnTo>
                  <a:pt x="92385" y="132122"/>
                </a:lnTo>
                <a:cubicBezTo>
                  <a:pt x="83827" y="128327"/>
                  <a:pt x="75642" y="123788"/>
                  <a:pt x="67903" y="118579"/>
                </a:cubicBezTo>
                <a:cubicBezTo>
                  <a:pt x="59978" y="124978"/>
                  <a:pt x="51308" y="130559"/>
                  <a:pt x="42044" y="135210"/>
                </a:cubicBezTo>
                <a:lnTo>
                  <a:pt x="29133" y="141610"/>
                </a:lnTo>
                <a:cubicBezTo>
                  <a:pt x="23254" y="144549"/>
                  <a:pt x="16111" y="142168"/>
                  <a:pt x="13171" y="136289"/>
                </a:cubicBezTo>
                <a:cubicBezTo>
                  <a:pt x="10232" y="130411"/>
                  <a:pt x="12613" y="123267"/>
                  <a:pt x="18492" y="120328"/>
                </a:cubicBezTo>
                <a:lnTo>
                  <a:pt x="31328" y="113891"/>
                </a:lnTo>
                <a:cubicBezTo>
                  <a:pt x="37393" y="110840"/>
                  <a:pt x="43160" y="107305"/>
                  <a:pt x="48592" y="103361"/>
                </a:cubicBezTo>
                <a:cubicBezTo>
                  <a:pt x="43458" y="98636"/>
                  <a:pt x="38621" y="93538"/>
                  <a:pt x="34119" y="88143"/>
                </a:cubicBezTo>
                <a:lnTo>
                  <a:pt x="30361" y="83604"/>
                </a:lnTo>
                <a:cubicBezTo>
                  <a:pt x="26157" y="78544"/>
                  <a:pt x="26826" y="71028"/>
                  <a:pt x="31886" y="66824"/>
                </a:cubicBezTo>
                <a:cubicBezTo>
                  <a:pt x="36947" y="62619"/>
                  <a:pt x="44462" y="63289"/>
                  <a:pt x="48667" y="68349"/>
                </a:cubicBezTo>
                <a:lnTo>
                  <a:pt x="52462" y="72889"/>
                </a:lnTo>
                <a:cubicBezTo>
                  <a:pt x="56741" y="78060"/>
                  <a:pt x="61429" y="82860"/>
                  <a:pt x="66377" y="87288"/>
                </a:cubicBezTo>
                <a:cubicBezTo>
                  <a:pt x="76609" y="75977"/>
                  <a:pt x="84683" y="62694"/>
                  <a:pt x="90004" y="48071"/>
                </a:cubicBezTo>
                <a:lnTo>
                  <a:pt x="90190" y="47625"/>
                </a:lnTo>
                <a:lnTo>
                  <a:pt x="11943" y="47625"/>
                </a:lnTo>
                <a:cubicBezTo>
                  <a:pt x="5321" y="47625"/>
                  <a:pt x="0" y="42304"/>
                  <a:pt x="0" y="35719"/>
                </a:cubicBezTo>
                <a:cubicBezTo>
                  <a:pt x="0" y="29133"/>
                  <a:pt x="5321" y="23812"/>
                  <a:pt x="11906" y="23812"/>
                </a:cubicBezTo>
                <a:lnTo>
                  <a:pt x="47625" y="23812"/>
                </a:lnTo>
                <a:lnTo>
                  <a:pt x="47625" y="11906"/>
                </a:lnTo>
                <a:cubicBezTo>
                  <a:pt x="47625" y="5321"/>
                  <a:pt x="52946" y="0"/>
                  <a:pt x="59531" y="0"/>
                </a:cubicBezTo>
                <a:close/>
                <a:moveTo>
                  <a:pt x="154781" y="100757"/>
                </a:moveTo>
                <a:lnTo>
                  <a:pt x="136066" y="142875"/>
                </a:lnTo>
                <a:lnTo>
                  <a:pt x="173496" y="142875"/>
                </a:lnTo>
                <a:lnTo>
                  <a:pt x="154781" y="100757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1" name="Text 8"/>
          <p:cNvSpPr/>
          <p:nvPr/>
        </p:nvSpPr>
        <p:spPr>
          <a:xfrm>
            <a:off x="9509968" y="5267325"/>
            <a:ext cx="381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50" dirty="0">
                <a:solidFill>
                  <a:srgbClr val="F5F5F7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NLP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0142934" y="53054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3" name="Text 10"/>
          <p:cNvSpPr/>
          <p:nvPr/>
        </p:nvSpPr>
        <p:spPr>
          <a:xfrm>
            <a:off x="10385822" y="5267325"/>
            <a:ext cx="142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50" dirty="0">
                <a:solidFill>
                  <a:srgbClr val="F5F5F7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Redes Neuronales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4757" y="364757"/>
            <a:ext cx="11526319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b="1" spc="101" kern="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Deep Learning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4757" y="620087"/>
            <a:ext cx="11626627" cy="364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85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Visión por Computadora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4757" y="1057795"/>
            <a:ext cx="11544556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2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Procesamiento avanzado de imágenes mediante redes neuronales convolucionales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4757" y="1495503"/>
            <a:ext cx="7596063" cy="2589774"/>
          </a:xfrm>
          <a:custGeom>
            <a:avLst/>
            <a:gdLst/>
            <a:ahLst/>
            <a:cxnLst/>
            <a:rect l="l" t="t" r="r" b="b"/>
            <a:pathLst>
              <a:path w="7596063" h="2589774">
                <a:moveTo>
                  <a:pt x="145908" y="0"/>
                </a:moveTo>
                <a:lnTo>
                  <a:pt x="7450155" y="0"/>
                </a:lnTo>
                <a:cubicBezTo>
                  <a:pt x="7530738" y="0"/>
                  <a:pt x="7596063" y="65325"/>
                  <a:pt x="7596063" y="145908"/>
                </a:cubicBezTo>
                <a:lnTo>
                  <a:pt x="7596063" y="2443866"/>
                </a:lnTo>
                <a:cubicBezTo>
                  <a:pt x="7596063" y="2524449"/>
                  <a:pt x="7530738" y="2589774"/>
                  <a:pt x="7450155" y="2589774"/>
                </a:cubicBezTo>
                <a:lnTo>
                  <a:pt x="145908" y="2589774"/>
                </a:lnTo>
                <a:cubicBezTo>
                  <a:pt x="65325" y="2589774"/>
                  <a:pt x="0" y="2524449"/>
                  <a:pt x="0" y="2443866"/>
                </a:cubicBezTo>
                <a:lnTo>
                  <a:pt x="0" y="145908"/>
                </a:lnTo>
                <a:cubicBezTo>
                  <a:pt x="0" y="65325"/>
                  <a:pt x="65325" y="0"/>
                  <a:pt x="14590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7357" dist="9119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83611" y="1987925"/>
            <a:ext cx="510660" cy="510660"/>
          </a:xfrm>
          <a:custGeom>
            <a:avLst/>
            <a:gdLst/>
            <a:ahLst/>
            <a:cxnLst/>
            <a:rect l="l" t="t" r="r" b="b"/>
            <a:pathLst>
              <a:path w="510660" h="510660">
                <a:moveTo>
                  <a:pt x="109429" y="0"/>
                </a:moveTo>
                <a:lnTo>
                  <a:pt x="401230" y="0"/>
                </a:lnTo>
                <a:cubicBezTo>
                  <a:pt x="461626" y="0"/>
                  <a:pt x="510660" y="49034"/>
                  <a:pt x="510660" y="109429"/>
                </a:cubicBezTo>
                <a:lnTo>
                  <a:pt x="510660" y="401230"/>
                </a:lnTo>
                <a:cubicBezTo>
                  <a:pt x="510660" y="461626"/>
                  <a:pt x="461626" y="510660"/>
                  <a:pt x="401230" y="510660"/>
                </a:cubicBezTo>
                <a:lnTo>
                  <a:pt x="109429" y="510660"/>
                </a:lnTo>
                <a:cubicBezTo>
                  <a:pt x="49034" y="510660"/>
                  <a:pt x="0" y="461626"/>
                  <a:pt x="0" y="401230"/>
                </a:cubicBezTo>
                <a:lnTo>
                  <a:pt x="0" y="109429"/>
                </a:lnTo>
                <a:cubicBezTo>
                  <a:pt x="0" y="49034"/>
                  <a:pt x="49034" y="0"/>
                  <a:pt x="109429" y="0"/>
                </a:cubicBezTo>
                <a:close/>
              </a:path>
            </a:pathLst>
          </a:custGeom>
          <a:gradFill rotWithShape="1" flip="none">
            <a:gsLst>
              <a:gs pos="0">
                <a:srgbClr val="0071E3"/>
              </a:gs>
              <a:gs pos="100000">
                <a:srgbClr val="0071E3">
                  <a:alpha val="60000"/>
                </a:srgbClr>
              </a:gs>
            </a:gsLst>
            <a:lin ang="2700000" scaled="1"/>
          </a:gradFill>
          <a:ln/>
        </p:spPr>
      </p:sp>
      <p:sp>
        <p:nvSpPr>
          <p:cNvPr id="7" name="Shape 5"/>
          <p:cNvSpPr/>
          <p:nvPr/>
        </p:nvSpPr>
        <p:spPr>
          <a:xfrm>
            <a:off x="729514" y="2133828"/>
            <a:ext cx="218854" cy="218854"/>
          </a:xfrm>
          <a:custGeom>
            <a:avLst/>
            <a:gdLst/>
            <a:ahLst/>
            <a:cxnLst/>
            <a:rect l="l" t="t" r="r" b="b"/>
            <a:pathLst>
              <a:path w="218854" h="218854">
                <a:moveTo>
                  <a:pt x="177819" y="88909"/>
                </a:moveTo>
                <a:cubicBezTo>
                  <a:pt x="177819" y="108529"/>
                  <a:pt x="171450" y="126653"/>
                  <a:pt x="160721" y="141358"/>
                </a:cubicBezTo>
                <a:lnTo>
                  <a:pt x="214836" y="195515"/>
                </a:lnTo>
                <a:cubicBezTo>
                  <a:pt x="220179" y="200859"/>
                  <a:pt x="220179" y="209536"/>
                  <a:pt x="214836" y="214879"/>
                </a:cubicBezTo>
                <a:cubicBezTo>
                  <a:pt x="209493" y="220222"/>
                  <a:pt x="200816" y="220222"/>
                  <a:pt x="195473" y="214879"/>
                </a:cubicBezTo>
                <a:lnTo>
                  <a:pt x="141358" y="160721"/>
                </a:lnTo>
                <a:cubicBezTo>
                  <a:pt x="126653" y="171450"/>
                  <a:pt x="108529" y="177819"/>
                  <a:pt x="88909" y="177819"/>
                </a:cubicBezTo>
                <a:cubicBezTo>
                  <a:pt x="39796" y="177819"/>
                  <a:pt x="0" y="138023"/>
                  <a:pt x="0" y="88909"/>
                </a:cubicBezTo>
                <a:cubicBezTo>
                  <a:pt x="0" y="39796"/>
                  <a:pt x="39796" y="0"/>
                  <a:pt x="88909" y="0"/>
                </a:cubicBezTo>
                <a:cubicBezTo>
                  <a:pt x="138023" y="0"/>
                  <a:pt x="177819" y="39796"/>
                  <a:pt x="177819" y="88909"/>
                </a:cubicBezTo>
                <a:close/>
                <a:moveTo>
                  <a:pt x="88909" y="150462"/>
                </a:moveTo>
                <a:cubicBezTo>
                  <a:pt x="122881" y="150462"/>
                  <a:pt x="150462" y="122881"/>
                  <a:pt x="150462" y="88909"/>
                </a:cubicBezTo>
                <a:cubicBezTo>
                  <a:pt x="150462" y="54938"/>
                  <a:pt x="122881" y="27357"/>
                  <a:pt x="88909" y="27357"/>
                </a:cubicBezTo>
                <a:cubicBezTo>
                  <a:pt x="54938" y="27357"/>
                  <a:pt x="27357" y="54938"/>
                  <a:pt x="27357" y="88909"/>
                </a:cubicBezTo>
                <a:cubicBezTo>
                  <a:pt x="27357" y="122881"/>
                  <a:pt x="54938" y="150462"/>
                  <a:pt x="88909" y="15046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240174" y="1987925"/>
            <a:ext cx="6592981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6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Control de Calidad Automatizado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40174" y="2352682"/>
            <a:ext cx="6574743" cy="474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9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Redes neuronales convolucionales (CNN) inspeccionan productos en líneas de producción, detectando defectos con precisión superior a la inspección humana.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40174" y="2972769"/>
            <a:ext cx="3173385" cy="620087"/>
          </a:xfrm>
          <a:custGeom>
            <a:avLst/>
            <a:gdLst/>
            <a:ahLst/>
            <a:cxnLst/>
            <a:rect l="l" t="t" r="r" b="b"/>
            <a:pathLst>
              <a:path w="3173385" h="620087">
                <a:moveTo>
                  <a:pt x="72953" y="0"/>
                </a:moveTo>
                <a:lnTo>
                  <a:pt x="3100432" y="0"/>
                </a:lnTo>
                <a:cubicBezTo>
                  <a:pt x="3140723" y="0"/>
                  <a:pt x="3173385" y="32662"/>
                  <a:pt x="3173385" y="72953"/>
                </a:cubicBezTo>
                <a:lnTo>
                  <a:pt x="3173385" y="547134"/>
                </a:lnTo>
                <a:cubicBezTo>
                  <a:pt x="3173385" y="587424"/>
                  <a:pt x="3140723" y="620087"/>
                  <a:pt x="3100432" y="620087"/>
                </a:cubicBezTo>
                <a:lnTo>
                  <a:pt x="72953" y="620087"/>
                </a:lnTo>
                <a:cubicBezTo>
                  <a:pt x="32662" y="620087"/>
                  <a:pt x="0" y="587424"/>
                  <a:pt x="0" y="547134"/>
                </a:cubicBezTo>
                <a:lnTo>
                  <a:pt x="0" y="72953"/>
                </a:lnTo>
                <a:cubicBezTo>
                  <a:pt x="0" y="32689"/>
                  <a:pt x="32689" y="0"/>
                  <a:pt x="72953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11" name="Text 9"/>
          <p:cNvSpPr/>
          <p:nvPr/>
        </p:nvSpPr>
        <p:spPr>
          <a:xfrm>
            <a:off x="1331363" y="3045720"/>
            <a:ext cx="2991007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23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99.7%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58720" y="3374001"/>
            <a:ext cx="2936293" cy="145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62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Precisión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63451" y="2972769"/>
            <a:ext cx="3173385" cy="620087"/>
          </a:xfrm>
          <a:custGeom>
            <a:avLst/>
            <a:gdLst/>
            <a:ahLst/>
            <a:cxnLst/>
            <a:rect l="l" t="t" r="r" b="b"/>
            <a:pathLst>
              <a:path w="3173385" h="620087">
                <a:moveTo>
                  <a:pt x="72953" y="0"/>
                </a:moveTo>
                <a:lnTo>
                  <a:pt x="3100432" y="0"/>
                </a:lnTo>
                <a:cubicBezTo>
                  <a:pt x="3140723" y="0"/>
                  <a:pt x="3173385" y="32662"/>
                  <a:pt x="3173385" y="72953"/>
                </a:cubicBezTo>
                <a:lnTo>
                  <a:pt x="3173385" y="547134"/>
                </a:lnTo>
                <a:cubicBezTo>
                  <a:pt x="3173385" y="587424"/>
                  <a:pt x="3140723" y="620087"/>
                  <a:pt x="3100432" y="620087"/>
                </a:cubicBezTo>
                <a:lnTo>
                  <a:pt x="72953" y="620087"/>
                </a:lnTo>
                <a:cubicBezTo>
                  <a:pt x="32662" y="620087"/>
                  <a:pt x="0" y="587424"/>
                  <a:pt x="0" y="547134"/>
                </a:cubicBezTo>
                <a:lnTo>
                  <a:pt x="0" y="72953"/>
                </a:lnTo>
                <a:cubicBezTo>
                  <a:pt x="0" y="32689"/>
                  <a:pt x="32689" y="0"/>
                  <a:pt x="72953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14" name="Text 12"/>
          <p:cNvSpPr/>
          <p:nvPr/>
        </p:nvSpPr>
        <p:spPr>
          <a:xfrm>
            <a:off x="4654640" y="3045720"/>
            <a:ext cx="2991007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23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50x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81997" y="3374001"/>
            <a:ext cx="2936293" cy="145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62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Más Rápido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64757" y="4267656"/>
            <a:ext cx="7596063" cy="2589774"/>
          </a:xfrm>
          <a:custGeom>
            <a:avLst/>
            <a:gdLst/>
            <a:ahLst/>
            <a:cxnLst/>
            <a:rect l="l" t="t" r="r" b="b"/>
            <a:pathLst>
              <a:path w="7596063" h="2589774">
                <a:moveTo>
                  <a:pt x="145908" y="0"/>
                </a:moveTo>
                <a:lnTo>
                  <a:pt x="7450155" y="0"/>
                </a:lnTo>
                <a:cubicBezTo>
                  <a:pt x="7530738" y="0"/>
                  <a:pt x="7596063" y="65325"/>
                  <a:pt x="7596063" y="145908"/>
                </a:cubicBezTo>
                <a:lnTo>
                  <a:pt x="7596063" y="2443866"/>
                </a:lnTo>
                <a:cubicBezTo>
                  <a:pt x="7596063" y="2524449"/>
                  <a:pt x="7530738" y="2589774"/>
                  <a:pt x="7450155" y="2589774"/>
                </a:cubicBezTo>
                <a:lnTo>
                  <a:pt x="145908" y="2589774"/>
                </a:lnTo>
                <a:cubicBezTo>
                  <a:pt x="65325" y="2589774"/>
                  <a:pt x="0" y="2524449"/>
                  <a:pt x="0" y="2443866"/>
                </a:cubicBezTo>
                <a:lnTo>
                  <a:pt x="0" y="145908"/>
                </a:lnTo>
                <a:cubicBezTo>
                  <a:pt x="0" y="65325"/>
                  <a:pt x="65325" y="0"/>
                  <a:pt x="14590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7357" dist="9119" dir="540000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3611" y="4760078"/>
            <a:ext cx="510660" cy="510660"/>
          </a:xfrm>
          <a:custGeom>
            <a:avLst/>
            <a:gdLst/>
            <a:ahLst/>
            <a:cxnLst/>
            <a:rect l="l" t="t" r="r" b="b"/>
            <a:pathLst>
              <a:path w="510660" h="510660">
                <a:moveTo>
                  <a:pt x="109429" y="0"/>
                </a:moveTo>
                <a:lnTo>
                  <a:pt x="401230" y="0"/>
                </a:lnTo>
                <a:cubicBezTo>
                  <a:pt x="461626" y="0"/>
                  <a:pt x="510660" y="49034"/>
                  <a:pt x="510660" y="109429"/>
                </a:cubicBezTo>
                <a:lnTo>
                  <a:pt x="510660" y="401230"/>
                </a:lnTo>
                <a:cubicBezTo>
                  <a:pt x="510660" y="461626"/>
                  <a:pt x="461626" y="510660"/>
                  <a:pt x="401230" y="510660"/>
                </a:cubicBezTo>
                <a:lnTo>
                  <a:pt x="109429" y="510660"/>
                </a:lnTo>
                <a:cubicBezTo>
                  <a:pt x="49034" y="510660"/>
                  <a:pt x="0" y="461626"/>
                  <a:pt x="0" y="401230"/>
                </a:cubicBezTo>
                <a:lnTo>
                  <a:pt x="0" y="109429"/>
                </a:lnTo>
                <a:cubicBezTo>
                  <a:pt x="0" y="49034"/>
                  <a:pt x="49034" y="0"/>
                  <a:pt x="109429" y="0"/>
                </a:cubicBezTo>
                <a:close/>
              </a:path>
            </a:pathLst>
          </a:custGeom>
          <a:gradFill rotWithShape="1" flip="none">
            <a:gsLst>
              <a:gs pos="0">
                <a:srgbClr val="0071E3"/>
              </a:gs>
              <a:gs pos="100000">
                <a:srgbClr val="0071E3">
                  <a:alpha val="60000"/>
                </a:srgbClr>
              </a:gs>
            </a:gsLst>
            <a:lin ang="2700000" scaled="1"/>
          </a:gradFill>
          <a:ln/>
        </p:spPr>
      </p:sp>
      <p:sp>
        <p:nvSpPr>
          <p:cNvPr id="18" name="Shape 16"/>
          <p:cNvSpPr/>
          <p:nvPr/>
        </p:nvSpPr>
        <p:spPr>
          <a:xfrm>
            <a:off x="702157" y="4905981"/>
            <a:ext cx="273568" cy="218854"/>
          </a:xfrm>
          <a:custGeom>
            <a:avLst/>
            <a:gdLst/>
            <a:ahLst/>
            <a:cxnLst/>
            <a:rect l="l" t="t" r="r" b="b"/>
            <a:pathLst>
              <a:path w="273568" h="218854">
                <a:moveTo>
                  <a:pt x="58133" y="54714"/>
                </a:moveTo>
                <a:cubicBezTo>
                  <a:pt x="58133" y="26404"/>
                  <a:pt x="81117" y="3420"/>
                  <a:pt x="109427" y="3420"/>
                </a:cubicBezTo>
                <a:cubicBezTo>
                  <a:pt x="137737" y="3420"/>
                  <a:pt x="160721" y="26404"/>
                  <a:pt x="160721" y="54714"/>
                </a:cubicBezTo>
                <a:cubicBezTo>
                  <a:pt x="160721" y="83023"/>
                  <a:pt x="137737" y="106007"/>
                  <a:pt x="109427" y="106007"/>
                </a:cubicBezTo>
                <a:cubicBezTo>
                  <a:pt x="81117" y="106007"/>
                  <a:pt x="58133" y="83023"/>
                  <a:pt x="58133" y="54714"/>
                </a:cubicBezTo>
                <a:close/>
                <a:moveTo>
                  <a:pt x="20518" y="206159"/>
                </a:moveTo>
                <a:cubicBezTo>
                  <a:pt x="20518" y="164055"/>
                  <a:pt x="54628" y="129945"/>
                  <a:pt x="96732" y="129945"/>
                </a:cubicBezTo>
                <a:lnTo>
                  <a:pt x="122122" y="129945"/>
                </a:lnTo>
                <a:cubicBezTo>
                  <a:pt x="164226" y="129945"/>
                  <a:pt x="198337" y="164055"/>
                  <a:pt x="198337" y="206159"/>
                </a:cubicBezTo>
                <a:cubicBezTo>
                  <a:pt x="198337" y="213169"/>
                  <a:pt x="192651" y="218854"/>
                  <a:pt x="185641" y="218854"/>
                </a:cubicBezTo>
                <a:lnTo>
                  <a:pt x="33213" y="218854"/>
                </a:lnTo>
                <a:cubicBezTo>
                  <a:pt x="26203" y="218854"/>
                  <a:pt x="20518" y="213169"/>
                  <a:pt x="20518" y="206159"/>
                </a:cubicBezTo>
                <a:close/>
                <a:moveTo>
                  <a:pt x="261770" y="56723"/>
                </a:moveTo>
                <a:lnTo>
                  <a:pt x="227574" y="111436"/>
                </a:lnTo>
                <a:cubicBezTo>
                  <a:pt x="225779" y="114300"/>
                  <a:pt x="222701" y="116095"/>
                  <a:pt x="219324" y="116266"/>
                </a:cubicBezTo>
                <a:cubicBezTo>
                  <a:pt x="215947" y="116437"/>
                  <a:pt x="212699" y="114898"/>
                  <a:pt x="210690" y="112163"/>
                </a:cubicBezTo>
                <a:lnTo>
                  <a:pt x="190172" y="84806"/>
                </a:lnTo>
                <a:cubicBezTo>
                  <a:pt x="186753" y="80275"/>
                  <a:pt x="187693" y="73863"/>
                  <a:pt x="192224" y="70444"/>
                </a:cubicBezTo>
                <a:cubicBezTo>
                  <a:pt x="196755" y="67024"/>
                  <a:pt x="203167" y="67964"/>
                  <a:pt x="206586" y="72495"/>
                </a:cubicBezTo>
                <a:lnTo>
                  <a:pt x="218127" y="87884"/>
                </a:lnTo>
                <a:lnTo>
                  <a:pt x="244373" y="45865"/>
                </a:lnTo>
                <a:cubicBezTo>
                  <a:pt x="247365" y="41078"/>
                  <a:pt x="253691" y="39582"/>
                  <a:pt x="258521" y="42617"/>
                </a:cubicBezTo>
                <a:cubicBezTo>
                  <a:pt x="263352" y="45652"/>
                  <a:pt x="264805" y="51935"/>
                  <a:pt x="261770" y="5676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1240174" y="4760078"/>
            <a:ext cx="6592981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6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Reconocimiento Facial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40174" y="5124835"/>
            <a:ext cx="6574743" cy="474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9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Sistemas de seguridad y autenticación de empleados mediante IA que identifican rostros con alta precisión, incluso en condiciones variables de iluminación.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240174" y="5744921"/>
            <a:ext cx="3173385" cy="620087"/>
          </a:xfrm>
          <a:custGeom>
            <a:avLst/>
            <a:gdLst/>
            <a:ahLst/>
            <a:cxnLst/>
            <a:rect l="l" t="t" r="r" b="b"/>
            <a:pathLst>
              <a:path w="3173385" h="620087">
                <a:moveTo>
                  <a:pt x="72953" y="0"/>
                </a:moveTo>
                <a:lnTo>
                  <a:pt x="3100432" y="0"/>
                </a:lnTo>
                <a:cubicBezTo>
                  <a:pt x="3140723" y="0"/>
                  <a:pt x="3173385" y="32662"/>
                  <a:pt x="3173385" y="72953"/>
                </a:cubicBezTo>
                <a:lnTo>
                  <a:pt x="3173385" y="547134"/>
                </a:lnTo>
                <a:cubicBezTo>
                  <a:pt x="3173385" y="587424"/>
                  <a:pt x="3140723" y="620087"/>
                  <a:pt x="3100432" y="620087"/>
                </a:cubicBezTo>
                <a:lnTo>
                  <a:pt x="72953" y="620087"/>
                </a:lnTo>
                <a:cubicBezTo>
                  <a:pt x="32662" y="620087"/>
                  <a:pt x="0" y="587424"/>
                  <a:pt x="0" y="547134"/>
                </a:cubicBezTo>
                <a:lnTo>
                  <a:pt x="0" y="72953"/>
                </a:lnTo>
                <a:cubicBezTo>
                  <a:pt x="0" y="32689"/>
                  <a:pt x="32689" y="0"/>
                  <a:pt x="72953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22" name="Text 20"/>
          <p:cNvSpPr/>
          <p:nvPr/>
        </p:nvSpPr>
        <p:spPr>
          <a:xfrm>
            <a:off x="1331363" y="5817873"/>
            <a:ext cx="2991007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23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99.9%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58720" y="6146154"/>
            <a:ext cx="2936293" cy="145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62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Tasa de Éxito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563451" y="5744921"/>
            <a:ext cx="3173385" cy="620087"/>
          </a:xfrm>
          <a:custGeom>
            <a:avLst/>
            <a:gdLst/>
            <a:ahLst/>
            <a:cxnLst/>
            <a:rect l="l" t="t" r="r" b="b"/>
            <a:pathLst>
              <a:path w="3173385" h="620087">
                <a:moveTo>
                  <a:pt x="72953" y="0"/>
                </a:moveTo>
                <a:lnTo>
                  <a:pt x="3100432" y="0"/>
                </a:lnTo>
                <a:cubicBezTo>
                  <a:pt x="3140723" y="0"/>
                  <a:pt x="3173385" y="32662"/>
                  <a:pt x="3173385" y="72953"/>
                </a:cubicBezTo>
                <a:lnTo>
                  <a:pt x="3173385" y="547134"/>
                </a:lnTo>
                <a:cubicBezTo>
                  <a:pt x="3173385" y="587424"/>
                  <a:pt x="3140723" y="620087"/>
                  <a:pt x="3100432" y="620087"/>
                </a:cubicBezTo>
                <a:lnTo>
                  <a:pt x="72953" y="620087"/>
                </a:lnTo>
                <a:cubicBezTo>
                  <a:pt x="32662" y="620087"/>
                  <a:pt x="0" y="587424"/>
                  <a:pt x="0" y="547134"/>
                </a:cubicBezTo>
                <a:lnTo>
                  <a:pt x="0" y="72953"/>
                </a:lnTo>
                <a:cubicBezTo>
                  <a:pt x="0" y="32689"/>
                  <a:pt x="32689" y="0"/>
                  <a:pt x="72953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25" name="Text 23"/>
          <p:cNvSpPr/>
          <p:nvPr/>
        </p:nvSpPr>
        <p:spPr>
          <a:xfrm>
            <a:off x="4654640" y="5817873"/>
            <a:ext cx="2991007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23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&lt;0.1%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681997" y="6146154"/>
            <a:ext cx="2936293" cy="145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62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Falsos Positivos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178534" y="1495503"/>
            <a:ext cx="3647569" cy="3465191"/>
          </a:xfrm>
          <a:custGeom>
            <a:avLst/>
            <a:gdLst/>
            <a:ahLst/>
            <a:cxnLst/>
            <a:rect l="l" t="t" r="r" b="b"/>
            <a:pathLst>
              <a:path w="3647569" h="3465191">
                <a:moveTo>
                  <a:pt x="145919" y="0"/>
                </a:moveTo>
                <a:lnTo>
                  <a:pt x="3501650" y="0"/>
                </a:lnTo>
                <a:cubicBezTo>
                  <a:pt x="3582239" y="0"/>
                  <a:pt x="3647569" y="65330"/>
                  <a:pt x="3647569" y="145919"/>
                </a:cubicBezTo>
                <a:lnTo>
                  <a:pt x="3647569" y="3319272"/>
                </a:lnTo>
                <a:cubicBezTo>
                  <a:pt x="3647569" y="3399860"/>
                  <a:pt x="3582239" y="3465191"/>
                  <a:pt x="3501650" y="3465191"/>
                </a:cubicBezTo>
                <a:lnTo>
                  <a:pt x="145919" y="3465191"/>
                </a:lnTo>
                <a:cubicBezTo>
                  <a:pt x="65330" y="3465191"/>
                  <a:pt x="0" y="3399860"/>
                  <a:pt x="0" y="3319272"/>
                </a:cubicBezTo>
                <a:lnTo>
                  <a:pt x="0" y="145919"/>
                </a:lnTo>
                <a:cubicBezTo>
                  <a:pt x="0" y="65384"/>
                  <a:pt x="65384" y="0"/>
                  <a:pt x="145919" y="0"/>
                </a:cubicBezTo>
                <a:close/>
              </a:path>
            </a:pathLst>
          </a:custGeom>
          <a:gradFill rotWithShape="1" flip="none">
            <a:gsLst>
              <a:gs pos="0">
                <a:srgbClr val="1D1D1F"/>
              </a:gs>
              <a:gs pos="100000">
                <a:srgbClr val="86868B"/>
              </a:gs>
            </a:gsLst>
            <a:lin ang="2700000" scaled="1"/>
          </a:gradFill>
          <a:ln/>
        </p:spPr>
      </p:sp>
      <p:sp>
        <p:nvSpPr>
          <p:cNvPr id="28" name="Shape 26"/>
          <p:cNvSpPr/>
          <p:nvPr/>
        </p:nvSpPr>
        <p:spPr>
          <a:xfrm>
            <a:off x="8397388" y="1714358"/>
            <a:ext cx="510660" cy="510660"/>
          </a:xfrm>
          <a:custGeom>
            <a:avLst/>
            <a:gdLst/>
            <a:ahLst/>
            <a:cxnLst/>
            <a:rect l="l" t="t" r="r" b="b"/>
            <a:pathLst>
              <a:path w="510660" h="510660">
                <a:moveTo>
                  <a:pt x="109429" y="0"/>
                </a:moveTo>
                <a:lnTo>
                  <a:pt x="401230" y="0"/>
                </a:lnTo>
                <a:cubicBezTo>
                  <a:pt x="461626" y="0"/>
                  <a:pt x="510660" y="49034"/>
                  <a:pt x="510660" y="109429"/>
                </a:cubicBezTo>
                <a:lnTo>
                  <a:pt x="510660" y="401230"/>
                </a:lnTo>
                <a:cubicBezTo>
                  <a:pt x="510660" y="461626"/>
                  <a:pt x="461626" y="510660"/>
                  <a:pt x="401230" y="510660"/>
                </a:cubicBezTo>
                <a:lnTo>
                  <a:pt x="109429" y="510660"/>
                </a:lnTo>
                <a:cubicBezTo>
                  <a:pt x="49034" y="510660"/>
                  <a:pt x="0" y="461626"/>
                  <a:pt x="0" y="401230"/>
                </a:cubicBezTo>
                <a:lnTo>
                  <a:pt x="0" y="109429"/>
                </a:lnTo>
                <a:cubicBezTo>
                  <a:pt x="0" y="49034"/>
                  <a:pt x="49034" y="0"/>
                  <a:pt x="109429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9" name="Shape 27"/>
          <p:cNvSpPr/>
          <p:nvPr/>
        </p:nvSpPr>
        <p:spPr>
          <a:xfrm>
            <a:off x="8543291" y="1860260"/>
            <a:ext cx="218854" cy="218854"/>
          </a:xfrm>
          <a:custGeom>
            <a:avLst/>
            <a:gdLst/>
            <a:ahLst/>
            <a:cxnLst/>
            <a:rect l="l" t="t" r="r" b="b"/>
            <a:pathLst>
              <a:path w="218854" h="218854">
                <a:moveTo>
                  <a:pt x="0" y="27357"/>
                </a:moveTo>
                <a:cubicBezTo>
                  <a:pt x="0" y="19791"/>
                  <a:pt x="6113" y="13678"/>
                  <a:pt x="13678" y="13678"/>
                </a:cubicBezTo>
                <a:lnTo>
                  <a:pt x="205176" y="13678"/>
                </a:lnTo>
                <a:cubicBezTo>
                  <a:pt x="212742" y="13678"/>
                  <a:pt x="218854" y="19791"/>
                  <a:pt x="218854" y="27357"/>
                </a:cubicBezTo>
                <a:cubicBezTo>
                  <a:pt x="218854" y="34923"/>
                  <a:pt x="212742" y="41035"/>
                  <a:pt x="205176" y="41035"/>
                </a:cubicBezTo>
                <a:lnTo>
                  <a:pt x="205176" y="177819"/>
                </a:lnTo>
                <a:cubicBezTo>
                  <a:pt x="212742" y="177819"/>
                  <a:pt x="218854" y="183932"/>
                  <a:pt x="218854" y="191497"/>
                </a:cubicBezTo>
                <a:cubicBezTo>
                  <a:pt x="218854" y="199063"/>
                  <a:pt x="212742" y="205176"/>
                  <a:pt x="205176" y="205176"/>
                </a:cubicBezTo>
                <a:lnTo>
                  <a:pt x="13678" y="205176"/>
                </a:lnTo>
                <a:cubicBezTo>
                  <a:pt x="6113" y="205176"/>
                  <a:pt x="0" y="199063"/>
                  <a:pt x="0" y="191497"/>
                </a:cubicBezTo>
                <a:cubicBezTo>
                  <a:pt x="0" y="183932"/>
                  <a:pt x="6113" y="177819"/>
                  <a:pt x="13678" y="177819"/>
                </a:cubicBezTo>
                <a:lnTo>
                  <a:pt x="13678" y="41035"/>
                </a:lnTo>
                <a:cubicBezTo>
                  <a:pt x="6113" y="41035"/>
                  <a:pt x="0" y="34923"/>
                  <a:pt x="0" y="27357"/>
                </a:cubicBezTo>
                <a:close/>
                <a:moveTo>
                  <a:pt x="119686" y="51294"/>
                </a:moveTo>
                <a:cubicBezTo>
                  <a:pt x="119686" y="45609"/>
                  <a:pt x="115112" y="41035"/>
                  <a:pt x="109427" y="41035"/>
                </a:cubicBezTo>
                <a:cubicBezTo>
                  <a:pt x="103742" y="41035"/>
                  <a:pt x="99168" y="45609"/>
                  <a:pt x="99168" y="51294"/>
                </a:cubicBezTo>
                <a:lnTo>
                  <a:pt x="99168" y="58133"/>
                </a:lnTo>
                <a:lnTo>
                  <a:pt x="71812" y="58133"/>
                </a:lnTo>
                <a:cubicBezTo>
                  <a:pt x="66126" y="58133"/>
                  <a:pt x="61553" y="62707"/>
                  <a:pt x="61553" y="68392"/>
                </a:cubicBezTo>
                <a:cubicBezTo>
                  <a:pt x="61553" y="74077"/>
                  <a:pt x="66126" y="78651"/>
                  <a:pt x="71812" y="78651"/>
                </a:cubicBezTo>
                <a:lnTo>
                  <a:pt x="99168" y="78651"/>
                </a:lnTo>
                <a:lnTo>
                  <a:pt x="99168" y="99168"/>
                </a:lnTo>
                <a:lnTo>
                  <a:pt x="64972" y="99168"/>
                </a:lnTo>
                <a:cubicBezTo>
                  <a:pt x="59287" y="99168"/>
                  <a:pt x="54714" y="103742"/>
                  <a:pt x="54714" y="109427"/>
                </a:cubicBezTo>
                <a:cubicBezTo>
                  <a:pt x="54714" y="115112"/>
                  <a:pt x="59287" y="119686"/>
                  <a:pt x="64972" y="119686"/>
                </a:cubicBezTo>
                <a:lnTo>
                  <a:pt x="99168" y="119686"/>
                </a:lnTo>
                <a:lnTo>
                  <a:pt x="99168" y="140203"/>
                </a:lnTo>
                <a:lnTo>
                  <a:pt x="71812" y="140203"/>
                </a:lnTo>
                <a:cubicBezTo>
                  <a:pt x="66126" y="140203"/>
                  <a:pt x="61553" y="144777"/>
                  <a:pt x="61553" y="150462"/>
                </a:cubicBezTo>
                <a:cubicBezTo>
                  <a:pt x="61553" y="156147"/>
                  <a:pt x="66126" y="160721"/>
                  <a:pt x="71812" y="160721"/>
                </a:cubicBezTo>
                <a:lnTo>
                  <a:pt x="99168" y="160721"/>
                </a:lnTo>
                <a:lnTo>
                  <a:pt x="99168" y="167560"/>
                </a:lnTo>
                <a:cubicBezTo>
                  <a:pt x="99168" y="173245"/>
                  <a:pt x="103742" y="177819"/>
                  <a:pt x="109427" y="177819"/>
                </a:cubicBezTo>
                <a:cubicBezTo>
                  <a:pt x="115112" y="177819"/>
                  <a:pt x="119686" y="173245"/>
                  <a:pt x="119686" y="167560"/>
                </a:cubicBezTo>
                <a:lnTo>
                  <a:pt x="119686" y="160721"/>
                </a:lnTo>
                <a:lnTo>
                  <a:pt x="147043" y="160721"/>
                </a:lnTo>
                <a:cubicBezTo>
                  <a:pt x="152728" y="160721"/>
                  <a:pt x="157301" y="156147"/>
                  <a:pt x="157301" y="150462"/>
                </a:cubicBezTo>
                <a:cubicBezTo>
                  <a:pt x="157301" y="144777"/>
                  <a:pt x="152728" y="140203"/>
                  <a:pt x="147043" y="140203"/>
                </a:cubicBezTo>
                <a:lnTo>
                  <a:pt x="119686" y="140203"/>
                </a:lnTo>
                <a:lnTo>
                  <a:pt x="119686" y="119686"/>
                </a:lnTo>
                <a:lnTo>
                  <a:pt x="153882" y="119686"/>
                </a:lnTo>
                <a:cubicBezTo>
                  <a:pt x="159567" y="119686"/>
                  <a:pt x="164141" y="115112"/>
                  <a:pt x="164141" y="109427"/>
                </a:cubicBezTo>
                <a:cubicBezTo>
                  <a:pt x="164141" y="103742"/>
                  <a:pt x="159567" y="99168"/>
                  <a:pt x="153882" y="99168"/>
                </a:cubicBezTo>
                <a:lnTo>
                  <a:pt x="119686" y="99168"/>
                </a:lnTo>
                <a:lnTo>
                  <a:pt x="119686" y="78651"/>
                </a:lnTo>
                <a:lnTo>
                  <a:pt x="147043" y="78651"/>
                </a:lnTo>
                <a:cubicBezTo>
                  <a:pt x="152728" y="78651"/>
                  <a:pt x="157301" y="74077"/>
                  <a:pt x="157301" y="68392"/>
                </a:cubicBezTo>
                <a:cubicBezTo>
                  <a:pt x="157301" y="62707"/>
                  <a:pt x="152728" y="58133"/>
                  <a:pt x="147043" y="58133"/>
                </a:cubicBezTo>
                <a:lnTo>
                  <a:pt x="119686" y="58133"/>
                </a:lnTo>
                <a:lnTo>
                  <a:pt x="119686" y="5129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8397388" y="2407396"/>
            <a:ext cx="3301050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Análisis de Imágenes Médicas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397388" y="2772153"/>
            <a:ext cx="3282812" cy="94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9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Diagnóstico asistido por IA en radiografías, tomografías y resonancias magnéticas, detectando anomalías con precisión comparable a especialistas.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397388" y="3939375"/>
            <a:ext cx="1212817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Detección Temprana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184644" y="3902899"/>
            <a:ext cx="501541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2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+40%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397388" y="4194705"/>
            <a:ext cx="3209861" cy="72951"/>
          </a:xfrm>
          <a:custGeom>
            <a:avLst/>
            <a:gdLst/>
            <a:ahLst/>
            <a:cxnLst/>
            <a:rect l="l" t="t" r="r" b="b"/>
            <a:pathLst>
              <a:path w="3209861" h="72951">
                <a:moveTo>
                  <a:pt x="36476" y="0"/>
                </a:moveTo>
                <a:lnTo>
                  <a:pt x="3173385" y="0"/>
                </a:lnTo>
                <a:cubicBezTo>
                  <a:pt x="3193530" y="0"/>
                  <a:pt x="3209861" y="16331"/>
                  <a:pt x="3209861" y="36476"/>
                </a:cubicBezTo>
                <a:lnTo>
                  <a:pt x="3209861" y="36476"/>
                </a:lnTo>
                <a:cubicBezTo>
                  <a:pt x="3209861" y="56621"/>
                  <a:pt x="3193530" y="72951"/>
                  <a:pt x="3173385" y="72951"/>
                </a:cubicBezTo>
                <a:lnTo>
                  <a:pt x="36476" y="72951"/>
                </a:lnTo>
                <a:cubicBezTo>
                  <a:pt x="16331" y="72951"/>
                  <a:pt x="0" y="56621"/>
                  <a:pt x="0" y="36476"/>
                </a:cubicBezTo>
                <a:lnTo>
                  <a:pt x="0" y="36476"/>
                </a:lnTo>
                <a:cubicBezTo>
                  <a:pt x="0" y="16331"/>
                  <a:pt x="16331" y="0"/>
                  <a:pt x="36476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8397388" y="4194705"/>
            <a:ext cx="2726558" cy="72951"/>
          </a:xfrm>
          <a:custGeom>
            <a:avLst/>
            <a:gdLst/>
            <a:ahLst/>
            <a:cxnLst/>
            <a:rect l="l" t="t" r="r" b="b"/>
            <a:pathLst>
              <a:path w="2726558" h="72951">
                <a:moveTo>
                  <a:pt x="36476" y="0"/>
                </a:moveTo>
                <a:lnTo>
                  <a:pt x="2690082" y="0"/>
                </a:lnTo>
                <a:cubicBezTo>
                  <a:pt x="2710227" y="0"/>
                  <a:pt x="2726558" y="16331"/>
                  <a:pt x="2726558" y="36476"/>
                </a:cubicBezTo>
                <a:lnTo>
                  <a:pt x="2726558" y="36476"/>
                </a:lnTo>
                <a:cubicBezTo>
                  <a:pt x="2726558" y="56621"/>
                  <a:pt x="2710227" y="72951"/>
                  <a:pt x="2690082" y="72951"/>
                </a:cubicBezTo>
                <a:lnTo>
                  <a:pt x="36476" y="72951"/>
                </a:lnTo>
                <a:cubicBezTo>
                  <a:pt x="16331" y="72951"/>
                  <a:pt x="0" y="56621"/>
                  <a:pt x="0" y="36476"/>
                </a:cubicBezTo>
                <a:lnTo>
                  <a:pt x="0" y="36476"/>
                </a:lnTo>
                <a:cubicBezTo>
                  <a:pt x="0" y="16331"/>
                  <a:pt x="16331" y="0"/>
                  <a:pt x="36476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6" name="Text 34"/>
          <p:cNvSpPr/>
          <p:nvPr/>
        </p:nvSpPr>
        <p:spPr>
          <a:xfrm>
            <a:off x="8397388" y="4413559"/>
            <a:ext cx="1094271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Reducción Tiempo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1208581" y="4377083"/>
            <a:ext cx="483303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2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-60%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397388" y="4668889"/>
            <a:ext cx="3209861" cy="72951"/>
          </a:xfrm>
          <a:custGeom>
            <a:avLst/>
            <a:gdLst/>
            <a:ahLst/>
            <a:cxnLst/>
            <a:rect l="l" t="t" r="r" b="b"/>
            <a:pathLst>
              <a:path w="3209861" h="72951">
                <a:moveTo>
                  <a:pt x="36476" y="0"/>
                </a:moveTo>
                <a:lnTo>
                  <a:pt x="3173385" y="0"/>
                </a:lnTo>
                <a:cubicBezTo>
                  <a:pt x="3193530" y="0"/>
                  <a:pt x="3209861" y="16331"/>
                  <a:pt x="3209861" y="36476"/>
                </a:cubicBezTo>
                <a:lnTo>
                  <a:pt x="3209861" y="36476"/>
                </a:lnTo>
                <a:cubicBezTo>
                  <a:pt x="3209861" y="56621"/>
                  <a:pt x="3193530" y="72951"/>
                  <a:pt x="3173385" y="72951"/>
                </a:cubicBezTo>
                <a:lnTo>
                  <a:pt x="36476" y="72951"/>
                </a:lnTo>
                <a:cubicBezTo>
                  <a:pt x="16331" y="72951"/>
                  <a:pt x="0" y="56621"/>
                  <a:pt x="0" y="36476"/>
                </a:cubicBezTo>
                <a:lnTo>
                  <a:pt x="0" y="36476"/>
                </a:lnTo>
                <a:cubicBezTo>
                  <a:pt x="0" y="16331"/>
                  <a:pt x="16331" y="0"/>
                  <a:pt x="36476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8397388" y="4668889"/>
            <a:ext cx="2407396" cy="72951"/>
          </a:xfrm>
          <a:custGeom>
            <a:avLst/>
            <a:gdLst/>
            <a:ahLst/>
            <a:cxnLst/>
            <a:rect l="l" t="t" r="r" b="b"/>
            <a:pathLst>
              <a:path w="2407396" h="72951">
                <a:moveTo>
                  <a:pt x="36476" y="0"/>
                </a:moveTo>
                <a:lnTo>
                  <a:pt x="2370920" y="0"/>
                </a:lnTo>
                <a:cubicBezTo>
                  <a:pt x="2391065" y="0"/>
                  <a:pt x="2407396" y="16331"/>
                  <a:pt x="2407396" y="36476"/>
                </a:cubicBezTo>
                <a:lnTo>
                  <a:pt x="2407396" y="36476"/>
                </a:lnTo>
                <a:cubicBezTo>
                  <a:pt x="2407396" y="56621"/>
                  <a:pt x="2391065" y="72951"/>
                  <a:pt x="2370920" y="72951"/>
                </a:cubicBezTo>
                <a:lnTo>
                  <a:pt x="36476" y="72951"/>
                </a:lnTo>
                <a:cubicBezTo>
                  <a:pt x="16331" y="72951"/>
                  <a:pt x="0" y="56621"/>
                  <a:pt x="0" y="36476"/>
                </a:cubicBezTo>
                <a:lnTo>
                  <a:pt x="0" y="36476"/>
                </a:lnTo>
                <a:cubicBezTo>
                  <a:pt x="0" y="16331"/>
                  <a:pt x="16331" y="0"/>
                  <a:pt x="36476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0" name="Shape 38"/>
          <p:cNvSpPr/>
          <p:nvPr/>
        </p:nvSpPr>
        <p:spPr>
          <a:xfrm>
            <a:off x="8178534" y="5143073"/>
            <a:ext cx="3647569" cy="1714358"/>
          </a:xfrm>
          <a:custGeom>
            <a:avLst/>
            <a:gdLst/>
            <a:ahLst/>
            <a:cxnLst/>
            <a:rect l="l" t="t" r="r" b="b"/>
            <a:pathLst>
              <a:path w="3647569" h="1714358">
                <a:moveTo>
                  <a:pt x="145909" y="0"/>
                </a:moveTo>
                <a:lnTo>
                  <a:pt x="3501660" y="0"/>
                </a:lnTo>
                <a:cubicBezTo>
                  <a:pt x="3582244" y="0"/>
                  <a:pt x="3647569" y="65326"/>
                  <a:pt x="3647569" y="145909"/>
                </a:cubicBezTo>
                <a:lnTo>
                  <a:pt x="3647569" y="1568449"/>
                </a:lnTo>
                <a:cubicBezTo>
                  <a:pt x="3647569" y="1649032"/>
                  <a:pt x="3582244" y="1714358"/>
                  <a:pt x="3501660" y="1714358"/>
                </a:cubicBezTo>
                <a:lnTo>
                  <a:pt x="145909" y="1714358"/>
                </a:lnTo>
                <a:cubicBezTo>
                  <a:pt x="65326" y="1714358"/>
                  <a:pt x="0" y="1649032"/>
                  <a:pt x="0" y="1568449"/>
                </a:cubicBezTo>
                <a:lnTo>
                  <a:pt x="0" y="145909"/>
                </a:lnTo>
                <a:cubicBezTo>
                  <a:pt x="0" y="65380"/>
                  <a:pt x="65380" y="0"/>
                  <a:pt x="14590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7357" dist="9119" dir="5400000">
              <a:srgbClr val="000000">
                <a:alpha val="10196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8360912" y="5325451"/>
            <a:ext cx="3364883" cy="510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2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Sectores que Utilizan Visión por Computadora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360912" y="5982013"/>
            <a:ext cx="291806" cy="291806"/>
          </a:xfrm>
          <a:custGeom>
            <a:avLst/>
            <a:gdLst/>
            <a:ahLst/>
            <a:cxnLst/>
            <a:rect l="l" t="t" r="r" b="b"/>
            <a:pathLst>
              <a:path w="291806" h="291806">
                <a:moveTo>
                  <a:pt x="72951" y="0"/>
                </a:moveTo>
                <a:lnTo>
                  <a:pt x="218854" y="0"/>
                </a:lnTo>
                <a:cubicBezTo>
                  <a:pt x="259144" y="0"/>
                  <a:pt x="291806" y="32661"/>
                  <a:pt x="291806" y="72951"/>
                </a:cubicBezTo>
                <a:lnTo>
                  <a:pt x="291806" y="218854"/>
                </a:lnTo>
                <a:cubicBezTo>
                  <a:pt x="291806" y="259144"/>
                  <a:pt x="259144" y="291806"/>
                  <a:pt x="218854" y="291806"/>
                </a:cubicBezTo>
                <a:lnTo>
                  <a:pt x="72951" y="291806"/>
                </a:lnTo>
                <a:cubicBezTo>
                  <a:pt x="32661" y="291806"/>
                  <a:pt x="0" y="259144"/>
                  <a:pt x="0" y="218854"/>
                </a:cubicBezTo>
                <a:lnTo>
                  <a:pt x="0" y="72951"/>
                </a:lnTo>
                <a:cubicBezTo>
                  <a:pt x="0" y="32661"/>
                  <a:pt x="32661" y="0"/>
                  <a:pt x="72951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445263" y="6064084"/>
            <a:ext cx="127665" cy="127665"/>
          </a:xfrm>
          <a:custGeom>
            <a:avLst/>
            <a:gdLst/>
            <a:ahLst/>
            <a:cxnLst/>
            <a:rect l="l" t="t" r="r" b="b"/>
            <a:pathLst>
              <a:path w="127665" h="127665">
                <a:moveTo>
                  <a:pt x="7979" y="7979"/>
                </a:moveTo>
                <a:cubicBezTo>
                  <a:pt x="3566" y="7979"/>
                  <a:pt x="0" y="11545"/>
                  <a:pt x="0" y="15958"/>
                </a:cubicBezTo>
                <a:lnTo>
                  <a:pt x="0" y="107717"/>
                </a:lnTo>
                <a:cubicBezTo>
                  <a:pt x="0" y="114325"/>
                  <a:pt x="5361" y="119686"/>
                  <a:pt x="11969" y="119686"/>
                </a:cubicBezTo>
                <a:lnTo>
                  <a:pt x="115696" y="119686"/>
                </a:lnTo>
                <a:cubicBezTo>
                  <a:pt x="122304" y="119686"/>
                  <a:pt x="127665" y="114325"/>
                  <a:pt x="127665" y="107717"/>
                </a:cubicBezTo>
                <a:lnTo>
                  <a:pt x="127665" y="37950"/>
                </a:lnTo>
                <a:cubicBezTo>
                  <a:pt x="127665" y="33412"/>
                  <a:pt x="122828" y="30545"/>
                  <a:pt x="118838" y="32689"/>
                </a:cubicBezTo>
                <a:lnTo>
                  <a:pt x="79791" y="53709"/>
                </a:lnTo>
                <a:lnTo>
                  <a:pt x="79791" y="37950"/>
                </a:lnTo>
                <a:cubicBezTo>
                  <a:pt x="79791" y="33412"/>
                  <a:pt x="74953" y="30545"/>
                  <a:pt x="70964" y="32689"/>
                </a:cubicBezTo>
                <a:lnTo>
                  <a:pt x="31916" y="53709"/>
                </a:lnTo>
                <a:lnTo>
                  <a:pt x="31916" y="15958"/>
                </a:lnTo>
                <a:cubicBezTo>
                  <a:pt x="31916" y="11545"/>
                  <a:pt x="28351" y="7979"/>
                  <a:pt x="23937" y="7979"/>
                </a:cubicBezTo>
                <a:lnTo>
                  <a:pt x="7979" y="7979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4" name="Text 42"/>
          <p:cNvSpPr/>
          <p:nvPr/>
        </p:nvSpPr>
        <p:spPr>
          <a:xfrm>
            <a:off x="8725669" y="6036727"/>
            <a:ext cx="756871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Manufactura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0057032" y="5982013"/>
            <a:ext cx="291806" cy="291806"/>
          </a:xfrm>
          <a:custGeom>
            <a:avLst/>
            <a:gdLst/>
            <a:ahLst/>
            <a:cxnLst/>
            <a:rect l="l" t="t" r="r" b="b"/>
            <a:pathLst>
              <a:path w="291806" h="291806">
                <a:moveTo>
                  <a:pt x="72951" y="0"/>
                </a:moveTo>
                <a:lnTo>
                  <a:pt x="218854" y="0"/>
                </a:lnTo>
                <a:cubicBezTo>
                  <a:pt x="259144" y="0"/>
                  <a:pt x="291806" y="32661"/>
                  <a:pt x="291806" y="72951"/>
                </a:cubicBezTo>
                <a:lnTo>
                  <a:pt x="291806" y="218854"/>
                </a:lnTo>
                <a:cubicBezTo>
                  <a:pt x="291806" y="259144"/>
                  <a:pt x="259144" y="291806"/>
                  <a:pt x="218854" y="291806"/>
                </a:cubicBezTo>
                <a:lnTo>
                  <a:pt x="72951" y="291806"/>
                </a:lnTo>
                <a:cubicBezTo>
                  <a:pt x="32661" y="291806"/>
                  <a:pt x="0" y="259144"/>
                  <a:pt x="0" y="218854"/>
                </a:cubicBezTo>
                <a:lnTo>
                  <a:pt x="0" y="72951"/>
                </a:lnTo>
                <a:cubicBezTo>
                  <a:pt x="0" y="32661"/>
                  <a:pt x="32661" y="0"/>
                  <a:pt x="72951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0133403" y="6064084"/>
            <a:ext cx="143623" cy="127665"/>
          </a:xfrm>
          <a:custGeom>
            <a:avLst/>
            <a:gdLst/>
            <a:ahLst/>
            <a:cxnLst/>
            <a:rect l="l" t="t" r="r" b="b"/>
            <a:pathLst>
              <a:path w="143623" h="127665">
                <a:moveTo>
                  <a:pt x="31916" y="15958"/>
                </a:moveTo>
                <a:cubicBezTo>
                  <a:pt x="31916" y="7156"/>
                  <a:pt x="39072" y="0"/>
                  <a:pt x="47874" y="0"/>
                </a:cubicBezTo>
                <a:lnTo>
                  <a:pt x="95749" y="0"/>
                </a:lnTo>
                <a:cubicBezTo>
                  <a:pt x="104551" y="0"/>
                  <a:pt x="111707" y="7156"/>
                  <a:pt x="111707" y="15958"/>
                </a:cubicBezTo>
                <a:lnTo>
                  <a:pt x="111707" y="31916"/>
                </a:lnTo>
                <a:lnTo>
                  <a:pt x="127665" y="31916"/>
                </a:lnTo>
                <a:cubicBezTo>
                  <a:pt x="136467" y="31916"/>
                  <a:pt x="143623" y="39072"/>
                  <a:pt x="143623" y="47874"/>
                </a:cubicBezTo>
                <a:lnTo>
                  <a:pt x="143623" y="111707"/>
                </a:lnTo>
                <a:cubicBezTo>
                  <a:pt x="143623" y="120509"/>
                  <a:pt x="136467" y="127665"/>
                  <a:pt x="127665" y="127665"/>
                </a:cubicBezTo>
                <a:lnTo>
                  <a:pt x="15958" y="127665"/>
                </a:lnTo>
                <a:cubicBezTo>
                  <a:pt x="7156" y="127665"/>
                  <a:pt x="0" y="120509"/>
                  <a:pt x="0" y="111707"/>
                </a:cubicBezTo>
                <a:lnTo>
                  <a:pt x="0" y="47874"/>
                </a:lnTo>
                <a:cubicBezTo>
                  <a:pt x="0" y="39072"/>
                  <a:pt x="7156" y="31916"/>
                  <a:pt x="15958" y="31916"/>
                </a:cubicBezTo>
                <a:lnTo>
                  <a:pt x="31916" y="31916"/>
                </a:lnTo>
                <a:lnTo>
                  <a:pt x="31916" y="15958"/>
                </a:lnTo>
                <a:close/>
                <a:moveTo>
                  <a:pt x="67822" y="87770"/>
                </a:moveTo>
                <a:cubicBezTo>
                  <a:pt x="63409" y="87770"/>
                  <a:pt x="59843" y="91335"/>
                  <a:pt x="59843" y="95749"/>
                </a:cubicBezTo>
                <a:lnTo>
                  <a:pt x="59843" y="115696"/>
                </a:lnTo>
                <a:lnTo>
                  <a:pt x="83780" y="115696"/>
                </a:lnTo>
                <a:lnTo>
                  <a:pt x="83780" y="95749"/>
                </a:lnTo>
                <a:cubicBezTo>
                  <a:pt x="83780" y="91335"/>
                  <a:pt x="80214" y="87770"/>
                  <a:pt x="75801" y="87770"/>
                </a:cubicBezTo>
                <a:lnTo>
                  <a:pt x="67822" y="87770"/>
                </a:lnTo>
                <a:close/>
                <a:moveTo>
                  <a:pt x="31916" y="91759"/>
                </a:moveTo>
                <a:lnTo>
                  <a:pt x="31916" y="83780"/>
                </a:lnTo>
                <a:cubicBezTo>
                  <a:pt x="31916" y="81586"/>
                  <a:pt x="30121" y="79791"/>
                  <a:pt x="27927" y="79791"/>
                </a:cubicBezTo>
                <a:lnTo>
                  <a:pt x="19948" y="79791"/>
                </a:lnTo>
                <a:cubicBezTo>
                  <a:pt x="17753" y="79791"/>
                  <a:pt x="15958" y="81586"/>
                  <a:pt x="15958" y="83780"/>
                </a:cubicBezTo>
                <a:lnTo>
                  <a:pt x="15958" y="91759"/>
                </a:lnTo>
                <a:cubicBezTo>
                  <a:pt x="15958" y="93953"/>
                  <a:pt x="17753" y="95749"/>
                  <a:pt x="19948" y="95749"/>
                </a:cubicBezTo>
                <a:lnTo>
                  <a:pt x="27927" y="95749"/>
                </a:lnTo>
                <a:cubicBezTo>
                  <a:pt x="30121" y="95749"/>
                  <a:pt x="31916" y="93953"/>
                  <a:pt x="31916" y="91759"/>
                </a:cubicBezTo>
                <a:close/>
                <a:moveTo>
                  <a:pt x="27927" y="63832"/>
                </a:moveTo>
                <a:cubicBezTo>
                  <a:pt x="30121" y="63832"/>
                  <a:pt x="31916" y="62037"/>
                  <a:pt x="31916" y="59843"/>
                </a:cubicBezTo>
                <a:lnTo>
                  <a:pt x="31916" y="51864"/>
                </a:lnTo>
                <a:cubicBezTo>
                  <a:pt x="31916" y="49670"/>
                  <a:pt x="30121" y="47874"/>
                  <a:pt x="27927" y="47874"/>
                </a:cubicBezTo>
                <a:lnTo>
                  <a:pt x="19948" y="47874"/>
                </a:lnTo>
                <a:cubicBezTo>
                  <a:pt x="17753" y="47874"/>
                  <a:pt x="15958" y="49670"/>
                  <a:pt x="15958" y="51864"/>
                </a:cubicBezTo>
                <a:lnTo>
                  <a:pt x="15958" y="59843"/>
                </a:lnTo>
                <a:cubicBezTo>
                  <a:pt x="15958" y="62037"/>
                  <a:pt x="17753" y="63832"/>
                  <a:pt x="19948" y="63832"/>
                </a:cubicBezTo>
                <a:lnTo>
                  <a:pt x="27927" y="63832"/>
                </a:lnTo>
                <a:close/>
                <a:moveTo>
                  <a:pt x="127665" y="91759"/>
                </a:moveTo>
                <a:lnTo>
                  <a:pt x="127665" y="83780"/>
                </a:lnTo>
                <a:cubicBezTo>
                  <a:pt x="127665" y="81586"/>
                  <a:pt x="125870" y="79791"/>
                  <a:pt x="123675" y="79791"/>
                </a:cubicBezTo>
                <a:lnTo>
                  <a:pt x="115696" y="79791"/>
                </a:lnTo>
                <a:cubicBezTo>
                  <a:pt x="113502" y="79791"/>
                  <a:pt x="111707" y="81586"/>
                  <a:pt x="111707" y="83780"/>
                </a:cubicBezTo>
                <a:lnTo>
                  <a:pt x="111707" y="91759"/>
                </a:lnTo>
                <a:cubicBezTo>
                  <a:pt x="111707" y="93953"/>
                  <a:pt x="113502" y="95749"/>
                  <a:pt x="115696" y="95749"/>
                </a:cubicBezTo>
                <a:lnTo>
                  <a:pt x="123675" y="95749"/>
                </a:lnTo>
                <a:cubicBezTo>
                  <a:pt x="125870" y="95749"/>
                  <a:pt x="127665" y="93953"/>
                  <a:pt x="127665" y="91759"/>
                </a:cubicBezTo>
                <a:close/>
                <a:moveTo>
                  <a:pt x="123675" y="63832"/>
                </a:moveTo>
                <a:cubicBezTo>
                  <a:pt x="125870" y="63832"/>
                  <a:pt x="127665" y="62037"/>
                  <a:pt x="127665" y="59843"/>
                </a:cubicBezTo>
                <a:lnTo>
                  <a:pt x="127665" y="51864"/>
                </a:lnTo>
                <a:cubicBezTo>
                  <a:pt x="127665" y="49670"/>
                  <a:pt x="125870" y="47874"/>
                  <a:pt x="123675" y="47874"/>
                </a:cubicBezTo>
                <a:lnTo>
                  <a:pt x="115696" y="47874"/>
                </a:lnTo>
                <a:cubicBezTo>
                  <a:pt x="113502" y="47874"/>
                  <a:pt x="111707" y="49670"/>
                  <a:pt x="111707" y="51864"/>
                </a:cubicBezTo>
                <a:lnTo>
                  <a:pt x="111707" y="59843"/>
                </a:lnTo>
                <a:cubicBezTo>
                  <a:pt x="111707" y="62037"/>
                  <a:pt x="113502" y="63832"/>
                  <a:pt x="115696" y="63832"/>
                </a:cubicBezTo>
                <a:lnTo>
                  <a:pt x="123675" y="63832"/>
                </a:lnTo>
                <a:close/>
                <a:moveTo>
                  <a:pt x="65827" y="25932"/>
                </a:moveTo>
                <a:lnTo>
                  <a:pt x="65827" y="33911"/>
                </a:lnTo>
                <a:lnTo>
                  <a:pt x="57848" y="33911"/>
                </a:lnTo>
                <a:cubicBezTo>
                  <a:pt x="55654" y="33911"/>
                  <a:pt x="53859" y="35706"/>
                  <a:pt x="53859" y="37901"/>
                </a:cubicBezTo>
                <a:lnTo>
                  <a:pt x="53859" y="41890"/>
                </a:lnTo>
                <a:cubicBezTo>
                  <a:pt x="53859" y="44084"/>
                  <a:pt x="55654" y="45880"/>
                  <a:pt x="57848" y="45880"/>
                </a:cubicBezTo>
                <a:lnTo>
                  <a:pt x="65827" y="45880"/>
                </a:lnTo>
                <a:lnTo>
                  <a:pt x="65827" y="53859"/>
                </a:lnTo>
                <a:cubicBezTo>
                  <a:pt x="65827" y="56053"/>
                  <a:pt x="67623" y="57848"/>
                  <a:pt x="69817" y="57848"/>
                </a:cubicBezTo>
                <a:lnTo>
                  <a:pt x="73806" y="57848"/>
                </a:lnTo>
                <a:cubicBezTo>
                  <a:pt x="76001" y="57848"/>
                  <a:pt x="77796" y="56053"/>
                  <a:pt x="77796" y="53859"/>
                </a:cubicBezTo>
                <a:lnTo>
                  <a:pt x="77796" y="45880"/>
                </a:lnTo>
                <a:lnTo>
                  <a:pt x="85775" y="45880"/>
                </a:lnTo>
                <a:cubicBezTo>
                  <a:pt x="87969" y="45880"/>
                  <a:pt x="89764" y="44084"/>
                  <a:pt x="89764" y="41890"/>
                </a:cubicBezTo>
                <a:lnTo>
                  <a:pt x="89764" y="37901"/>
                </a:lnTo>
                <a:cubicBezTo>
                  <a:pt x="89764" y="35706"/>
                  <a:pt x="87969" y="33911"/>
                  <a:pt x="85775" y="33911"/>
                </a:cubicBezTo>
                <a:lnTo>
                  <a:pt x="77796" y="33911"/>
                </a:lnTo>
                <a:lnTo>
                  <a:pt x="77796" y="25932"/>
                </a:lnTo>
                <a:cubicBezTo>
                  <a:pt x="77796" y="23738"/>
                  <a:pt x="76001" y="21942"/>
                  <a:pt x="73806" y="21942"/>
                </a:cubicBezTo>
                <a:lnTo>
                  <a:pt x="69817" y="21942"/>
                </a:lnTo>
                <a:cubicBezTo>
                  <a:pt x="67623" y="21942"/>
                  <a:pt x="65827" y="23738"/>
                  <a:pt x="65827" y="25932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7" name="Text 45"/>
          <p:cNvSpPr/>
          <p:nvPr/>
        </p:nvSpPr>
        <p:spPr>
          <a:xfrm>
            <a:off x="10421789" y="6036727"/>
            <a:ext cx="373876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Salud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360912" y="6383246"/>
            <a:ext cx="291806" cy="291806"/>
          </a:xfrm>
          <a:custGeom>
            <a:avLst/>
            <a:gdLst/>
            <a:ahLst/>
            <a:cxnLst/>
            <a:rect l="l" t="t" r="r" b="b"/>
            <a:pathLst>
              <a:path w="291806" h="291806">
                <a:moveTo>
                  <a:pt x="72951" y="0"/>
                </a:moveTo>
                <a:lnTo>
                  <a:pt x="218854" y="0"/>
                </a:lnTo>
                <a:cubicBezTo>
                  <a:pt x="259144" y="0"/>
                  <a:pt x="291806" y="32661"/>
                  <a:pt x="291806" y="72951"/>
                </a:cubicBezTo>
                <a:lnTo>
                  <a:pt x="291806" y="218854"/>
                </a:lnTo>
                <a:cubicBezTo>
                  <a:pt x="291806" y="259144"/>
                  <a:pt x="259144" y="291806"/>
                  <a:pt x="218854" y="291806"/>
                </a:cubicBezTo>
                <a:lnTo>
                  <a:pt x="72951" y="291806"/>
                </a:lnTo>
                <a:cubicBezTo>
                  <a:pt x="32661" y="291806"/>
                  <a:pt x="0" y="259144"/>
                  <a:pt x="0" y="218854"/>
                </a:cubicBezTo>
                <a:lnTo>
                  <a:pt x="0" y="72951"/>
                </a:lnTo>
                <a:cubicBezTo>
                  <a:pt x="0" y="32661"/>
                  <a:pt x="32661" y="0"/>
                  <a:pt x="72951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429304" y="6465316"/>
            <a:ext cx="159581" cy="127665"/>
          </a:xfrm>
          <a:custGeom>
            <a:avLst/>
            <a:gdLst/>
            <a:ahLst/>
            <a:cxnLst/>
            <a:rect l="l" t="t" r="r" b="b"/>
            <a:pathLst>
              <a:path w="159581" h="127665">
                <a:moveTo>
                  <a:pt x="5984" y="-3990"/>
                </a:moveTo>
                <a:cubicBezTo>
                  <a:pt x="2668" y="-3990"/>
                  <a:pt x="0" y="-1322"/>
                  <a:pt x="0" y="1995"/>
                </a:cubicBezTo>
                <a:cubicBezTo>
                  <a:pt x="0" y="5311"/>
                  <a:pt x="2668" y="7979"/>
                  <a:pt x="5984" y="7979"/>
                </a:cubicBezTo>
                <a:lnTo>
                  <a:pt x="17280" y="7979"/>
                </a:lnTo>
                <a:cubicBezTo>
                  <a:pt x="18252" y="7979"/>
                  <a:pt x="19075" y="8677"/>
                  <a:pt x="19249" y="9625"/>
                </a:cubicBezTo>
                <a:lnTo>
                  <a:pt x="32240" y="81012"/>
                </a:lnTo>
                <a:cubicBezTo>
                  <a:pt x="33786" y="89540"/>
                  <a:pt x="41217" y="95749"/>
                  <a:pt x="49894" y="95749"/>
                </a:cubicBezTo>
                <a:lnTo>
                  <a:pt x="113702" y="95749"/>
                </a:lnTo>
                <a:cubicBezTo>
                  <a:pt x="117018" y="95749"/>
                  <a:pt x="119686" y="93081"/>
                  <a:pt x="119686" y="89764"/>
                </a:cubicBezTo>
                <a:cubicBezTo>
                  <a:pt x="119686" y="86448"/>
                  <a:pt x="117018" y="83780"/>
                  <a:pt x="113702" y="83780"/>
                </a:cubicBezTo>
                <a:lnTo>
                  <a:pt x="49894" y="83780"/>
                </a:lnTo>
                <a:cubicBezTo>
                  <a:pt x="47002" y="83780"/>
                  <a:pt x="44533" y="81711"/>
                  <a:pt x="44009" y="78868"/>
                </a:cubicBezTo>
                <a:lnTo>
                  <a:pt x="42738" y="71812"/>
                </a:lnTo>
                <a:lnTo>
                  <a:pt x="118439" y="71812"/>
                </a:lnTo>
                <a:cubicBezTo>
                  <a:pt x="126119" y="71812"/>
                  <a:pt x="132702" y="66351"/>
                  <a:pt x="134123" y="58796"/>
                </a:cubicBezTo>
                <a:lnTo>
                  <a:pt x="141853" y="17429"/>
                </a:lnTo>
                <a:cubicBezTo>
                  <a:pt x="142775" y="12517"/>
                  <a:pt x="139010" y="7979"/>
                  <a:pt x="133998" y="7979"/>
                </a:cubicBezTo>
                <a:lnTo>
                  <a:pt x="31093" y="7979"/>
                </a:lnTo>
                <a:lnTo>
                  <a:pt x="30994" y="7480"/>
                </a:lnTo>
                <a:cubicBezTo>
                  <a:pt x="29797" y="848"/>
                  <a:pt x="24012" y="-3990"/>
                  <a:pt x="17255" y="-3990"/>
                </a:cubicBezTo>
                <a:lnTo>
                  <a:pt x="5984" y="-3990"/>
                </a:lnTo>
                <a:close/>
                <a:moveTo>
                  <a:pt x="51864" y="127665"/>
                </a:moveTo>
                <a:cubicBezTo>
                  <a:pt x="58470" y="127665"/>
                  <a:pt x="63832" y="122302"/>
                  <a:pt x="63832" y="115696"/>
                </a:cubicBezTo>
                <a:cubicBezTo>
                  <a:pt x="63832" y="109091"/>
                  <a:pt x="58470" y="103728"/>
                  <a:pt x="51864" y="103728"/>
                </a:cubicBezTo>
                <a:cubicBezTo>
                  <a:pt x="45258" y="103728"/>
                  <a:pt x="39895" y="109091"/>
                  <a:pt x="39895" y="115696"/>
                </a:cubicBezTo>
                <a:cubicBezTo>
                  <a:pt x="39895" y="122302"/>
                  <a:pt x="45258" y="127665"/>
                  <a:pt x="51864" y="127665"/>
                </a:cubicBezTo>
                <a:close/>
                <a:moveTo>
                  <a:pt x="107717" y="127665"/>
                </a:moveTo>
                <a:cubicBezTo>
                  <a:pt x="114323" y="127665"/>
                  <a:pt x="119686" y="122302"/>
                  <a:pt x="119686" y="115696"/>
                </a:cubicBezTo>
                <a:cubicBezTo>
                  <a:pt x="119686" y="109091"/>
                  <a:pt x="114323" y="103728"/>
                  <a:pt x="107717" y="103728"/>
                </a:cubicBezTo>
                <a:cubicBezTo>
                  <a:pt x="101112" y="103728"/>
                  <a:pt x="95749" y="109091"/>
                  <a:pt x="95749" y="115696"/>
                </a:cubicBezTo>
                <a:cubicBezTo>
                  <a:pt x="95749" y="122302"/>
                  <a:pt x="101112" y="127665"/>
                  <a:pt x="107717" y="127665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50" name="Text 48"/>
          <p:cNvSpPr/>
          <p:nvPr/>
        </p:nvSpPr>
        <p:spPr>
          <a:xfrm>
            <a:off x="8725669" y="6437960"/>
            <a:ext cx="364757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Retail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10057032" y="6383246"/>
            <a:ext cx="291806" cy="291806"/>
          </a:xfrm>
          <a:custGeom>
            <a:avLst/>
            <a:gdLst/>
            <a:ahLst/>
            <a:cxnLst/>
            <a:rect l="l" t="t" r="r" b="b"/>
            <a:pathLst>
              <a:path w="291806" h="291806">
                <a:moveTo>
                  <a:pt x="72951" y="0"/>
                </a:moveTo>
                <a:lnTo>
                  <a:pt x="218854" y="0"/>
                </a:lnTo>
                <a:cubicBezTo>
                  <a:pt x="259144" y="0"/>
                  <a:pt x="291806" y="32661"/>
                  <a:pt x="291806" y="72951"/>
                </a:cubicBezTo>
                <a:lnTo>
                  <a:pt x="291806" y="218854"/>
                </a:lnTo>
                <a:cubicBezTo>
                  <a:pt x="291806" y="259144"/>
                  <a:pt x="259144" y="291806"/>
                  <a:pt x="218854" y="291806"/>
                </a:cubicBezTo>
                <a:lnTo>
                  <a:pt x="72951" y="291806"/>
                </a:lnTo>
                <a:cubicBezTo>
                  <a:pt x="32661" y="291806"/>
                  <a:pt x="0" y="259144"/>
                  <a:pt x="0" y="218854"/>
                </a:cubicBezTo>
                <a:lnTo>
                  <a:pt x="0" y="72951"/>
                </a:lnTo>
                <a:cubicBezTo>
                  <a:pt x="0" y="32661"/>
                  <a:pt x="32661" y="0"/>
                  <a:pt x="72951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0141382" y="6465316"/>
            <a:ext cx="127665" cy="127665"/>
          </a:xfrm>
          <a:custGeom>
            <a:avLst/>
            <a:gdLst/>
            <a:ahLst/>
            <a:cxnLst/>
            <a:rect l="l" t="t" r="r" b="b"/>
            <a:pathLst>
              <a:path w="127665" h="127665">
                <a:moveTo>
                  <a:pt x="33712" y="29273"/>
                </a:moveTo>
                <a:lnTo>
                  <a:pt x="27204" y="47874"/>
                </a:lnTo>
                <a:lnTo>
                  <a:pt x="100461" y="47874"/>
                </a:lnTo>
                <a:lnTo>
                  <a:pt x="93953" y="29273"/>
                </a:lnTo>
                <a:cubicBezTo>
                  <a:pt x="92831" y="26082"/>
                  <a:pt x="89814" y="23937"/>
                  <a:pt x="86423" y="23937"/>
                </a:cubicBezTo>
                <a:lnTo>
                  <a:pt x="41242" y="23937"/>
                </a:lnTo>
                <a:cubicBezTo>
                  <a:pt x="37851" y="23937"/>
                  <a:pt x="34834" y="26082"/>
                  <a:pt x="33712" y="29273"/>
                </a:cubicBezTo>
                <a:close/>
                <a:moveTo>
                  <a:pt x="9874" y="49071"/>
                </a:moveTo>
                <a:lnTo>
                  <a:pt x="18651" y="24012"/>
                </a:lnTo>
                <a:cubicBezTo>
                  <a:pt x="22017" y="14412"/>
                  <a:pt x="31068" y="7979"/>
                  <a:pt x="41242" y="7979"/>
                </a:cubicBezTo>
                <a:lnTo>
                  <a:pt x="86423" y="7979"/>
                </a:lnTo>
                <a:cubicBezTo>
                  <a:pt x="96596" y="7979"/>
                  <a:pt x="105648" y="14412"/>
                  <a:pt x="109014" y="24012"/>
                </a:cubicBezTo>
                <a:lnTo>
                  <a:pt x="117791" y="49071"/>
                </a:lnTo>
                <a:cubicBezTo>
                  <a:pt x="123576" y="51465"/>
                  <a:pt x="127665" y="57175"/>
                  <a:pt x="127665" y="63832"/>
                </a:cubicBezTo>
                <a:lnTo>
                  <a:pt x="127665" y="111707"/>
                </a:lnTo>
                <a:cubicBezTo>
                  <a:pt x="127665" y="116120"/>
                  <a:pt x="124099" y="119686"/>
                  <a:pt x="119686" y="119686"/>
                </a:cubicBezTo>
                <a:lnTo>
                  <a:pt x="111707" y="119686"/>
                </a:lnTo>
                <a:cubicBezTo>
                  <a:pt x="107293" y="119686"/>
                  <a:pt x="103728" y="116120"/>
                  <a:pt x="103728" y="111707"/>
                </a:cubicBezTo>
                <a:lnTo>
                  <a:pt x="103728" y="103728"/>
                </a:lnTo>
                <a:lnTo>
                  <a:pt x="23937" y="103728"/>
                </a:lnTo>
                <a:lnTo>
                  <a:pt x="23937" y="111707"/>
                </a:lnTo>
                <a:cubicBezTo>
                  <a:pt x="23937" y="116120"/>
                  <a:pt x="20372" y="119686"/>
                  <a:pt x="15958" y="119686"/>
                </a:cubicBezTo>
                <a:lnTo>
                  <a:pt x="7979" y="119686"/>
                </a:lnTo>
                <a:cubicBezTo>
                  <a:pt x="3566" y="119686"/>
                  <a:pt x="0" y="116120"/>
                  <a:pt x="0" y="111707"/>
                </a:cubicBezTo>
                <a:lnTo>
                  <a:pt x="0" y="63832"/>
                </a:lnTo>
                <a:cubicBezTo>
                  <a:pt x="0" y="57175"/>
                  <a:pt x="4089" y="51465"/>
                  <a:pt x="9874" y="49071"/>
                </a:cubicBezTo>
                <a:close/>
                <a:moveTo>
                  <a:pt x="31916" y="75801"/>
                </a:moveTo>
                <a:cubicBezTo>
                  <a:pt x="31916" y="71397"/>
                  <a:pt x="28341" y="67822"/>
                  <a:pt x="23937" y="67822"/>
                </a:cubicBezTo>
                <a:cubicBezTo>
                  <a:pt x="19533" y="67822"/>
                  <a:pt x="15958" y="71397"/>
                  <a:pt x="15958" y="75801"/>
                </a:cubicBezTo>
                <a:cubicBezTo>
                  <a:pt x="15958" y="80205"/>
                  <a:pt x="19533" y="83780"/>
                  <a:pt x="23937" y="83780"/>
                </a:cubicBezTo>
                <a:cubicBezTo>
                  <a:pt x="28341" y="83780"/>
                  <a:pt x="31916" y="80205"/>
                  <a:pt x="31916" y="75801"/>
                </a:cubicBezTo>
                <a:close/>
                <a:moveTo>
                  <a:pt x="103728" y="83780"/>
                </a:moveTo>
                <a:cubicBezTo>
                  <a:pt x="108132" y="83780"/>
                  <a:pt x="111707" y="80205"/>
                  <a:pt x="111707" y="75801"/>
                </a:cubicBezTo>
                <a:cubicBezTo>
                  <a:pt x="111707" y="71397"/>
                  <a:pt x="108132" y="67822"/>
                  <a:pt x="103728" y="67822"/>
                </a:cubicBezTo>
                <a:cubicBezTo>
                  <a:pt x="99324" y="67822"/>
                  <a:pt x="95749" y="71397"/>
                  <a:pt x="95749" y="75801"/>
                </a:cubicBezTo>
                <a:cubicBezTo>
                  <a:pt x="95749" y="80205"/>
                  <a:pt x="99324" y="83780"/>
                  <a:pt x="103728" y="8378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53" name="Text 51"/>
          <p:cNvSpPr/>
          <p:nvPr/>
        </p:nvSpPr>
        <p:spPr>
          <a:xfrm>
            <a:off x="10421789" y="6437960"/>
            <a:ext cx="674800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Automotriz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Deep Learning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Procesamiento del Lenguaje Natural (NLP)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049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Comprendiendo y generando lenguaje humano mediante inteligencia artificial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562100"/>
            <a:ext cx="3686175" cy="3810000"/>
          </a:xfrm>
          <a:custGeom>
            <a:avLst/>
            <a:gdLst/>
            <a:ahLst/>
            <a:cxnLst/>
            <a:rect l="l" t="t" r="r" b="b"/>
            <a:pathLst>
              <a:path w="3686175" h="3810000">
                <a:moveTo>
                  <a:pt x="152386" y="0"/>
                </a:moveTo>
                <a:lnTo>
                  <a:pt x="3533789" y="0"/>
                </a:lnTo>
                <a:cubicBezTo>
                  <a:pt x="3617949" y="0"/>
                  <a:pt x="3686175" y="68226"/>
                  <a:pt x="3686175" y="152386"/>
                </a:cubicBezTo>
                <a:lnTo>
                  <a:pt x="3686175" y="3657614"/>
                </a:lnTo>
                <a:cubicBezTo>
                  <a:pt x="3686175" y="3741774"/>
                  <a:pt x="3617949" y="3810000"/>
                  <a:pt x="3533789" y="3810000"/>
                </a:cubicBezTo>
                <a:lnTo>
                  <a:pt x="152386" y="3810000"/>
                </a:lnTo>
                <a:cubicBezTo>
                  <a:pt x="68226" y="3810000"/>
                  <a:pt x="0" y="3741774"/>
                  <a:pt x="0" y="3657614"/>
                </a:cubicBezTo>
                <a:lnTo>
                  <a:pt x="0" y="152386"/>
                </a:lnTo>
                <a:cubicBezTo>
                  <a:pt x="0" y="68282"/>
                  <a:pt x="68282" y="0"/>
                  <a:pt x="15238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09600" y="17907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0071E3"/>
              </a:gs>
              <a:gs pos="100000">
                <a:srgbClr val="0071E3">
                  <a:alpha val="60000"/>
                </a:srgbClr>
              </a:gs>
            </a:gsLst>
            <a:lin ang="2700000" scaled="1"/>
          </a:gradFill>
          <a:ln/>
        </p:spPr>
      </p:sp>
      <p:sp>
        <p:nvSpPr>
          <p:cNvPr id="7" name="Shape 5"/>
          <p:cNvSpPr/>
          <p:nvPr/>
        </p:nvSpPr>
        <p:spPr>
          <a:xfrm>
            <a:off x="747713" y="19431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71438" y="0"/>
                </a:moveTo>
                <a:cubicBezTo>
                  <a:pt x="79340" y="0"/>
                  <a:pt x="85725" y="6385"/>
                  <a:pt x="85725" y="14288"/>
                </a:cubicBezTo>
                <a:lnTo>
                  <a:pt x="85725" y="28575"/>
                </a:lnTo>
                <a:lnTo>
                  <a:pt x="142875" y="28575"/>
                </a:lnTo>
                <a:cubicBezTo>
                  <a:pt x="150778" y="28575"/>
                  <a:pt x="157163" y="34960"/>
                  <a:pt x="157163" y="42863"/>
                </a:cubicBezTo>
                <a:cubicBezTo>
                  <a:pt x="157163" y="50765"/>
                  <a:pt x="150778" y="57150"/>
                  <a:pt x="142875" y="57150"/>
                </a:cubicBezTo>
                <a:lnTo>
                  <a:pt x="138589" y="57150"/>
                </a:lnTo>
                <a:lnTo>
                  <a:pt x="134838" y="67464"/>
                </a:lnTo>
                <a:cubicBezTo>
                  <a:pt x="127516" y="87645"/>
                  <a:pt x="116488" y="106085"/>
                  <a:pt x="102602" y="121935"/>
                </a:cubicBezTo>
                <a:cubicBezTo>
                  <a:pt x="108942" y="125864"/>
                  <a:pt x="115550" y="129347"/>
                  <a:pt x="122426" y="132427"/>
                </a:cubicBezTo>
                <a:lnTo>
                  <a:pt x="144929" y="142429"/>
                </a:lnTo>
                <a:lnTo>
                  <a:pt x="172700" y="79921"/>
                </a:lnTo>
                <a:cubicBezTo>
                  <a:pt x="174977" y="74741"/>
                  <a:pt x="180112" y="71438"/>
                  <a:pt x="185737" y="71438"/>
                </a:cubicBezTo>
                <a:cubicBezTo>
                  <a:pt x="191363" y="71438"/>
                  <a:pt x="196498" y="74741"/>
                  <a:pt x="198775" y="79921"/>
                </a:cubicBezTo>
                <a:lnTo>
                  <a:pt x="255925" y="208508"/>
                </a:lnTo>
                <a:cubicBezTo>
                  <a:pt x="259140" y="215741"/>
                  <a:pt x="255880" y="224180"/>
                  <a:pt x="248692" y="227350"/>
                </a:cubicBezTo>
                <a:cubicBezTo>
                  <a:pt x="241503" y="230520"/>
                  <a:pt x="233020" y="227305"/>
                  <a:pt x="229850" y="220117"/>
                </a:cubicBezTo>
                <a:lnTo>
                  <a:pt x="220920" y="200025"/>
                </a:lnTo>
                <a:lnTo>
                  <a:pt x="150599" y="200025"/>
                </a:lnTo>
                <a:lnTo>
                  <a:pt x="141669" y="220117"/>
                </a:lnTo>
                <a:cubicBezTo>
                  <a:pt x="138455" y="227350"/>
                  <a:pt x="130016" y="230565"/>
                  <a:pt x="122828" y="227350"/>
                </a:cubicBezTo>
                <a:cubicBezTo>
                  <a:pt x="115639" y="224135"/>
                  <a:pt x="112380" y="215697"/>
                  <a:pt x="115595" y="208508"/>
                </a:cubicBezTo>
                <a:lnTo>
                  <a:pt x="133365" y="168548"/>
                </a:lnTo>
                <a:lnTo>
                  <a:pt x="110862" y="158547"/>
                </a:lnTo>
                <a:cubicBezTo>
                  <a:pt x="100593" y="153992"/>
                  <a:pt x="90770" y="148545"/>
                  <a:pt x="81483" y="142295"/>
                </a:cubicBezTo>
                <a:cubicBezTo>
                  <a:pt x="71973" y="149974"/>
                  <a:pt x="61570" y="156671"/>
                  <a:pt x="50453" y="162252"/>
                </a:cubicBezTo>
                <a:lnTo>
                  <a:pt x="34960" y="169932"/>
                </a:lnTo>
                <a:cubicBezTo>
                  <a:pt x="27905" y="173459"/>
                  <a:pt x="19333" y="170602"/>
                  <a:pt x="15806" y="163547"/>
                </a:cubicBezTo>
                <a:cubicBezTo>
                  <a:pt x="12278" y="156493"/>
                  <a:pt x="15136" y="147920"/>
                  <a:pt x="22190" y="144393"/>
                </a:cubicBezTo>
                <a:lnTo>
                  <a:pt x="37594" y="136669"/>
                </a:lnTo>
                <a:cubicBezTo>
                  <a:pt x="44872" y="133008"/>
                  <a:pt x="51792" y="128766"/>
                  <a:pt x="58311" y="124033"/>
                </a:cubicBezTo>
                <a:cubicBezTo>
                  <a:pt x="52149" y="118363"/>
                  <a:pt x="46345" y="112246"/>
                  <a:pt x="40943" y="105772"/>
                </a:cubicBezTo>
                <a:lnTo>
                  <a:pt x="36433" y="100325"/>
                </a:lnTo>
                <a:cubicBezTo>
                  <a:pt x="31388" y="94253"/>
                  <a:pt x="32192" y="85234"/>
                  <a:pt x="38264" y="80189"/>
                </a:cubicBezTo>
                <a:cubicBezTo>
                  <a:pt x="44336" y="75143"/>
                  <a:pt x="53355" y="75947"/>
                  <a:pt x="58400" y="82019"/>
                </a:cubicBezTo>
                <a:lnTo>
                  <a:pt x="62954" y="87466"/>
                </a:lnTo>
                <a:cubicBezTo>
                  <a:pt x="68089" y="93672"/>
                  <a:pt x="73715" y="99432"/>
                  <a:pt x="79653" y="104745"/>
                </a:cubicBezTo>
                <a:cubicBezTo>
                  <a:pt x="91931" y="91172"/>
                  <a:pt x="101620" y="75233"/>
                  <a:pt x="108005" y="57686"/>
                </a:cubicBezTo>
                <a:lnTo>
                  <a:pt x="108228" y="57150"/>
                </a:lnTo>
                <a:lnTo>
                  <a:pt x="14332" y="57150"/>
                </a:lnTo>
                <a:cubicBezTo>
                  <a:pt x="6385" y="57150"/>
                  <a:pt x="0" y="50765"/>
                  <a:pt x="0" y="42863"/>
                </a:cubicBezTo>
                <a:cubicBezTo>
                  <a:pt x="0" y="34960"/>
                  <a:pt x="6385" y="28575"/>
                  <a:pt x="14288" y="28575"/>
                </a:cubicBezTo>
                <a:lnTo>
                  <a:pt x="57150" y="28575"/>
                </a:lnTo>
                <a:lnTo>
                  <a:pt x="57150" y="14288"/>
                </a:lnTo>
                <a:cubicBezTo>
                  <a:pt x="57150" y="6385"/>
                  <a:pt x="63535" y="0"/>
                  <a:pt x="71438" y="0"/>
                </a:cubicBezTo>
                <a:close/>
                <a:moveTo>
                  <a:pt x="185738" y="120908"/>
                </a:moveTo>
                <a:lnTo>
                  <a:pt x="163279" y="171450"/>
                </a:lnTo>
                <a:lnTo>
                  <a:pt x="208196" y="171450"/>
                </a:lnTo>
                <a:lnTo>
                  <a:pt x="185738" y="12090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09600" y="2514600"/>
            <a:ext cx="3324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Traducción Automática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600" y="2895600"/>
            <a:ext cx="33051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Sistemas como Google Translate utilizan modelos de DL para traducir texto entre idiomas con fluidez y contexto, facilitando la comunicación global empresarial.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9600" y="4191000"/>
            <a:ext cx="3228975" cy="952500"/>
          </a:xfrm>
          <a:custGeom>
            <a:avLst/>
            <a:gdLst/>
            <a:ahLst/>
            <a:cxnLst/>
            <a:rect l="l" t="t" r="r" b="b"/>
            <a:pathLst>
              <a:path w="3228975" h="952500">
                <a:moveTo>
                  <a:pt x="114300" y="0"/>
                </a:moveTo>
                <a:lnTo>
                  <a:pt x="3114675" y="0"/>
                </a:lnTo>
                <a:cubicBezTo>
                  <a:pt x="3177759" y="0"/>
                  <a:pt x="3228975" y="51216"/>
                  <a:pt x="3228975" y="114300"/>
                </a:cubicBezTo>
                <a:lnTo>
                  <a:pt x="3228975" y="838200"/>
                </a:lnTo>
                <a:cubicBezTo>
                  <a:pt x="3228975" y="901284"/>
                  <a:pt x="3177759" y="952500"/>
                  <a:pt x="3114675" y="952500"/>
                </a:cubicBezTo>
                <a:lnTo>
                  <a:pt x="114300" y="952500"/>
                </a:lnTo>
                <a:cubicBezTo>
                  <a:pt x="51216" y="952500"/>
                  <a:pt x="0" y="901284"/>
                  <a:pt x="0" y="8382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4400550"/>
            <a:ext cx="1219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Idiomas Soportados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173016" y="4343400"/>
            <a:ext cx="628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100+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4762500"/>
            <a:ext cx="590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Precisión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05621" y="4724400"/>
            <a:ext cx="476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94%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54401" y="1562100"/>
            <a:ext cx="3686175" cy="3810000"/>
          </a:xfrm>
          <a:custGeom>
            <a:avLst/>
            <a:gdLst/>
            <a:ahLst/>
            <a:cxnLst/>
            <a:rect l="l" t="t" r="r" b="b"/>
            <a:pathLst>
              <a:path w="3686175" h="3810000">
                <a:moveTo>
                  <a:pt x="152386" y="0"/>
                </a:moveTo>
                <a:lnTo>
                  <a:pt x="3533789" y="0"/>
                </a:lnTo>
                <a:cubicBezTo>
                  <a:pt x="3617949" y="0"/>
                  <a:pt x="3686175" y="68226"/>
                  <a:pt x="3686175" y="152386"/>
                </a:cubicBezTo>
                <a:lnTo>
                  <a:pt x="3686175" y="3657614"/>
                </a:lnTo>
                <a:cubicBezTo>
                  <a:pt x="3686175" y="3741774"/>
                  <a:pt x="3617949" y="3810000"/>
                  <a:pt x="3533789" y="3810000"/>
                </a:cubicBezTo>
                <a:lnTo>
                  <a:pt x="152386" y="3810000"/>
                </a:lnTo>
                <a:cubicBezTo>
                  <a:pt x="68226" y="3810000"/>
                  <a:pt x="0" y="3741774"/>
                  <a:pt x="0" y="3657614"/>
                </a:cubicBezTo>
                <a:lnTo>
                  <a:pt x="0" y="152386"/>
                </a:lnTo>
                <a:cubicBezTo>
                  <a:pt x="0" y="68282"/>
                  <a:pt x="68282" y="0"/>
                  <a:pt x="15238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83001" y="17907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0071E3"/>
              </a:gs>
              <a:gs pos="100000">
                <a:srgbClr val="0071E3">
                  <a:alpha val="60000"/>
                </a:srgbClr>
              </a:gs>
            </a:gsLst>
            <a:lin ang="2700000" scaled="1"/>
          </a:gradFill>
          <a:ln/>
        </p:spPr>
      </p:sp>
      <p:sp>
        <p:nvSpPr>
          <p:cNvPr id="17" name="Shape 15"/>
          <p:cNvSpPr/>
          <p:nvPr/>
        </p:nvSpPr>
        <p:spPr>
          <a:xfrm>
            <a:off x="4606826" y="19431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57163" y="0"/>
                </a:moveTo>
                <a:cubicBezTo>
                  <a:pt x="157163" y="-7903"/>
                  <a:pt x="150778" y="-14287"/>
                  <a:pt x="142875" y="-14287"/>
                </a:cubicBezTo>
                <a:cubicBezTo>
                  <a:pt x="134972" y="-14287"/>
                  <a:pt x="128588" y="-7903"/>
                  <a:pt x="128588" y="0"/>
                </a:cubicBezTo>
                <a:lnTo>
                  <a:pt x="128588" y="28575"/>
                </a:lnTo>
                <a:lnTo>
                  <a:pt x="85725" y="28575"/>
                </a:lnTo>
                <a:cubicBezTo>
                  <a:pt x="62061" y="28575"/>
                  <a:pt x="42863" y="47774"/>
                  <a:pt x="42863" y="71438"/>
                </a:cubicBezTo>
                <a:lnTo>
                  <a:pt x="42863" y="171450"/>
                </a:lnTo>
                <a:cubicBezTo>
                  <a:pt x="42863" y="195114"/>
                  <a:pt x="62061" y="214313"/>
                  <a:pt x="85725" y="214313"/>
                </a:cubicBezTo>
                <a:lnTo>
                  <a:pt x="200025" y="214313"/>
                </a:lnTo>
                <a:cubicBezTo>
                  <a:pt x="223689" y="214313"/>
                  <a:pt x="242888" y="195114"/>
                  <a:pt x="242888" y="171450"/>
                </a:cubicBezTo>
                <a:lnTo>
                  <a:pt x="242888" y="71438"/>
                </a:lnTo>
                <a:cubicBezTo>
                  <a:pt x="242888" y="47774"/>
                  <a:pt x="223689" y="28575"/>
                  <a:pt x="200025" y="28575"/>
                </a:cubicBezTo>
                <a:lnTo>
                  <a:pt x="157163" y="28575"/>
                </a:lnTo>
                <a:lnTo>
                  <a:pt x="157163" y="0"/>
                </a:lnTo>
                <a:close/>
                <a:moveTo>
                  <a:pt x="71438" y="164306"/>
                </a:moveTo>
                <a:cubicBezTo>
                  <a:pt x="71438" y="158368"/>
                  <a:pt x="76215" y="153591"/>
                  <a:pt x="82153" y="153591"/>
                </a:cubicBezTo>
                <a:lnTo>
                  <a:pt x="96441" y="153591"/>
                </a:lnTo>
                <a:cubicBezTo>
                  <a:pt x="102379" y="153591"/>
                  <a:pt x="107156" y="158368"/>
                  <a:pt x="107156" y="164306"/>
                </a:cubicBezTo>
                <a:cubicBezTo>
                  <a:pt x="107156" y="170244"/>
                  <a:pt x="102379" y="175022"/>
                  <a:pt x="96441" y="175022"/>
                </a:cubicBezTo>
                <a:lnTo>
                  <a:pt x="82153" y="175022"/>
                </a:lnTo>
                <a:cubicBezTo>
                  <a:pt x="76215" y="175022"/>
                  <a:pt x="71438" y="170244"/>
                  <a:pt x="71438" y="164306"/>
                </a:cubicBezTo>
                <a:close/>
                <a:moveTo>
                  <a:pt x="125016" y="164306"/>
                </a:moveTo>
                <a:cubicBezTo>
                  <a:pt x="125016" y="158368"/>
                  <a:pt x="129793" y="153591"/>
                  <a:pt x="135731" y="153591"/>
                </a:cubicBezTo>
                <a:lnTo>
                  <a:pt x="150019" y="153591"/>
                </a:lnTo>
                <a:cubicBezTo>
                  <a:pt x="155957" y="153591"/>
                  <a:pt x="160734" y="158368"/>
                  <a:pt x="160734" y="164306"/>
                </a:cubicBezTo>
                <a:cubicBezTo>
                  <a:pt x="160734" y="170244"/>
                  <a:pt x="155957" y="175022"/>
                  <a:pt x="150019" y="175022"/>
                </a:cubicBezTo>
                <a:lnTo>
                  <a:pt x="135731" y="175022"/>
                </a:lnTo>
                <a:cubicBezTo>
                  <a:pt x="129793" y="175022"/>
                  <a:pt x="125016" y="170244"/>
                  <a:pt x="125016" y="164306"/>
                </a:cubicBezTo>
                <a:close/>
                <a:moveTo>
                  <a:pt x="178594" y="164306"/>
                </a:moveTo>
                <a:cubicBezTo>
                  <a:pt x="178594" y="158368"/>
                  <a:pt x="183371" y="153591"/>
                  <a:pt x="189309" y="153591"/>
                </a:cubicBezTo>
                <a:lnTo>
                  <a:pt x="203597" y="153591"/>
                </a:lnTo>
                <a:cubicBezTo>
                  <a:pt x="209535" y="153591"/>
                  <a:pt x="214313" y="158368"/>
                  <a:pt x="214313" y="164306"/>
                </a:cubicBezTo>
                <a:cubicBezTo>
                  <a:pt x="214313" y="170244"/>
                  <a:pt x="209535" y="175022"/>
                  <a:pt x="203597" y="175022"/>
                </a:cubicBezTo>
                <a:lnTo>
                  <a:pt x="189309" y="175022"/>
                </a:lnTo>
                <a:cubicBezTo>
                  <a:pt x="183371" y="175022"/>
                  <a:pt x="178594" y="170244"/>
                  <a:pt x="178594" y="164306"/>
                </a:cubicBezTo>
                <a:close/>
                <a:moveTo>
                  <a:pt x="100013" y="78581"/>
                </a:moveTo>
                <a:cubicBezTo>
                  <a:pt x="111841" y="78581"/>
                  <a:pt x="121444" y="88184"/>
                  <a:pt x="121444" y="100013"/>
                </a:cubicBezTo>
                <a:cubicBezTo>
                  <a:pt x="121444" y="111841"/>
                  <a:pt x="111841" y="121444"/>
                  <a:pt x="100013" y="121444"/>
                </a:cubicBezTo>
                <a:cubicBezTo>
                  <a:pt x="88184" y="121444"/>
                  <a:pt x="78581" y="111841"/>
                  <a:pt x="78581" y="100013"/>
                </a:cubicBezTo>
                <a:cubicBezTo>
                  <a:pt x="78581" y="88184"/>
                  <a:pt x="88184" y="78581"/>
                  <a:pt x="100013" y="78581"/>
                </a:cubicBezTo>
                <a:close/>
                <a:moveTo>
                  <a:pt x="164306" y="100013"/>
                </a:moveTo>
                <a:cubicBezTo>
                  <a:pt x="164306" y="88184"/>
                  <a:pt x="173909" y="78581"/>
                  <a:pt x="185738" y="78581"/>
                </a:cubicBezTo>
                <a:cubicBezTo>
                  <a:pt x="197566" y="78581"/>
                  <a:pt x="207169" y="88184"/>
                  <a:pt x="207169" y="100013"/>
                </a:cubicBezTo>
                <a:cubicBezTo>
                  <a:pt x="207169" y="111841"/>
                  <a:pt x="197566" y="121444"/>
                  <a:pt x="185738" y="121444"/>
                </a:cubicBezTo>
                <a:cubicBezTo>
                  <a:pt x="173909" y="121444"/>
                  <a:pt x="164306" y="111841"/>
                  <a:pt x="164306" y="100013"/>
                </a:cubicBezTo>
                <a:close/>
                <a:moveTo>
                  <a:pt x="28575" y="100013"/>
                </a:moveTo>
                <a:cubicBezTo>
                  <a:pt x="28575" y="92110"/>
                  <a:pt x="22190" y="85725"/>
                  <a:pt x="14288" y="85725"/>
                </a:cubicBezTo>
                <a:cubicBezTo>
                  <a:pt x="6385" y="85725"/>
                  <a:pt x="0" y="92110"/>
                  <a:pt x="0" y="100013"/>
                </a:cubicBezTo>
                <a:lnTo>
                  <a:pt x="0" y="142875"/>
                </a:lnTo>
                <a:cubicBezTo>
                  <a:pt x="0" y="150778"/>
                  <a:pt x="6385" y="157163"/>
                  <a:pt x="14288" y="157163"/>
                </a:cubicBezTo>
                <a:cubicBezTo>
                  <a:pt x="22190" y="157163"/>
                  <a:pt x="28575" y="150778"/>
                  <a:pt x="28575" y="142875"/>
                </a:cubicBezTo>
                <a:lnTo>
                  <a:pt x="28575" y="100013"/>
                </a:lnTo>
                <a:close/>
                <a:moveTo>
                  <a:pt x="271463" y="85725"/>
                </a:moveTo>
                <a:cubicBezTo>
                  <a:pt x="263560" y="85725"/>
                  <a:pt x="257175" y="92110"/>
                  <a:pt x="257175" y="100013"/>
                </a:cubicBezTo>
                <a:lnTo>
                  <a:pt x="257175" y="142875"/>
                </a:lnTo>
                <a:cubicBezTo>
                  <a:pt x="257175" y="150778"/>
                  <a:pt x="263560" y="157163"/>
                  <a:pt x="271463" y="157163"/>
                </a:cubicBezTo>
                <a:cubicBezTo>
                  <a:pt x="279365" y="157163"/>
                  <a:pt x="285750" y="150778"/>
                  <a:pt x="285750" y="142875"/>
                </a:cubicBezTo>
                <a:lnTo>
                  <a:pt x="285750" y="100013"/>
                </a:lnTo>
                <a:cubicBezTo>
                  <a:pt x="285750" y="92110"/>
                  <a:pt x="279365" y="85725"/>
                  <a:pt x="271463" y="8572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483001" y="2514600"/>
            <a:ext cx="3324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Asistentes Virtuales Inteligentes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83001" y="2895600"/>
            <a:ext cx="33051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Modelos como GPT comprenden contexto, mantienen conversaciones naturales y resuelven consultas complejas, mejorando significativamente la experiencia del cliente.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483001" y="4191000"/>
            <a:ext cx="3228975" cy="952500"/>
          </a:xfrm>
          <a:custGeom>
            <a:avLst/>
            <a:gdLst/>
            <a:ahLst/>
            <a:cxnLst/>
            <a:rect l="l" t="t" r="r" b="b"/>
            <a:pathLst>
              <a:path w="3228975" h="952500">
                <a:moveTo>
                  <a:pt x="114300" y="0"/>
                </a:moveTo>
                <a:lnTo>
                  <a:pt x="3114675" y="0"/>
                </a:lnTo>
                <a:cubicBezTo>
                  <a:pt x="3177759" y="0"/>
                  <a:pt x="3228975" y="51216"/>
                  <a:pt x="3228975" y="114300"/>
                </a:cubicBezTo>
                <a:lnTo>
                  <a:pt x="3228975" y="838200"/>
                </a:lnTo>
                <a:cubicBezTo>
                  <a:pt x="3228975" y="901284"/>
                  <a:pt x="3177759" y="952500"/>
                  <a:pt x="3114675" y="952500"/>
                </a:cubicBezTo>
                <a:lnTo>
                  <a:pt x="114300" y="952500"/>
                </a:lnTo>
                <a:cubicBezTo>
                  <a:pt x="51216" y="952500"/>
                  <a:pt x="0" y="901284"/>
                  <a:pt x="0" y="8382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21" name="Text 19"/>
          <p:cNvSpPr/>
          <p:nvPr/>
        </p:nvSpPr>
        <p:spPr>
          <a:xfrm>
            <a:off x="4635401" y="4400550"/>
            <a:ext cx="1190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Satisfacción Cliente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82123" y="4343400"/>
            <a:ext cx="685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+45%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635401" y="4762500"/>
            <a:ext cx="1447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Resolución 1er Contacto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190780" y="4724400"/>
            <a:ext cx="457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78%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127950" y="1562100"/>
            <a:ext cx="3686175" cy="3810000"/>
          </a:xfrm>
          <a:custGeom>
            <a:avLst/>
            <a:gdLst/>
            <a:ahLst/>
            <a:cxnLst/>
            <a:rect l="l" t="t" r="r" b="b"/>
            <a:pathLst>
              <a:path w="3686175" h="3810000">
                <a:moveTo>
                  <a:pt x="152386" y="0"/>
                </a:moveTo>
                <a:lnTo>
                  <a:pt x="3533789" y="0"/>
                </a:lnTo>
                <a:cubicBezTo>
                  <a:pt x="3617949" y="0"/>
                  <a:pt x="3686175" y="68226"/>
                  <a:pt x="3686175" y="152386"/>
                </a:cubicBezTo>
                <a:lnTo>
                  <a:pt x="3686175" y="3657614"/>
                </a:lnTo>
                <a:cubicBezTo>
                  <a:pt x="3686175" y="3741774"/>
                  <a:pt x="3617949" y="3810000"/>
                  <a:pt x="3533789" y="3810000"/>
                </a:cubicBezTo>
                <a:lnTo>
                  <a:pt x="152386" y="3810000"/>
                </a:lnTo>
                <a:cubicBezTo>
                  <a:pt x="68226" y="3810000"/>
                  <a:pt x="0" y="3741774"/>
                  <a:pt x="0" y="3657614"/>
                </a:cubicBezTo>
                <a:lnTo>
                  <a:pt x="0" y="152386"/>
                </a:lnTo>
                <a:cubicBezTo>
                  <a:pt x="0" y="68282"/>
                  <a:pt x="68282" y="0"/>
                  <a:pt x="15238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356550" y="17907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0071E3"/>
              </a:gs>
              <a:gs pos="100000">
                <a:srgbClr val="0071E3">
                  <a:alpha val="60000"/>
                </a:srgbClr>
              </a:gs>
            </a:gsLst>
            <a:lin ang="2700000" scaled="1"/>
          </a:gradFill>
          <a:ln/>
        </p:spPr>
      </p:sp>
      <p:sp>
        <p:nvSpPr>
          <p:cNvPr id="27" name="Shape 25"/>
          <p:cNvSpPr/>
          <p:nvPr/>
        </p:nvSpPr>
        <p:spPr>
          <a:xfrm>
            <a:off x="8508950" y="1943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66762" y="12100"/>
                </a:moveTo>
                <a:cubicBezTo>
                  <a:pt x="173459" y="4420"/>
                  <a:pt x="183148" y="0"/>
                  <a:pt x="193372" y="0"/>
                </a:cubicBezTo>
                <a:cubicBezTo>
                  <a:pt x="212839" y="0"/>
                  <a:pt x="228645" y="15806"/>
                  <a:pt x="228645" y="35272"/>
                </a:cubicBezTo>
                <a:cubicBezTo>
                  <a:pt x="228645" y="45452"/>
                  <a:pt x="224224" y="55185"/>
                  <a:pt x="216545" y="61883"/>
                </a:cubicBezTo>
                <a:lnTo>
                  <a:pt x="126668" y="140107"/>
                </a:lnTo>
                <a:lnTo>
                  <a:pt x="121890" y="135285"/>
                </a:lnTo>
                <a:lnTo>
                  <a:pt x="93315" y="106710"/>
                </a:lnTo>
                <a:lnTo>
                  <a:pt x="88493" y="101932"/>
                </a:lnTo>
                <a:lnTo>
                  <a:pt x="166762" y="12100"/>
                </a:lnTo>
                <a:close/>
                <a:moveTo>
                  <a:pt x="71929" y="115639"/>
                </a:moveTo>
                <a:cubicBezTo>
                  <a:pt x="72330" y="116086"/>
                  <a:pt x="83939" y="127695"/>
                  <a:pt x="106710" y="150465"/>
                </a:cubicBezTo>
                <a:lnTo>
                  <a:pt x="112916" y="156671"/>
                </a:lnTo>
                <a:lnTo>
                  <a:pt x="105281" y="189801"/>
                </a:lnTo>
                <a:cubicBezTo>
                  <a:pt x="103540" y="197435"/>
                  <a:pt x="97735" y="203508"/>
                  <a:pt x="90190" y="205606"/>
                </a:cubicBezTo>
                <a:lnTo>
                  <a:pt x="14377" y="226814"/>
                </a:lnTo>
                <a:lnTo>
                  <a:pt x="55587" y="185604"/>
                </a:lnTo>
                <a:cubicBezTo>
                  <a:pt x="56123" y="185648"/>
                  <a:pt x="56614" y="185693"/>
                  <a:pt x="57150" y="185693"/>
                </a:cubicBezTo>
                <a:cubicBezTo>
                  <a:pt x="65053" y="185693"/>
                  <a:pt x="71438" y="179308"/>
                  <a:pt x="71438" y="171405"/>
                </a:cubicBezTo>
                <a:cubicBezTo>
                  <a:pt x="71438" y="163503"/>
                  <a:pt x="65053" y="157118"/>
                  <a:pt x="57150" y="157118"/>
                </a:cubicBezTo>
                <a:cubicBezTo>
                  <a:pt x="49247" y="157118"/>
                  <a:pt x="42863" y="163503"/>
                  <a:pt x="42863" y="171405"/>
                </a:cubicBezTo>
                <a:cubicBezTo>
                  <a:pt x="42863" y="171941"/>
                  <a:pt x="42907" y="172477"/>
                  <a:pt x="42952" y="172968"/>
                </a:cubicBezTo>
                <a:lnTo>
                  <a:pt x="1741" y="214223"/>
                </a:lnTo>
                <a:lnTo>
                  <a:pt x="22994" y="138410"/>
                </a:lnTo>
                <a:cubicBezTo>
                  <a:pt x="25092" y="130865"/>
                  <a:pt x="31165" y="125060"/>
                  <a:pt x="38799" y="123319"/>
                </a:cubicBezTo>
                <a:lnTo>
                  <a:pt x="71929" y="11563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8356550" y="2514600"/>
            <a:ext cx="3324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Generación de Contenido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356550" y="2895600"/>
            <a:ext cx="33051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Creación automatizada de informes, artículos, resúmenes y contenido de marketing, reduciendo tiempos de producción y manteniendo calidad consistente.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356550" y="4191000"/>
            <a:ext cx="3228975" cy="952500"/>
          </a:xfrm>
          <a:custGeom>
            <a:avLst/>
            <a:gdLst/>
            <a:ahLst/>
            <a:cxnLst/>
            <a:rect l="l" t="t" r="r" b="b"/>
            <a:pathLst>
              <a:path w="3228975" h="952500">
                <a:moveTo>
                  <a:pt x="114300" y="0"/>
                </a:moveTo>
                <a:lnTo>
                  <a:pt x="3114675" y="0"/>
                </a:lnTo>
                <a:cubicBezTo>
                  <a:pt x="3177759" y="0"/>
                  <a:pt x="3228975" y="51216"/>
                  <a:pt x="3228975" y="114300"/>
                </a:cubicBezTo>
                <a:lnTo>
                  <a:pt x="3228975" y="838200"/>
                </a:lnTo>
                <a:cubicBezTo>
                  <a:pt x="3228975" y="901284"/>
                  <a:pt x="3177759" y="952500"/>
                  <a:pt x="3114675" y="952500"/>
                </a:cubicBezTo>
                <a:lnTo>
                  <a:pt x="114300" y="952500"/>
                </a:lnTo>
                <a:cubicBezTo>
                  <a:pt x="51216" y="952500"/>
                  <a:pt x="0" y="901284"/>
                  <a:pt x="0" y="8382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31" name="Text 29"/>
          <p:cNvSpPr/>
          <p:nvPr/>
        </p:nvSpPr>
        <p:spPr>
          <a:xfrm>
            <a:off x="8508950" y="4400550"/>
            <a:ext cx="114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Reducción Tiempo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894368" y="4343400"/>
            <a:ext cx="647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-70%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508950" y="4762500"/>
            <a:ext cx="819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Escalabilidad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293971" y="4724400"/>
            <a:ext cx="228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∞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81000" y="5562600"/>
            <a:ext cx="11430000" cy="914400"/>
          </a:xfrm>
          <a:custGeom>
            <a:avLst/>
            <a:gdLst/>
            <a:ahLst/>
            <a:cxnLst/>
            <a:rect l="l" t="t" r="r" b="b"/>
            <a:pathLst>
              <a:path w="11430000" h="914400">
                <a:moveTo>
                  <a:pt x="152403" y="0"/>
                </a:moveTo>
                <a:lnTo>
                  <a:pt x="11277597" y="0"/>
                </a:lnTo>
                <a:cubicBezTo>
                  <a:pt x="11361767" y="0"/>
                  <a:pt x="11430000" y="68233"/>
                  <a:pt x="11430000" y="152403"/>
                </a:cubicBezTo>
                <a:lnTo>
                  <a:pt x="11430000" y="761997"/>
                </a:lnTo>
                <a:cubicBezTo>
                  <a:pt x="11430000" y="846167"/>
                  <a:pt x="11361767" y="914400"/>
                  <a:pt x="11277597" y="914400"/>
                </a:cubicBezTo>
                <a:lnTo>
                  <a:pt x="152403" y="914400"/>
                </a:lnTo>
                <a:cubicBezTo>
                  <a:pt x="68290" y="914400"/>
                  <a:pt x="0" y="846110"/>
                  <a:pt x="0" y="7619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gradFill rotWithShape="1" flip="none">
            <a:gsLst>
              <a:gs pos="0">
                <a:srgbClr val="1D1D1F"/>
              </a:gs>
              <a:gs pos="100000">
                <a:srgbClr val="86868B"/>
              </a:gs>
            </a:gsLst>
            <a:lin ang="0" scaled="1"/>
          </a:gradFill>
          <a:ln/>
        </p:spPr>
      </p:sp>
      <p:sp>
        <p:nvSpPr>
          <p:cNvPr id="36" name="Shape 34"/>
          <p:cNvSpPr/>
          <p:nvPr/>
        </p:nvSpPr>
        <p:spPr>
          <a:xfrm>
            <a:off x="628650" y="59055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7" name="Text 35"/>
          <p:cNvSpPr/>
          <p:nvPr/>
        </p:nvSpPr>
        <p:spPr>
          <a:xfrm>
            <a:off x="1009650" y="5905500"/>
            <a:ext cx="9344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Caso de Éxito: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Un banco implementó NLP para procesar 10,000 consultas diarias, reduciendo tiempo de respuesta de 4 horas a 30 segundos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677525" y="5753100"/>
            <a:ext cx="9429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99.2%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753725" y="6096000"/>
            <a:ext cx="866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Precisión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1274" y="341274"/>
            <a:ext cx="11569176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b="1" spc="94" kern="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Deep Learning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1274" y="580165"/>
            <a:ext cx="11663026" cy="341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18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Análisis y Predicción Avanzada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41274" y="989693"/>
            <a:ext cx="11586239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9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Modelos sofisticados para anticipar eventos y optimizar decisiones estratégicas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1274" y="1399222"/>
            <a:ext cx="7891952" cy="2644871"/>
          </a:xfrm>
          <a:custGeom>
            <a:avLst/>
            <a:gdLst/>
            <a:ahLst/>
            <a:cxnLst/>
            <a:rect l="l" t="t" r="r" b="b"/>
            <a:pathLst>
              <a:path w="7891952" h="2644871">
                <a:moveTo>
                  <a:pt x="136502" y="0"/>
                </a:moveTo>
                <a:lnTo>
                  <a:pt x="7755451" y="0"/>
                </a:lnTo>
                <a:cubicBezTo>
                  <a:pt x="7830838" y="0"/>
                  <a:pt x="7891952" y="61114"/>
                  <a:pt x="7891952" y="136502"/>
                </a:cubicBezTo>
                <a:lnTo>
                  <a:pt x="7891952" y="2508369"/>
                </a:lnTo>
                <a:cubicBezTo>
                  <a:pt x="7891952" y="2583757"/>
                  <a:pt x="7830838" y="2644871"/>
                  <a:pt x="7755451" y="2644871"/>
                </a:cubicBezTo>
                <a:lnTo>
                  <a:pt x="136502" y="2644871"/>
                </a:lnTo>
                <a:cubicBezTo>
                  <a:pt x="61114" y="2644871"/>
                  <a:pt x="0" y="2583757"/>
                  <a:pt x="0" y="2508369"/>
                </a:cubicBezTo>
                <a:lnTo>
                  <a:pt x="0" y="136502"/>
                </a:lnTo>
                <a:cubicBezTo>
                  <a:pt x="0" y="61164"/>
                  <a:pt x="61164" y="0"/>
                  <a:pt x="13650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5596" dist="8532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6038" y="1953791"/>
            <a:ext cx="477783" cy="477783"/>
          </a:xfrm>
          <a:custGeom>
            <a:avLst/>
            <a:gdLst/>
            <a:ahLst/>
            <a:cxnLst/>
            <a:rect l="l" t="t" r="r" b="b"/>
            <a:pathLst>
              <a:path w="477783" h="477783">
                <a:moveTo>
                  <a:pt x="102384" y="0"/>
                </a:moveTo>
                <a:lnTo>
                  <a:pt x="375399" y="0"/>
                </a:lnTo>
                <a:cubicBezTo>
                  <a:pt x="431906" y="0"/>
                  <a:pt x="477783" y="45877"/>
                  <a:pt x="477783" y="102384"/>
                </a:cubicBezTo>
                <a:lnTo>
                  <a:pt x="477783" y="375399"/>
                </a:lnTo>
                <a:cubicBezTo>
                  <a:pt x="477783" y="431906"/>
                  <a:pt x="431906" y="477783"/>
                  <a:pt x="375399" y="477783"/>
                </a:cubicBezTo>
                <a:lnTo>
                  <a:pt x="102384" y="477783"/>
                </a:lnTo>
                <a:cubicBezTo>
                  <a:pt x="45877" y="477783"/>
                  <a:pt x="0" y="431906"/>
                  <a:pt x="0" y="375399"/>
                </a:cubicBezTo>
                <a:lnTo>
                  <a:pt x="0" y="102384"/>
                </a:lnTo>
                <a:cubicBezTo>
                  <a:pt x="0" y="45877"/>
                  <a:pt x="45877" y="0"/>
                  <a:pt x="102384" y="0"/>
                </a:cubicBezTo>
                <a:close/>
              </a:path>
            </a:pathLst>
          </a:custGeom>
          <a:gradFill rotWithShape="1" flip="none">
            <a:gsLst>
              <a:gs pos="0">
                <a:srgbClr val="0071E3"/>
              </a:gs>
              <a:gs pos="100000">
                <a:srgbClr val="0071E3">
                  <a:alpha val="60000"/>
                </a:srgbClr>
              </a:gs>
            </a:gsLst>
            <a:lin ang="2700000" scaled="1"/>
          </a:gradFill>
          <a:ln/>
        </p:spPr>
      </p:sp>
      <p:sp>
        <p:nvSpPr>
          <p:cNvPr id="7" name="Shape 5"/>
          <p:cNvSpPr/>
          <p:nvPr/>
        </p:nvSpPr>
        <p:spPr>
          <a:xfrm>
            <a:off x="669749" y="2090301"/>
            <a:ext cx="230360" cy="204764"/>
          </a:xfrm>
          <a:custGeom>
            <a:avLst/>
            <a:gdLst/>
            <a:ahLst/>
            <a:cxnLst/>
            <a:rect l="l" t="t" r="r" b="b"/>
            <a:pathLst>
              <a:path w="230360" h="204764">
                <a:moveTo>
                  <a:pt x="203724" y="39433"/>
                </a:moveTo>
                <a:cubicBezTo>
                  <a:pt x="206764" y="36394"/>
                  <a:pt x="211843" y="37153"/>
                  <a:pt x="213363" y="41153"/>
                </a:cubicBezTo>
                <a:cubicBezTo>
                  <a:pt x="216082" y="48232"/>
                  <a:pt x="217562" y="55950"/>
                  <a:pt x="217562" y="63989"/>
                </a:cubicBezTo>
                <a:cubicBezTo>
                  <a:pt x="217562" y="99343"/>
                  <a:pt x="188927" y="127978"/>
                  <a:pt x="153573" y="127978"/>
                </a:cubicBezTo>
                <a:cubicBezTo>
                  <a:pt x="146574" y="127978"/>
                  <a:pt x="139816" y="126858"/>
                  <a:pt x="133497" y="124778"/>
                </a:cubicBezTo>
                <a:lnTo>
                  <a:pt x="58750" y="199525"/>
                </a:lnTo>
                <a:cubicBezTo>
                  <a:pt x="47512" y="210763"/>
                  <a:pt x="29275" y="210763"/>
                  <a:pt x="18037" y="199525"/>
                </a:cubicBezTo>
                <a:cubicBezTo>
                  <a:pt x="6799" y="188287"/>
                  <a:pt x="6799" y="170050"/>
                  <a:pt x="18037" y="158812"/>
                </a:cubicBezTo>
                <a:lnTo>
                  <a:pt x="92784" y="84065"/>
                </a:lnTo>
                <a:cubicBezTo>
                  <a:pt x="90704" y="77746"/>
                  <a:pt x="89584" y="71028"/>
                  <a:pt x="89584" y="63989"/>
                </a:cubicBezTo>
                <a:cubicBezTo>
                  <a:pt x="89584" y="28635"/>
                  <a:pt x="118219" y="0"/>
                  <a:pt x="153573" y="0"/>
                </a:cubicBezTo>
                <a:cubicBezTo>
                  <a:pt x="161612" y="0"/>
                  <a:pt x="169330" y="1480"/>
                  <a:pt x="176409" y="4199"/>
                </a:cubicBezTo>
                <a:cubicBezTo>
                  <a:pt x="180408" y="5719"/>
                  <a:pt x="181128" y="10798"/>
                  <a:pt x="178129" y="13838"/>
                </a:cubicBezTo>
                <a:lnTo>
                  <a:pt x="142655" y="49311"/>
                </a:lnTo>
                <a:cubicBezTo>
                  <a:pt x="141455" y="50511"/>
                  <a:pt x="140775" y="52151"/>
                  <a:pt x="140775" y="53831"/>
                </a:cubicBezTo>
                <a:lnTo>
                  <a:pt x="140775" y="70388"/>
                </a:lnTo>
                <a:cubicBezTo>
                  <a:pt x="140775" y="73907"/>
                  <a:pt x="143655" y="76787"/>
                  <a:pt x="147174" y="76787"/>
                </a:cubicBezTo>
                <a:lnTo>
                  <a:pt x="163731" y="76787"/>
                </a:lnTo>
                <a:cubicBezTo>
                  <a:pt x="165411" y="76787"/>
                  <a:pt x="167051" y="76107"/>
                  <a:pt x="168251" y="74907"/>
                </a:cubicBezTo>
                <a:lnTo>
                  <a:pt x="203724" y="3943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160330" y="1953791"/>
            <a:ext cx="6953450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4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Mantenimiento Predictivo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60330" y="2295065"/>
            <a:ext cx="6936386" cy="443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5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Modelos de DL analizan datos de sensores en tiempo real para anticipar fallas en maquinaria, programar mantenimiento preventivo y evitar paradas inesperadas.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60330" y="2875230"/>
            <a:ext cx="2218279" cy="614293"/>
          </a:xfrm>
          <a:custGeom>
            <a:avLst/>
            <a:gdLst/>
            <a:ahLst/>
            <a:cxnLst/>
            <a:rect l="l" t="t" r="r" b="b"/>
            <a:pathLst>
              <a:path w="2218279" h="614293">
                <a:moveTo>
                  <a:pt x="68254" y="0"/>
                </a:moveTo>
                <a:lnTo>
                  <a:pt x="2150024" y="0"/>
                </a:lnTo>
                <a:cubicBezTo>
                  <a:pt x="2187720" y="0"/>
                  <a:pt x="2218279" y="30558"/>
                  <a:pt x="2218279" y="68254"/>
                </a:cubicBezTo>
                <a:lnTo>
                  <a:pt x="2218279" y="546038"/>
                </a:lnTo>
                <a:cubicBezTo>
                  <a:pt x="2218279" y="583734"/>
                  <a:pt x="2187720" y="614293"/>
                  <a:pt x="2150024" y="614293"/>
                </a:cubicBezTo>
                <a:lnTo>
                  <a:pt x="68254" y="614293"/>
                </a:lnTo>
                <a:cubicBezTo>
                  <a:pt x="30558" y="614293"/>
                  <a:pt x="0" y="583734"/>
                  <a:pt x="0" y="546038"/>
                </a:cubicBezTo>
                <a:lnTo>
                  <a:pt x="0" y="68254"/>
                </a:lnTo>
                <a:cubicBezTo>
                  <a:pt x="0" y="30558"/>
                  <a:pt x="30558" y="0"/>
                  <a:pt x="68254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11" name="Text 9"/>
          <p:cNvSpPr/>
          <p:nvPr/>
        </p:nvSpPr>
        <p:spPr>
          <a:xfrm>
            <a:off x="1220053" y="2977612"/>
            <a:ext cx="2098833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44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-50%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7117" y="3250631"/>
            <a:ext cx="2064705" cy="136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06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Tiempo Parada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484724" y="2875230"/>
            <a:ext cx="2218279" cy="614293"/>
          </a:xfrm>
          <a:custGeom>
            <a:avLst/>
            <a:gdLst/>
            <a:ahLst/>
            <a:cxnLst/>
            <a:rect l="l" t="t" r="r" b="b"/>
            <a:pathLst>
              <a:path w="2218279" h="614293">
                <a:moveTo>
                  <a:pt x="68254" y="0"/>
                </a:moveTo>
                <a:lnTo>
                  <a:pt x="2150024" y="0"/>
                </a:lnTo>
                <a:cubicBezTo>
                  <a:pt x="2187720" y="0"/>
                  <a:pt x="2218279" y="30558"/>
                  <a:pt x="2218279" y="68254"/>
                </a:cubicBezTo>
                <a:lnTo>
                  <a:pt x="2218279" y="546038"/>
                </a:lnTo>
                <a:cubicBezTo>
                  <a:pt x="2218279" y="583734"/>
                  <a:pt x="2187720" y="614293"/>
                  <a:pt x="2150024" y="614293"/>
                </a:cubicBezTo>
                <a:lnTo>
                  <a:pt x="68254" y="614293"/>
                </a:lnTo>
                <a:cubicBezTo>
                  <a:pt x="30558" y="614293"/>
                  <a:pt x="0" y="583734"/>
                  <a:pt x="0" y="546038"/>
                </a:cubicBezTo>
                <a:lnTo>
                  <a:pt x="0" y="68254"/>
                </a:lnTo>
                <a:cubicBezTo>
                  <a:pt x="0" y="30558"/>
                  <a:pt x="30558" y="0"/>
                  <a:pt x="68254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14" name="Text 12"/>
          <p:cNvSpPr/>
          <p:nvPr/>
        </p:nvSpPr>
        <p:spPr>
          <a:xfrm>
            <a:off x="3544446" y="2977612"/>
            <a:ext cx="2098833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44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+35%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61510" y="3250631"/>
            <a:ext cx="2064705" cy="136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06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Vida Útil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809117" y="2875230"/>
            <a:ext cx="2218279" cy="614293"/>
          </a:xfrm>
          <a:custGeom>
            <a:avLst/>
            <a:gdLst/>
            <a:ahLst/>
            <a:cxnLst/>
            <a:rect l="l" t="t" r="r" b="b"/>
            <a:pathLst>
              <a:path w="2218279" h="614293">
                <a:moveTo>
                  <a:pt x="68254" y="0"/>
                </a:moveTo>
                <a:lnTo>
                  <a:pt x="2150024" y="0"/>
                </a:lnTo>
                <a:cubicBezTo>
                  <a:pt x="2187720" y="0"/>
                  <a:pt x="2218279" y="30558"/>
                  <a:pt x="2218279" y="68254"/>
                </a:cubicBezTo>
                <a:lnTo>
                  <a:pt x="2218279" y="546038"/>
                </a:lnTo>
                <a:cubicBezTo>
                  <a:pt x="2218279" y="583734"/>
                  <a:pt x="2187720" y="614293"/>
                  <a:pt x="2150024" y="614293"/>
                </a:cubicBezTo>
                <a:lnTo>
                  <a:pt x="68254" y="614293"/>
                </a:lnTo>
                <a:cubicBezTo>
                  <a:pt x="30558" y="614293"/>
                  <a:pt x="0" y="583734"/>
                  <a:pt x="0" y="546038"/>
                </a:cubicBezTo>
                <a:lnTo>
                  <a:pt x="0" y="68254"/>
                </a:lnTo>
                <a:cubicBezTo>
                  <a:pt x="0" y="30558"/>
                  <a:pt x="30558" y="0"/>
                  <a:pt x="68254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17" name="Text 15"/>
          <p:cNvSpPr/>
          <p:nvPr/>
        </p:nvSpPr>
        <p:spPr>
          <a:xfrm>
            <a:off x="5868840" y="2977612"/>
            <a:ext cx="2098833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44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-40%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885903" y="3250631"/>
            <a:ext cx="2064705" cy="136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06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Costos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41274" y="4214729"/>
            <a:ext cx="7891952" cy="2644871"/>
          </a:xfrm>
          <a:custGeom>
            <a:avLst/>
            <a:gdLst/>
            <a:ahLst/>
            <a:cxnLst/>
            <a:rect l="l" t="t" r="r" b="b"/>
            <a:pathLst>
              <a:path w="7891952" h="2644871">
                <a:moveTo>
                  <a:pt x="136502" y="0"/>
                </a:moveTo>
                <a:lnTo>
                  <a:pt x="7755451" y="0"/>
                </a:lnTo>
                <a:cubicBezTo>
                  <a:pt x="7830838" y="0"/>
                  <a:pt x="7891952" y="61114"/>
                  <a:pt x="7891952" y="136502"/>
                </a:cubicBezTo>
                <a:lnTo>
                  <a:pt x="7891952" y="2508369"/>
                </a:lnTo>
                <a:cubicBezTo>
                  <a:pt x="7891952" y="2583757"/>
                  <a:pt x="7830838" y="2644871"/>
                  <a:pt x="7755451" y="2644871"/>
                </a:cubicBezTo>
                <a:lnTo>
                  <a:pt x="136502" y="2644871"/>
                </a:lnTo>
                <a:cubicBezTo>
                  <a:pt x="61114" y="2644871"/>
                  <a:pt x="0" y="2583757"/>
                  <a:pt x="0" y="2508369"/>
                </a:cubicBezTo>
                <a:lnTo>
                  <a:pt x="0" y="136502"/>
                </a:lnTo>
                <a:cubicBezTo>
                  <a:pt x="0" y="61164"/>
                  <a:pt x="61164" y="0"/>
                  <a:pt x="13650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5596" dist="8532" dir="540000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6038" y="4769299"/>
            <a:ext cx="477783" cy="477783"/>
          </a:xfrm>
          <a:custGeom>
            <a:avLst/>
            <a:gdLst/>
            <a:ahLst/>
            <a:cxnLst/>
            <a:rect l="l" t="t" r="r" b="b"/>
            <a:pathLst>
              <a:path w="477783" h="477783">
                <a:moveTo>
                  <a:pt x="102384" y="0"/>
                </a:moveTo>
                <a:lnTo>
                  <a:pt x="375399" y="0"/>
                </a:lnTo>
                <a:cubicBezTo>
                  <a:pt x="431906" y="0"/>
                  <a:pt x="477783" y="45877"/>
                  <a:pt x="477783" y="102384"/>
                </a:cubicBezTo>
                <a:lnTo>
                  <a:pt x="477783" y="375399"/>
                </a:lnTo>
                <a:cubicBezTo>
                  <a:pt x="477783" y="431906"/>
                  <a:pt x="431906" y="477783"/>
                  <a:pt x="375399" y="477783"/>
                </a:cubicBezTo>
                <a:lnTo>
                  <a:pt x="102384" y="477783"/>
                </a:lnTo>
                <a:cubicBezTo>
                  <a:pt x="45877" y="477783"/>
                  <a:pt x="0" y="431906"/>
                  <a:pt x="0" y="375399"/>
                </a:cubicBezTo>
                <a:lnTo>
                  <a:pt x="0" y="102384"/>
                </a:lnTo>
                <a:cubicBezTo>
                  <a:pt x="0" y="45877"/>
                  <a:pt x="45877" y="0"/>
                  <a:pt x="102384" y="0"/>
                </a:cubicBezTo>
                <a:close/>
              </a:path>
            </a:pathLst>
          </a:custGeom>
          <a:gradFill rotWithShape="1" flip="none">
            <a:gsLst>
              <a:gs pos="0">
                <a:srgbClr val="0071E3"/>
              </a:gs>
              <a:gs pos="100000">
                <a:srgbClr val="0071E3">
                  <a:alpha val="60000"/>
                </a:srgbClr>
              </a:gs>
            </a:gsLst>
            <a:lin ang="2700000" scaled="1"/>
          </a:gradFill>
          <a:ln/>
        </p:spPr>
      </p:sp>
      <p:sp>
        <p:nvSpPr>
          <p:cNvPr id="21" name="Shape 19"/>
          <p:cNvSpPr/>
          <p:nvPr/>
        </p:nvSpPr>
        <p:spPr>
          <a:xfrm>
            <a:off x="669749" y="4905808"/>
            <a:ext cx="230360" cy="204764"/>
          </a:xfrm>
          <a:custGeom>
            <a:avLst/>
            <a:gdLst/>
            <a:ahLst/>
            <a:cxnLst/>
            <a:rect l="l" t="t" r="r" b="b"/>
            <a:pathLst>
              <a:path w="230360" h="204764">
                <a:moveTo>
                  <a:pt x="160452" y="15637"/>
                </a:moveTo>
                <a:lnTo>
                  <a:pt x="219722" y="75747"/>
                </a:lnTo>
                <a:cubicBezTo>
                  <a:pt x="230800" y="86985"/>
                  <a:pt x="230800" y="104982"/>
                  <a:pt x="219722" y="116220"/>
                </a:cubicBezTo>
                <a:lnTo>
                  <a:pt x="157172" y="179529"/>
                </a:lnTo>
                <a:cubicBezTo>
                  <a:pt x="153453" y="183288"/>
                  <a:pt x="147374" y="183328"/>
                  <a:pt x="143615" y="179609"/>
                </a:cubicBezTo>
                <a:cubicBezTo>
                  <a:pt x="139856" y="175889"/>
                  <a:pt x="139816" y="169810"/>
                  <a:pt x="143535" y="166051"/>
                </a:cubicBezTo>
                <a:lnTo>
                  <a:pt x="206084" y="102702"/>
                </a:lnTo>
                <a:cubicBezTo>
                  <a:pt x="209763" y="98983"/>
                  <a:pt x="209763" y="92944"/>
                  <a:pt x="206084" y="89224"/>
                </a:cubicBezTo>
                <a:lnTo>
                  <a:pt x="146774" y="29155"/>
                </a:lnTo>
                <a:cubicBezTo>
                  <a:pt x="143055" y="25396"/>
                  <a:pt x="143095" y="19317"/>
                  <a:pt x="146854" y="15597"/>
                </a:cubicBezTo>
                <a:cubicBezTo>
                  <a:pt x="150614" y="11878"/>
                  <a:pt x="156693" y="11918"/>
                  <a:pt x="160412" y="15677"/>
                </a:cubicBezTo>
                <a:close/>
                <a:moveTo>
                  <a:pt x="12838" y="91784"/>
                </a:moveTo>
                <a:lnTo>
                  <a:pt x="12838" y="38393"/>
                </a:lnTo>
                <a:cubicBezTo>
                  <a:pt x="12838" y="24276"/>
                  <a:pt x="24316" y="12798"/>
                  <a:pt x="38433" y="12798"/>
                </a:cubicBezTo>
                <a:lnTo>
                  <a:pt x="91824" y="12798"/>
                </a:lnTo>
                <a:cubicBezTo>
                  <a:pt x="98623" y="12798"/>
                  <a:pt x="105142" y="15477"/>
                  <a:pt x="109941" y="20276"/>
                </a:cubicBezTo>
                <a:lnTo>
                  <a:pt x="167531" y="77866"/>
                </a:lnTo>
                <a:cubicBezTo>
                  <a:pt x="177529" y="87865"/>
                  <a:pt x="177529" y="104062"/>
                  <a:pt x="167531" y="114060"/>
                </a:cubicBezTo>
                <a:lnTo>
                  <a:pt x="114140" y="167451"/>
                </a:lnTo>
                <a:cubicBezTo>
                  <a:pt x="104142" y="177449"/>
                  <a:pt x="87945" y="177449"/>
                  <a:pt x="77946" y="167451"/>
                </a:cubicBezTo>
                <a:lnTo>
                  <a:pt x="20356" y="109861"/>
                </a:lnTo>
                <a:cubicBezTo>
                  <a:pt x="15557" y="105062"/>
                  <a:pt x="12878" y="98543"/>
                  <a:pt x="12878" y="91744"/>
                </a:cubicBezTo>
                <a:close/>
                <a:moveTo>
                  <a:pt x="70428" y="57590"/>
                </a:moveTo>
                <a:cubicBezTo>
                  <a:pt x="70428" y="50527"/>
                  <a:pt x="64693" y="44792"/>
                  <a:pt x="57630" y="44792"/>
                </a:cubicBezTo>
                <a:cubicBezTo>
                  <a:pt x="50567" y="44792"/>
                  <a:pt x="44832" y="50527"/>
                  <a:pt x="44832" y="57590"/>
                </a:cubicBezTo>
                <a:cubicBezTo>
                  <a:pt x="44832" y="64653"/>
                  <a:pt x="50567" y="70388"/>
                  <a:pt x="57630" y="70388"/>
                </a:cubicBezTo>
                <a:cubicBezTo>
                  <a:pt x="64693" y="70388"/>
                  <a:pt x="70428" y="64653"/>
                  <a:pt x="70428" y="5759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1160330" y="4769299"/>
            <a:ext cx="6953450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4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Optimización de Precios Dinámicos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60330" y="5110572"/>
            <a:ext cx="6936386" cy="443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5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Ajuste automático de precios basado en demanda, competencia, temporada y comportamiento del cliente, maximizando ingresos y competitividad.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160330" y="5690738"/>
            <a:ext cx="2218279" cy="614293"/>
          </a:xfrm>
          <a:custGeom>
            <a:avLst/>
            <a:gdLst/>
            <a:ahLst/>
            <a:cxnLst/>
            <a:rect l="l" t="t" r="r" b="b"/>
            <a:pathLst>
              <a:path w="2218279" h="614293">
                <a:moveTo>
                  <a:pt x="68254" y="0"/>
                </a:moveTo>
                <a:lnTo>
                  <a:pt x="2150024" y="0"/>
                </a:lnTo>
                <a:cubicBezTo>
                  <a:pt x="2187720" y="0"/>
                  <a:pt x="2218279" y="30558"/>
                  <a:pt x="2218279" y="68254"/>
                </a:cubicBezTo>
                <a:lnTo>
                  <a:pt x="2218279" y="546038"/>
                </a:lnTo>
                <a:cubicBezTo>
                  <a:pt x="2218279" y="583734"/>
                  <a:pt x="2187720" y="614293"/>
                  <a:pt x="2150024" y="614293"/>
                </a:cubicBezTo>
                <a:lnTo>
                  <a:pt x="68254" y="614293"/>
                </a:lnTo>
                <a:cubicBezTo>
                  <a:pt x="30558" y="614293"/>
                  <a:pt x="0" y="583734"/>
                  <a:pt x="0" y="546038"/>
                </a:cubicBezTo>
                <a:lnTo>
                  <a:pt x="0" y="68254"/>
                </a:lnTo>
                <a:cubicBezTo>
                  <a:pt x="0" y="30558"/>
                  <a:pt x="30558" y="0"/>
                  <a:pt x="68254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25" name="Text 23"/>
          <p:cNvSpPr/>
          <p:nvPr/>
        </p:nvSpPr>
        <p:spPr>
          <a:xfrm>
            <a:off x="1220053" y="5793120"/>
            <a:ext cx="2098833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44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+15%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37117" y="6066139"/>
            <a:ext cx="2064705" cy="136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06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Ingresos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484724" y="5690738"/>
            <a:ext cx="2218279" cy="614293"/>
          </a:xfrm>
          <a:custGeom>
            <a:avLst/>
            <a:gdLst/>
            <a:ahLst/>
            <a:cxnLst/>
            <a:rect l="l" t="t" r="r" b="b"/>
            <a:pathLst>
              <a:path w="2218279" h="614293">
                <a:moveTo>
                  <a:pt x="68254" y="0"/>
                </a:moveTo>
                <a:lnTo>
                  <a:pt x="2150024" y="0"/>
                </a:lnTo>
                <a:cubicBezTo>
                  <a:pt x="2187720" y="0"/>
                  <a:pt x="2218279" y="30558"/>
                  <a:pt x="2218279" y="68254"/>
                </a:cubicBezTo>
                <a:lnTo>
                  <a:pt x="2218279" y="546038"/>
                </a:lnTo>
                <a:cubicBezTo>
                  <a:pt x="2218279" y="583734"/>
                  <a:pt x="2187720" y="614293"/>
                  <a:pt x="2150024" y="614293"/>
                </a:cubicBezTo>
                <a:lnTo>
                  <a:pt x="68254" y="614293"/>
                </a:lnTo>
                <a:cubicBezTo>
                  <a:pt x="30558" y="614293"/>
                  <a:pt x="0" y="583734"/>
                  <a:pt x="0" y="546038"/>
                </a:cubicBezTo>
                <a:lnTo>
                  <a:pt x="0" y="68254"/>
                </a:lnTo>
                <a:cubicBezTo>
                  <a:pt x="0" y="30558"/>
                  <a:pt x="30558" y="0"/>
                  <a:pt x="68254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28" name="Text 26"/>
          <p:cNvSpPr/>
          <p:nvPr/>
        </p:nvSpPr>
        <p:spPr>
          <a:xfrm>
            <a:off x="3544446" y="5793120"/>
            <a:ext cx="2098833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44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+22%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561510" y="6066139"/>
            <a:ext cx="2064705" cy="136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06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Margen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809117" y="5690738"/>
            <a:ext cx="2218279" cy="614293"/>
          </a:xfrm>
          <a:custGeom>
            <a:avLst/>
            <a:gdLst/>
            <a:ahLst/>
            <a:cxnLst/>
            <a:rect l="l" t="t" r="r" b="b"/>
            <a:pathLst>
              <a:path w="2218279" h="614293">
                <a:moveTo>
                  <a:pt x="68254" y="0"/>
                </a:moveTo>
                <a:lnTo>
                  <a:pt x="2150024" y="0"/>
                </a:lnTo>
                <a:cubicBezTo>
                  <a:pt x="2187720" y="0"/>
                  <a:pt x="2218279" y="30558"/>
                  <a:pt x="2218279" y="68254"/>
                </a:cubicBezTo>
                <a:lnTo>
                  <a:pt x="2218279" y="546038"/>
                </a:lnTo>
                <a:cubicBezTo>
                  <a:pt x="2218279" y="583734"/>
                  <a:pt x="2187720" y="614293"/>
                  <a:pt x="2150024" y="614293"/>
                </a:cubicBezTo>
                <a:lnTo>
                  <a:pt x="68254" y="614293"/>
                </a:lnTo>
                <a:cubicBezTo>
                  <a:pt x="30558" y="614293"/>
                  <a:pt x="0" y="583734"/>
                  <a:pt x="0" y="546038"/>
                </a:cubicBezTo>
                <a:lnTo>
                  <a:pt x="0" y="68254"/>
                </a:lnTo>
                <a:cubicBezTo>
                  <a:pt x="0" y="30558"/>
                  <a:pt x="30558" y="0"/>
                  <a:pt x="68254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31" name="Text 29"/>
          <p:cNvSpPr/>
          <p:nvPr/>
        </p:nvSpPr>
        <p:spPr>
          <a:xfrm>
            <a:off x="5868840" y="5793120"/>
            <a:ext cx="2098833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44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885903" y="6066139"/>
            <a:ext cx="2064705" cy="136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06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Tiempo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440790" y="1399222"/>
            <a:ext cx="3412736" cy="3242099"/>
          </a:xfrm>
          <a:custGeom>
            <a:avLst/>
            <a:gdLst/>
            <a:ahLst/>
            <a:cxnLst/>
            <a:rect l="l" t="t" r="r" b="b"/>
            <a:pathLst>
              <a:path w="3412736" h="3242099">
                <a:moveTo>
                  <a:pt x="136525" y="0"/>
                </a:moveTo>
                <a:lnTo>
                  <a:pt x="3276211" y="0"/>
                </a:lnTo>
                <a:cubicBezTo>
                  <a:pt x="3351612" y="0"/>
                  <a:pt x="3412736" y="61124"/>
                  <a:pt x="3412736" y="136525"/>
                </a:cubicBezTo>
                <a:lnTo>
                  <a:pt x="3412736" y="3105575"/>
                </a:lnTo>
                <a:cubicBezTo>
                  <a:pt x="3412736" y="3180975"/>
                  <a:pt x="3351612" y="3242099"/>
                  <a:pt x="3276211" y="3242099"/>
                </a:cubicBezTo>
                <a:lnTo>
                  <a:pt x="136525" y="3242099"/>
                </a:lnTo>
                <a:cubicBezTo>
                  <a:pt x="61124" y="3242099"/>
                  <a:pt x="0" y="3180975"/>
                  <a:pt x="0" y="3105575"/>
                </a:cubicBezTo>
                <a:lnTo>
                  <a:pt x="0" y="136525"/>
                </a:lnTo>
                <a:cubicBezTo>
                  <a:pt x="0" y="61124"/>
                  <a:pt x="61124" y="0"/>
                  <a:pt x="136525" y="0"/>
                </a:cubicBezTo>
                <a:close/>
              </a:path>
            </a:pathLst>
          </a:custGeom>
          <a:gradFill rotWithShape="1" flip="none">
            <a:gsLst>
              <a:gs pos="0">
                <a:srgbClr val="1D1D1F"/>
              </a:gs>
              <a:gs pos="100000">
                <a:srgbClr val="86868B"/>
              </a:gs>
            </a:gsLst>
            <a:lin ang="2700000" scaled="1"/>
          </a:gradFill>
          <a:ln/>
        </p:spPr>
      </p:sp>
      <p:sp>
        <p:nvSpPr>
          <p:cNvPr id="34" name="Shape 32"/>
          <p:cNvSpPr/>
          <p:nvPr/>
        </p:nvSpPr>
        <p:spPr>
          <a:xfrm>
            <a:off x="8645554" y="1603986"/>
            <a:ext cx="477783" cy="477783"/>
          </a:xfrm>
          <a:custGeom>
            <a:avLst/>
            <a:gdLst/>
            <a:ahLst/>
            <a:cxnLst/>
            <a:rect l="l" t="t" r="r" b="b"/>
            <a:pathLst>
              <a:path w="477783" h="477783">
                <a:moveTo>
                  <a:pt x="102384" y="0"/>
                </a:moveTo>
                <a:lnTo>
                  <a:pt x="375399" y="0"/>
                </a:lnTo>
                <a:cubicBezTo>
                  <a:pt x="431906" y="0"/>
                  <a:pt x="477783" y="45877"/>
                  <a:pt x="477783" y="102384"/>
                </a:cubicBezTo>
                <a:lnTo>
                  <a:pt x="477783" y="375399"/>
                </a:lnTo>
                <a:cubicBezTo>
                  <a:pt x="477783" y="431906"/>
                  <a:pt x="431906" y="477783"/>
                  <a:pt x="375399" y="477783"/>
                </a:cubicBezTo>
                <a:lnTo>
                  <a:pt x="102384" y="477783"/>
                </a:lnTo>
                <a:cubicBezTo>
                  <a:pt x="45877" y="477783"/>
                  <a:pt x="0" y="431906"/>
                  <a:pt x="0" y="375399"/>
                </a:cubicBezTo>
                <a:lnTo>
                  <a:pt x="0" y="102384"/>
                </a:lnTo>
                <a:cubicBezTo>
                  <a:pt x="0" y="45877"/>
                  <a:pt x="45877" y="0"/>
                  <a:pt x="102384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5" name="Shape 33"/>
          <p:cNvSpPr/>
          <p:nvPr/>
        </p:nvSpPr>
        <p:spPr>
          <a:xfrm>
            <a:off x="8769266" y="1740495"/>
            <a:ext cx="230360" cy="204764"/>
          </a:xfrm>
          <a:custGeom>
            <a:avLst/>
            <a:gdLst/>
            <a:ahLst/>
            <a:cxnLst/>
            <a:rect l="l" t="t" r="r" b="b"/>
            <a:pathLst>
              <a:path w="230360" h="204764">
                <a:moveTo>
                  <a:pt x="204924" y="95983"/>
                </a:moveTo>
                <a:lnTo>
                  <a:pt x="134536" y="95983"/>
                </a:lnTo>
                <a:cubicBezTo>
                  <a:pt x="127458" y="95983"/>
                  <a:pt x="121739" y="90264"/>
                  <a:pt x="121739" y="83185"/>
                </a:cubicBezTo>
                <a:lnTo>
                  <a:pt x="121739" y="12798"/>
                </a:lnTo>
                <a:cubicBezTo>
                  <a:pt x="121739" y="5719"/>
                  <a:pt x="127498" y="-80"/>
                  <a:pt x="134496" y="840"/>
                </a:cubicBezTo>
                <a:cubicBezTo>
                  <a:pt x="177289" y="6519"/>
                  <a:pt x="211203" y="40433"/>
                  <a:pt x="216882" y="83225"/>
                </a:cubicBezTo>
                <a:cubicBezTo>
                  <a:pt x="217802" y="90224"/>
                  <a:pt x="212003" y="95983"/>
                  <a:pt x="204924" y="95983"/>
                </a:cubicBezTo>
                <a:close/>
                <a:moveTo>
                  <a:pt x="89024" y="14877"/>
                </a:moveTo>
                <a:cubicBezTo>
                  <a:pt x="96263" y="13358"/>
                  <a:pt x="102542" y="19277"/>
                  <a:pt x="102542" y="26675"/>
                </a:cubicBezTo>
                <a:lnTo>
                  <a:pt x="102542" y="105582"/>
                </a:lnTo>
                <a:cubicBezTo>
                  <a:pt x="102542" y="107821"/>
                  <a:pt x="103342" y="109981"/>
                  <a:pt x="104742" y="111700"/>
                </a:cubicBezTo>
                <a:lnTo>
                  <a:pt x="157572" y="175449"/>
                </a:lnTo>
                <a:cubicBezTo>
                  <a:pt x="162252" y="181088"/>
                  <a:pt x="161252" y="189607"/>
                  <a:pt x="154813" y="193086"/>
                </a:cubicBezTo>
                <a:cubicBezTo>
                  <a:pt x="141175" y="200525"/>
                  <a:pt x="125538" y="204764"/>
                  <a:pt x="108941" y="204764"/>
                </a:cubicBezTo>
                <a:cubicBezTo>
                  <a:pt x="55950" y="204764"/>
                  <a:pt x="12958" y="161772"/>
                  <a:pt x="12958" y="108781"/>
                </a:cubicBezTo>
                <a:cubicBezTo>
                  <a:pt x="12958" y="62589"/>
                  <a:pt x="45552" y="24036"/>
                  <a:pt x="89024" y="14877"/>
                </a:cubicBezTo>
                <a:close/>
                <a:moveTo>
                  <a:pt x="191087" y="115180"/>
                </a:moveTo>
                <a:lnTo>
                  <a:pt x="216682" y="115180"/>
                </a:lnTo>
                <a:cubicBezTo>
                  <a:pt x="224081" y="115180"/>
                  <a:pt x="230000" y="121459"/>
                  <a:pt x="228480" y="128697"/>
                </a:cubicBezTo>
                <a:cubicBezTo>
                  <a:pt x="224401" y="148054"/>
                  <a:pt x="214482" y="165251"/>
                  <a:pt x="200645" y="178369"/>
                </a:cubicBezTo>
                <a:cubicBezTo>
                  <a:pt x="195726" y="183048"/>
                  <a:pt x="188007" y="182048"/>
                  <a:pt x="183688" y="176809"/>
                </a:cubicBezTo>
                <a:lnTo>
                  <a:pt x="149934" y="136136"/>
                </a:lnTo>
                <a:cubicBezTo>
                  <a:pt x="143015" y="127778"/>
                  <a:pt x="148974" y="115180"/>
                  <a:pt x="159772" y="115180"/>
                </a:cubicBezTo>
                <a:lnTo>
                  <a:pt x="191047" y="11518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8645554" y="2252406"/>
            <a:ext cx="3088526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4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Gestión de Riesgos en Finanzas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645554" y="2593679"/>
            <a:ext cx="3071463" cy="887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5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Redes neuronales evalúan riesgos de inversión y crédito analizando múltiples variables simultáneamente, proporcionando evaluaciones más precisas que modelos tradicionales.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645554" y="3685755"/>
            <a:ext cx="895843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Precisión Riesgo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343215" y="3651628"/>
            <a:ext cx="383933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96%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645554" y="3924647"/>
            <a:ext cx="3003208" cy="68255"/>
          </a:xfrm>
          <a:custGeom>
            <a:avLst/>
            <a:gdLst/>
            <a:ahLst/>
            <a:cxnLst/>
            <a:rect l="l" t="t" r="r" b="b"/>
            <a:pathLst>
              <a:path w="3003208" h="68255">
                <a:moveTo>
                  <a:pt x="34127" y="0"/>
                </a:moveTo>
                <a:lnTo>
                  <a:pt x="2969080" y="0"/>
                </a:lnTo>
                <a:cubicBezTo>
                  <a:pt x="2987928" y="0"/>
                  <a:pt x="3003208" y="15279"/>
                  <a:pt x="3003208" y="34127"/>
                </a:cubicBezTo>
                <a:lnTo>
                  <a:pt x="3003208" y="34127"/>
                </a:lnTo>
                <a:cubicBezTo>
                  <a:pt x="3003208" y="52975"/>
                  <a:pt x="2987928" y="68255"/>
                  <a:pt x="2969080" y="68255"/>
                </a:cubicBezTo>
                <a:lnTo>
                  <a:pt x="34127" y="68255"/>
                </a:lnTo>
                <a:cubicBezTo>
                  <a:pt x="15279" y="68255"/>
                  <a:pt x="0" y="52975"/>
                  <a:pt x="0" y="34127"/>
                </a:cubicBezTo>
                <a:lnTo>
                  <a:pt x="0" y="34127"/>
                </a:lnTo>
                <a:cubicBezTo>
                  <a:pt x="0" y="15279"/>
                  <a:pt x="15279" y="0"/>
                  <a:pt x="34127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645554" y="3924647"/>
            <a:ext cx="2883762" cy="68255"/>
          </a:xfrm>
          <a:custGeom>
            <a:avLst/>
            <a:gdLst/>
            <a:ahLst/>
            <a:cxnLst/>
            <a:rect l="l" t="t" r="r" b="b"/>
            <a:pathLst>
              <a:path w="2883762" h="68255">
                <a:moveTo>
                  <a:pt x="34127" y="0"/>
                </a:moveTo>
                <a:lnTo>
                  <a:pt x="2849635" y="0"/>
                </a:lnTo>
                <a:cubicBezTo>
                  <a:pt x="2868483" y="0"/>
                  <a:pt x="2883762" y="15279"/>
                  <a:pt x="2883762" y="34127"/>
                </a:cubicBezTo>
                <a:lnTo>
                  <a:pt x="2883762" y="34127"/>
                </a:lnTo>
                <a:cubicBezTo>
                  <a:pt x="2883762" y="52975"/>
                  <a:pt x="2868483" y="68255"/>
                  <a:pt x="2849635" y="68255"/>
                </a:cubicBezTo>
                <a:lnTo>
                  <a:pt x="34127" y="68255"/>
                </a:lnTo>
                <a:cubicBezTo>
                  <a:pt x="15279" y="68255"/>
                  <a:pt x="0" y="52975"/>
                  <a:pt x="0" y="34127"/>
                </a:cubicBezTo>
                <a:lnTo>
                  <a:pt x="0" y="34127"/>
                </a:lnTo>
                <a:cubicBezTo>
                  <a:pt x="0" y="15279"/>
                  <a:pt x="15279" y="0"/>
                  <a:pt x="34127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2" name="Text 40"/>
          <p:cNvSpPr/>
          <p:nvPr/>
        </p:nvSpPr>
        <p:spPr>
          <a:xfrm>
            <a:off x="8645554" y="4129411"/>
            <a:ext cx="1075012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Reducción Pérdidas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1286558" y="4095283"/>
            <a:ext cx="435124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-35%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645554" y="4368302"/>
            <a:ext cx="3003208" cy="68255"/>
          </a:xfrm>
          <a:custGeom>
            <a:avLst/>
            <a:gdLst/>
            <a:ahLst/>
            <a:cxnLst/>
            <a:rect l="l" t="t" r="r" b="b"/>
            <a:pathLst>
              <a:path w="3003208" h="68255">
                <a:moveTo>
                  <a:pt x="34127" y="0"/>
                </a:moveTo>
                <a:lnTo>
                  <a:pt x="2969080" y="0"/>
                </a:lnTo>
                <a:cubicBezTo>
                  <a:pt x="2987928" y="0"/>
                  <a:pt x="3003208" y="15279"/>
                  <a:pt x="3003208" y="34127"/>
                </a:cubicBezTo>
                <a:lnTo>
                  <a:pt x="3003208" y="34127"/>
                </a:lnTo>
                <a:cubicBezTo>
                  <a:pt x="3003208" y="52975"/>
                  <a:pt x="2987928" y="68255"/>
                  <a:pt x="2969080" y="68255"/>
                </a:cubicBezTo>
                <a:lnTo>
                  <a:pt x="34127" y="68255"/>
                </a:lnTo>
                <a:cubicBezTo>
                  <a:pt x="15279" y="68255"/>
                  <a:pt x="0" y="52975"/>
                  <a:pt x="0" y="34127"/>
                </a:cubicBezTo>
                <a:lnTo>
                  <a:pt x="0" y="34127"/>
                </a:lnTo>
                <a:cubicBezTo>
                  <a:pt x="0" y="15279"/>
                  <a:pt x="15279" y="0"/>
                  <a:pt x="34127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645554" y="4368302"/>
            <a:ext cx="1953791" cy="68255"/>
          </a:xfrm>
          <a:custGeom>
            <a:avLst/>
            <a:gdLst/>
            <a:ahLst/>
            <a:cxnLst/>
            <a:rect l="l" t="t" r="r" b="b"/>
            <a:pathLst>
              <a:path w="1953791" h="68255">
                <a:moveTo>
                  <a:pt x="34127" y="0"/>
                </a:moveTo>
                <a:lnTo>
                  <a:pt x="1919664" y="0"/>
                </a:lnTo>
                <a:cubicBezTo>
                  <a:pt x="1938512" y="0"/>
                  <a:pt x="1953791" y="15279"/>
                  <a:pt x="1953791" y="34127"/>
                </a:cubicBezTo>
                <a:lnTo>
                  <a:pt x="1953791" y="34127"/>
                </a:lnTo>
                <a:cubicBezTo>
                  <a:pt x="1953791" y="52975"/>
                  <a:pt x="1938512" y="68255"/>
                  <a:pt x="1919664" y="68255"/>
                </a:cubicBezTo>
                <a:lnTo>
                  <a:pt x="34127" y="68255"/>
                </a:lnTo>
                <a:cubicBezTo>
                  <a:pt x="15279" y="68255"/>
                  <a:pt x="0" y="52975"/>
                  <a:pt x="0" y="34127"/>
                </a:cubicBezTo>
                <a:lnTo>
                  <a:pt x="0" y="34127"/>
                </a:lnTo>
                <a:cubicBezTo>
                  <a:pt x="0" y="15279"/>
                  <a:pt x="15279" y="0"/>
                  <a:pt x="34127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6" name="Shape 44"/>
          <p:cNvSpPr/>
          <p:nvPr/>
        </p:nvSpPr>
        <p:spPr>
          <a:xfrm>
            <a:off x="8440790" y="4811958"/>
            <a:ext cx="3412736" cy="2047642"/>
          </a:xfrm>
          <a:custGeom>
            <a:avLst/>
            <a:gdLst/>
            <a:ahLst/>
            <a:cxnLst/>
            <a:rect l="l" t="t" r="r" b="b"/>
            <a:pathLst>
              <a:path w="3412736" h="2047642">
                <a:moveTo>
                  <a:pt x="136516" y="0"/>
                </a:moveTo>
                <a:lnTo>
                  <a:pt x="3276220" y="0"/>
                </a:lnTo>
                <a:cubicBezTo>
                  <a:pt x="3351616" y="0"/>
                  <a:pt x="3412736" y="61120"/>
                  <a:pt x="3412736" y="136516"/>
                </a:cubicBezTo>
                <a:lnTo>
                  <a:pt x="3412736" y="1911125"/>
                </a:lnTo>
                <a:cubicBezTo>
                  <a:pt x="3412736" y="1986521"/>
                  <a:pt x="3351616" y="2047642"/>
                  <a:pt x="3276220" y="2047642"/>
                </a:cubicBezTo>
                <a:lnTo>
                  <a:pt x="136516" y="2047642"/>
                </a:lnTo>
                <a:cubicBezTo>
                  <a:pt x="61120" y="2047642"/>
                  <a:pt x="0" y="1986521"/>
                  <a:pt x="0" y="1911125"/>
                </a:cubicBezTo>
                <a:lnTo>
                  <a:pt x="0" y="136516"/>
                </a:lnTo>
                <a:cubicBezTo>
                  <a:pt x="0" y="61120"/>
                  <a:pt x="61120" y="0"/>
                  <a:pt x="13651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5596" dist="8532" dir="5400000">
              <a:srgbClr val="000000">
                <a:alpha val="10196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8611427" y="4982595"/>
            <a:ext cx="3148249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9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Industrias que Benefician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611427" y="5375059"/>
            <a:ext cx="341274" cy="341274"/>
          </a:xfrm>
          <a:custGeom>
            <a:avLst/>
            <a:gdLst/>
            <a:ahLst/>
            <a:cxnLst/>
            <a:rect l="l" t="t" r="r" b="b"/>
            <a:pathLst>
              <a:path w="341274" h="341274">
                <a:moveTo>
                  <a:pt x="68255" y="0"/>
                </a:moveTo>
                <a:lnTo>
                  <a:pt x="273019" y="0"/>
                </a:lnTo>
                <a:cubicBezTo>
                  <a:pt x="310715" y="0"/>
                  <a:pt x="341274" y="30559"/>
                  <a:pt x="341274" y="68255"/>
                </a:cubicBezTo>
                <a:lnTo>
                  <a:pt x="341274" y="273019"/>
                </a:lnTo>
                <a:cubicBezTo>
                  <a:pt x="341274" y="310715"/>
                  <a:pt x="310715" y="341274"/>
                  <a:pt x="273019" y="341274"/>
                </a:cubicBezTo>
                <a:lnTo>
                  <a:pt x="68255" y="341274"/>
                </a:lnTo>
                <a:cubicBezTo>
                  <a:pt x="30559" y="341274"/>
                  <a:pt x="0" y="310715"/>
                  <a:pt x="0" y="273019"/>
                </a:cubicBezTo>
                <a:lnTo>
                  <a:pt x="0" y="68255"/>
                </a:lnTo>
                <a:cubicBezTo>
                  <a:pt x="0" y="30559"/>
                  <a:pt x="30559" y="0"/>
                  <a:pt x="68255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713809" y="5477442"/>
            <a:ext cx="136509" cy="136509"/>
          </a:xfrm>
          <a:custGeom>
            <a:avLst/>
            <a:gdLst/>
            <a:ahLst/>
            <a:cxnLst/>
            <a:rect l="l" t="t" r="r" b="b"/>
            <a:pathLst>
              <a:path w="136509" h="136509">
                <a:moveTo>
                  <a:pt x="8532" y="8532"/>
                </a:moveTo>
                <a:cubicBezTo>
                  <a:pt x="3813" y="8532"/>
                  <a:pt x="0" y="12345"/>
                  <a:pt x="0" y="17064"/>
                </a:cubicBezTo>
                <a:lnTo>
                  <a:pt x="0" y="115180"/>
                </a:lnTo>
                <a:cubicBezTo>
                  <a:pt x="0" y="122245"/>
                  <a:pt x="5732" y="127978"/>
                  <a:pt x="12798" y="127978"/>
                </a:cubicBezTo>
                <a:lnTo>
                  <a:pt x="123712" y="127978"/>
                </a:lnTo>
                <a:cubicBezTo>
                  <a:pt x="130777" y="127978"/>
                  <a:pt x="136509" y="122245"/>
                  <a:pt x="136509" y="115180"/>
                </a:cubicBezTo>
                <a:lnTo>
                  <a:pt x="136509" y="40580"/>
                </a:lnTo>
                <a:cubicBezTo>
                  <a:pt x="136509" y="35727"/>
                  <a:pt x="131337" y="32661"/>
                  <a:pt x="127071" y="34954"/>
                </a:cubicBezTo>
                <a:lnTo>
                  <a:pt x="85318" y="57430"/>
                </a:lnTo>
                <a:lnTo>
                  <a:pt x="85318" y="40580"/>
                </a:lnTo>
                <a:cubicBezTo>
                  <a:pt x="85318" y="35727"/>
                  <a:pt x="80146" y="32661"/>
                  <a:pt x="75880" y="34954"/>
                </a:cubicBezTo>
                <a:lnTo>
                  <a:pt x="34127" y="57430"/>
                </a:lnTo>
                <a:lnTo>
                  <a:pt x="34127" y="17064"/>
                </a:lnTo>
                <a:cubicBezTo>
                  <a:pt x="34127" y="12345"/>
                  <a:pt x="30315" y="8532"/>
                  <a:pt x="25596" y="8532"/>
                </a:cubicBezTo>
                <a:lnTo>
                  <a:pt x="8532" y="8532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50" name="Text 48"/>
          <p:cNvSpPr/>
          <p:nvPr/>
        </p:nvSpPr>
        <p:spPr>
          <a:xfrm>
            <a:off x="9055082" y="5357996"/>
            <a:ext cx="1399222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Manufactura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9055082" y="5562760"/>
            <a:ext cx="1390690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Mantenimiento predictivo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611427" y="5852843"/>
            <a:ext cx="341274" cy="341274"/>
          </a:xfrm>
          <a:custGeom>
            <a:avLst/>
            <a:gdLst/>
            <a:ahLst/>
            <a:cxnLst/>
            <a:rect l="l" t="t" r="r" b="b"/>
            <a:pathLst>
              <a:path w="341274" h="341274">
                <a:moveTo>
                  <a:pt x="68255" y="0"/>
                </a:moveTo>
                <a:lnTo>
                  <a:pt x="273019" y="0"/>
                </a:lnTo>
                <a:cubicBezTo>
                  <a:pt x="310715" y="0"/>
                  <a:pt x="341274" y="30559"/>
                  <a:pt x="341274" y="68255"/>
                </a:cubicBezTo>
                <a:lnTo>
                  <a:pt x="341274" y="273019"/>
                </a:lnTo>
                <a:cubicBezTo>
                  <a:pt x="341274" y="310715"/>
                  <a:pt x="310715" y="341274"/>
                  <a:pt x="273019" y="341274"/>
                </a:cubicBezTo>
                <a:lnTo>
                  <a:pt x="68255" y="341274"/>
                </a:lnTo>
                <a:cubicBezTo>
                  <a:pt x="30559" y="341274"/>
                  <a:pt x="0" y="310715"/>
                  <a:pt x="0" y="273019"/>
                </a:cubicBezTo>
                <a:lnTo>
                  <a:pt x="0" y="68255"/>
                </a:lnTo>
                <a:cubicBezTo>
                  <a:pt x="0" y="30559"/>
                  <a:pt x="30559" y="0"/>
                  <a:pt x="68255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705277" y="5955225"/>
            <a:ext cx="153573" cy="136509"/>
          </a:xfrm>
          <a:custGeom>
            <a:avLst/>
            <a:gdLst/>
            <a:ahLst/>
            <a:cxnLst/>
            <a:rect l="l" t="t" r="r" b="b"/>
            <a:pathLst>
              <a:path w="153573" h="136509">
                <a:moveTo>
                  <a:pt x="138642" y="53324"/>
                </a:moveTo>
                <a:cubicBezTo>
                  <a:pt x="146881" y="53324"/>
                  <a:pt x="153573" y="60016"/>
                  <a:pt x="153573" y="68255"/>
                </a:cubicBezTo>
                <a:cubicBezTo>
                  <a:pt x="153573" y="76493"/>
                  <a:pt x="146881" y="83185"/>
                  <a:pt x="138642" y="83185"/>
                </a:cubicBezTo>
                <a:lnTo>
                  <a:pt x="104702" y="83185"/>
                </a:lnTo>
                <a:lnTo>
                  <a:pt x="62256" y="129471"/>
                </a:lnTo>
                <a:cubicBezTo>
                  <a:pt x="60629" y="131230"/>
                  <a:pt x="58363" y="132244"/>
                  <a:pt x="55964" y="132244"/>
                </a:cubicBezTo>
                <a:lnTo>
                  <a:pt x="44312" y="132244"/>
                </a:lnTo>
                <a:cubicBezTo>
                  <a:pt x="41406" y="132244"/>
                  <a:pt x="39353" y="129391"/>
                  <a:pt x="40260" y="126618"/>
                </a:cubicBezTo>
                <a:lnTo>
                  <a:pt x="54737" y="83185"/>
                </a:lnTo>
                <a:lnTo>
                  <a:pt x="28155" y="83185"/>
                </a:lnTo>
                <a:lnTo>
                  <a:pt x="14078" y="100782"/>
                </a:lnTo>
                <a:cubicBezTo>
                  <a:pt x="13278" y="101796"/>
                  <a:pt x="12051" y="102382"/>
                  <a:pt x="10745" y="102382"/>
                </a:cubicBezTo>
                <a:lnTo>
                  <a:pt x="5466" y="102382"/>
                </a:lnTo>
                <a:cubicBezTo>
                  <a:pt x="2693" y="102382"/>
                  <a:pt x="667" y="99769"/>
                  <a:pt x="1333" y="97076"/>
                </a:cubicBezTo>
                <a:lnTo>
                  <a:pt x="8532" y="68255"/>
                </a:lnTo>
                <a:lnTo>
                  <a:pt x="1333" y="39433"/>
                </a:lnTo>
                <a:cubicBezTo>
                  <a:pt x="640" y="36740"/>
                  <a:pt x="2693" y="34127"/>
                  <a:pt x="5466" y="34127"/>
                </a:cubicBezTo>
                <a:lnTo>
                  <a:pt x="10745" y="34127"/>
                </a:lnTo>
                <a:cubicBezTo>
                  <a:pt x="12051" y="34127"/>
                  <a:pt x="13278" y="34714"/>
                  <a:pt x="14078" y="35727"/>
                </a:cubicBezTo>
                <a:lnTo>
                  <a:pt x="28155" y="53324"/>
                </a:lnTo>
                <a:lnTo>
                  <a:pt x="54737" y="53324"/>
                </a:lnTo>
                <a:lnTo>
                  <a:pt x="40260" y="9892"/>
                </a:lnTo>
                <a:cubicBezTo>
                  <a:pt x="39353" y="7119"/>
                  <a:pt x="41406" y="4266"/>
                  <a:pt x="44312" y="4266"/>
                </a:cubicBezTo>
                <a:lnTo>
                  <a:pt x="55964" y="4266"/>
                </a:lnTo>
                <a:cubicBezTo>
                  <a:pt x="58363" y="4266"/>
                  <a:pt x="60629" y="5279"/>
                  <a:pt x="62256" y="7039"/>
                </a:cubicBezTo>
                <a:lnTo>
                  <a:pt x="104702" y="53324"/>
                </a:lnTo>
                <a:lnTo>
                  <a:pt x="138642" y="53324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54" name="Text 52"/>
          <p:cNvSpPr/>
          <p:nvPr/>
        </p:nvSpPr>
        <p:spPr>
          <a:xfrm>
            <a:off x="9055082" y="5835779"/>
            <a:ext cx="998225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Aerolíneas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9055082" y="6040543"/>
            <a:ext cx="989693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Precios dinámicos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611427" y="6330626"/>
            <a:ext cx="341274" cy="341274"/>
          </a:xfrm>
          <a:custGeom>
            <a:avLst/>
            <a:gdLst/>
            <a:ahLst/>
            <a:cxnLst/>
            <a:rect l="l" t="t" r="r" b="b"/>
            <a:pathLst>
              <a:path w="341274" h="341274">
                <a:moveTo>
                  <a:pt x="68255" y="0"/>
                </a:moveTo>
                <a:lnTo>
                  <a:pt x="273019" y="0"/>
                </a:lnTo>
                <a:cubicBezTo>
                  <a:pt x="310715" y="0"/>
                  <a:pt x="341274" y="30559"/>
                  <a:pt x="341274" y="68255"/>
                </a:cubicBezTo>
                <a:lnTo>
                  <a:pt x="341274" y="273019"/>
                </a:lnTo>
                <a:cubicBezTo>
                  <a:pt x="341274" y="310715"/>
                  <a:pt x="310715" y="341274"/>
                  <a:pt x="273019" y="341274"/>
                </a:cubicBezTo>
                <a:lnTo>
                  <a:pt x="68255" y="341274"/>
                </a:lnTo>
                <a:cubicBezTo>
                  <a:pt x="30559" y="341274"/>
                  <a:pt x="0" y="310715"/>
                  <a:pt x="0" y="273019"/>
                </a:cubicBezTo>
                <a:lnTo>
                  <a:pt x="0" y="68255"/>
                </a:lnTo>
                <a:cubicBezTo>
                  <a:pt x="0" y="30559"/>
                  <a:pt x="30559" y="0"/>
                  <a:pt x="68255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713809" y="6433008"/>
            <a:ext cx="136509" cy="136509"/>
          </a:xfrm>
          <a:custGeom>
            <a:avLst/>
            <a:gdLst/>
            <a:ahLst/>
            <a:cxnLst/>
            <a:rect l="l" t="t" r="r" b="b"/>
            <a:pathLst>
              <a:path w="136509" h="136509">
                <a:moveTo>
                  <a:pt x="72494" y="5386"/>
                </a:moveTo>
                <a:cubicBezTo>
                  <a:pt x="69881" y="3893"/>
                  <a:pt x="66655" y="3893"/>
                  <a:pt x="64015" y="5386"/>
                </a:cubicBezTo>
                <a:lnTo>
                  <a:pt x="4293" y="39513"/>
                </a:lnTo>
                <a:cubicBezTo>
                  <a:pt x="933" y="41433"/>
                  <a:pt x="-720" y="45379"/>
                  <a:pt x="267" y="49111"/>
                </a:cubicBezTo>
                <a:cubicBezTo>
                  <a:pt x="1253" y="52844"/>
                  <a:pt x="4666" y="55457"/>
                  <a:pt x="8532" y="55457"/>
                </a:cubicBezTo>
                <a:lnTo>
                  <a:pt x="17064" y="55457"/>
                </a:lnTo>
                <a:lnTo>
                  <a:pt x="17064" y="110914"/>
                </a:lnTo>
                <a:lnTo>
                  <a:pt x="17064" y="110914"/>
                </a:lnTo>
                <a:lnTo>
                  <a:pt x="3413" y="121152"/>
                </a:lnTo>
                <a:cubicBezTo>
                  <a:pt x="1253" y="122752"/>
                  <a:pt x="0" y="125285"/>
                  <a:pt x="0" y="127978"/>
                </a:cubicBezTo>
                <a:cubicBezTo>
                  <a:pt x="0" y="132697"/>
                  <a:pt x="3813" y="136509"/>
                  <a:pt x="8532" y="136509"/>
                </a:cubicBezTo>
                <a:lnTo>
                  <a:pt x="127978" y="136509"/>
                </a:lnTo>
                <a:cubicBezTo>
                  <a:pt x="132697" y="136509"/>
                  <a:pt x="136509" y="132697"/>
                  <a:pt x="136509" y="127978"/>
                </a:cubicBezTo>
                <a:cubicBezTo>
                  <a:pt x="136509" y="125285"/>
                  <a:pt x="135256" y="122752"/>
                  <a:pt x="133097" y="121152"/>
                </a:cubicBezTo>
                <a:lnTo>
                  <a:pt x="119446" y="110914"/>
                </a:lnTo>
                <a:lnTo>
                  <a:pt x="119446" y="55457"/>
                </a:lnTo>
                <a:lnTo>
                  <a:pt x="127978" y="55457"/>
                </a:lnTo>
                <a:cubicBezTo>
                  <a:pt x="131844" y="55457"/>
                  <a:pt x="135230" y="52844"/>
                  <a:pt x="136216" y="49111"/>
                </a:cubicBezTo>
                <a:cubicBezTo>
                  <a:pt x="137203" y="45379"/>
                  <a:pt x="135550" y="41433"/>
                  <a:pt x="132190" y="39513"/>
                </a:cubicBezTo>
                <a:lnTo>
                  <a:pt x="72467" y="5386"/>
                </a:lnTo>
                <a:close/>
                <a:moveTo>
                  <a:pt x="106648" y="55457"/>
                </a:moveTo>
                <a:lnTo>
                  <a:pt x="106648" y="110914"/>
                </a:lnTo>
                <a:lnTo>
                  <a:pt x="89584" y="110914"/>
                </a:lnTo>
                <a:lnTo>
                  <a:pt x="89584" y="55457"/>
                </a:lnTo>
                <a:lnTo>
                  <a:pt x="106648" y="55457"/>
                </a:lnTo>
                <a:close/>
                <a:moveTo>
                  <a:pt x="76787" y="55457"/>
                </a:moveTo>
                <a:lnTo>
                  <a:pt x="76787" y="110914"/>
                </a:lnTo>
                <a:lnTo>
                  <a:pt x="59723" y="110914"/>
                </a:lnTo>
                <a:lnTo>
                  <a:pt x="59723" y="55457"/>
                </a:lnTo>
                <a:lnTo>
                  <a:pt x="76787" y="55457"/>
                </a:lnTo>
                <a:close/>
                <a:moveTo>
                  <a:pt x="46925" y="55457"/>
                </a:moveTo>
                <a:lnTo>
                  <a:pt x="46925" y="110914"/>
                </a:lnTo>
                <a:lnTo>
                  <a:pt x="29861" y="110914"/>
                </a:lnTo>
                <a:lnTo>
                  <a:pt x="29861" y="55457"/>
                </a:lnTo>
                <a:lnTo>
                  <a:pt x="46925" y="55457"/>
                </a:lnTo>
                <a:close/>
                <a:moveTo>
                  <a:pt x="68255" y="25596"/>
                </a:moveTo>
                <a:cubicBezTo>
                  <a:pt x="72964" y="25596"/>
                  <a:pt x="76787" y="29419"/>
                  <a:pt x="76787" y="34127"/>
                </a:cubicBezTo>
                <a:cubicBezTo>
                  <a:pt x="76787" y="38836"/>
                  <a:pt x="72964" y="42659"/>
                  <a:pt x="68255" y="42659"/>
                </a:cubicBezTo>
                <a:cubicBezTo>
                  <a:pt x="63546" y="42659"/>
                  <a:pt x="59723" y="38836"/>
                  <a:pt x="59723" y="34127"/>
                </a:cubicBezTo>
                <a:cubicBezTo>
                  <a:pt x="59723" y="29419"/>
                  <a:pt x="63546" y="25596"/>
                  <a:pt x="68255" y="25596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58" name="Text 56"/>
          <p:cNvSpPr/>
          <p:nvPr/>
        </p:nvSpPr>
        <p:spPr>
          <a:xfrm>
            <a:off x="9055082" y="6313562"/>
            <a:ext cx="1015289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Banca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9055082" y="6518326"/>
            <a:ext cx="1006757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Gestión de riesgos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4a8754ae83def69de0fbb6bd6df50b7f8b142aa9.jp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rcRect l="0" r="0" t="7786" b="778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D1D1F">
                  <a:alpha val="85000"/>
                </a:srgbClr>
              </a:gs>
              <a:gs pos="50000">
                <a:srgbClr val="1D1D1F">
                  <a:alpha val="70000"/>
                </a:srgbClr>
              </a:gs>
              <a:gs pos="100000">
                <a:srgbClr val="0071E3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71438"/>
            <a:ext cx="1647825" cy="419100"/>
          </a:xfrm>
          <a:custGeom>
            <a:avLst/>
            <a:gdLst/>
            <a:ahLst/>
            <a:cxnLst/>
            <a:rect l="l" t="t" r="r" b="b"/>
            <a:pathLst>
              <a:path w="1647825" h="419100">
                <a:moveTo>
                  <a:pt x="209550" y="0"/>
                </a:moveTo>
                <a:lnTo>
                  <a:pt x="1438275" y="0"/>
                </a:lnTo>
                <a:cubicBezTo>
                  <a:pt x="1553929" y="0"/>
                  <a:pt x="1647825" y="93896"/>
                  <a:pt x="1647825" y="209550"/>
                </a:cubicBezTo>
                <a:lnTo>
                  <a:pt x="1647825" y="209550"/>
                </a:lnTo>
                <a:cubicBezTo>
                  <a:pt x="1647825" y="325204"/>
                  <a:pt x="1553929" y="419100"/>
                  <a:pt x="1438275" y="419100"/>
                </a:cubicBezTo>
                <a:lnTo>
                  <a:pt x="209550" y="419100"/>
                </a:lnTo>
                <a:cubicBezTo>
                  <a:pt x="93896" y="419100"/>
                  <a:pt x="0" y="325204"/>
                  <a:pt x="0" y="209550"/>
                </a:cubicBezTo>
                <a:lnTo>
                  <a:pt x="0" y="209550"/>
                </a:lnTo>
                <a:cubicBezTo>
                  <a:pt x="0" y="93896"/>
                  <a:pt x="93896" y="0"/>
                  <a:pt x="20955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5" name="Text 2"/>
          <p:cNvSpPr/>
          <p:nvPr/>
        </p:nvSpPr>
        <p:spPr>
          <a:xfrm>
            <a:off x="609600" y="157163"/>
            <a:ext cx="12763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spc="68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Conclusión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795338"/>
            <a:ext cx="88201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5F5F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 Futuro de la IA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 las Empresas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2528888"/>
            <a:ext cx="8648700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5F5F7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 integración de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0071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Machine Learning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F5F5F7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y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0071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Learning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F5F5F7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 es solo una tendencia, sino una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F5F5F7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necesidad estratégica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F5F5F7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para las empresas que buscan mantenerse competitivas en la era digital.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5763" y="4105275"/>
            <a:ext cx="2686050" cy="1952625"/>
          </a:xfrm>
          <a:custGeom>
            <a:avLst/>
            <a:gdLst/>
            <a:ahLst/>
            <a:cxnLst/>
            <a:rect l="l" t="t" r="r" b="b"/>
            <a:pathLst>
              <a:path w="2686050" h="1952625">
                <a:moveTo>
                  <a:pt x="152402" y="0"/>
                </a:moveTo>
                <a:lnTo>
                  <a:pt x="2533648" y="0"/>
                </a:lnTo>
                <a:cubicBezTo>
                  <a:pt x="2617817" y="0"/>
                  <a:pt x="2686050" y="68233"/>
                  <a:pt x="2686050" y="152402"/>
                </a:cubicBezTo>
                <a:lnTo>
                  <a:pt x="2686050" y="1800223"/>
                </a:lnTo>
                <a:cubicBezTo>
                  <a:pt x="2686050" y="1884392"/>
                  <a:pt x="2617817" y="1952625"/>
                  <a:pt x="2533648" y="1952625"/>
                </a:cubicBezTo>
                <a:lnTo>
                  <a:pt x="152402" y="1952625"/>
                </a:lnTo>
                <a:cubicBezTo>
                  <a:pt x="68233" y="1952625"/>
                  <a:pt x="0" y="1884392"/>
                  <a:pt x="0" y="1800223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19125" y="4338638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0" name="Shape 7"/>
          <p:cNvSpPr/>
          <p:nvPr/>
        </p:nvSpPr>
        <p:spPr>
          <a:xfrm>
            <a:off x="771525" y="449103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619125" y="5024438"/>
            <a:ext cx="2314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5F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Innovación Continua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19125" y="5367338"/>
            <a:ext cx="22955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5F7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Las empresas deben adoptar IA para innovar constantemente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306663" y="4105275"/>
            <a:ext cx="2686050" cy="1952625"/>
          </a:xfrm>
          <a:custGeom>
            <a:avLst/>
            <a:gdLst/>
            <a:ahLst/>
            <a:cxnLst/>
            <a:rect l="l" t="t" r="r" b="b"/>
            <a:pathLst>
              <a:path w="2686050" h="1952625">
                <a:moveTo>
                  <a:pt x="152402" y="0"/>
                </a:moveTo>
                <a:lnTo>
                  <a:pt x="2533648" y="0"/>
                </a:lnTo>
                <a:cubicBezTo>
                  <a:pt x="2617817" y="0"/>
                  <a:pt x="2686050" y="68233"/>
                  <a:pt x="2686050" y="152402"/>
                </a:cubicBezTo>
                <a:lnTo>
                  <a:pt x="2686050" y="1800223"/>
                </a:lnTo>
                <a:cubicBezTo>
                  <a:pt x="2686050" y="1884392"/>
                  <a:pt x="2617817" y="1952625"/>
                  <a:pt x="2533648" y="1952625"/>
                </a:cubicBezTo>
                <a:lnTo>
                  <a:pt x="152402" y="1952625"/>
                </a:lnTo>
                <a:cubicBezTo>
                  <a:pt x="68233" y="1952625"/>
                  <a:pt x="0" y="1884392"/>
                  <a:pt x="0" y="1800223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540026" y="4338638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5" name="Shape 12"/>
          <p:cNvSpPr/>
          <p:nvPr/>
        </p:nvSpPr>
        <p:spPr>
          <a:xfrm>
            <a:off x="3663851" y="4491038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3540026" y="5024438"/>
            <a:ext cx="2314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5F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Capital Humano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540026" y="5367338"/>
            <a:ext cx="22955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5F7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 IA complementa, no reemplaza, el talento humano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227713" y="4105275"/>
            <a:ext cx="2686050" cy="1952625"/>
          </a:xfrm>
          <a:custGeom>
            <a:avLst/>
            <a:gdLst/>
            <a:ahLst/>
            <a:cxnLst/>
            <a:rect l="l" t="t" r="r" b="b"/>
            <a:pathLst>
              <a:path w="2686050" h="1952625">
                <a:moveTo>
                  <a:pt x="152402" y="0"/>
                </a:moveTo>
                <a:lnTo>
                  <a:pt x="2533648" y="0"/>
                </a:lnTo>
                <a:cubicBezTo>
                  <a:pt x="2617817" y="0"/>
                  <a:pt x="2686050" y="68233"/>
                  <a:pt x="2686050" y="152402"/>
                </a:cubicBezTo>
                <a:lnTo>
                  <a:pt x="2686050" y="1800223"/>
                </a:lnTo>
                <a:cubicBezTo>
                  <a:pt x="2686050" y="1884392"/>
                  <a:pt x="2617817" y="1952625"/>
                  <a:pt x="2533648" y="1952625"/>
                </a:cubicBezTo>
                <a:lnTo>
                  <a:pt x="152402" y="1952625"/>
                </a:lnTo>
                <a:cubicBezTo>
                  <a:pt x="68233" y="1952625"/>
                  <a:pt x="0" y="1884392"/>
                  <a:pt x="0" y="1800223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61075" y="4338638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0" name="Shape 17"/>
          <p:cNvSpPr/>
          <p:nvPr/>
        </p:nvSpPr>
        <p:spPr>
          <a:xfrm>
            <a:off x="6613475" y="449103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Text 18"/>
          <p:cNvSpPr/>
          <p:nvPr/>
        </p:nvSpPr>
        <p:spPr>
          <a:xfrm>
            <a:off x="6461075" y="5024438"/>
            <a:ext cx="2314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5F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Resultados Medibles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461075" y="5367338"/>
            <a:ext cx="22955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5F7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ROI tangible en eficiencia, costos y satisfacción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81000" y="6634163"/>
            <a:ext cx="2962275" cy="38100"/>
          </a:xfrm>
          <a:custGeom>
            <a:avLst/>
            <a:gdLst/>
            <a:ahLst/>
            <a:cxnLst/>
            <a:rect l="l" t="t" r="r" b="b"/>
            <a:pathLst>
              <a:path w="2962275" h="38100">
                <a:moveTo>
                  <a:pt x="19050" y="0"/>
                </a:moveTo>
                <a:lnTo>
                  <a:pt x="2943225" y="0"/>
                </a:lnTo>
                <a:cubicBezTo>
                  <a:pt x="2953739" y="0"/>
                  <a:pt x="2962275" y="8536"/>
                  <a:pt x="2962275" y="19050"/>
                </a:cubicBezTo>
                <a:lnTo>
                  <a:pt x="2962275" y="19050"/>
                </a:lnTo>
                <a:cubicBezTo>
                  <a:pt x="2962275" y="29564"/>
                  <a:pt x="2953739" y="38100"/>
                  <a:pt x="2943225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 rotWithShape="1" flip="none">
            <a:gsLst>
              <a:gs pos="0">
                <a:srgbClr val="0071E3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24" name="Text 21"/>
          <p:cNvSpPr/>
          <p:nvPr/>
        </p:nvSpPr>
        <p:spPr>
          <a:xfrm>
            <a:off x="3497759" y="6519863"/>
            <a:ext cx="2390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5F5F7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 momento de actuar es ahora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5950893" y="6634163"/>
            <a:ext cx="2962275" cy="38100"/>
          </a:xfrm>
          <a:custGeom>
            <a:avLst/>
            <a:gdLst/>
            <a:ahLst/>
            <a:cxnLst/>
            <a:rect l="l" t="t" r="r" b="b"/>
            <a:pathLst>
              <a:path w="2962275" h="38100">
                <a:moveTo>
                  <a:pt x="19050" y="0"/>
                </a:moveTo>
                <a:lnTo>
                  <a:pt x="2943225" y="0"/>
                </a:lnTo>
                <a:cubicBezTo>
                  <a:pt x="2953739" y="0"/>
                  <a:pt x="2962275" y="8536"/>
                  <a:pt x="2962275" y="19050"/>
                </a:cubicBezTo>
                <a:lnTo>
                  <a:pt x="2962275" y="19050"/>
                </a:lnTo>
                <a:cubicBezTo>
                  <a:pt x="2962275" y="29564"/>
                  <a:pt x="2953739" y="38100"/>
                  <a:pt x="2943225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 rotWithShape="1" flip="none">
            <a:gsLst>
              <a:gs pos="0">
                <a:srgbClr val="0071E3"/>
              </a:gs>
              <a:gs pos="100000">
                <a:srgbClr val="000000">
                  <a:alpha val="0"/>
                </a:srgbClr>
              </a:gs>
            </a:gsLst>
            <a:lin ang="10800000" scaled="1"/>
          </a:gradFill>
          <a:ln/>
        </p:spPr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Aplicaciones Prácticas de Machine Learning y Deep Learning en Empresas</dc:title>
  <dc:subject>Aplicaciones Prácticas de Machine Learning y Deep Learning en Empresas</dc:subject>
  <dc:creator>Kimi</dc:creator>
  <cp:lastModifiedBy>Kimi</cp:lastModifiedBy>
  <cp:revision>1</cp:revision>
  <dcterms:created xsi:type="dcterms:W3CDTF">2026-02-18T13:37:45Z</dcterms:created>
  <dcterms:modified xsi:type="dcterms:W3CDTF">2026-02-18T13:37:45Z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{"Label":"Aplicaciones Prácticas de Machine Learning y Deep Learning en Empresas","ContentProducer":"001191110108MACG2KBH8F10000","ProduceID":"19c70f78-91a2-8d03-8000-0000075c0b3e","ReservedCode1":"","ContentPropagator":"001191110108MACG2KBH8F20000","PropagateID":"19c70f78-91a2-8d03-8000-0000075c0b3e","ReservedCode2":""}</vt:lpwstr>
  </property>
</Properties>
</file>