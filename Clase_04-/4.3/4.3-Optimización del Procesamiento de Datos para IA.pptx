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458756d8229eee586a0ffc8fc7c3dfc46d052fd2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3095625" cy="390525"/>
          </a:xfrm>
          <a:custGeom>
            <a:avLst/>
            <a:gdLst/>
            <a:ahLst/>
            <a:cxnLst/>
            <a:rect l="l" t="t" r="r" b="b"/>
            <a:pathLst>
              <a:path w="3095625" h="390525">
                <a:moveTo>
                  <a:pt x="38100" y="0"/>
                </a:moveTo>
                <a:lnTo>
                  <a:pt x="3057525" y="0"/>
                </a:lnTo>
                <a:cubicBezTo>
                  <a:pt x="3078567" y="0"/>
                  <a:pt x="3095625" y="17058"/>
                  <a:pt x="3095625" y="38100"/>
                </a:cubicBezTo>
                <a:lnTo>
                  <a:pt x="3095625" y="352425"/>
                </a:lnTo>
                <a:cubicBezTo>
                  <a:pt x="3095625" y="373467"/>
                  <a:pt x="3078567" y="390525"/>
                  <a:pt x="30575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514350"/>
            <a:ext cx="27716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&amp; Artificial Intelligence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19250"/>
            <a:ext cx="7715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de Datos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 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291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524000" y="4495800"/>
            <a:ext cx="592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Big Data: Apache Hadoop y Apache Spark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59483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76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6800" y="598170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Processing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624840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Computing Architecture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599539" y="60198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99539" y="62103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Overview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27918" y="19240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288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Desafío del Big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1717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Introducción al procesamiento distribuido y la analogía de la biblioteca gigante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6383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67450" y="16383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9422" y="19240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18288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qué Optimización?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21717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Desafíos de datasets enormes, tareas repetitivas y limitaciones de hardware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0099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0099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200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0832" y="32956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2004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Hadoop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35433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pionero del almacenamiento y procesamiento distribuido desde 2006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30099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67450" y="30099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200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8380" y="32956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2004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Componentes de Hadoop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35433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HDFS y MapReduce: arquitectura y funcionamiento detallado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3815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381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4572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02766" y="46672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45720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" y="49149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motor turbo que procesa datos en memoria, 100x más rápido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3815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67450" y="4381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4572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67041" y="46672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00900" y="45720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Bibliotecas de Spark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00900" y="49149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SQL, Streaming, MLlib y GraphX para aplicaciones completas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753100"/>
            <a:ext cx="5543550" cy="971550"/>
          </a:xfrm>
          <a:custGeom>
            <a:avLst/>
            <a:gdLst/>
            <a:ahLst/>
            <a:cxnLst/>
            <a:rect l="l" t="t" r="r" b="b"/>
            <a:pathLst>
              <a:path w="5543550" h="971550">
                <a:moveTo>
                  <a:pt x="0" y="0"/>
                </a:moveTo>
                <a:lnTo>
                  <a:pt x="5467351" y="0"/>
                </a:lnTo>
                <a:cubicBezTo>
                  <a:pt x="5509435" y="0"/>
                  <a:pt x="5543550" y="34115"/>
                  <a:pt x="5543550" y="76199"/>
                </a:cubicBezTo>
                <a:lnTo>
                  <a:pt x="5543550" y="895351"/>
                </a:lnTo>
                <a:cubicBezTo>
                  <a:pt x="5543550" y="937435"/>
                  <a:pt x="5509435" y="971550"/>
                  <a:pt x="5467351" y="971550"/>
                </a:cubicBez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753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11994" y="60388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33500" y="59436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Comparación Directa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33500" y="62865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Hadoop vs Spark: velocidad, uso principal y aplicación para IA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5753100"/>
            <a:ext cx="5543550" cy="971550"/>
          </a:xfrm>
          <a:custGeom>
            <a:avLst/>
            <a:gdLst/>
            <a:ahLst/>
            <a:cxnLst/>
            <a:rect l="l" t="t" r="r" b="b"/>
            <a:pathLst>
              <a:path w="5543550" h="971550">
                <a:moveTo>
                  <a:pt x="0" y="0"/>
                </a:moveTo>
                <a:lnTo>
                  <a:pt x="5467351" y="0"/>
                </a:lnTo>
                <a:cubicBezTo>
                  <a:pt x="5509435" y="0"/>
                  <a:pt x="5543550" y="34115"/>
                  <a:pt x="5543550" y="76199"/>
                </a:cubicBezTo>
                <a:lnTo>
                  <a:pt x="5543550" y="895351"/>
                </a:lnTo>
                <a:cubicBezTo>
                  <a:pt x="5543550" y="937435"/>
                  <a:pt x="5509435" y="971550"/>
                  <a:pt x="5467351" y="971550"/>
                </a:cubicBez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67450" y="5753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64809" y="60388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00900" y="59436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en IA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00900" y="62865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integrado en desarrollo de IA generativa y casos prácticos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Desafío del Big Data en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6743700" cy="1714500"/>
          </a:xfrm>
          <a:custGeom>
            <a:avLst/>
            <a:gdLst/>
            <a:ahLst/>
            <a:cxnLst/>
            <a:rect l="l" t="t" r="r" b="b"/>
            <a:pathLst>
              <a:path w="6743700" h="1714500">
                <a:moveTo>
                  <a:pt x="0" y="0"/>
                </a:moveTo>
                <a:lnTo>
                  <a:pt x="6667508" y="0"/>
                </a:lnTo>
                <a:cubicBezTo>
                  <a:pt x="6709588" y="0"/>
                  <a:pt x="6743700" y="34112"/>
                  <a:pt x="6743700" y="76192"/>
                </a:cubicBezTo>
                <a:lnTo>
                  <a:pt x="6743700" y="1638308"/>
                </a:lnTo>
                <a:cubicBezTo>
                  <a:pt x="6743700" y="1680388"/>
                  <a:pt x="6709588" y="1714500"/>
                  <a:pt x="6667508" y="1714500"/>
                </a:cubicBez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14363" y="1562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939850" y="1524000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Analogía de la Biblioteca Gigante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850" y="1866900"/>
            <a:ext cx="609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Imagina organizar y analizar una biblioteca con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libros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Si lo haces solo en una mesa pequeña (computador normal), tardarías una eternidad y te equivocarías mucho. Pero si divides el trabajo entre cientos de personas, cada una revisando una sección al mismo tiempo, todo va mucho más rápido y eficiente.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200400"/>
            <a:ext cx="6743700" cy="1609725"/>
          </a:xfrm>
          <a:custGeom>
            <a:avLst/>
            <a:gdLst/>
            <a:ahLst/>
            <a:cxnLst/>
            <a:rect l="l" t="t" r="r" b="b"/>
            <a:pathLst>
              <a:path w="6743700" h="1609725">
                <a:moveTo>
                  <a:pt x="0" y="0"/>
                </a:moveTo>
                <a:lnTo>
                  <a:pt x="6667496" y="0"/>
                </a:lnTo>
                <a:cubicBezTo>
                  <a:pt x="6709582" y="0"/>
                  <a:pt x="6743700" y="34118"/>
                  <a:pt x="6743700" y="76204"/>
                </a:cubicBezTo>
                <a:lnTo>
                  <a:pt x="6743700" y="1533521"/>
                </a:lnTo>
                <a:cubicBezTo>
                  <a:pt x="6743700" y="1575607"/>
                  <a:pt x="6709582" y="1609725"/>
                  <a:pt x="6667496" y="1609725"/>
                </a:cubicBez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2004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350043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50" y="3462338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Distribuido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50" y="3805237"/>
            <a:ext cx="6096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herramientas de Big Data hacen exactamente eso: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distribuyen el procesamiento de datos masivos en muchos servidores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(computadoras conectadas en red), permitiendo que los modelos de IA se entrenen con volúmenes enormes de información sin colapsar.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967288"/>
            <a:ext cx="6753225" cy="1619250"/>
          </a:xfrm>
          <a:custGeom>
            <a:avLst/>
            <a:gdLst/>
            <a:ahLst/>
            <a:cxnLst/>
            <a:rect l="l" t="t" r="r" b="b"/>
            <a:pathLst>
              <a:path w="6753225" h="1619250">
                <a:moveTo>
                  <a:pt x="76202" y="0"/>
                </a:moveTo>
                <a:lnTo>
                  <a:pt x="6677023" y="0"/>
                </a:lnTo>
                <a:cubicBezTo>
                  <a:pt x="6719108" y="0"/>
                  <a:pt x="6753225" y="34117"/>
                  <a:pt x="6753225" y="76202"/>
                </a:cubicBezTo>
                <a:lnTo>
                  <a:pt x="6753225" y="1543048"/>
                </a:lnTo>
                <a:cubicBezTo>
                  <a:pt x="6753225" y="1585133"/>
                  <a:pt x="6719108" y="1619250"/>
                  <a:pt x="6677023" y="1619250"/>
                </a:cubicBezTo>
                <a:lnTo>
                  <a:pt x="76202" y="1619250"/>
                </a:lnTo>
                <a:cubicBezTo>
                  <a:pt x="34117" y="1619250"/>
                  <a:pt x="0" y="1585133"/>
                  <a:pt x="0" y="1543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838" y="5253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" y="5214938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&amp; Big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025" y="5595938"/>
            <a:ext cx="6438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algoritmos de IA, especialmente los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necesitan procesar y transformar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terabytes o petabytes de datos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que el modelo "aprenda" patrones útiles. Sin optimización, esto sería imposible en tiempo razonable o costaría fortunas en hardware.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0833" y="1338263"/>
            <a:ext cx="4429125" cy="4314825"/>
          </a:xfrm>
          <a:custGeom>
            <a:avLst/>
            <a:gdLst/>
            <a:ahLst/>
            <a:cxnLst/>
            <a:rect l="l" t="t" r="r" b="b"/>
            <a:pathLst>
              <a:path w="4429125" h="4314825">
                <a:moveTo>
                  <a:pt x="76200" y="0"/>
                </a:moveTo>
                <a:lnTo>
                  <a:pt x="4352925" y="0"/>
                </a:lnTo>
                <a:cubicBezTo>
                  <a:pt x="4395009" y="0"/>
                  <a:pt x="4429125" y="34116"/>
                  <a:pt x="4429125" y="76200"/>
                </a:cubicBezTo>
                <a:lnTo>
                  <a:pt x="4429125" y="4238625"/>
                </a:lnTo>
                <a:cubicBezTo>
                  <a:pt x="4429125" y="4280709"/>
                  <a:pt x="4395009" y="4314825"/>
                  <a:pt x="4352925" y="4314825"/>
                </a:cubicBezTo>
                <a:lnTo>
                  <a:pt x="76200" y="4314825"/>
                </a:lnTo>
                <a:cubicBezTo>
                  <a:pt x="34116" y="4314825"/>
                  <a:pt x="0" y="4280709"/>
                  <a:pt x="0" y="4238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5098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5133" y="1495425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de Procesamiento Distribuido</a:t>
            </a:r>
            <a:endParaRPr lang="en-US" sz="1600" dirty="0"/>
          </a:p>
        </p:txBody>
      </p:sp>
      <p:pic>
        <p:nvPicPr>
          <p:cNvPr id="21" name="Image 0" descr="https://kimi-img.moonshot.cn/pub/slides/26-02-20-00:11:42-d6bjcflhstkr66o4ptr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37996" y="1876425"/>
            <a:ext cx="41148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7380833" y="5815013"/>
            <a:ext cx="2152650" cy="771525"/>
          </a:xfrm>
          <a:custGeom>
            <a:avLst/>
            <a:gdLst/>
            <a:ahLst/>
            <a:cxnLst/>
            <a:rect l="l" t="t" r="r" b="b"/>
            <a:pathLst>
              <a:path w="2152650" h="771525">
                <a:moveTo>
                  <a:pt x="76204" y="0"/>
                </a:moveTo>
                <a:lnTo>
                  <a:pt x="2076446" y="0"/>
                </a:lnTo>
                <a:cubicBezTo>
                  <a:pt x="2118533" y="0"/>
                  <a:pt x="2152650" y="34117"/>
                  <a:pt x="2152650" y="76204"/>
                </a:cubicBezTo>
                <a:lnTo>
                  <a:pt x="2152650" y="695321"/>
                </a:lnTo>
                <a:cubicBezTo>
                  <a:pt x="2152650" y="737408"/>
                  <a:pt x="2118533" y="771525"/>
                  <a:pt x="207644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2746" y="5934075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TB/PB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66558" y="6276975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 de Datos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55373" y="5815013"/>
            <a:ext cx="2152650" cy="771525"/>
          </a:xfrm>
          <a:custGeom>
            <a:avLst/>
            <a:gdLst/>
            <a:ahLst/>
            <a:cxnLst/>
            <a:rect l="l" t="t" r="r" b="b"/>
            <a:pathLst>
              <a:path w="2152650" h="771525">
                <a:moveTo>
                  <a:pt x="76204" y="0"/>
                </a:moveTo>
                <a:lnTo>
                  <a:pt x="2076446" y="0"/>
                </a:lnTo>
                <a:cubicBezTo>
                  <a:pt x="2118533" y="0"/>
                  <a:pt x="2152650" y="34117"/>
                  <a:pt x="2152650" y="76204"/>
                </a:cubicBezTo>
                <a:lnTo>
                  <a:pt x="2152650" y="695321"/>
                </a:lnTo>
                <a:cubicBezTo>
                  <a:pt x="2152650" y="737408"/>
                  <a:pt x="2118533" y="771525"/>
                  <a:pt x="207644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17286" y="5934075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100x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741098" y="6276975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Rápido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qué se necesita optimización?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52550"/>
            <a:ext cx="3705225" cy="2838450"/>
          </a:xfrm>
          <a:custGeom>
            <a:avLst/>
            <a:gdLst/>
            <a:ahLst/>
            <a:cxnLst/>
            <a:rect l="l" t="t" r="r" b="b"/>
            <a:pathLst>
              <a:path w="3705225" h="2838450">
                <a:moveTo>
                  <a:pt x="0" y="0"/>
                </a:moveTo>
                <a:lnTo>
                  <a:pt x="3705225" y="0"/>
                </a:lnTo>
                <a:lnTo>
                  <a:pt x="3705225" y="2762238"/>
                </a:lnTo>
                <a:cubicBezTo>
                  <a:pt x="3705225" y="2804329"/>
                  <a:pt x="3671104" y="2838450"/>
                  <a:pt x="3629013" y="2838450"/>
                </a:cubicBezTo>
                <a:lnTo>
                  <a:pt x="76212" y="2838450"/>
                </a:lnTo>
                <a:cubicBezTo>
                  <a:pt x="34121" y="2838450"/>
                  <a:pt x="0" y="2804329"/>
                  <a:pt x="0" y="2762238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0" y="0"/>
                </a:moveTo>
                <a:lnTo>
                  <a:pt x="3705225" y="0"/>
                </a:lnTo>
                <a:lnTo>
                  <a:pt x="370522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6756" y="169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6573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 Enormes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datasets de IA son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enormes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8194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184" y="2924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33337" y="29170"/>
                </a:moveTo>
                <a:cubicBezTo>
                  <a:pt x="40237" y="29170"/>
                  <a:pt x="45839" y="34772"/>
                  <a:pt x="45839" y="41672"/>
                </a:cubicBezTo>
                <a:cubicBezTo>
                  <a:pt x="45839" y="48572"/>
                  <a:pt x="40237" y="54173"/>
                  <a:pt x="33337" y="54173"/>
                </a:cubicBezTo>
                <a:cubicBezTo>
                  <a:pt x="26438" y="54173"/>
                  <a:pt x="20836" y="48572"/>
                  <a:pt x="20836" y="41672"/>
                </a:cubicBezTo>
                <a:cubicBezTo>
                  <a:pt x="20836" y="34772"/>
                  <a:pt x="26438" y="29170"/>
                  <a:pt x="33337" y="29170"/>
                </a:cubicBezTo>
                <a:close/>
                <a:moveTo>
                  <a:pt x="70842" y="58341"/>
                </a:moveTo>
                <a:cubicBezTo>
                  <a:pt x="73030" y="58341"/>
                  <a:pt x="75035" y="59487"/>
                  <a:pt x="76181" y="61336"/>
                </a:cubicBezTo>
                <a:lnTo>
                  <a:pt x="99101" y="98840"/>
                </a:lnTo>
                <a:cubicBezTo>
                  <a:pt x="100273" y="100768"/>
                  <a:pt x="100325" y="103190"/>
                  <a:pt x="99231" y="105169"/>
                </a:cubicBezTo>
                <a:cubicBezTo>
                  <a:pt x="98137" y="107149"/>
                  <a:pt x="96028" y="108347"/>
                  <a:pt x="93762" y="108347"/>
                </a:cubicBezTo>
                <a:lnTo>
                  <a:pt x="22920" y="108347"/>
                </a:lnTo>
                <a:cubicBezTo>
                  <a:pt x="20602" y="108347"/>
                  <a:pt x="18440" y="107045"/>
                  <a:pt x="17372" y="104987"/>
                </a:cubicBezTo>
                <a:cubicBezTo>
                  <a:pt x="16304" y="102930"/>
                  <a:pt x="16460" y="100429"/>
                  <a:pt x="17789" y="98528"/>
                </a:cubicBezTo>
                <a:lnTo>
                  <a:pt x="32374" y="77692"/>
                </a:lnTo>
                <a:cubicBezTo>
                  <a:pt x="33546" y="76025"/>
                  <a:pt x="35447" y="75035"/>
                  <a:pt x="37505" y="75035"/>
                </a:cubicBezTo>
                <a:cubicBezTo>
                  <a:pt x="39562" y="75035"/>
                  <a:pt x="41464" y="76025"/>
                  <a:pt x="42636" y="77692"/>
                </a:cubicBezTo>
                <a:lnTo>
                  <a:pt x="49511" y="87537"/>
                </a:lnTo>
                <a:lnTo>
                  <a:pt x="65503" y="61362"/>
                </a:lnTo>
                <a:cubicBezTo>
                  <a:pt x="66649" y="59513"/>
                  <a:pt x="68654" y="58367"/>
                  <a:pt x="70842" y="5836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928688" y="289560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imágenes etiquetadas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2385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4850" y="3343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4254" y="13205"/>
                </a:moveTo>
                <a:cubicBezTo>
                  <a:pt x="72900" y="10236"/>
                  <a:pt x="69931" y="8334"/>
                  <a:pt x="66675" y="8334"/>
                </a:cubicBezTo>
                <a:cubicBezTo>
                  <a:pt x="63419" y="8334"/>
                  <a:pt x="60450" y="10236"/>
                  <a:pt x="59096" y="13205"/>
                </a:cubicBezTo>
                <a:lnTo>
                  <a:pt x="15497" y="108347"/>
                </a:lnTo>
                <a:lnTo>
                  <a:pt x="12502" y="108347"/>
                </a:lnTo>
                <a:cubicBezTo>
                  <a:pt x="7892" y="108347"/>
                  <a:pt x="4167" y="112071"/>
                  <a:pt x="4167" y="116681"/>
                </a:cubicBezTo>
                <a:cubicBezTo>
                  <a:pt x="4167" y="121291"/>
                  <a:pt x="7892" y="125016"/>
                  <a:pt x="12502" y="125016"/>
                </a:cubicBezTo>
                <a:lnTo>
                  <a:pt x="35421" y="125016"/>
                </a:lnTo>
                <a:cubicBezTo>
                  <a:pt x="40031" y="125016"/>
                  <a:pt x="43755" y="121291"/>
                  <a:pt x="43755" y="116681"/>
                </a:cubicBezTo>
                <a:cubicBezTo>
                  <a:pt x="43755" y="112071"/>
                  <a:pt x="40031" y="108347"/>
                  <a:pt x="35421" y="108347"/>
                </a:cubicBezTo>
                <a:lnTo>
                  <a:pt x="33832" y="108347"/>
                </a:lnTo>
                <a:lnTo>
                  <a:pt x="39562" y="95845"/>
                </a:lnTo>
                <a:lnTo>
                  <a:pt x="93814" y="95845"/>
                </a:lnTo>
                <a:lnTo>
                  <a:pt x="99544" y="108347"/>
                </a:lnTo>
                <a:lnTo>
                  <a:pt x="97955" y="108347"/>
                </a:lnTo>
                <a:cubicBezTo>
                  <a:pt x="93345" y="108347"/>
                  <a:pt x="89621" y="112071"/>
                  <a:pt x="89621" y="116681"/>
                </a:cubicBezTo>
                <a:cubicBezTo>
                  <a:pt x="89621" y="121291"/>
                  <a:pt x="93345" y="125016"/>
                  <a:pt x="97955" y="125016"/>
                </a:cubicBezTo>
                <a:lnTo>
                  <a:pt x="120874" y="125016"/>
                </a:lnTo>
                <a:cubicBezTo>
                  <a:pt x="125484" y="125016"/>
                  <a:pt x="129209" y="121291"/>
                  <a:pt x="129209" y="116681"/>
                </a:cubicBezTo>
                <a:cubicBezTo>
                  <a:pt x="129209" y="112071"/>
                  <a:pt x="125484" y="108347"/>
                  <a:pt x="120874" y="108347"/>
                </a:cubicBezTo>
                <a:lnTo>
                  <a:pt x="117879" y="108347"/>
                </a:lnTo>
                <a:lnTo>
                  <a:pt x="74280" y="13205"/>
                </a:lnTo>
                <a:close/>
                <a:moveTo>
                  <a:pt x="86157" y="79177"/>
                </a:moveTo>
                <a:lnTo>
                  <a:pt x="47193" y="79177"/>
                </a:lnTo>
                <a:lnTo>
                  <a:pt x="66675" y="36671"/>
                </a:lnTo>
                <a:lnTo>
                  <a:pt x="86157" y="7917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928688" y="33147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 de millones de palabras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6576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4850" y="3762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928688" y="37338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Terabytes de datos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1750" y="1352550"/>
            <a:ext cx="3705225" cy="2838450"/>
          </a:xfrm>
          <a:custGeom>
            <a:avLst/>
            <a:gdLst/>
            <a:ahLst/>
            <a:cxnLst/>
            <a:rect l="l" t="t" r="r" b="b"/>
            <a:pathLst>
              <a:path w="3705225" h="2838450">
                <a:moveTo>
                  <a:pt x="0" y="0"/>
                </a:moveTo>
                <a:lnTo>
                  <a:pt x="3705225" y="0"/>
                </a:lnTo>
                <a:lnTo>
                  <a:pt x="3705225" y="2762238"/>
                </a:lnTo>
                <a:cubicBezTo>
                  <a:pt x="3705225" y="2804329"/>
                  <a:pt x="3671104" y="2838450"/>
                  <a:pt x="3629013" y="2838450"/>
                </a:cubicBezTo>
                <a:lnTo>
                  <a:pt x="76212" y="2838450"/>
                </a:lnTo>
                <a:cubicBezTo>
                  <a:pt x="34121" y="2838450"/>
                  <a:pt x="0" y="2804329"/>
                  <a:pt x="0" y="2762238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41750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0" y="0"/>
                </a:moveTo>
                <a:lnTo>
                  <a:pt x="3705225" y="0"/>
                </a:lnTo>
                <a:lnTo>
                  <a:pt x="370522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225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560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5003750" y="165735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Tareas Repetitivas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2250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procesamiento incluye múltiples etapas iterativas: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2250" y="28194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57266" y="29241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7571" y="14221"/>
                </a:moveTo>
                <a:cubicBezTo>
                  <a:pt x="150826" y="10965"/>
                  <a:pt x="150826" y="5678"/>
                  <a:pt x="147571" y="2422"/>
                </a:cubicBezTo>
                <a:cubicBezTo>
                  <a:pt x="144315" y="-833"/>
                  <a:pt x="139028" y="-833"/>
                  <a:pt x="135772" y="2422"/>
                </a:cubicBezTo>
                <a:lnTo>
                  <a:pt x="85766" y="52428"/>
                </a:lnTo>
                <a:lnTo>
                  <a:pt x="76728" y="43391"/>
                </a:lnTo>
                <a:cubicBezTo>
                  <a:pt x="75634" y="42297"/>
                  <a:pt x="74124" y="41672"/>
                  <a:pt x="72561" y="41672"/>
                </a:cubicBezTo>
                <a:cubicBezTo>
                  <a:pt x="69306" y="41672"/>
                  <a:pt x="66675" y="44302"/>
                  <a:pt x="66675" y="47558"/>
                </a:cubicBezTo>
                <a:lnTo>
                  <a:pt x="66675" y="55137"/>
                </a:lnTo>
                <a:lnTo>
                  <a:pt x="94882" y="83344"/>
                </a:lnTo>
                <a:lnTo>
                  <a:pt x="102461" y="83344"/>
                </a:lnTo>
                <a:cubicBezTo>
                  <a:pt x="105716" y="83344"/>
                  <a:pt x="108347" y="80713"/>
                  <a:pt x="108347" y="77458"/>
                </a:cubicBezTo>
                <a:cubicBezTo>
                  <a:pt x="108347" y="75895"/>
                  <a:pt x="107722" y="74384"/>
                  <a:pt x="106628" y="73290"/>
                </a:cubicBezTo>
                <a:lnTo>
                  <a:pt x="97590" y="64253"/>
                </a:lnTo>
                <a:lnTo>
                  <a:pt x="147597" y="14247"/>
                </a:lnTo>
                <a:close/>
                <a:moveTo>
                  <a:pt x="88839" y="92043"/>
                </a:moveTo>
                <a:lnTo>
                  <a:pt x="57976" y="61180"/>
                </a:lnTo>
                <a:cubicBezTo>
                  <a:pt x="46855" y="60216"/>
                  <a:pt x="35786" y="64227"/>
                  <a:pt x="27816" y="72197"/>
                </a:cubicBezTo>
                <a:lnTo>
                  <a:pt x="25732" y="74280"/>
                </a:lnTo>
                <a:cubicBezTo>
                  <a:pt x="19924" y="80088"/>
                  <a:pt x="16669" y="87954"/>
                  <a:pt x="16669" y="96158"/>
                </a:cubicBezTo>
                <a:cubicBezTo>
                  <a:pt x="16669" y="97929"/>
                  <a:pt x="18518" y="99075"/>
                  <a:pt x="20107" y="98294"/>
                </a:cubicBezTo>
                <a:lnTo>
                  <a:pt x="33416" y="91652"/>
                </a:lnTo>
                <a:cubicBezTo>
                  <a:pt x="34718" y="91001"/>
                  <a:pt x="35890" y="92720"/>
                  <a:pt x="34822" y="93710"/>
                </a:cubicBezTo>
                <a:lnTo>
                  <a:pt x="1901" y="123297"/>
                </a:lnTo>
                <a:cubicBezTo>
                  <a:pt x="703" y="124391"/>
                  <a:pt x="0" y="125953"/>
                  <a:pt x="0" y="127594"/>
                </a:cubicBezTo>
                <a:cubicBezTo>
                  <a:pt x="0" y="130772"/>
                  <a:pt x="2578" y="133350"/>
                  <a:pt x="5756" y="133350"/>
                </a:cubicBezTo>
                <a:lnTo>
                  <a:pt x="50892" y="133350"/>
                </a:lnTo>
                <a:cubicBezTo>
                  <a:pt x="60997" y="133350"/>
                  <a:pt x="70660" y="129339"/>
                  <a:pt x="77822" y="122203"/>
                </a:cubicBezTo>
                <a:cubicBezTo>
                  <a:pt x="85792" y="114233"/>
                  <a:pt x="89777" y="103164"/>
                  <a:pt x="88839" y="9204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4789438" y="28956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Limpiar datos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250" y="32385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65600" y="3343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4789438" y="33147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 (texto a números)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2250" y="36576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65600" y="3762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3738" y="19456"/>
                </a:moveTo>
                <a:lnTo>
                  <a:pt x="116681" y="22242"/>
                </a:lnTo>
                <a:lnTo>
                  <a:pt x="116681" y="8334"/>
                </a:lnTo>
                <a:cubicBezTo>
                  <a:pt x="116681" y="3724"/>
                  <a:pt x="120406" y="0"/>
                  <a:pt x="125016" y="0"/>
                </a:cubicBezTo>
                <a:cubicBezTo>
                  <a:pt x="129626" y="0"/>
                  <a:pt x="133350" y="3724"/>
                  <a:pt x="133350" y="8334"/>
                </a:cubicBezTo>
                <a:lnTo>
                  <a:pt x="133350" y="41672"/>
                </a:lnTo>
                <a:cubicBezTo>
                  <a:pt x="133350" y="46282"/>
                  <a:pt x="129626" y="50006"/>
                  <a:pt x="125016" y="50006"/>
                </a:cubicBezTo>
                <a:lnTo>
                  <a:pt x="91678" y="50006"/>
                </a:lnTo>
                <a:cubicBezTo>
                  <a:pt x="87068" y="50006"/>
                  <a:pt x="83344" y="46282"/>
                  <a:pt x="83344" y="41672"/>
                </a:cubicBezTo>
                <a:cubicBezTo>
                  <a:pt x="83344" y="37062"/>
                  <a:pt x="87068" y="33337"/>
                  <a:pt x="91678" y="33337"/>
                </a:cubicBezTo>
                <a:lnTo>
                  <a:pt x="104154" y="33337"/>
                </a:lnTo>
                <a:lnTo>
                  <a:pt x="102174" y="31462"/>
                </a:lnTo>
                <a:cubicBezTo>
                  <a:pt x="102122" y="31410"/>
                  <a:pt x="102070" y="31358"/>
                  <a:pt x="102018" y="31306"/>
                </a:cubicBezTo>
                <a:cubicBezTo>
                  <a:pt x="82484" y="11772"/>
                  <a:pt x="50840" y="11772"/>
                  <a:pt x="31306" y="31306"/>
                </a:cubicBezTo>
                <a:cubicBezTo>
                  <a:pt x="11772" y="50840"/>
                  <a:pt x="11772" y="82484"/>
                  <a:pt x="31306" y="102018"/>
                </a:cubicBezTo>
                <a:cubicBezTo>
                  <a:pt x="50840" y="121552"/>
                  <a:pt x="82484" y="121552"/>
                  <a:pt x="102018" y="102018"/>
                </a:cubicBezTo>
                <a:cubicBezTo>
                  <a:pt x="104154" y="99882"/>
                  <a:pt x="106055" y="97616"/>
                  <a:pt x="107722" y="95220"/>
                </a:cubicBezTo>
                <a:cubicBezTo>
                  <a:pt x="110352" y="91444"/>
                  <a:pt x="115561" y="90532"/>
                  <a:pt x="119338" y="93163"/>
                </a:cubicBezTo>
                <a:cubicBezTo>
                  <a:pt x="123114" y="95793"/>
                  <a:pt x="124026" y="101002"/>
                  <a:pt x="121395" y="104779"/>
                </a:cubicBezTo>
                <a:cubicBezTo>
                  <a:pt x="119182" y="107956"/>
                  <a:pt x="116655" y="110977"/>
                  <a:pt x="113816" y="113816"/>
                </a:cubicBezTo>
                <a:cubicBezTo>
                  <a:pt x="87771" y="139861"/>
                  <a:pt x="45553" y="139861"/>
                  <a:pt x="19534" y="113816"/>
                </a:cubicBezTo>
                <a:cubicBezTo>
                  <a:pt x="-6485" y="87771"/>
                  <a:pt x="-6511" y="45579"/>
                  <a:pt x="19534" y="19534"/>
                </a:cubicBezTo>
                <a:cubicBezTo>
                  <a:pt x="45553" y="-6485"/>
                  <a:pt x="87693" y="-6511"/>
                  <a:pt x="113738" y="1945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4789438" y="37338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Entrenar iterativamente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01" y="1352550"/>
            <a:ext cx="3705225" cy="2838450"/>
          </a:xfrm>
          <a:custGeom>
            <a:avLst/>
            <a:gdLst/>
            <a:ahLst/>
            <a:cxnLst/>
            <a:rect l="l" t="t" r="r" b="b"/>
            <a:pathLst>
              <a:path w="3705225" h="2838450">
                <a:moveTo>
                  <a:pt x="0" y="0"/>
                </a:moveTo>
                <a:lnTo>
                  <a:pt x="3705225" y="0"/>
                </a:lnTo>
                <a:lnTo>
                  <a:pt x="3705225" y="2762238"/>
                </a:lnTo>
                <a:cubicBezTo>
                  <a:pt x="3705225" y="2804329"/>
                  <a:pt x="3671104" y="2838450"/>
                  <a:pt x="3629013" y="2838450"/>
                </a:cubicBezTo>
                <a:lnTo>
                  <a:pt x="76212" y="2838450"/>
                </a:lnTo>
                <a:cubicBezTo>
                  <a:pt x="34121" y="2838450"/>
                  <a:pt x="0" y="2804329"/>
                  <a:pt x="0" y="2762238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02501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0" y="0"/>
                </a:moveTo>
                <a:lnTo>
                  <a:pt x="3705225" y="0"/>
                </a:lnTo>
                <a:lnTo>
                  <a:pt x="370522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8293001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26351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8864501" y="165735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 de Hardware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3001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solo computador no puede manejar esto: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3001" y="28194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6351" y="2924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8650188" y="28956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queda sin memoria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3001" y="32385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51354" y="334327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41672" y="0"/>
                </a:moveTo>
                <a:cubicBezTo>
                  <a:pt x="27868" y="0"/>
                  <a:pt x="16669" y="11199"/>
                  <a:pt x="16669" y="25003"/>
                </a:cubicBezTo>
                <a:lnTo>
                  <a:pt x="16669" y="67899"/>
                </a:lnTo>
                <a:cubicBezTo>
                  <a:pt x="8985" y="74749"/>
                  <a:pt x="4167" y="84750"/>
                  <a:pt x="4167" y="95845"/>
                </a:cubicBezTo>
                <a:cubicBezTo>
                  <a:pt x="4167" y="116551"/>
                  <a:pt x="20966" y="133350"/>
                  <a:pt x="41672" y="133350"/>
                </a:cubicBezTo>
                <a:cubicBezTo>
                  <a:pt x="62378" y="133350"/>
                  <a:pt x="79177" y="116551"/>
                  <a:pt x="79177" y="95845"/>
                </a:cubicBezTo>
                <a:cubicBezTo>
                  <a:pt x="79177" y="84750"/>
                  <a:pt x="74358" y="74749"/>
                  <a:pt x="66675" y="67899"/>
                </a:cubicBezTo>
                <a:lnTo>
                  <a:pt x="66675" y="25003"/>
                </a:lnTo>
                <a:cubicBezTo>
                  <a:pt x="66675" y="11199"/>
                  <a:pt x="55476" y="0"/>
                  <a:pt x="41672" y="0"/>
                </a:cubicBezTo>
                <a:close/>
                <a:moveTo>
                  <a:pt x="58341" y="95845"/>
                </a:moveTo>
                <a:cubicBezTo>
                  <a:pt x="58341" y="105039"/>
                  <a:pt x="50866" y="112514"/>
                  <a:pt x="41672" y="112514"/>
                </a:cubicBezTo>
                <a:cubicBezTo>
                  <a:pt x="32478" y="112514"/>
                  <a:pt x="25003" y="105039"/>
                  <a:pt x="25003" y="95845"/>
                </a:cubicBezTo>
                <a:cubicBezTo>
                  <a:pt x="25003" y="88839"/>
                  <a:pt x="29301" y="82849"/>
                  <a:pt x="35421" y="80401"/>
                </a:cubicBezTo>
                <a:lnTo>
                  <a:pt x="35421" y="25003"/>
                </a:lnTo>
                <a:cubicBezTo>
                  <a:pt x="35421" y="21539"/>
                  <a:pt x="38208" y="18752"/>
                  <a:pt x="41672" y="18752"/>
                </a:cubicBezTo>
                <a:cubicBezTo>
                  <a:pt x="45136" y="18752"/>
                  <a:pt x="47923" y="21539"/>
                  <a:pt x="47923" y="25003"/>
                </a:cubicBezTo>
                <a:lnTo>
                  <a:pt x="47923" y="80401"/>
                </a:lnTo>
                <a:cubicBezTo>
                  <a:pt x="54043" y="82875"/>
                  <a:pt x="58341" y="88865"/>
                  <a:pt x="58341" y="9584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Text 44"/>
          <p:cNvSpPr/>
          <p:nvPr/>
        </p:nvSpPr>
        <p:spPr>
          <a:xfrm>
            <a:off x="8650188" y="3314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sobrecalienta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3001" y="36576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04800"/>
                </a:lnTo>
                <a:cubicBezTo>
                  <a:pt x="3324225" y="325842"/>
                  <a:pt x="3307167" y="342900"/>
                  <a:pt x="3286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26351" y="3762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Text 47"/>
          <p:cNvSpPr/>
          <p:nvPr/>
        </p:nvSpPr>
        <p:spPr>
          <a:xfrm>
            <a:off x="8650188" y="37338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Tardas semanas/meses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763" y="4348163"/>
            <a:ext cx="11420475" cy="1476375"/>
          </a:xfrm>
          <a:custGeom>
            <a:avLst/>
            <a:gdLst/>
            <a:ahLst/>
            <a:cxnLst/>
            <a:rect l="l" t="t" r="r" b="b"/>
            <a:pathLst>
              <a:path w="11420475" h="1476375">
                <a:moveTo>
                  <a:pt x="76196" y="0"/>
                </a:moveTo>
                <a:lnTo>
                  <a:pt x="11344279" y="0"/>
                </a:lnTo>
                <a:cubicBezTo>
                  <a:pt x="11386333" y="0"/>
                  <a:pt x="11420475" y="34142"/>
                  <a:pt x="11420475" y="76196"/>
                </a:cubicBezTo>
                <a:lnTo>
                  <a:pt x="11420475" y="1400179"/>
                </a:lnTo>
                <a:cubicBezTo>
                  <a:pt x="11420475" y="1442233"/>
                  <a:pt x="11386333" y="1476375"/>
                  <a:pt x="11344279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1025" y="4781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331" y="4943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1381125" y="4543425"/>
            <a:ext cx="832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Solución: Procesamiento Distribuido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81125" y="4886325"/>
            <a:ext cx="8305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soluciones distribuidas dividen los datos y las tareas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"pedazos" pequeños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se procesan en paralelo en muchos servidores (un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 Si un servidor falla, el sistema sigue funcionando (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tolerancia a fallos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 Esto acelera todo drásticamente y reduce costos.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725025" y="4819650"/>
            <a:ext cx="819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10x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763125" y="516255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Rápido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623352" y="481965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9525" y="0"/>
                </a:lnTo>
                <a:lnTo>
                  <a:pt x="95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713839" y="4819650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51939" y="51625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Disponibilidad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Hadoop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Hadoop: El Pionero del Big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8172450" cy="1466850"/>
          </a:xfrm>
          <a:custGeom>
            <a:avLst/>
            <a:gdLst/>
            <a:ahLst/>
            <a:cxnLst/>
            <a:rect l="l" t="t" r="r" b="b"/>
            <a:pathLst>
              <a:path w="8172450" h="1466850">
                <a:moveTo>
                  <a:pt x="0" y="0"/>
                </a:moveTo>
                <a:lnTo>
                  <a:pt x="8096247" y="0"/>
                </a:lnTo>
                <a:cubicBezTo>
                  <a:pt x="8138305" y="0"/>
                  <a:pt x="8172450" y="34145"/>
                  <a:pt x="8172450" y="76203"/>
                </a:cubicBezTo>
                <a:lnTo>
                  <a:pt x="8172450" y="1390647"/>
                </a:lnTo>
                <a:cubicBezTo>
                  <a:pt x="8172450" y="1432705"/>
                  <a:pt x="8138305" y="1466850"/>
                  <a:pt x="809624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pic>
        <p:nvPicPr>
          <p:cNvPr id="7" name="Image 0" descr="https://kimi-web-img.moonshot.cn/img/phoenixnap.com/538ac261c6114081f1ce8dcb243124af13383bf4.png">    </p:cNvPr>
          <p:cNvPicPr>
            <a:picLocks noChangeAspect="1"/>
          </p:cNvPicPr>
          <p:nvPr/>
        </p:nvPicPr>
        <p:blipFill>
          <a:blip r:embed="rId1"/>
          <a:srcRect l="22688" r="22688" t="0" b="0"/>
          <a:stretch/>
        </p:blipFill>
        <p:spPr>
          <a:xfrm>
            <a:off x="609600" y="1524000"/>
            <a:ext cx="762000" cy="762000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1524000" y="1524000"/>
            <a:ext cx="695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Open-Source desde 2006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1866900"/>
            <a:ext cx="6934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Hadoop es un framework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(gratuito y de código abierto) creado alrededor de 2006,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inspirado en ideas de Google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Revolucionó la forma de manejar datos masivos al democratizar el acceso a tecnologías de procesamiento distribuido.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2957513"/>
            <a:ext cx="8181975" cy="1666875"/>
          </a:xfrm>
          <a:custGeom>
            <a:avLst/>
            <a:gdLst/>
            <a:ahLst/>
            <a:cxnLst/>
            <a:rect l="l" t="t" r="r" b="b"/>
            <a:pathLst>
              <a:path w="8181975" h="1666875">
                <a:moveTo>
                  <a:pt x="76193" y="0"/>
                </a:moveTo>
                <a:lnTo>
                  <a:pt x="8105782" y="0"/>
                </a:lnTo>
                <a:cubicBezTo>
                  <a:pt x="8147834" y="0"/>
                  <a:pt x="8181975" y="34141"/>
                  <a:pt x="8181975" y="76193"/>
                </a:cubicBezTo>
                <a:lnTo>
                  <a:pt x="8181975" y="1590682"/>
                </a:lnTo>
                <a:cubicBezTo>
                  <a:pt x="8181975" y="1632734"/>
                  <a:pt x="8147834" y="1666875"/>
                  <a:pt x="8105782" y="1666875"/>
                </a:cubicBezTo>
                <a:lnTo>
                  <a:pt x="76193" y="1666875"/>
                </a:lnTo>
                <a:cubicBezTo>
                  <a:pt x="34141" y="1666875"/>
                  <a:pt x="0" y="1632734"/>
                  <a:pt x="0" y="1590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175" y="31718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9"/>
          <p:cNvSpPr/>
          <p:nvPr/>
        </p:nvSpPr>
        <p:spPr>
          <a:xfrm>
            <a:off x="981075" y="315277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Principio Fundamental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1025" y="3533775"/>
            <a:ext cx="7877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 idea principal: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"Mueve el cálculo hacia los datos"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1025" y="3936206"/>
            <a:ext cx="7867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lugar de mover grandes volúmenes de datos a un solo lugar para procesarlos (lo cual es lento y costoso), Hadoop lleva el procesamiento a donde residen los datos, minimizando el tráfico de red y maximizando la eficiencia.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5763" y="4788694"/>
            <a:ext cx="4010025" cy="1038225"/>
          </a:xfrm>
          <a:custGeom>
            <a:avLst/>
            <a:gdLst/>
            <a:ahLst/>
            <a:cxnLst/>
            <a:rect l="l" t="t" r="r" b="b"/>
            <a:pathLst>
              <a:path w="4010025" h="1038225">
                <a:moveTo>
                  <a:pt x="76195" y="0"/>
                </a:moveTo>
                <a:lnTo>
                  <a:pt x="3933830" y="0"/>
                </a:lnTo>
                <a:cubicBezTo>
                  <a:pt x="3975911" y="0"/>
                  <a:pt x="4010025" y="34114"/>
                  <a:pt x="4010025" y="76195"/>
                </a:cubicBezTo>
                <a:lnTo>
                  <a:pt x="4010025" y="962030"/>
                </a:lnTo>
                <a:cubicBezTo>
                  <a:pt x="4010025" y="1004111"/>
                  <a:pt x="3975911" y="1038225"/>
                  <a:pt x="393383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738" y="49839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Text 14"/>
          <p:cNvSpPr/>
          <p:nvPr/>
        </p:nvSpPr>
        <p:spPr>
          <a:xfrm>
            <a:off x="895350" y="4945856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Robustez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2925" y="5288756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Muy robusto para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volúmenes masivos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no estructurados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57713" y="4788694"/>
            <a:ext cx="4010025" cy="1038225"/>
          </a:xfrm>
          <a:custGeom>
            <a:avLst/>
            <a:gdLst/>
            <a:ahLst/>
            <a:cxnLst/>
            <a:rect l="l" t="t" r="r" b="b"/>
            <a:pathLst>
              <a:path w="4010025" h="1038225">
                <a:moveTo>
                  <a:pt x="76195" y="0"/>
                </a:moveTo>
                <a:lnTo>
                  <a:pt x="3933830" y="0"/>
                </a:lnTo>
                <a:cubicBezTo>
                  <a:pt x="3975911" y="0"/>
                  <a:pt x="4010025" y="34114"/>
                  <a:pt x="4010025" y="76195"/>
                </a:cubicBezTo>
                <a:lnTo>
                  <a:pt x="4010025" y="962030"/>
                </a:lnTo>
                <a:cubicBezTo>
                  <a:pt x="4010025" y="1004111"/>
                  <a:pt x="3975911" y="1038225"/>
                  <a:pt x="393383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38688" y="49839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8"/>
          <p:cNvSpPr/>
          <p:nvPr/>
        </p:nvSpPr>
        <p:spPr>
          <a:xfrm>
            <a:off x="5067300" y="4945856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Limitación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14875" y="5288756"/>
            <a:ext cx="376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más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lento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porque escribe mucho en disco (no usa mucho la RAM)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67763" y="1338263"/>
            <a:ext cx="3038475" cy="3857625"/>
          </a:xfrm>
          <a:custGeom>
            <a:avLst/>
            <a:gdLst/>
            <a:ahLst/>
            <a:cxnLst/>
            <a:rect l="l" t="t" r="r" b="b"/>
            <a:pathLst>
              <a:path w="3038475" h="3857625">
                <a:moveTo>
                  <a:pt x="76205" y="0"/>
                </a:moveTo>
                <a:lnTo>
                  <a:pt x="2962270" y="0"/>
                </a:lnTo>
                <a:cubicBezTo>
                  <a:pt x="3004357" y="0"/>
                  <a:pt x="3038475" y="34118"/>
                  <a:pt x="3038475" y="76205"/>
                </a:cubicBezTo>
                <a:lnTo>
                  <a:pt x="3038475" y="3781420"/>
                </a:lnTo>
                <a:cubicBezTo>
                  <a:pt x="3038475" y="3823507"/>
                  <a:pt x="3004357" y="3857625"/>
                  <a:pt x="2962270" y="3857625"/>
                </a:cubicBezTo>
                <a:lnTo>
                  <a:pt x="76205" y="3857625"/>
                </a:lnTo>
                <a:cubicBezTo>
                  <a:pt x="34118" y="3857625"/>
                  <a:pt x="0" y="3823507"/>
                  <a:pt x="0" y="37814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5098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82063" y="1495425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Hadoop en 2026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924925" y="1876425"/>
            <a:ext cx="2724150" cy="762000"/>
          </a:xfrm>
          <a:custGeom>
            <a:avLst/>
            <a:gdLst/>
            <a:ahLst/>
            <a:cxnLst/>
            <a:rect l="l" t="t" r="r" b="b"/>
            <a:pathLst>
              <a:path w="2724150" h="7620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685800"/>
                </a:lnTo>
                <a:cubicBezTo>
                  <a:pt x="2724150" y="727856"/>
                  <a:pt x="2690006" y="762000"/>
                  <a:pt x="26479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039225" y="199072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Lakes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039225" y="2219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Sigue siendo la base de muchos almacenes masivos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924925" y="2752725"/>
            <a:ext cx="2724150" cy="762000"/>
          </a:xfrm>
          <a:custGeom>
            <a:avLst/>
            <a:gdLst/>
            <a:ahLst/>
            <a:cxnLst/>
            <a:rect l="l" t="t" r="r" b="b"/>
            <a:pathLst>
              <a:path w="2724150" h="7620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685800"/>
                </a:lnTo>
                <a:cubicBezTo>
                  <a:pt x="2724150" y="727856"/>
                  <a:pt x="2690006" y="762000"/>
                  <a:pt x="26479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039225" y="286702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Evolución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039225" y="30956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MapReduce superado por herramientas más modernas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924925" y="3629025"/>
            <a:ext cx="2724150" cy="609600"/>
          </a:xfrm>
          <a:custGeom>
            <a:avLst/>
            <a:gdLst/>
            <a:ahLst/>
            <a:cxnLst/>
            <a:rect l="l" t="t" r="r" b="b"/>
            <a:pathLst>
              <a:path w="2724150" h="6096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533400"/>
                </a:lnTo>
                <a:cubicBezTo>
                  <a:pt x="2724150" y="575456"/>
                  <a:pt x="2690006" y="609600"/>
                  <a:pt x="2647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039225" y="374332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Empresas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039225" y="3971925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Yahoo y Facebook lo usaron en sus inicios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767763" y="5357813"/>
            <a:ext cx="3038475" cy="1114425"/>
          </a:xfrm>
          <a:custGeom>
            <a:avLst/>
            <a:gdLst/>
            <a:ahLst/>
            <a:cxnLst/>
            <a:rect l="l" t="t" r="r" b="b"/>
            <a:pathLst>
              <a:path w="3038475" h="1114425">
                <a:moveTo>
                  <a:pt x="76204" y="0"/>
                </a:moveTo>
                <a:lnTo>
                  <a:pt x="2962271" y="0"/>
                </a:lnTo>
                <a:cubicBezTo>
                  <a:pt x="3004357" y="0"/>
                  <a:pt x="3038475" y="34118"/>
                  <a:pt x="3038475" y="76204"/>
                </a:cubicBezTo>
                <a:lnTo>
                  <a:pt x="3038475" y="1038221"/>
                </a:lnTo>
                <a:cubicBezTo>
                  <a:pt x="3038475" y="1080307"/>
                  <a:pt x="3004357" y="1114425"/>
                  <a:pt x="29622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24925" y="551497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Uso Históricos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943975" y="5876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15" y="41999"/>
                </a:moveTo>
                <a:lnTo>
                  <a:pt x="49738" y="84624"/>
                </a:lnTo>
                <a:lnTo>
                  <a:pt x="33070" y="41999"/>
                </a:lnTo>
                <a:lnTo>
                  <a:pt x="4465" y="41999"/>
                </a:lnTo>
                <a:lnTo>
                  <a:pt x="35957" y="116145"/>
                </a:lnTo>
                <a:lnTo>
                  <a:pt x="24467" y="142875"/>
                </a:lnTo>
                <a:lnTo>
                  <a:pt x="52507" y="142875"/>
                </a:lnTo>
                <a:lnTo>
                  <a:pt x="94446" y="41999"/>
                </a:lnTo>
                <a:lnTo>
                  <a:pt x="66586" y="41999"/>
                </a:lnTo>
                <a:close/>
                <a:moveTo>
                  <a:pt x="97988" y="82421"/>
                </a:moveTo>
                <a:cubicBezTo>
                  <a:pt x="91799" y="82421"/>
                  <a:pt x="86080" y="85723"/>
                  <a:pt x="82986" y="91083"/>
                </a:cubicBezTo>
                <a:cubicBezTo>
                  <a:pt x="79891" y="96443"/>
                  <a:pt x="79891" y="103046"/>
                  <a:pt x="82986" y="108406"/>
                </a:cubicBezTo>
                <a:cubicBezTo>
                  <a:pt x="86080" y="113766"/>
                  <a:pt x="91799" y="117068"/>
                  <a:pt x="97988" y="117068"/>
                </a:cubicBezTo>
                <a:cubicBezTo>
                  <a:pt x="104178" y="117068"/>
                  <a:pt x="109897" y="113766"/>
                  <a:pt x="112991" y="108406"/>
                </a:cubicBezTo>
                <a:cubicBezTo>
                  <a:pt x="116086" y="103046"/>
                  <a:pt x="116086" y="96443"/>
                  <a:pt x="112991" y="91083"/>
                </a:cubicBezTo>
                <a:cubicBezTo>
                  <a:pt x="109897" y="85723"/>
                  <a:pt x="104178" y="82421"/>
                  <a:pt x="97988" y="82421"/>
                </a:cubicBezTo>
                <a:close/>
                <a:moveTo>
                  <a:pt x="117485" y="9525"/>
                </a:moveTo>
                <a:lnTo>
                  <a:pt x="89803" y="76051"/>
                </a:lnTo>
                <a:lnTo>
                  <a:pt x="120997" y="76051"/>
                </a:lnTo>
                <a:lnTo>
                  <a:pt x="148560" y="9525"/>
                </a:lnTo>
                <a:lnTo>
                  <a:pt x="117485" y="95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4"/>
          <p:cNvSpPr/>
          <p:nvPr/>
        </p:nvSpPr>
        <p:spPr>
          <a:xfrm>
            <a:off x="9191625" y="5857875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Yahoo - Petabytes de datos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943975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1"/>
                  <a:pt x="118289" y="0"/>
                  <a:pt x="76200" y="0"/>
                </a:cubicBezTo>
                <a:cubicBezTo>
                  <a:pt x="34111" y="0"/>
                  <a:pt x="0" y="34111"/>
                  <a:pt x="0" y="76200"/>
                </a:cubicBezTo>
                <a:cubicBezTo>
                  <a:pt x="0" y="111919"/>
                  <a:pt x="24616" y="141923"/>
                  <a:pt x="57805" y="150168"/>
                </a:cubicBezTo>
                <a:lnTo>
                  <a:pt x="57805" y="99477"/>
                </a:lnTo>
                <a:lnTo>
                  <a:pt x="42089" y="99477"/>
                </a:lnTo>
                <a:lnTo>
                  <a:pt x="42089" y="76200"/>
                </a:lnTo>
                <a:lnTo>
                  <a:pt x="57805" y="76200"/>
                </a:lnTo>
                <a:lnTo>
                  <a:pt x="57805" y="66169"/>
                </a:lnTo>
                <a:cubicBezTo>
                  <a:pt x="57805" y="40243"/>
                  <a:pt x="69533" y="28218"/>
                  <a:pt x="95012" y="28218"/>
                </a:cubicBezTo>
                <a:cubicBezTo>
                  <a:pt x="99834" y="28218"/>
                  <a:pt x="108168" y="29170"/>
                  <a:pt x="111591" y="30123"/>
                </a:cubicBezTo>
                <a:lnTo>
                  <a:pt x="111591" y="51197"/>
                </a:lnTo>
                <a:cubicBezTo>
                  <a:pt x="109805" y="51018"/>
                  <a:pt x="106680" y="50899"/>
                  <a:pt x="102781" y="50899"/>
                </a:cubicBezTo>
                <a:cubicBezTo>
                  <a:pt x="90279" y="50899"/>
                  <a:pt x="85457" y="55632"/>
                  <a:pt x="85457" y="67925"/>
                </a:cubicBezTo>
                <a:lnTo>
                  <a:pt x="85457" y="76200"/>
                </a:lnTo>
                <a:lnTo>
                  <a:pt x="110341" y="76200"/>
                </a:lnTo>
                <a:lnTo>
                  <a:pt x="106055" y="99477"/>
                </a:lnTo>
                <a:lnTo>
                  <a:pt x="85427" y="99477"/>
                </a:lnTo>
                <a:lnTo>
                  <a:pt x="85427" y="151834"/>
                </a:lnTo>
                <a:cubicBezTo>
                  <a:pt x="123170" y="147280"/>
                  <a:pt x="152400" y="115163"/>
                  <a:pt x="15240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6"/>
          <p:cNvSpPr/>
          <p:nvPr/>
        </p:nvSpPr>
        <p:spPr>
          <a:xfrm>
            <a:off x="9191625" y="612457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 - Datos de usuarios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Componentes Clave de Hadoop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52550"/>
            <a:ext cx="5619750" cy="4219575"/>
          </a:xfrm>
          <a:custGeom>
            <a:avLst/>
            <a:gdLst/>
            <a:ahLst/>
            <a:cxnLst/>
            <a:rect l="l" t="t" r="r" b="b"/>
            <a:pathLst>
              <a:path w="5619750" h="4219575">
                <a:moveTo>
                  <a:pt x="0" y="0"/>
                </a:moveTo>
                <a:lnTo>
                  <a:pt x="5619750" y="0"/>
                </a:lnTo>
                <a:lnTo>
                  <a:pt x="5619750" y="4143369"/>
                </a:lnTo>
                <a:cubicBezTo>
                  <a:pt x="5619750" y="4185457"/>
                  <a:pt x="5585632" y="4219575"/>
                  <a:pt x="5543544" y="4219575"/>
                </a:cubicBezTo>
                <a:lnTo>
                  <a:pt x="76206" y="4219575"/>
                </a:lnTo>
                <a:cubicBezTo>
                  <a:pt x="34118" y="4219575"/>
                  <a:pt x="0" y="4185457"/>
                  <a:pt x="0" y="4143369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52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0" y="0"/>
                </a:moveTo>
                <a:lnTo>
                  <a:pt x="5619750" y="0"/>
                </a:lnTo>
                <a:lnTo>
                  <a:pt x="56197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8188" y="1714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581150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HDFS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88595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Hadoop Distributed File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2479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como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 duro gigante repartido en muchos servidores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Almacena los datos en bloques grandes (por ejemplo,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MB cada uno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y los replica automáticamente en varios nodos para que no se pierdan si un servidor falla.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195763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38100" y="0"/>
                </a:moveTo>
                <a:lnTo>
                  <a:pt x="5200650" y="0"/>
                </a:lnTo>
                <a:cubicBezTo>
                  <a:pt x="5221692" y="0"/>
                  <a:pt x="5238750" y="17058"/>
                  <a:pt x="5238750" y="38100"/>
                </a:cubicBezTo>
                <a:lnTo>
                  <a:pt x="5238750" y="304800"/>
                </a:lnTo>
                <a:cubicBezTo>
                  <a:pt x="5238750" y="325842"/>
                  <a:pt x="5221692" y="342900"/>
                  <a:pt x="52006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4850" y="43005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3968" y="-339"/>
                </a:moveTo>
                <a:cubicBezTo>
                  <a:pt x="69462" y="-2943"/>
                  <a:pt x="63888" y="-2943"/>
                  <a:pt x="59382" y="-339"/>
                </a:cubicBezTo>
                <a:lnTo>
                  <a:pt x="37453" y="12319"/>
                </a:lnTo>
                <a:cubicBezTo>
                  <a:pt x="32947" y="14924"/>
                  <a:pt x="30160" y="19742"/>
                  <a:pt x="30160" y="24951"/>
                </a:cubicBezTo>
                <a:lnTo>
                  <a:pt x="30160" y="51491"/>
                </a:lnTo>
                <a:lnTo>
                  <a:pt x="7162" y="64774"/>
                </a:lnTo>
                <a:cubicBezTo>
                  <a:pt x="2657" y="67378"/>
                  <a:pt x="-130" y="72197"/>
                  <a:pt x="-130" y="77406"/>
                </a:cubicBezTo>
                <a:lnTo>
                  <a:pt x="-130" y="102747"/>
                </a:lnTo>
                <a:cubicBezTo>
                  <a:pt x="-130" y="107956"/>
                  <a:pt x="2657" y="112775"/>
                  <a:pt x="7162" y="115379"/>
                </a:cubicBezTo>
                <a:lnTo>
                  <a:pt x="29118" y="128037"/>
                </a:lnTo>
                <a:cubicBezTo>
                  <a:pt x="33624" y="130641"/>
                  <a:pt x="39198" y="130641"/>
                  <a:pt x="43703" y="128037"/>
                </a:cubicBezTo>
                <a:lnTo>
                  <a:pt x="66701" y="114754"/>
                </a:lnTo>
                <a:lnTo>
                  <a:pt x="89699" y="128037"/>
                </a:lnTo>
                <a:cubicBezTo>
                  <a:pt x="94204" y="130641"/>
                  <a:pt x="99778" y="130641"/>
                  <a:pt x="104284" y="128037"/>
                </a:cubicBezTo>
                <a:lnTo>
                  <a:pt x="126188" y="115379"/>
                </a:lnTo>
                <a:cubicBezTo>
                  <a:pt x="130693" y="112775"/>
                  <a:pt x="133480" y="107956"/>
                  <a:pt x="133480" y="102747"/>
                </a:cubicBezTo>
                <a:lnTo>
                  <a:pt x="133480" y="77406"/>
                </a:lnTo>
                <a:cubicBezTo>
                  <a:pt x="133480" y="72197"/>
                  <a:pt x="130693" y="67378"/>
                  <a:pt x="126188" y="64774"/>
                </a:cubicBezTo>
                <a:lnTo>
                  <a:pt x="103190" y="51491"/>
                </a:lnTo>
                <a:lnTo>
                  <a:pt x="103190" y="24951"/>
                </a:lnTo>
                <a:cubicBezTo>
                  <a:pt x="103190" y="19742"/>
                  <a:pt x="100403" y="14924"/>
                  <a:pt x="95897" y="12319"/>
                </a:cubicBezTo>
                <a:lnTo>
                  <a:pt x="73968" y="-339"/>
                </a:lnTo>
                <a:close/>
                <a:moveTo>
                  <a:pt x="60424" y="76207"/>
                </a:moveTo>
                <a:lnTo>
                  <a:pt x="60424" y="103945"/>
                </a:lnTo>
                <a:lnTo>
                  <a:pt x="37427" y="117228"/>
                </a:lnTo>
                <a:cubicBezTo>
                  <a:pt x="37114" y="117411"/>
                  <a:pt x="36749" y="117515"/>
                  <a:pt x="36385" y="117515"/>
                </a:cubicBezTo>
                <a:lnTo>
                  <a:pt x="36385" y="90089"/>
                </a:lnTo>
                <a:lnTo>
                  <a:pt x="60424" y="76207"/>
                </a:lnTo>
                <a:close/>
                <a:moveTo>
                  <a:pt x="120692" y="76364"/>
                </a:moveTo>
                <a:cubicBezTo>
                  <a:pt x="120874" y="76676"/>
                  <a:pt x="120979" y="77041"/>
                  <a:pt x="120979" y="77406"/>
                </a:cubicBezTo>
                <a:lnTo>
                  <a:pt x="120979" y="102747"/>
                </a:lnTo>
                <a:cubicBezTo>
                  <a:pt x="120979" y="103503"/>
                  <a:pt x="120588" y="104180"/>
                  <a:pt x="119937" y="104544"/>
                </a:cubicBezTo>
                <a:lnTo>
                  <a:pt x="97981" y="117202"/>
                </a:lnTo>
                <a:cubicBezTo>
                  <a:pt x="97668" y="117384"/>
                  <a:pt x="97304" y="117489"/>
                  <a:pt x="96939" y="117489"/>
                </a:cubicBezTo>
                <a:lnTo>
                  <a:pt x="96939" y="90063"/>
                </a:lnTo>
                <a:lnTo>
                  <a:pt x="120692" y="76364"/>
                </a:lnTo>
                <a:close/>
                <a:moveTo>
                  <a:pt x="90714" y="24951"/>
                </a:moveTo>
                <a:lnTo>
                  <a:pt x="90714" y="51491"/>
                </a:lnTo>
                <a:lnTo>
                  <a:pt x="66675" y="65373"/>
                </a:lnTo>
                <a:lnTo>
                  <a:pt x="66675" y="37635"/>
                </a:lnTo>
                <a:lnTo>
                  <a:pt x="90428" y="23935"/>
                </a:lnTo>
                <a:cubicBezTo>
                  <a:pt x="90610" y="24248"/>
                  <a:pt x="90714" y="24612"/>
                  <a:pt x="90714" y="2497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928688" y="4271963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Bloques de 128 MB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614863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38100" y="0"/>
                </a:moveTo>
                <a:lnTo>
                  <a:pt x="5200650" y="0"/>
                </a:lnTo>
                <a:cubicBezTo>
                  <a:pt x="5221692" y="0"/>
                  <a:pt x="5238750" y="17058"/>
                  <a:pt x="5238750" y="38100"/>
                </a:cubicBezTo>
                <a:lnTo>
                  <a:pt x="5238750" y="304800"/>
                </a:lnTo>
                <a:cubicBezTo>
                  <a:pt x="5238750" y="325842"/>
                  <a:pt x="5221692" y="342900"/>
                  <a:pt x="52006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3184" y="47196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0"/>
                </a:moveTo>
                <a:cubicBezTo>
                  <a:pt x="40812" y="0"/>
                  <a:pt x="33337" y="7475"/>
                  <a:pt x="33337" y="16669"/>
                </a:cubicBezTo>
                <a:lnTo>
                  <a:pt x="33337" y="83344"/>
                </a:lnTo>
                <a:cubicBezTo>
                  <a:pt x="33337" y="92538"/>
                  <a:pt x="40812" y="100013"/>
                  <a:pt x="50006" y="100013"/>
                </a:cubicBezTo>
                <a:lnTo>
                  <a:pt x="100013" y="100013"/>
                </a:lnTo>
                <a:cubicBezTo>
                  <a:pt x="109206" y="100013"/>
                  <a:pt x="116681" y="92538"/>
                  <a:pt x="116681" y="83344"/>
                </a:cubicBezTo>
                <a:lnTo>
                  <a:pt x="116681" y="31098"/>
                </a:lnTo>
                <a:cubicBezTo>
                  <a:pt x="116681" y="26566"/>
                  <a:pt x="114832" y="22216"/>
                  <a:pt x="111550" y="19065"/>
                </a:cubicBezTo>
                <a:lnTo>
                  <a:pt x="96522" y="4636"/>
                </a:lnTo>
                <a:cubicBezTo>
                  <a:pt x="93423" y="1667"/>
                  <a:pt x="89282" y="0"/>
                  <a:pt x="84985" y="0"/>
                </a:cubicBezTo>
                <a:lnTo>
                  <a:pt x="50006" y="0"/>
                </a:lnTo>
                <a:close/>
                <a:moveTo>
                  <a:pt x="16669" y="33337"/>
                </a:moveTo>
                <a:cubicBezTo>
                  <a:pt x="7475" y="33337"/>
                  <a:pt x="0" y="40812"/>
                  <a:pt x="0" y="50006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66675" y="133350"/>
                </a:lnTo>
                <a:cubicBezTo>
                  <a:pt x="75869" y="133350"/>
                  <a:pt x="83344" y="125875"/>
                  <a:pt x="83344" y="116681"/>
                </a:cubicBezTo>
                <a:lnTo>
                  <a:pt x="83344" y="112514"/>
                </a:lnTo>
                <a:lnTo>
                  <a:pt x="66675" y="112514"/>
                </a:lnTo>
                <a:lnTo>
                  <a:pt x="66675" y="116681"/>
                </a:lnTo>
                <a:lnTo>
                  <a:pt x="16669" y="116681"/>
                </a:lnTo>
                <a:lnTo>
                  <a:pt x="16669" y="50006"/>
                </a:lnTo>
                <a:lnTo>
                  <a:pt x="20836" y="50006"/>
                </a:lnTo>
                <a:lnTo>
                  <a:pt x="20836" y="33337"/>
                </a:lnTo>
                <a:lnTo>
                  <a:pt x="16669" y="3333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28688" y="4691063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Replicación automática (3x)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5033963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38100" y="0"/>
                </a:moveTo>
                <a:lnTo>
                  <a:pt x="5200650" y="0"/>
                </a:lnTo>
                <a:cubicBezTo>
                  <a:pt x="5221692" y="0"/>
                  <a:pt x="5238750" y="17058"/>
                  <a:pt x="5238750" y="38100"/>
                </a:cubicBezTo>
                <a:lnTo>
                  <a:pt x="5238750" y="304800"/>
                </a:lnTo>
                <a:cubicBezTo>
                  <a:pt x="5238750" y="325842"/>
                  <a:pt x="5221692" y="342900"/>
                  <a:pt x="52006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4850" y="51387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928688" y="5110163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Tolerancia a fallos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5724525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76203" y="0"/>
                </a:moveTo>
                <a:lnTo>
                  <a:pt x="5534022" y="0"/>
                </a:lnTo>
                <a:cubicBezTo>
                  <a:pt x="5576080" y="0"/>
                  <a:pt x="5610225" y="34145"/>
                  <a:pt x="5610225" y="76203"/>
                </a:cubicBezTo>
                <a:lnTo>
                  <a:pt x="5610225" y="676272"/>
                </a:lnTo>
                <a:cubicBezTo>
                  <a:pt x="5610225" y="718330"/>
                  <a:pt x="5576080" y="752475"/>
                  <a:pt x="5534022" y="752475"/>
                </a:cubicBezTo>
                <a:lnTo>
                  <a:pt x="76203" y="752475"/>
                </a:lnTo>
                <a:cubicBezTo>
                  <a:pt x="34145" y="752475"/>
                  <a:pt x="0" y="718330"/>
                  <a:pt x="0" y="6762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1975" y="59197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771525" y="5881688"/>
            <a:ext cx="5133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para: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Guardar datasets crudos de IA antes de procesarlos, backups masivos, y almacenamiento de datos no estructurados.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1352550"/>
            <a:ext cx="5619750" cy="5124450"/>
          </a:xfrm>
          <a:custGeom>
            <a:avLst/>
            <a:gdLst/>
            <a:ahLst/>
            <a:cxnLst/>
            <a:rect l="l" t="t" r="r" b="b"/>
            <a:pathLst>
              <a:path w="5619750" h="5124450">
                <a:moveTo>
                  <a:pt x="0" y="0"/>
                </a:moveTo>
                <a:lnTo>
                  <a:pt x="5619750" y="0"/>
                </a:lnTo>
                <a:lnTo>
                  <a:pt x="5619750" y="5048249"/>
                </a:lnTo>
                <a:cubicBezTo>
                  <a:pt x="5619750" y="5090306"/>
                  <a:pt x="5585606" y="5124450"/>
                  <a:pt x="5543549" y="5124450"/>
                </a:cubicBezTo>
                <a:lnTo>
                  <a:pt x="76201" y="5124450"/>
                </a:lnTo>
                <a:cubicBezTo>
                  <a:pt x="34144" y="5124450"/>
                  <a:pt x="0" y="5090306"/>
                  <a:pt x="0" y="5048249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191250" y="1352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0" y="0"/>
                </a:moveTo>
                <a:lnTo>
                  <a:pt x="5619750" y="0"/>
                </a:lnTo>
                <a:lnTo>
                  <a:pt x="56197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175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05575" y="1714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7029450" y="158115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29450" y="18859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de Procesamiento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1750" y="2247900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motor de procesamiento original. Divide una tarea grande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 fases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81750" y="2647950"/>
            <a:ext cx="5238750" cy="800100"/>
          </a:xfrm>
          <a:custGeom>
            <a:avLst/>
            <a:gdLst/>
            <a:ahLst/>
            <a:cxnLst/>
            <a:rect l="l" t="t" r="r" b="b"/>
            <a:pathLst>
              <a:path w="5238750" h="800100">
                <a:moveTo>
                  <a:pt x="76202" y="0"/>
                </a:moveTo>
                <a:lnTo>
                  <a:pt x="5162548" y="0"/>
                </a:lnTo>
                <a:cubicBezTo>
                  <a:pt x="5204633" y="0"/>
                  <a:pt x="5238750" y="34117"/>
                  <a:pt x="5238750" y="76202"/>
                </a:cubicBezTo>
                <a:lnTo>
                  <a:pt x="5238750" y="723898"/>
                </a:lnTo>
                <a:cubicBezTo>
                  <a:pt x="5238750" y="765983"/>
                  <a:pt x="5204633" y="800100"/>
                  <a:pt x="51625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96050" y="2762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27168" y="28194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7050" y="278130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6050" y="314325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servidor procesa su pedazo de datos en paralelo (ej: contar palabras en textos)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1750" y="3562350"/>
            <a:ext cx="5238750" cy="800100"/>
          </a:xfrm>
          <a:custGeom>
            <a:avLst/>
            <a:gdLst/>
            <a:ahLst/>
            <a:cxnLst/>
            <a:rect l="l" t="t" r="r" b="b"/>
            <a:pathLst>
              <a:path w="5238750" h="800100">
                <a:moveTo>
                  <a:pt x="76202" y="0"/>
                </a:moveTo>
                <a:lnTo>
                  <a:pt x="5162548" y="0"/>
                </a:lnTo>
                <a:cubicBezTo>
                  <a:pt x="5204633" y="0"/>
                  <a:pt x="5238750" y="34117"/>
                  <a:pt x="5238750" y="76202"/>
                </a:cubicBezTo>
                <a:lnTo>
                  <a:pt x="5238750" y="723898"/>
                </a:lnTo>
                <a:cubicBezTo>
                  <a:pt x="5238750" y="765983"/>
                  <a:pt x="5204633" y="800100"/>
                  <a:pt x="51625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96050" y="36766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14368" y="37338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77050" y="36957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6050" y="405765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 los resultados parciales (ej: sumar todos los conteos)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5676900"/>
            <a:ext cx="5238750" cy="609600"/>
          </a:xfrm>
          <a:custGeom>
            <a:avLst/>
            <a:gdLst/>
            <a:ahLst/>
            <a:cxnLst/>
            <a:rect l="l" t="t" r="r" b="b"/>
            <a:pathLst>
              <a:path w="5238750" h="6096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533400"/>
                </a:lnTo>
                <a:cubicBezTo>
                  <a:pt x="5238750" y="575456"/>
                  <a:pt x="5204606" y="609600"/>
                  <a:pt x="51625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15100" y="5819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Text 41"/>
          <p:cNvSpPr/>
          <p:nvPr/>
        </p:nvSpPr>
        <p:spPr>
          <a:xfrm>
            <a:off x="6724650" y="5791200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Perfecto para: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Tareas "batch" (procesamiento en lotes grandes), como preprocesar datos históricos para entrenar un modelo.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Spark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Spark: El Motor Turbo de la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8172450" cy="1295400"/>
          </a:xfrm>
          <a:custGeom>
            <a:avLst/>
            <a:gdLst/>
            <a:ahLst/>
            <a:cxnLst/>
            <a:rect l="l" t="t" r="r" b="b"/>
            <a:pathLst>
              <a:path w="8172450" h="1295400">
                <a:moveTo>
                  <a:pt x="0" y="0"/>
                </a:moveTo>
                <a:lnTo>
                  <a:pt x="8096255" y="0"/>
                </a:lnTo>
                <a:cubicBezTo>
                  <a:pt x="8138308" y="0"/>
                  <a:pt x="8172450" y="34142"/>
                  <a:pt x="8172450" y="76195"/>
                </a:cubicBezTo>
                <a:lnTo>
                  <a:pt x="8172450" y="1219205"/>
                </a:lnTo>
                <a:cubicBezTo>
                  <a:pt x="8172450" y="1261286"/>
                  <a:pt x="8138336" y="1295400"/>
                  <a:pt x="809625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pic>
        <p:nvPicPr>
          <p:cNvPr id="7" name="Image 0" descr="https://kimi-web-img.moonshot.cn/img/upload.wikimedia.org/71424a5f13c751eb59152059d93b8b952a6d3429.png">    </p:cNvPr>
          <p:cNvPicPr>
            <a:picLocks noChangeAspect="1"/>
          </p:cNvPicPr>
          <p:nvPr/>
        </p:nvPicPr>
        <p:blipFill>
          <a:blip r:embed="rId1"/>
          <a:srcRect l="24023" r="24023" t="0" b="0"/>
          <a:stretch/>
        </p:blipFill>
        <p:spPr>
          <a:xfrm>
            <a:off x="609600" y="15240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1676400" y="1524000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Evolución desde 2010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76400" y="1866900"/>
            <a:ext cx="6781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surgió en 2010 como una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sobre Hadoop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Su gran ventaja: procesa datos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memoria (RAM)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lugar de disco, lo que lo hace hasta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veces más rápido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tareas iterativas.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2786063"/>
            <a:ext cx="8181975" cy="1514475"/>
          </a:xfrm>
          <a:custGeom>
            <a:avLst/>
            <a:gdLst/>
            <a:ahLst/>
            <a:cxnLst/>
            <a:rect l="l" t="t" r="r" b="b"/>
            <a:pathLst>
              <a:path w="8181975" h="1514475">
                <a:moveTo>
                  <a:pt x="76193" y="0"/>
                </a:moveTo>
                <a:lnTo>
                  <a:pt x="8105782" y="0"/>
                </a:lnTo>
                <a:cubicBezTo>
                  <a:pt x="8147862" y="0"/>
                  <a:pt x="8181975" y="34113"/>
                  <a:pt x="8181975" y="76193"/>
                </a:cubicBezTo>
                <a:lnTo>
                  <a:pt x="8181975" y="1438282"/>
                </a:lnTo>
                <a:cubicBezTo>
                  <a:pt x="8181975" y="1480362"/>
                  <a:pt x="8147862" y="1514475"/>
                  <a:pt x="810578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9600" y="3000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9"/>
          <p:cNvSpPr/>
          <p:nvPr/>
        </p:nvSpPr>
        <p:spPr>
          <a:xfrm>
            <a:off x="981075" y="29813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 Clave para 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1025" y="3362325"/>
            <a:ext cx="7867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entrenamiento de modelos de IA 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pasas muchas veces por los mismos datos. Spark guarda datos intermedios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evitando escribir/leer del disco constantemente. Esto acelera drásticamente el preprocesamiento y el entrenamiento.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5763" y="4462463"/>
            <a:ext cx="4010025" cy="1038225"/>
          </a:xfrm>
          <a:custGeom>
            <a:avLst/>
            <a:gdLst/>
            <a:ahLst/>
            <a:cxnLst/>
            <a:rect l="l" t="t" r="r" b="b"/>
            <a:pathLst>
              <a:path w="4010025" h="1038225">
                <a:moveTo>
                  <a:pt x="76195" y="0"/>
                </a:moveTo>
                <a:lnTo>
                  <a:pt x="3933830" y="0"/>
                </a:lnTo>
                <a:cubicBezTo>
                  <a:pt x="3975911" y="0"/>
                  <a:pt x="4010025" y="34114"/>
                  <a:pt x="4010025" y="76195"/>
                </a:cubicBezTo>
                <a:lnTo>
                  <a:pt x="4010025" y="962030"/>
                </a:lnTo>
                <a:cubicBezTo>
                  <a:pt x="4010025" y="1004111"/>
                  <a:pt x="3975911" y="1038225"/>
                  <a:pt x="393383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738" y="4657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3"/>
          <p:cNvSpPr/>
          <p:nvPr/>
        </p:nvSpPr>
        <p:spPr>
          <a:xfrm>
            <a:off x="895350" y="4619625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en Memoria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2925" y="4962525"/>
            <a:ext cx="376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Guarda datos intermedios en RAM, evitando operaciones de disco lentas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57713" y="4462463"/>
            <a:ext cx="4010025" cy="1038225"/>
          </a:xfrm>
          <a:custGeom>
            <a:avLst/>
            <a:gdLst/>
            <a:ahLst/>
            <a:cxnLst/>
            <a:rect l="l" t="t" r="r" b="b"/>
            <a:pathLst>
              <a:path w="4010025" h="1038225">
                <a:moveTo>
                  <a:pt x="76195" y="0"/>
                </a:moveTo>
                <a:lnTo>
                  <a:pt x="3933830" y="0"/>
                </a:lnTo>
                <a:cubicBezTo>
                  <a:pt x="3975911" y="0"/>
                  <a:pt x="4010025" y="34114"/>
                  <a:pt x="4010025" y="76195"/>
                </a:cubicBezTo>
                <a:lnTo>
                  <a:pt x="4010025" y="962030"/>
                </a:lnTo>
                <a:cubicBezTo>
                  <a:pt x="4010025" y="1004111"/>
                  <a:pt x="3975911" y="1038225"/>
                  <a:pt x="393383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8688" y="4657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7"/>
          <p:cNvSpPr/>
          <p:nvPr/>
        </p:nvSpPr>
        <p:spPr>
          <a:xfrm>
            <a:off x="5067300" y="4619625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DAG Optimization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14875" y="4962525"/>
            <a:ext cx="376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 tareas de forma inteligente, optimizando el orden de ejecución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67763" y="1338263"/>
            <a:ext cx="3038475" cy="2752725"/>
          </a:xfrm>
          <a:custGeom>
            <a:avLst/>
            <a:gdLst/>
            <a:ahLst/>
            <a:cxnLst/>
            <a:rect l="l" t="t" r="r" b="b"/>
            <a:pathLst>
              <a:path w="3038475" h="2752725">
                <a:moveTo>
                  <a:pt x="76195" y="0"/>
                </a:moveTo>
                <a:lnTo>
                  <a:pt x="2962280" y="0"/>
                </a:lnTo>
                <a:cubicBezTo>
                  <a:pt x="3004333" y="0"/>
                  <a:pt x="3038475" y="34142"/>
                  <a:pt x="3038475" y="76195"/>
                </a:cubicBezTo>
                <a:lnTo>
                  <a:pt x="3038475" y="2676530"/>
                </a:lnTo>
                <a:cubicBezTo>
                  <a:pt x="3038475" y="2718611"/>
                  <a:pt x="3004361" y="2752725"/>
                  <a:pt x="2962280" y="2752725"/>
                </a:cubicBezTo>
                <a:lnTo>
                  <a:pt x="76195" y="2752725"/>
                </a:lnTo>
                <a:cubicBezTo>
                  <a:pt x="34142" y="2752725"/>
                  <a:pt x="0" y="2718583"/>
                  <a:pt x="0" y="26765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C8C">
              <a:alpha val="5098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82063" y="1495425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Spark: El Favorito en IA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24925" y="1876425"/>
            <a:ext cx="2724150" cy="609600"/>
          </a:xfrm>
          <a:custGeom>
            <a:avLst/>
            <a:gdLst/>
            <a:ahLst/>
            <a:cxnLst/>
            <a:rect l="l" t="t" r="r" b="b"/>
            <a:pathLst>
              <a:path w="2724150" h="6096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533400"/>
                </a:lnTo>
                <a:cubicBezTo>
                  <a:pt x="2724150" y="575456"/>
                  <a:pt x="2690006" y="609600"/>
                  <a:pt x="2647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039225" y="199072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372850" y="2009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4"/>
          <p:cNvSpPr/>
          <p:nvPr/>
        </p:nvSpPr>
        <p:spPr>
          <a:xfrm>
            <a:off x="9039225" y="2219325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Limpieza y transformación masiva de datos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924925" y="2600325"/>
            <a:ext cx="2724150" cy="609600"/>
          </a:xfrm>
          <a:custGeom>
            <a:avLst/>
            <a:gdLst/>
            <a:ahLst/>
            <a:cxnLst/>
            <a:rect l="l" t="t" r="r" b="b"/>
            <a:pathLst>
              <a:path w="2724150" h="6096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533400"/>
                </a:lnTo>
                <a:cubicBezTo>
                  <a:pt x="2724150" y="575456"/>
                  <a:pt x="2690006" y="609600"/>
                  <a:pt x="2647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039225" y="271462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Entrenamiento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363325" y="2733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8"/>
          <p:cNvSpPr/>
          <p:nvPr/>
        </p:nvSpPr>
        <p:spPr>
          <a:xfrm>
            <a:off x="9039225" y="2943225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Iteraciones rápidas sobre datasets grandes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924925" y="3324225"/>
            <a:ext cx="2724150" cy="609600"/>
          </a:xfrm>
          <a:custGeom>
            <a:avLst/>
            <a:gdLst/>
            <a:ahLst/>
            <a:cxnLst/>
            <a:rect l="l" t="t" r="r" b="b"/>
            <a:pathLst>
              <a:path w="2724150" h="609600">
                <a:moveTo>
                  <a:pt x="762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533400"/>
                </a:lnTo>
                <a:cubicBezTo>
                  <a:pt x="2724150" y="575456"/>
                  <a:pt x="2690006" y="609600"/>
                  <a:pt x="2647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039225" y="343852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363325" y="3457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2"/>
          <p:cNvSpPr/>
          <p:nvPr/>
        </p:nvSpPr>
        <p:spPr>
          <a:xfrm>
            <a:off x="9039225" y="3667125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Esencial para deep learning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767763" y="4252913"/>
            <a:ext cx="3038475" cy="2219325"/>
          </a:xfrm>
          <a:custGeom>
            <a:avLst/>
            <a:gdLst/>
            <a:ahLst/>
            <a:cxnLst/>
            <a:rect l="l" t="t" r="r" b="b"/>
            <a:pathLst>
              <a:path w="3038475" h="2219325">
                <a:moveTo>
                  <a:pt x="76189" y="0"/>
                </a:moveTo>
                <a:lnTo>
                  <a:pt x="2962286" y="0"/>
                </a:lnTo>
                <a:cubicBezTo>
                  <a:pt x="3004336" y="0"/>
                  <a:pt x="3038475" y="34139"/>
                  <a:pt x="3038475" y="76189"/>
                </a:cubicBezTo>
                <a:lnTo>
                  <a:pt x="3038475" y="2143136"/>
                </a:lnTo>
                <a:cubicBezTo>
                  <a:pt x="3038475" y="2185214"/>
                  <a:pt x="3004364" y="2219325"/>
                  <a:pt x="296228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24925" y="441007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Compatibilidad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952309" y="4781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67743"/>
                </a:lnTo>
                <a:cubicBezTo>
                  <a:pt x="4714" y="64435"/>
                  <a:pt x="10470" y="62508"/>
                  <a:pt x="16669" y="62508"/>
                </a:cubicBezTo>
                <a:lnTo>
                  <a:pt x="100013" y="62508"/>
                </a:lnTo>
                <a:cubicBezTo>
                  <a:pt x="106211" y="62508"/>
                  <a:pt x="111967" y="64435"/>
                  <a:pt x="116681" y="67743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116681" y="91678"/>
                </a:move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lose/>
                <a:moveTo>
                  <a:pt x="58341" y="100013"/>
                </a:moveTo>
                <a:cubicBezTo>
                  <a:pt x="58341" y="95413"/>
                  <a:pt x="62075" y="91678"/>
                  <a:pt x="66675" y="91678"/>
                </a:cubicBezTo>
                <a:cubicBezTo>
                  <a:pt x="71275" y="91678"/>
                  <a:pt x="75009" y="95413"/>
                  <a:pt x="75009" y="100013"/>
                </a:cubicBezTo>
                <a:cubicBezTo>
                  <a:pt x="75009" y="104612"/>
                  <a:pt x="71275" y="108347"/>
                  <a:pt x="66675" y="108347"/>
                </a:cubicBezTo>
                <a:cubicBezTo>
                  <a:pt x="62075" y="108347"/>
                  <a:pt x="58341" y="104612"/>
                  <a:pt x="58341" y="100013"/>
                </a:cubicBezTo>
                <a:close/>
                <a:moveTo>
                  <a:pt x="91678" y="91678"/>
                </a:moveTo>
                <a:cubicBezTo>
                  <a:pt x="96278" y="91678"/>
                  <a:pt x="100013" y="95413"/>
                  <a:pt x="100013" y="100013"/>
                </a:cubicBezTo>
                <a:cubicBezTo>
                  <a:pt x="100013" y="104612"/>
                  <a:pt x="96278" y="108347"/>
                  <a:pt x="91678" y="108347"/>
                </a:cubicBezTo>
                <a:cubicBezTo>
                  <a:pt x="87078" y="108347"/>
                  <a:pt x="83344" y="104612"/>
                  <a:pt x="83344" y="100013"/>
                </a:cubicBezTo>
                <a:cubicBezTo>
                  <a:pt x="83344" y="95413"/>
                  <a:pt x="87078" y="91678"/>
                  <a:pt x="91678" y="9167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6"/>
          <p:cNvSpPr/>
          <p:nvPr/>
        </p:nvSpPr>
        <p:spPr>
          <a:xfrm>
            <a:off x="9167813" y="47529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HDFS (Hadoop)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935641" y="5048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8"/>
          <p:cNvSpPr/>
          <p:nvPr/>
        </p:nvSpPr>
        <p:spPr>
          <a:xfrm>
            <a:off x="9167813" y="501967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Google Cloud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935641" y="53149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Text 40"/>
          <p:cNvSpPr/>
          <p:nvPr/>
        </p:nvSpPr>
        <p:spPr>
          <a:xfrm>
            <a:off x="9167813" y="528637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Azure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Spark Ecosystem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Bibliotecas Integradas de Spark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5619750" cy="1876425"/>
          </a:xfrm>
          <a:custGeom>
            <a:avLst/>
            <a:gdLst/>
            <a:ahLst/>
            <a:cxnLst/>
            <a:rect l="l" t="t" r="r" b="b"/>
            <a:pathLst>
              <a:path w="5619750" h="1876425">
                <a:moveTo>
                  <a:pt x="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800223"/>
                </a:lnTo>
                <a:cubicBezTo>
                  <a:pt x="5619750" y="1842308"/>
                  <a:pt x="5585633" y="1876425"/>
                  <a:pt x="5543548" y="1876425"/>
                </a:cubicBez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4856" y="1657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6192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 SQL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095500"/>
            <a:ext cx="5295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consultas estructuradas como en bases de datos tradicionales. Permite ejecutar queries SQL sobre datos distribuidos.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752725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48" y="0"/>
                  <a:pt x="952500" y="59752"/>
                  <a:pt x="952500" y="133350"/>
                </a:cubicBezTo>
                <a:lnTo>
                  <a:pt x="952500" y="133350"/>
                </a:lnTo>
                <a:cubicBezTo>
                  <a:pt x="952500" y="206948"/>
                  <a:pt x="892748" y="266700"/>
                  <a:pt x="819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752725"/>
            <a:ext cx="1019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Queries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34877" y="2752725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34877" y="2752725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DataFrames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28454" y="27527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28454" y="2752725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62325"/>
            <a:ext cx="5619750" cy="1876425"/>
          </a:xfrm>
          <a:custGeom>
            <a:avLst/>
            <a:gdLst/>
            <a:ahLst/>
            <a:cxnLst/>
            <a:rect l="l" t="t" r="r" b="b"/>
            <a:pathLst>
              <a:path w="5619750" h="1876425">
                <a:moveTo>
                  <a:pt x="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800223"/>
                </a:lnTo>
                <a:cubicBezTo>
                  <a:pt x="5619750" y="1842308"/>
                  <a:pt x="5585633" y="1876425"/>
                  <a:pt x="5543548" y="1876425"/>
                </a:cubicBez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36232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552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2950" y="3686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364807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 Streaming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124325"/>
            <a:ext cx="5295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procesar datos en tiempo real. Ideal para aplicaciones que necesitan respuestas instantáneas como detección de fraudes.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478155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" y="4781550"/>
            <a:ext cx="8667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81138" y="4781550"/>
            <a:ext cx="1076325" cy="266700"/>
          </a:xfrm>
          <a:custGeom>
            <a:avLst/>
            <a:gdLst/>
            <a:ahLst/>
            <a:cxnLst/>
            <a:rect l="l" t="t" r="r" b="b"/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573" y="0"/>
                  <a:pt x="1076325" y="59752"/>
                  <a:pt x="1076325" y="133350"/>
                </a:cubicBezTo>
                <a:lnTo>
                  <a:pt x="1076325" y="133350"/>
                </a:lnTo>
                <a:cubicBezTo>
                  <a:pt x="1076325" y="206948"/>
                  <a:pt x="1016573" y="266700"/>
                  <a:pt x="942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81138" y="4781550"/>
            <a:ext cx="1143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Micro-batches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34407" y="4781550"/>
            <a:ext cx="1200150" cy="266700"/>
          </a:xfrm>
          <a:custGeom>
            <a:avLst/>
            <a:gdLst/>
            <a:ahLst/>
            <a:cxnLst/>
            <a:rect l="l" t="t" r="r" b="b"/>
            <a:pathLst>
              <a:path w="1200150" h="266700">
                <a:moveTo>
                  <a:pt x="133350" y="0"/>
                </a:moveTo>
                <a:lnTo>
                  <a:pt x="1066800" y="0"/>
                </a:lnTo>
                <a:cubicBezTo>
                  <a:pt x="1140398" y="0"/>
                  <a:pt x="1200150" y="59752"/>
                  <a:pt x="1200150" y="133350"/>
                </a:cubicBezTo>
                <a:lnTo>
                  <a:pt x="1200150" y="133350"/>
                </a:lnTo>
                <a:cubicBezTo>
                  <a:pt x="1200150" y="206948"/>
                  <a:pt x="1140398" y="266700"/>
                  <a:pt x="1066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34407" y="4781550"/>
            <a:ext cx="1266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Processing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333500"/>
            <a:ext cx="5619750" cy="1876425"/>
          </a:xfrm>
          <a:custGeom>
            <a:avLst/>
            <a:gdLst/>
            <a:ahLst/>
            <a:cxnLst/>
            <a:rect l="l" t="t" r="r" b="b"/>
            <a:pathLst>
              <a:path w="5619750" h="1876425">
                <a:moveTo>
                  <a:pt x="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800223"/>
                </a:lnTo>
                <a:cubicBezTo>
                  <a:pt x="5619750" y="1842308"/>
                  <a:pt x="5585633" y="1876425"/>
                  <a:pt x="5543548" y="1876425"/>
                </a:cubicBez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91250" y="1333500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10338" y="1657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972300" y="161925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MLlib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2095500"/>
            <a:ext cx="5295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Biblioteca de machine learning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algoritmos listos para usar: clasificación, regresión, clustering, y más.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2752725"/>
            <a:ext cx="981075" cy="266700"/>
          </a:xfrm>
          <a:custGeom>
            <a:avLst/>
            <a:gdLst/>
            <a:ahLst/>
            <a:cxnLst/>
            <a:rect l="l" t="t" r="r" b="b"/>
            <a:pathLst>
              <a:path w="981075" h="266700">
                <a:moveTo>
                  <a:pt x="133350" y="0"/>
                </a:moveTo>
                <a:lnTo>
                  <a:pt x="847725" y="0"/>
                </a:lnTo>
                <a:cubicBezTo>
                  <a:pt x="921323" y="0"/>
                  <a:pt x="981075" y="59752"/>
                  <a:pt x="981075" y="133350"/>
                </a:cubicBezTo>
                <a:lnTo>
                  <a:pt x="981075" y="133350"/>
                </a:lnTo>
                <a:cubicBezTo>
                  <a:pt x="981075" y="206948"/>
                  <a:pt x="921323" y="266700"/>
                  <a:pt x="847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752725"/>
            <a:ext cx="1047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59414" y="27527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498" y="0"/>
                  <a:pt x="857250" y="59752"/>
                  <a:pt x="857250" y="133350"/>
                </a:cubicBezTo>
                <a:lnTo>
                  <a:pt x="857250" y="133350"/>
                </a:lnTo>
                <a:cubicBezTo>
                  <a:pt x="857250" y="206948"/>
                  <a:pt x="797498" y="266700"/>
                  <a:pt x="723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59414" y="2752725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2120" y="2752725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92120" y="2752725"/>
            <a:ext cx="876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74522" y="2752725"/>
            <a:ext cx="1247775" cy="266700"/>
          </a:xfrm>
          <a:custGeom>
            <a:avLst/>
            <a:gdLst/>
            <a:ahLst/>
            <a:cxnLst/>
            <a:rect l="l" t="t" r="r" b="b"/>
            <a:pathLst>
              <a:path w="1247775" h="266700">
                <a:moveTo>
                  <a:pt x="133350" y="0"/>
                </a:moveTo>
                <a:lnTo>
                  <a:pt x="1114425" y="0"/>
                </a:lnTo>
                <a:cubicBezTo>
                  <a:pt x="1188023" y="0"/>
                  <a:pt x="1247775" y="59752"/>
                  <a:pt x="1247775" y="133350"/>
                </a:cubicBezTo>
                <a:lnTo>
                  <a:pt x="1247775" y="133350"/>
                </a:lnTo>
                <a:cubicBezTo>
                  <a:pt x="1247775" y="206948"/>
                  <a:pt x="1188023" y="266700"/>
                  <a:pt x="1114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274522" y="2752725"/>
            <a:ext cx="1314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1250" y="3362325"/>
            <a:ext cx="5619750" cy="1876425"/>
          </a:xfrm>
          <a:custGeom>
            <a:avLst/>
            <a:gdLst/>
            <a:ahLst/>
            <a:cxnLst/>
            <a:rect l="l" t="t" r="r" b="b"/>
            <a:pathLst>
              <a:path w="5619750" h="1876425">
                <a:moveTo>
                  <a:pt x="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800223"/>
                </a:lnTo>
                <a:cubicBezTo>
                  <a:pt x="5619750" y="1842308"/>
                  <a:pt x="5585633" y="1876425"/>
                  <a:pt x="5543548" y="1876425"/>
                </a:cubicBez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91250" y="336232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552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34150" y="3686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7" name="Text 45"/>
          <p:cNvSpPr/>
          <p:nvPr/>
        </p:nvSpPr>
        <p:spPr>
          <a:xfrm>
            <a:off x="6972300" y="364807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GraphX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0" y="4124325"/>
            <a:ext cx="5295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procesar grafos y redes. Perfecto para análisis de redes sociales, sistemas de recomendación, y detección de comunidades.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4781550"/>
            <a:ext cx="1228725" cy="266700"/>
          </a:xfrm>
          <a:custGeom>
            <a:avLst/>
            <a:gdLst/>
            <a:ahLst/>
            <a:cxnLst/>
            <a:rect l="l" t="t" r="r" b="b"/>
            <a:pathLst>
              <a:path w="1228725" h="266700">
                <a:moveTo>
                  <a:pt x="133350" y="0"/>
                </a:moveTo>
                <a:lnTo>
                  <a:pt x="1095375" y="0"/>
                </a:lnTo>
                <a:cubicBezTo>
                  <a:pt x="1168973" y="0"/>
                  <a:pt x="1228725" y="59752"/>
                  <a:pt x="1228725" y="133350"/>
                </a:cubicBezTo>
                <a:lnTo>
                  <a:pt x="1228725" y="133350"/>
                </a:lnTo>
                <a:cubicBezTo>
                  <a:pt x="1228725" y="206948"/>
                  <a:pt x="1168973" y="266700"/>
                  <a:pt x="1095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4781550"/>
            <a:ext cx="1295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Processing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708106" y="4781550"/>
            <a:ext cx="1162050" cy="266700"/>
          </a:xfrm>
          <a:custGeom>
            <a:avLst/>
            <a:gdLst/>
            <a:ahLst/>
            <a:cxnLst/>
            <a:rect l="l" t="t" r="r" b="b"/>
            <a:pathLst>
              <a:path w="1162050" h="26670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08106" y="4781550"/>
            <a:ext cx="1228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Networks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947547" y="478155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947547" y="4781550"/>
            <a:ext cx="847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PageRank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5763" y="5395913"/>
            <a:ext cx="11420475" cy="1076325"/>
          </a:xfrm>
          <a:custGeom>
            <a:avLst/>
            <a:gdLst/>
            <a:ahLst/>
            <a:cxnLst/>
            <a:rect l="l" t="t" r="r" b="b"/>
            <a:pathLst>
              <a:path w="11420475" h="1076325">
                <a:moveTo>
                  <a:pt x="76204" y="0"/>
                </a:moveTo>
                <a:lnTo>
                  <a:pt x="11344271" y="0"/>
                </a:lnTo>
                <a:cubicBezTo>
                  <a:pt x="11386357" y="0"/>
                  <a:pt x="11420475" y="34118"/>
                  <a:pt x="11420475" y="76204"/>
                </a:cubicBezTo>
                <a:lnTo>
                  <a:pt x="11420475" y="1000121"/>
                </a:lnTo>
                <a:cubicBezTo>
                  <a:pt x="11420475" y="1042207"/>
                  <a:pt x="11386357" y="1076325"/>
                  <a:pt x="113442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1025" y="5791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1052513" y="5553075"/>
            <a:ext cx="106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Ecosistema Completo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52513" y="5857875"/>
            <a:ext cx="1067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ofrece un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ecosistema integral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cubre todas las necesidades de procesamiento de datos: desde consultas SQL hasta machine learning, pasando por streaming y análisis de grafos. Todo en una sola plataforma unificada.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Hadoop vs Spark: Comparación Directa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185863"/>
            <a:ext cx="11420475" cy="4314825"/>
          </a:xfrm>
          <a:custGeom>
            <a:avLst/>
            <a:gdLst/>
            <a:ahLst/>
            <a:cxnLst/>
            <a:rect l="l" t="t" r="r" b="b"/>
            <a:pathLst>
              <a:path w="11420475" h="43148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238625"/>
                </a:lnTo>
                <a:cubicBezTo>
                  <a:pt x="11420475" y="4280709"/>
                  <a:pt x="11386359" y="4314825"/>
                  <a:pt x="11344275" y="4314825"/>
                </a:cubicBezTo>
                <a:lnTo>
                  <a:pt x="76200" y="4314825"/>
                </a:lnTo>
                <a:cubicBezTo>
                  <a:pt x="34116" y="4314825"/>
                  <a:pt x="0" y="4280709"/>
                  <a:pt x="0" y="4238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5098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963" y="1304925"/>
            <a:ext cx="1126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 Comparativa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25" y="1647825"/>
          <a:ext cx="11182350" cy="3733800"/>
        </p:xfrm>
        <a:graphic>
          <a:graphicData uri="http://schemas.openxmlformats.org/drawingml/2006/table">
            <a:tbl>
              <a:tblPr/>
              <a:tblGrid>
                <a:gridCol w="2800350"/>
                <a:gridCol w="4191000"/>
                <a:gridCol w="4191000"/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Característica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E8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Hadoop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E8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E8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Velocidad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Lento (disco)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100x más rápido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Procesamiento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 disco (HDD)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 memoria (RAM)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Uso Principal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Almacenamiento masivo, batch simple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ML, Streaming, Procesamiento rápido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Tolerancia a Fallos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Replicación de datos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DAG + Lineage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Lenguajes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Java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Java, Python, Scala, 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Costo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Hardware más barato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Requiere más 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Año de Lanzamiento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5763" y="5624513"/>
            <a:ext cx="3724275" cy="847725"/>
          </a:xfrm>
          <a:custGeom>
            <a:avLst/>
            <a:gdLst/>
            <a:ahLst/>
            <a:cxnLst/>
            <a:rect l="l" t="t" r="r" b="b"/>
            <a:pathLst>
              <a:path w="3724275" h="847725">
                <a:moveTo>
                  <a:pt x="76202" y="0"/>
                </a:moveTo>
                <a:lnTo>
                  <a:pt x="3648073" y="0"/>
                </a:lnTo>
                <a:cubicBezTo>
                  <a:pt x="3690130" y="0"/>
                  <a:pt x="3724275" y="34145"/>
                  <a:pt x="3724275" y="76202"/>
                </a:cubicBezTo>
                <a:lnTo>
                  <a:pt x="3724275" y="771523"/>
                </a:lnTo>
                <a:cubicBezTo>
                  <a:pt x="3724275" y="813580"/>
                  <a:pt x="3690130" y="847725"/>
                  <a:pt x="36480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0538" y="5734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7"/>
          <p:cNvSpPr/>
          <p:nvPr/>
        </p:nvSpPr>
        <p:spPr>
          <a:xfrm>
            <a:off x="757238" y="570547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 IA: Spark Gana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725" y="5972175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entrenamiento de modelos es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iterativo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(muchas vueltas por los datos). Spark brilla en este escenario.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33863" y="5624513"/>
            <a:ext cx="3724275" cy="847725"/>
          </a:xfrm>
          <a:custGeom>
            <a:avLst/>
            <a:gdLst/>
            <a:ahLst/>
            <a:cxnLst/>
            <a:rect l="l" t="t" r="r" b="b"/>
            <a:pathLst>
              <a:path w="3724275" h="847725">
                <a:moveTo>
                  <a:pt x="76202" y="0"/>
                </a:moveTo>
                <a:lnTo>
                  <a:pt x="3648073" y="0"/>
                </a:lnTo>
                <a:cubicBezTo>
                  <a:pt x="3690130" y="0"/>
                  <a:pt x="3724275" y="34145"/>
                  <a:pt x="3724275" y="76202"/>
                </a:cubicBezTo>
                <a:lnTo>
                  <a:pt x="3724275" y="771523"/>
                </a:lnTo>
                <a:cubicBezTo>
                  <a:pt x="3724275" y="813580"/>
                  <a:pt x="3690130" y="847725"/>
                  <a:pt x="36480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27922" y="5734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05338" y="570547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Combinación en 2026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14825" y="5972175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HDFS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almacenar datos crudos +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procesar y entrenar IA.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81962" y="5624513"/>
            <a:ext cx="3724275" cy="847725"/>
          </a:xfrm>
          <a:custGeom>
            <a:avLst/>
            <a:gdLst/>
            <a:ahLst/>
            <a:cxnLst/>
            <a:rect l="l" t="t" r="r" b="b"/>
            <a:pathLst>
              <a:path w="3724275" h="847725">
                <a:moveTo>
                  <a:pt x="76202" y="0"/>
                </a:moveTo>
                <a:lnTo>
                  <a:pt x="3648073" y="0"/>
                </a:lnTo>
                <a:cubicBezTo>
                  <a:pt x="3690130" y="0"/>
                  <a:pt x="3724275" y="34145"/>
                  <a:pt x="3724275" y="76202"/>
                </a:cubicBezTo>
                <a:lnTo>
                  <a:pt x="3724275" y="771523"/>
                </a:lnTo>
                <a:cubicBezTo>
                  <a:pt x="3724275" y="813580"/>
                  <a:pt x="3690130" y="847725"/>
                  <a:pt x="36480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6738" y="5734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5"/>
          <p:cNvSpPr/>
          <p:nvPr/>
        </p:nvSpPr>
        <p:spPr>
          <a:xfrm>
            <a:off x="8453438" y="57054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 Actual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62925" y="5972175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es el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usado hoy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aplicaciones de IA y análisis en tiempo real.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spc="9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Case Study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 Práctico: Detección de Fraudes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31036"/>
            <a:ext cx="824829" cy="34368"/>
          </a:xfrm>
          <a:custGeom>
            <a:avLst/>
            <a:gdLst/>
            <a:ahLst/>
            <a:cxnLst/>
            <a:rect l="l" t="t" r="r" b="b"/>
            <a:pathLst>
              <a:path w="824829" h="34368">
                <a:moveTo>
                  <a:pt x="0" y="0"/>
                </a:moveTo>
                <a:lnTo>
                  <a:pt x="824829" y="0"/>
                </a:lnTo>
                <a:lnTo>
                  <a:pt x="824829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360863" y="1202875"/>
            <a:ext cx="11487459" cy="842013"/>
          </a:xfrm>
          <a:custGeom>
            <a:avLst/>
            <a:gdLst/>
            <a:ahLst/>
            <a:cxnLst/>
            <a:rect l="l" t="t" r="r" b="b"/>
            <a:pathLst>
              <a:path w="11487459" h="842013">
                <a:moveTo>
                  <a:pt x="0" y="0"/>
                </a:moveTo>
                <a:lnTo>
                  <a:pt x="11418725" y="0"/>
                </a:lnTo>
                <a:cubicBezTo>
                  <a:pt x="11456686" y="0"/>
                  <a:pt x="11487459" y="30773"/>
                  <a:pt x="11487459" y="68733"/>
                </a:cubicBezTo>
                <a:lnTo>
                  <a:pt x="11487459" y="773279"/>
                </a:lnTo>
                <a:cubicBezTo>
                  <a:pt x="11487459" y="811240"/>
                  <a:pt x="11456686" y="842013"/>
                  <a:pt x="11418725" y="842013"/>
                </a:cubicBezTo>
                <a:lnTo>
                  <a:pt x="0" y="84201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0863" y="1202875"/>
            <a:ext cx="34368" cy="842013"/>
          </a:xfrm>
          <a:custGeom>
            <a:avLst/>
            <a:gdLst/>
            <a:ahLst/>
            <a:cxnLst/>
            <a:rect l="l" t="t" r="r" b="b"/>
            <a:pathLst>
              <a:path w="34368" h="842013">
                <a:moveTo>
                  <a:pt x="0" y="0"/>
                </a:moveTo>
                <a:lnTo>
                  <a:pt x="34368" y="0"/>
                </a:lnTo>
                <a:lnTo>
                  <a:pt x="34368" y="842013"/>
                </a:lnTo>
                <a:lnTo>
                  <a:pt x="0" y="842013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41294" y="1357531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0" y="51552"/>
                </a:moveTo>
                <a:lnTo>
                  <a:pt x="0" y="64440"/>
                </a:lnTo>
                <a:lnTo>
                  <a:pt x="206207" y="64440"/>
                </a:lnTo>
                <a:lnTo>
                  <a:pt x="206207" y="51552"/>
                </a:lnTo>
                <a:cubicBezTo>
                  <a:pt x="206207" y="37335"/>
                  <a:pt x="194648" y="25776"/>
                  <a:pt x="180431" y="25776"/>
                </a:cubicBezTo>
                <a:lnTo>
                  <a:pt x="25776" y="25776"/>
                </a:lnTo>
                <a:cubicBezTo>
                  <a:pt x="11559" y="25776"/>
                  <a:pt x="0" y="37335"/>
                  <a:pt x="0" y="51552"/>
                </a:cubicBezTo>
                <a:close/>
                <a:moveTo>
                  <a:pt x="0" y="83772"/>
                </a:moveTo>
                <a:lnTo>
                  <a:pt x="0" y="154655"/>
                </a:lnTo>
                <a:cubicBezTo>
                  <a:pt x="0" y="168872"/>
                  <a:pt x="11559" y="180431"/>
                  <a:pt x="25776" y="180431"/>
                </a:cubicBezTo>
                <a:lnTo>
                  <a:pt x="180431" y="180431"/>
                </a:lnTo>
                <a:cubicBezTo>
                  <a:pt x="194648" y="180431"/>
                  <a:pt x="206207" y="168872"/>
                  <a:pt x="206207" y="154655"/>
                </a:cubicBezTo>
                <a:lnTo>
                  <a:pt x="206207" y="83772"/>
                </a:lnTo>
                <a:lnTo>
                  <a:pt x="0" y="83772"/>
                </a:lnTo>
                <a:close/>
                <a:moveTo>
                  <a:pt x="25776" y="144989"/>
                </a:moveTo>
                <a:cubicBezTo>
                  <a:pt x="25776" y="139633"/>
                  <a:pt x="30085" y="135323"/>
                  <a:pt x="35442" y="135323"/>
                </a:cubicBezTo>
                <a:lnTo>
                  <a:pt x="54774" y="135323"/>
                </a:lnTo>
                <a:cubicBezTo>
                  <a:pt x="60130" y="135323"/>
                  <a:pt x="64440" y="139633"/>
                  <a:pt x="64440" y="144989"/>
                </a:cubicBezTo>
                <a:cubicBezTo>
                  <a:pt x="64440" y="150346"/>
                  <a:pt x="60130" y="154655"/>
                  <a:pt x="54774" y="154655"/>
                </a:cubicBezTo>
                <a:lnTo>
                  <a:pt x="35442" y="154655"/>
                </a:lnTo>
                <a:cubicBezTo>
                  <a:pt x="30085" y="154655"/>
                  <a:pt x="25776" y="150346"/>
                  <a:pt x="25776" y="144989"/>
                </a:cubicBezTo>
                <a:close/>
                <a:moveTo>
                  <a:pt x="83772" y="144989"/>
                </a:moveTo>
                <a:cubicBezTo>
                  <a:pt x="83772" y="139633"/>
                  <a:pt x="88081" y="135323"/>
                  <a:pt x="93438" y="135323"/>
                </a:cubicBezTo>
                <a:lnTo>
                  <a:pt x="119214" y="135323"/>
                </a:lnTo>
                <a:cubicBezTo>
                  <a:pt x="124570" y="135323"/>
                  <a:pt x="128879" y="139633"/>
                  <a:pt x="128879" y="144989"/>
                </a:cubicBezTo>
                <a:cubicBezTo>
                  <a:pt x="128879" y="150346"/>
                  <a:pt x="124570" y="154655"/>
                  <a:pt x="119214" y="154655"/>
                </a:cubicBezTo>
                <a:lnTo>
                  <a:pt x="93438" y="154655"/>
                </a:lnTo>
                <a:cubicBezTo>
                  <a:pt x="88081" y="154655"/>
                  <a:pt x="83772" y="150346"/>
                  <a:pt x="83772" y="1449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76381" y="1340347"/>
            <a:ext cx="278379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Escenario: Transacciones Bancarias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518" y="1684025"/>
            <a:ext cx="11264068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Supongamos que estás entrenando un modelo de </a:t>
            </a:r>
            <a:pPr>
              <a:lnSpc>
                <a:spcPct val="140000"/>
              </a:lnSpc>
            </a:pPr>
            <a:r>
              <a:rPr lang="en-US" sz="108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de fraudes</a:t>
            </a:r>
            <a:pPr>
              <a:lnSpc>
                <a:spcPct val="140000"/>
              </a:lnSpc>
            </a:pPr>
            <a:r>
              <a:rPr lang="en-US" sz="10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transacciones bancarias: </a:t>
            </a:r>
            <a:pPr>
              <a:lnSpc>
                <a:spcPct val="140000"/>
              </a:lnSpc>
            </a:pPr>
            <a:r>
              <a:rPr lang="en-US" sz="108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por día</a:t>
            </a:r>
            <a:pPr>
              <a:lnSpc>
                <a:spcPct val="140000"/>
              </a:lnSpc>
            </a:pPr>
            <a:r>
              <a:rPr lang="en-US" sz="10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Compararemos el flujo de trabajo con Hadoop/MapReduce vs Spark.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3679" y="2199543"/>
            <a:ext cx="5679290" cy="3522706"/>
          </a:xfrm>
          <a:custGeom>
            <a:avLst/>
            <a:gdLst/>
            <a:ahLst/>
            <a:cxnLst/>
            <a:rect l="l" t="t" r="r" b="b"/>
            <a:pathLst>
              <a:path w="5679290" h="3522706">
                <a:moveTo>
                  <a:pt x="0" y="0"/>
                </a:moveTo>
                <a:lnTo>
                  <a:pt x="5679290" y="0"/>
                </a:lnTo>
                <a:lnTo>
                  <a:pt x="5679290" y="3453978"/>
                </a:lnTo>
                <a:cubicBezTo>
                  <a:pt x="5679290" y="3491936"/>
                  <a:pt x="5648519" y="3522706"/>
                  <a:pt x="5610562" y="3522706"/>
                </a:cubicBezTo>
                <a:lnTo>
                  <a:pt x="68728" y="3522706"/>
                </a:lnTo>
                <a:cubicBezTo>
                  <a:pt x="30771" y="3522706"/>
                  <a:pt x="0" y="3491936"/>
                  <a:pt x="0" y="3453978"/>
                </a:cubicBez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3679" y="2199543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0" y="0"/>
                </a:moveTo>
                <a:lnTo>
                  <a:pt x="5679290" y="0"/>
                </a:lnTo>
                <a:lnTo>
                  <a:pt x="5679290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518" y="2388567"/>
            <a:ext cx="481150" cy="481150"/>
          </a:xfrm>
          <a:custGeom>
            <a:avLst/>
            <a:gdLst/>
            <a:ahLst/>
            <a:cxnLst/>
            <a:rect l="l" t="t" r="r" b="b"/>
            <a:pathLst>
              <a:path w="481150" h="481150">
                <a:moveTo>
                  <a:pt x="68737" y="0"/>
                </a:moveTo>
                <a:lnTo>
                  <a:pt x="412413" y="0"/>
                </a:lnTo>
                <a:cubicBezTo>
                  <a:pt x="450375" y="0"/>
                  <a:pt x="481150" y="30775"/>
                  <a:pt x="481150" y="68737"/>
                </a:cubicBezTo>
                <a:lnTo>
                  <a:pt x="481150" y="412413"/>
                </a:lnTo>
                <a:cubicBezTo>
                  <a:pt x="481150" y="450375"/>
                  <a:pt x="450375" y="481150"/>
                  <a:pt x="412413" y="481150"/>
                </a:cubicBezTo>
                <a:lnTo>
                  <a:pt x="68737" y="481150"/>
                </a:lnTo>
                <a:cubicBezTo>
                  <a:pt x="30775" y="481150"/>
                  <a:pt x="0" y="450375"/>
                  <a:pt x="0" y="412413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5877" y="2526038"/>
            <a:ext cx="180431" cy="206207"/>
          </a:xfrm>
          <a:custGeom>
            <a:avLst/>
            <a:gdLst/>
            <a:ahLst/>
            <a:cxnLst/>
            <a:rect l="l" t="t" r="r" b="b"/>
            <a:pathLst>
              <a:path w="180431" h="206207">
                <a:moveTo>
                  <a:pt x="25776" y="12888"/>
                </a:moveTo>
                <a:cubicBezTo>
                  <a:pt x="11559" y="12888"/>
                  <a:pt x="0" y="24447"/>
                  <a:pt x="0" y="38664"/>
                </a:cubicBezTo>
                <a:lnTo>
                  <a:pt x="0" y="104755"/>
                </a:lnTo>
                <a:cubicBezTo>
                  <a:pt x="7290" y="99640"/>
                  <a:pt x="16190" y="96660"/>
                  <a:pt x="25776" y="96660"/>
                </a:cubicBezTo>
                <a:lnTo>
                  <a:pt x="154655" y="96660"/>
                </a:lnTo>
                <a:cubicBezTo>
                  <a:pt x="164241" y="96660"/>
                  <a:pt x="173142" y="99640"/>
                  <a:pt x="180431" y="104755"/>
                </a:cubicBezTo>
                <a:lnTo>
                  <a:pt x="180431" y="38664"/>
                </a:lnTo>
                <a:cubicBezTo>
                  <a:pt x="180431" y="24447"/>
                  <a:pt x="168872" y="12888"/>
                  <a:pt x="154655" y="12888"/>
                </a:cubicBezTo>
                <a:lnTo>
                  <a:pt x="25776" y="12888"/>
                </a:lnTo>
                <a:close/>
                <a:moveTo>
                  <a:pt x="180431" y="141767"/>
                </a:moveTo>
                <a:cubicBezTo>
                  <a:pt x="180431" y="127550"/>
                  <a:pt x="168872" y="115992"/>
                  <a:pt x="154655" y="115992"/>
                </a:cubicBezTo>
                <a:lnTo>
                  <a:pt x="25776" y="115992"/>
                </a:lnTo>
                <a:cubicBezTo>
                  <a:pt x="11559" y="115992"/>
                  <a:pt x="0" y="127550"/>
                  <a:pt x="0" y="141767"/>
                </a:cubicBezTo>
                <a:lnTo>
                  <a:pt x="0" y="167543"/>
                </a:lnTo>
                <a:cubicBezTo>
                  <a:pt x="0" y="181760"/>
                  <a:pt x="11559" y="193319"/>
                  <a:pt x="25776" y="193319"/>
                </a:cubicBezTo>
                <a:lnTo>
                  <a:pt x="154655" y="193319"/>
                </a:lnTo>
                <a:cubicBezTo>
                  <a:pt x="168872" y="193319"/>
                  <a:pt x="180431" y="181760"/>
                  <a:pt x="180431" y="167543"/>
                </a:cubicBezTo>
                <a:lnTo>
                  <a:pt x="180431" y="141767"/>
                </a:lnTo>
                <a:close/>
                <a:moveTo>
                  <a:pt x="90216" y="154655"/>
                </a:moveTo>
                <a:cubicBezTo>
                  <a:pt x="90216" y="147542"/>
                  <a:pt x="95991" y="141767"/>
                  <a:pt x="103104" y="141767"/>
                </a:cubicBezTo>
                <a:cubicBezTo>
                  <a:pt x="110217" y="141767"/>
                  <a:pt x="115992" y="147542"/>
                  <a:pt x="115992" y="154655"/>
                </a:cubicBezTo>
                <a:cubicBezTo>
                  <a:pt x="115992" y="161768"/>
                  <a:pt x="110217" y="167543"/>
                  <a:pt x="103104" y="167543"/>
                </a:cubicBezTo>
                <a:cubicBezTo>
                  <a:pt x="95991" y="167543"/>
                  <a:pt x="90216" y="161768"/>
                  <a:pt x="90216" y="154655"/>
                </a:cubicBezTo>
                <a:close/>
                <a:moveTo>
                  <a:pt x="141767" y="141767"/>
                </a:moveTo>
                <a:cubicBezTo>
                  <a:pt x="148880" y="141767"/>
                  <a:pt x="154655" y="147542"/>
                  <a:pt x="154655" y="154655"/>
                </a:cubicBezTo>
                <a:cubicBezTo>
                  <a:pt x="154655" y="161768"/>
                  <a:pt x="148880" y="167543"/>
                  <a:pt x="141767" y="167543"/>
                </a:cubicBezTo>
                <a:cubicBezTo>
                  <a:pt x="134654" y="167543"/>
                  <a:pt x="128879" y="161768"/>
                  <a:pt x="128879" y="154655"/>
                </a:cubicBezTo>
                <a:cubicBezTo>
                  <a:pt x="128879" y="147542"/>
                  <a:pt x="134654" y="141767"/>
                  <a:pt x="141767" y="14176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9772" y="2491670"/>
            <a:ext cx="2001928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Hadoop/MapReduce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5518" y="3007188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5805" y="3144660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0"/>
                </a:moveTo>
                <a:cubicBezTo>
                  <a:pt x="30770" y="0"/>
                  <a:pt x="0" y="30770"/>
                  <a:pt x="0" y="68736"/>
                </a:cubicBezTo>
                <a:cubicBezTo>
                  <a:pt x="0" y="106701"/>
                  <a:pt x="30770" y="137471"/>
                  <a:pt x="68736" y="137471"/>
                </a:cubicBezTo>
                <a:cubicBezTo>
                  <a:pt x="87208" y="137471"/>
                  <a:pt x="103990" y="130168"/>
                  <a:pt x="116341" y="118301"/>
                </a:cubicBezTo>
                <a:cubicBezTo>
                  <a:pt x="118301" y="116421"/>
                  <a:pt x="118864" y="113495"/>
                  <a:pt x="117764" y="111024"/>
                </a:cubicBezTo>
                <a:cubicBezTo>
                  <a:pt x="116663" y="108554"/>
                  <a:pt x="114085" y="107024"/>
                  <a:pt x="111373" y="107238"/>
                </a:cubicBezTo>
                <a:cubicBezTo>
                  <a:pt x="110058" y="107346"/>
                  <a:pt x="108742" y="107400"/>
                  <a:pt x="107400" y="107400"/>
                </a:cubicBezTo>
                <a:cubicBezTo>
                  <a:pt x="80120" y="107400"/>
                  <a:pt x="57996" y="85275"/>
                  <a:pt x="57996" y="57996"/>
                </a:cubicBezTo>
                <a:cubicBezTo>
                  <a:pt x="57996" y="38637"/>
                  <a:pt x="69138" y="21856"/>
                  <a:pt x="85410" y="13747"/>
                </a:cubicBezTo>
                <a:cubicBezTo>
                  <a:pt x="87853" y="12539"/>
                  <a:pt x="89249" y="9908"/>
                  <a:pt x="88927" y="7196"/>
                </a:cubicBezTo>
                <a:cubicBezTo>
                  <a:pt x="88605" y="4484"/>
                  <a:pt x="86618" y="2282"/>
                  <a:pt x="83960" y="1692"/>
                </a:cubicBezTo>
                <a:cubicBezTo>
                  <a:pt x="79046" y="591"/>
                  <a:pt x="73945" y="0"/>
                  <a:pt x="6873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197" y="3110292"/>
            <a:ext cx="158092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Nocturno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622" y="3385235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Procesas los datos en lotes nocturnos → tardas </a:t>
            </a:r>
            <a:pPr>
              <a:lnSpc>
                <a:spcPct val="120000"/>
              </a:lnSpc>
            </a:pPr>
            <a:r>
              <a:rPr lang="en-US" sz="94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horas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preparar el dataset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5518" y="3763281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5805" y="390075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0"/>
                </a:moveTo>
                <a:cubicBezTo>
                  <a:pt x="106672" y="0"/>
                  <a:pt x="137471" y="30799"/>
                  <a:pt x="137471" y="68736"/>
                </a:cubicBezTo>
                <a:cubicBezTo>
                  <a:pt x="137471" y="106672"/>
                  <a:pt x="106672" y="137471"/>
                  <a:pt x="68736" y="137471"/>
                </a:cubicBezTo>
                <a:cubicBezTo>
                  <a:pt x="30799" y="137471"/>
                  <a:pt x="0" y="106672"/>
                  <a:pt x="0" y="68736"/>
                </a:cubicBezTo>
                <a:cubicBezTo>
                  <a:pt x="0" y="30799"/>
                  <a:pt x="30799" y="0"/>
                  <a:pt x="68736" y="0"/>
                </a:cubicBezTo>
                <a:close/>
                <a:moveTo>
                  <a:pt x="62292" y="32220"/>
                </a:moveTo>
                <a:lnTo>
                  <a:pt x="62292" y="68736"/>
                </a:lnTo>
                <a:cubicBezTo>
                  <a:pt x="62292" y="70884"/>
                  <a:pt x="63366" y="72897"/>
                  <a:pt x="65165" y="74106"/>
                </a:cubicBezTo>
                <a:lnTo>
                  <a:pt x="90941" y="91290"/>
                </a:lnTo>
                <a:cubicBezTo>
                  <a:pt x="93894" y="93277"/>
                  <a:pt x="97895" y="92471"/>
                  <a:pt x="99882" y="89491"/>
                </a:cubicBezTo>
                <a:cubicBezTo>
                  <a:pt x="101868" y="86510"/>
                  <a:pt x="101063" y="82537"/>
                  <a:pt x="98083" y="80550"/>
                </a:cubicBezTo>
                <a:lnTo>
                  <a:pt x="75180" y="65299"/>
                </a:lnTo>
                <a:lnTo>
                  <a:pt x="75180" y="32220"/>
                </a:lnTo>
                <a:cubicBezTo>
                  <a:pt x="75180" y="28649"/>
                  <a:pt x="72307" y="25776"/>
                  <a:pt x="68736" y="25776"/>
                </a:cubicBezTo>
                <a:cubicBezTo>
                  <a:pt x="65165" y="25776"/>
                  <a:pt x="62292" y="28649"/>
                  <a:pt x="62292" y="3222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59197" y="3866385"/>
            <a:ext cx="86778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Tiempo Total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622" y="4141328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Lectura de disco + procesamiento + escritura = </a:t>
            </a:r>
            <a:pPr>
              <a:lnSpc>
                <a:spcPct val="120000"/>
              </a:lnSpc>
            </a:pPr>
            <a:r>
              <a:rPr lang="en-US" sz="94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lento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18" y="4519374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5805" y="4656846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68736" y="36516"/>
                </a:moveTo>
                <a:cubicBezTo>
                  <a:pt x="72307" y="36516"/>
                  <a:pt x="75180" y="39389"/>
                  <a:pt x="75180" y="42960"/>
                </a:cubicBezTo>
                <a:lnTo>
                  <a:pt x="75180" y="73032"/>
                </a:lnTo>
                <a:cubicBezTo>
                  <a:pt x="75180" y="76603"/>
                  <a:pt x="72307" y="79476"/>
                  <a:pt x="68736" y="79476"/>
                </a:cubicBezTo>
                <a:cubicBezTo>
                  <a:pt x="65165" y="79476"/>
                  <a:pt x="62292" y="76603"/>
                  <a:pt x="62292" y="73032"/>
                </a:cubicBezTo>
                <a:lnTo>
                  <a:pt x="62292" y="42960"/>
                </a:lnTo>
                <a:cubicBezTo>
                  <a:pt x="62292" y="39389"/>
                  <a:pt x="65165" y="36516"/>
                  <a:pt x="68736" y="36516"/>
                </a:cubicBezTo>
                <a:close/>
                <a:moveTo>
                  <a:pt x="61567" y="94512"/>
                </a:moveTo>
                <a:cubicBezTo>
                  <a:pt x="61404" y="91851"/>
                  <a:pt x="62731" y="89319"/>
                  <a:pt x="65012" y="87939"/>
                </a:cubicBezTo>
                <a:cubicBezTo>
                  <a:pt x="67293" y="86559"/>
                  <a:pt x="70152" y="86559"/>
                  <a:pt x="72433" y="87939"/>
                </a:cubicBezTo>
                <a:cubicBezTo>
                  <a:pt x="74714" y="89319"/>
                  <a:pt x="76041" y="91851"/>
                  <a:pt x="75878" y="94512"/>
                </a:cubicBezTo>
                <a:cubicBezTo>
                  <a:pt x="76041" y="97173"/>
                  <a:pt x="74714" y="99704"/>
                  <a:pt x="72433" y="101084"/>
                </a:cubicBezTo>
                <a:cubicBezTo>
                  <a:pt x="70152" y="102464"/>
                  <a:pt x="67293" y="102464"/>
                  <a:pt x="65012" y="101084"/>
                </a:cubicBezTo>
                <a:cubicBezTo>
                  <a:pt x="62731" y="99704"/>
                  <a:pt x="61404" y="97173"/>
                  <a:pt x="61567" y="9451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859197" y="4622478"/>
            <a:ext cx="70454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622" y="4897421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apto para tiempo real. Fraud detectado al día siguiente.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71833" y="5275467"/>
            <a:ext cx="1025666" cy="309311"/>
          </a:xfrm>
          <a:custGeom>
            <a:avLst/>
            <a:gdLst/>
            <a:ahLst/>
            <a:cxnLst/>
            <a:rect l="l" t="t" r="r" b="b"/>
            <a:pathLst>
              <a:path w="1025666" h="309311">
                <a:moveTo>
                  <a:pt x="68735" y="0"/>
                </a:moveTo>
                <a:lnTo>
                  <a:pt x="956931" y="0"/>
                </a:lnTo>
                <a:cubicBezTo>
                  <a:pt x="994892" y="0"/>
                  <a:pt x="1025666" y="30774"/>
                  <a:pt x="1025666" y="68735"/>
                </a:cubicBezTo>
                <a:lnTo>
                  <a:pt x="1025666" y="240576"/>
                </a:lnTo>
                <a:cubicBezTo>
                  <a:pt x="1025666" y="278537"/>
                  <a:pt x="994892" y="309311"/>
                  <a:pt x="956931" y="309311"/>
                </a:cubicBezTo>
                <a:lnTo>
                  <a:pt x="68735" y="309311"/>
                </a:lnTo>
                <a:cubicBezTo>
                  <a:pt x="30774" y="309311"/>
                  <a:pt x="0" y="278537"/>
                  <a:pt x="0" y="240576"/>
                </a:cubicBezTo>
                <a:lnTo>
                  <a:pt x="0" y="68735"/>
                </a:lnTo>
                <a:cubicBezTo>
                  <a:pt x="0" y="30799"/>
                  <a:pt x="30799" y="0"/>
                  <a:pt x="68735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33169" y="5275467"/>
            <a:ext cx="1102994" cy="309311"/>
          </a:xfrm>
          <a:prstGeom prst="rect">
            <a:avLst/>
          </a:prstGeom>
          <a:noFill/>
          <a:ln/>
        </p:spPr>
        <p:txBody>
          <a:bodyPr wrap="square" lIns="137471" tIns="68736" rIns="137471" bIns="68736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Horas/Días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3259" y="2199543"/>
            <a:ext cx="5679290" cy="3522706"/>
          </a:xfrm>
          <a:custGeom>
            <a:avLst/>
            <a:gdLst/>
            <a:ahLst/>
            <a:cxnLst/>
            <a:rect l="l" t="t" r="r" b="b"/>
            <a:pathLst>
              <a:path w="5679290" h="3522706">
                <a:moveTo>
                  <a:pt x="0" y="0"/>
                </a:moveTo>
                <a:lnTo>
                  <a:pt x="5679290" y="0"/>
                </a:lnTo>
                <a:lnTo>
                  <a:pt x="5679290" y="3453978"/>
                </a:lnTo>
                <a:cubicBezTo>
                  <a:pt x="5679290" y="3491936"/>
                  <a:pt x="5648519" y="3522706"/>
                  <a:pt x="5610562" y="3522706"/>
                </a:cubicBezTo>
                <a:lnTo>
                  <a:pt x="68728" y="3522706"/>
                </a:lnTo>
                <a:cubicBezTo>
                  <a:pt x="30771" y="3522706"/>
                  <a:pt x="0" y="3491936"/>
                  <a:pt x="0" y="3453978"/>
                </a:cubicBez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63259" y="2199543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0" y="0"/>
                </a:moveTo>
                <a:lnTo>
                  <a:pt x="5679290" y="0"/>
                </a:lnTo>
                <a:lnTo>
                  <a:pt x="5679290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5098" y="2388567"/>
            <a:ext cx="481150" cy="481150"/>
          </a:xfrm>
          <a:custGeom>
            <a:avLst/>
            <a:gdLst/>
            <a:ahLst/>
            <a:cxnLst/>
            <a:rect l="l" t="t" r="r" b="b"/>
            <a:pathLst>
              <a:path w="481150" h="481150">
                <a:moveTo>
                  <a:pt x="68737" y="0"/>
                </a:moveTo>
                <a:lnTo>
                  <a:pt x="412413" y="0"/>
                </a:lnTo>
                <a:cubicBezTo>
                  <a:pt x="450375" y="0"/>
                  <a:pt x="481150" y="30775"/>
                  <a:pt x="481150" y="68737"/>
                </a:cubicBezTo>
                <a:lnTo>
                  <a:pt x="481150" y="412413"/>
                </a:lnTo>
                <a:cubicBezTo>
                  <a:pt x="481150" y="450375"/>
                  <a:pt x="450375" y="481150"/>
                  <a:pt x="412413" y="481150"/>
                </a:cubicBezTo>
                <a:lnTo>
                  <a:pt x="68737" y="481150"/>
                </a:lnTo>
                <a:cubicBezTo>
                  <a:pt x="30775" y="481150"/>
                  <a:pt x="0" y="450375"/>
                  <a:pt x="0" y="412413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85458" y="2526038"/>
            <a:ext cx="180431" cy="206207"/>
          </a:xfrm>
          <a:custGeom>
            <a:avLst/>
            <a:gdLst/>
            <a:ahLst/>
            <a:cxnLst/>
            <a:rect l="l" t="t" r="r" b="b"/>
            <a:pathLst>
              <a:path w="180431" h="206207">
                <a:moveTo>
                  <a:pt x="136451" y="-3987"/>
                </a:moveTo>
                <a:cubicBezTo>
                  <a:pt x="141244" y="-524"/>
                  <a:pt x="143016" y="5759"/>
                  <a:pt x="140841" y="11237"/>
                </a:cubicBezTo>
                <a:lnTo>
                  <a:pt x="109266" y="90216"/>
                </a:lnTo>
                <a:lnTo>
                  <a:pt x="167543" y="90216"/>
                </a:lnTo>
                <a:cubicBezTo>
                  <a:pt x="172980" y="90216"/>
                  <a:pt x="177813" y="93599"/>
                  <a:pt x="179666" y="98714"/>
                </a:cubicBezTo>
                <a:cubicBezTo>
                  <a:pt x="181519" y="103829"/>
                  <a:pt x="179948" y="109548"/>
                  <a:pt x="175800" y="113011"/>
                </a:cubicBezTo>
                <a:lnTo>
                  <a:pt x="59808" y="209671"/>
                </a:lnTo>
                <a:cubicBezTo>
                  <a:pt x="55257" y="213457"/>
                  <a:pt x="48773" y="213658"/>
                  <a:pt x="43980" y="210194"/>
                </a:cubicBezTo>
                <a:cubicBezTo>
                  <a:pt x="39187" y="206731"/>
                  <a:pt x="37415" y="200448"/>
                  <a:pt x="39590" y="194971"/>
                </a:cubicBezTo>
                <a:lnTo>
                  <a:pt x="71166" y="115992"/>
                </a:lnTo>
                <a:lnTo>
                  <a:pt x="12888" y="115992"/>
                </a:lnTo>
                <a:cubicBezTo>
                  <a:pt x="7451" y="115992"/>
                  <a:pt x="2618" y="112608"/>
                  <a:pt x="765" y="107494"/>
                </a:cubicBezTo>
                <a:cubicBezTo>
                  <a:pt x="-1087" y="102379"/>
                  <a:pt x="483" y="96660"/>
                  <a:pt x="4632" y="93196"/>
                </a:cubicBezTo>
                <a:lnTo>
                  <a:pt x="120623" y="-3464"/>
                </a:lnTo>
                <a:cubicBezTo>
                  <a:pt x="125174" y="-7249"/>
                  <a:pt x="131658" y="-7451"/>
                  <a:pt x="136451" y="-398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919352" y="2491670"/>
            <a:ext cx="627214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5098" y="3007188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55386" y="3144660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184" y="17184"/>
                </a:moveTo>
                <a:cubicBezTo>
                  <a:pt x="7706" y="17184"/>
                  <a:pt x="0" y="24890"/>
                  <a:pt x="0" y="34368"/>
                </a:cubicBezTo>
                <a:lnTo>
                  <a:pt x="0" y="36355"/>
                </a:lnTo>
                <a:cubicBezTo>
                  <a:pt x="0" y="38181"/>
                  <a:pt x="1181" y="39738"/>
                  <a:pt x="2712" y="40731"/>
                </a:cubicBezTo>
                <a:cubicBezTo>
                  <a:pt x="6256" y="43040"/>
                  <a:pt x="8592" y="47014"/>
                  <a:pt x="8592" y="51552"/>
                </a:cubicBezTo>
                <a:cubicBezTo>
                  <a:pt x="8592" y="56089"/>
                  <a:pt x="6256" y="60063"/>
                  <a:pt x="2712" y="62372"/>
                </a:cubicBezTo>
                <a:cubicBezTo>
                  <a:pt x="1181" y="63366"/>
                  <a:pt x="0" y="64923"/>
                  <a:pt x="0" y="66749"/>
                </a:cubicBezTo>
                <a:lnTo>
                  <a:pt x="0" y="81624"/>
                </a:lnTo>
                <a:lnTo>
                  <a:pt x="137471" y="81624"/>
                </a:lnTo>
                <a:lnTo>
                  <a:pt x="137471" y="66749"/>
                </a:lnTo>
                <a:cubicBezTo>
                  <a:pt x="137471" y="64923"/>
                  <a:pt x="136290" y="63366"/>
                  <a:pt x="134760" y="62372"/>
                </a:cubicBezTo>
                <a:cubicBezTo>
                  <a:pt x="131215" y="60063"/>
                  <a:pt x="128879" y="56089"/>
                  <a:pt x="128879" y="51552"/>
                </a:cubicBezTo>
                <a:cubicBezTo>
                  <a:pt x="128879" y="47014"/>
                  <a:pt x="131215" y="43040"/>
                  <a:pt x="134760" y="40731"/>
                </a:cubicBezTo>
                <a:cubicBezTo>
                  <a:pt x="136290" y="39738"/>
                  <a:pt x="137471" y="38181"/>
                  <a:pt x="137471" y="36355"/>
                </a:cubicBezTo>
                <a:lnTo>
                  <a:pt x="137471" y="34368"/>
                </a:lnTo>
                <a:cubicBezTo>
                  <a:pt x="137471" y="24890"/>
                  <a:pt x="129766" y="17184"/>
                  <a:pt x="120288" y="17184"/>
                </a:cubicBezTo>
                <a:lnTo>
                  <a:pt x="17184" y="17184"/>
                </a:lnTo>
                <a:close/>
                <a:moveTo>
                  <a:pt x="137471" y="111696"/>
                </a:moveTo>
                <a:lnTo>
                  <a:pt x="137471" y="94512"/>
                </a:lnTo>
                <a:lnTo>
                  <a:pt x="0" y="94512"/>
                </a:lnTo>
                <a:lnTo>
                  <a:pt x="0" y="111696"/>
                </a:lnTo>
                <a:cubicBezTo>
                  <a:pt x="0" y="116448"/>
                  <a:pt x="3840" y="120288"/>
                  <a:pt x="8592" y="120288"/>
                </a:cubicBezTo>
                <a:lnTo>
                  <a:pt x="25776" y="120288"/>
                </a:lnTo>
                <a:lnTo>
                  <a:pt x="25776" y="113844"/>
                </a:lnTo>
                <a:cubicBezTo>
                  <a:pt x="25776" y="110273"/>
                  <a:pt x="28649" y="107400"/>
                  <a:pt x="32220" y="107400"/>
                </a:cubicBezTo>
                <a:cubicBezTo>
                  <a:pt x="35791" y="107400"/>
                  <a:pt x="38664" y="110273"/>
                  <a:pt x="38664" y="113844"/>
                </a:cubicBezTo>
                <a:lnTo>
                  <a:pt x="38664" y="120288"/>
                </a:lnTo>
                <a:lnTo>
                  <a:pt x="62292" y="120288"/>
                </a:lnTo>
                <a:lnTo>
                  <a:pt x="62292" y="113844"/>
                </a:lnTo>
                <a:cubicBezTo>
                  <a:pt x="62292" y="110273"/>
                  <a:pt x="65165" y="107400"/>
                  <a:pt x="68736" y="107400"/>
                </a:cubicBezTo>
                <a:cubicBezTo>
                  <a:pt x="72307" y="107400"/>
                  <a:pt x="75180" y="110273"/>
                  <a:pt x="75180" y="113844"/>
                </a:cubicBezTo>
                <a:lnTo>
                  <a:pt x="75180" y="120288"/>
                </a:lnTo>
                <a:lnTo>
                  <a:pt x="98808" y="120288"/>
                </a:lnTo>
                <a:lnTo>
                  <a:pt x="98808" y="113844"/>
                </a:lnTo>
                <a:cubicBezTo>
                  <a:pt x="98808" y="110273"/>
                  <a:pt x="101681" y="107400"/>
                  <a:pt x="105252" y="107400"/>
                </a:cubicBezTo>
                <a:cubicBezTo>
                  <a:pt x="108823" y="107400"/>
                  <a:pt x="111696" y="110273"/>
                  <a:pt x="111696" y="113844"/>
                </a:cubicBezTo>
                <a:lnTo>
                  <a:pt x="111696" y="120288"/>
                </a:lnTo>
                <a:lnTo>
                  <a:pt x="128879" y="120288"/>
                </a:lnTo>
                <a:cubicBezTo>
                  <a:pt x="133632" y="120288"/>
                  <a:pt x="137471" y="116448"/>
                  <a:pt x="137471" y="111696"/>
                </a:cubicBezTo>
                <a:close/>
                <a:moveTo>
                  <a:pt x="42960" y="42960"/>
                </a:moveTo>
                <a:lnTo>
                  <a:pt x="42960" y="60144"/>
                </a:lnTo>
                <a:cubicBezTo>
                  <a:pt x="42960" y="64896"/>
                  <a:pt x="39120" y="68736"/>
                  <a:pt x="34368" y="68736"/>
                </a:cubicBezTo>
                <a:cubicBezTo>
                  <a:pt x="29615" y="68736"/>
                  <a:pt x="25776" y="64896"/>
                  <a:pt x="25776" y="60144"/>
                </a:cubicBezTo>
                <a:lnTo>
                  <a:pt x="25776" y="42960"/>
                </a:lnTo>
                <a:cubicBezTo>
                  <a:pt x="25776" y="38207"/>
                  <a:pt x="29615" y="34368"/>
                  <a:pt x="34368" y="34368"/>
                </a:cubicBezTo>
                <a:cubicBezTo>
                  <a:pt x="39120" y="34368"/>
                  <a:pt x="42960" y="38207"/>
                  <a:pt x="42960" y="42960"/>
                </a:cubicBezTo>
                <a:close/>
                <a:moveTo>
                  <a:pt x="77328" y="42960"/>
                </a:moveTo>
                <a:lnTo>
                  <a:pt x="77328" y="60144"/>
                </a:lnTo>
                <a:cubicBezTo>
                  <a:pt x="77328" y="64896"/>
                  <a:pt x="73488" y="68736"/>
                  <a:pt x="68736" y="68736"/>
                </a:cubicBezTo>
                <a:cubicBezTo>
                  <a:pt x="63983" y="68736"/>
                  <a:pt x="60144" y="64896"/>
                  <a:pt x="60144" y="60144"/>
                </a:cubicBezTo>
                <a:lnTo>
                  <a:pt x="60144" y="42960"/>
                </a:lnTo>
                <a:cubicBezTo>
                  <a:pt x="60144" y="38207"/>
                  <a:pt x="63983" y="34368"/>
                  <a:pt x="68736" y="34368"/>
                </a:cubicBezTo>
                <a:cubicBezTo>
                  <a:pt x="73488" y="34368"/>
                  <a:pt x="77328" y="38207"/>
                  <a:pt x="77328" y="42960"/>
                </a:cubicBezTo>
                <a:close/>
                <a:moveTo>
                  <a:pt x="111696" y="42960"/>
                </a:moveTo>
                <a:lnTo>
                  <a:pt x="111696" y="60144"/>
                </a:lnTo>
                <a:cubicBezTo>
                  <a:pt x="111696" y="64896"/>
                  <a:pt x="107856" y="68736"/>
                  <a:pt x="103104" y="68736"/>
                </a:cubicBezTo>
                <a:cubicBezTo>
                  <a:pt x="98351" y="68736"/>
                  <a:pt x="94512" y="64896"/>
                  <a:pt x="94512" y="60144"/>
                </a:cubicBezTo>
                <a:lnTo>
                  <a:pt x="94512" y="42960"/>
                </a:lnTo>
                <a:cubicBezTo>
                  <a:pt x="94512" y="38207"/>
                  <a:pt x="98351" y="34368"/>
                  <a:pt x="103104" y="34368"/>
                </a:cubicBezTo>
                <a:cubicBezTo>
                  <a:pt x="107856" y="34368"/>
                  <a:pt x="111696" y="38207"/>
                  <a:pt x="111696" y="4296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678777" y="3110292"/>
            <a:ext cx="172698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en Memoria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8202" y="3385235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Lees los datos en RAM, limpias (eliminas duplicados, normalizas) → </a:t>
            </a:r>
            <a:pPr>
              <a:lnSpc>
                <a:spcPct val="120000"/>
              </a:lnSpc>
            </a:pPr>
            <a:r>
              <a:rPr lang="en-US" sz="94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rápido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5098" y="3763281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5386" y="390075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06997" y="3276"/>
                </a:moveTo>
                <a:lnTo>
                  <a:pt x="83315" y="26957"/>
                </a:lnTo>
                <a:lnTo>
                  <a:pt x="110514" y="54156"/>
                </a:lnTo>
                <a:lnTo>
                  <a:pt x="134196" y="30475"/>
                </a:lnTo>
                <a:cubicBezTo>
                  <a:pt x="136290" y="28353"/>
                  <a:pt x="137471" y="25507"/>
                  <a:pt x="137471" y="22554"/>
                </a:cubicBezTo>
                <a:cubicBezTo>
                  <a:pt x="137471" y="19600"/>
                  <a:pt x="136290" y="16754"/>
                  <a:pt x="134196" y="14633"/>
                </a:cubicBezTo>
                <a:lnTo>
                  <a:pt x="122838" y="3276"/>
                </a:lnTo>
                <a:cubicBezTo>
                  <a:pt x="120717" y="1181"/>
                  <a:pt x="117871" y="0"/>
                  <a:pt x="114918" y="0"/>
                </a:cubicBezTo>
                <a:cubicBezTo>
                  <a:pt x="111964" y="0"/>
                  <a:pt x="109118" y="1181"/>
                  <a:pt x="106997" y="3276"/>
                </a:cubicBezTo>
                <a:close/>
                <a:moveTo>
                  <a:pt x="74213" y="36059"/>
                </a:moveTo>
                <a:lnTo>
                  <a:pt x="3276" y="106997"/>
                </a:lnTo>
                <a:cubicBezTo>
                  <a:pt x="1181" y="109118"/>
                  <a:pt x="0" y="111964"/>
                  <a:pt x="0" y="114918"/>
                </a:cubicBezTo>
                <a:cubicBezTo>
                  <a:pt x="0" y="117871"/>
                  <a:pt x="1181" y="120717"/>
                  <a:pt x="3276" y="122838"/>
                </a:cubicBezTo>
                <a:lnTo>
                  <a:pt x="14633" y="134196"/>
                </a:lnTo>
                <a:cubicBezTo>
                  <a:pt x="16754" y="136290"/>
                  <a:pt x="19600" y="137471"/>
                  <a:pt x="22554" y="137471"/>
                </a:cubicBezTo>
                <a:cubicBezTo>
                  <a:pt x="25507" y="137471"/>
                  <a:pt x="28353" y="136290"/>
                  <a:pt x="30475" y="134196"/>
                </a:cubicBezTo>
                <a:lnTo>
                  <a:pt x="101412" y="63258"/>
                </a:lnTo>
                <a:lnTo>
                  <a:pt x="74213" y="3605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6678777" y="3866385"/>
            <a:ext cx="128879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8202" y="4141328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Creas variables nuevas como "promedio de gasto semanal" en tiempo real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5098" y="4519374"/>
            <a:ext cx="5335611" cy="652989"/>
          </a:xfrm>
          <a:custGeom>
            <a:avLst/>
            <a:gdLst/>
            <a:ahLst/>
            <a:cxnLst/>
            <a:rect l="l" t="t" r="r" b="b"/>
            <a:pathLst>
              <a:path w="5335611" h="652989">
                <a:moveTo>
                  <a:pt x="68734" y="0"/>
                </a:moveTo>
                <a:lnTo>
                  <a:pt x="5266877" y="0"/>
                </a:lnTo>
                <a:cubicBezTo>
                  <a:pt x="5304838" y="0"/>
                  <a:pt x="5335611" y="30773"/>
                  <a:pt x="5335611" y="68734"/>
                </a:cubicBezTo>
                <a:lnTo>
                  <a:pt x="5335611" y="584256"/>
                </a:lnTo>
                <a:cubicBezTo>
                  <a:pt x="5335611" y="622216"/>
                  <a:pt x="5304838" y="652989"/>
                  <a:pt x="5266877" y="652989"/>
                </a:cubicBezTo>
                <a:lnTo>
                  <a:pt x="68734" y="652989"/>
                </a:lnTo>
                <a:cubicBezTo>
                  <a:pt x="30773" y="652989"/>
                  <a:pt x="0" y="622216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38202" y="4656846"/>
            <a:ext cx="171839" cy="137471"/>
          </a:xfrm>
          <a:custGeom>
            <a:avLst/>
            <a:gdLst/>
            <a:ahLst/>
            <a:cxnLst/>
            <a:rect l="l" t="t" r="r" b="b"/>
            <a:pathLst>
              <a:path w="171839" h="137471">
                <a:moveTo>
                  <a:pt x="94512" y="0"/>
                </a:moveTo>
                <a:cubicBezTo>
                  <a:pt x="94512" y="-4752"/>
                  <a:pt x="90672" y="-8592"/>
                  <a:pt x="85920" y="-8592"/>
                </a:cubicBezTo>
                <a:cubicBezTo>
                  <a:pt x="81167" y="-8592"/>
                  <a:pt x="77328" y="-4752"/>
                  <a:pt x="77328" y="0"/>
                </a:cubicBezTo>
                <a:lnTo>
                  <a:pt x="77328" y="17184"/>
                </a:lnTo>
                <a:lnTo>
                  <a:pt x="51552" y="17184"/>
                </a:lnTo>
                <a:cubicBezTo>
                  <a:pt x="37321" y="17184"/>
                  <a:pt x="25776" y="28729"/>
                  <a:pt x="25776" y="42960"/>
                </a:cubicBezTo>
                <a:lnTo>
                  <a:pt x="25776" y="103104"/>
                </a:lnTo>
                <a:cubicBezTo>
                  <a:pt x="25776" y="117334"/>
                  <a:pt x="37321" y="128879"/>
                  <a:pt x="51552" y="128879"/>
                </a:cubicBezTo>
                <a:lnTo>
                  <a:pt x="120288" y="128879"/>
                </a:lnTo>
                <a:cubicBezTo>
                  <a:pt x="134518" y="128879"/>
                  <a:pt x="146063" y="117334"/>
                  <a:pt x="146063" y="103104"/>
                </a:cubicBezTo>
                <a:lnTo>
                  <a:pt x="146063" y="42960"/>
                </a:lnTo>
                <a:cubicBezTo>
                  <a:pt x="146063" y="28729"/>
                  <a:pt x="134518" y="17184"/>
                  <a:pt x="120288" y="17184"/>
                </a:cubicBezTo>
                <a:lnTo>
                  <a:pt x="94512" y="17184"/>
                </a:lnTo>
                <a:lnTo>
                  <a:pt x="94512" y="0"/>
                </a:lnTo>
                <a:close/>
                <a:moveTo>
                  <a:pt x="42960" y="98808"/>
                </a:moveTo>
                <a:cubicBezTo>
                  <a:pt x="42960" y="95237"/>
                  <a:pt x="45833" y="92364"/>
                  <a:pt x="49404" y="92364"/>
                </a:cubicBezTo>
                <a:lnTo>
                  <a:pt x="57996" y="92364"/>
                </a:lnTo>
                <a:cubicBezTo>
                  <a:pt x="61567" y="92364"/>
                  <a:pt x="64440" y="95237"/>
                  <a:pt x="64440" y="98808"/>
                </a:cubicBezTo>
                <a:cubicBezTo>
                  <a:pt x="64440" y="102379"/>
                  <a:pt x="61567" y="105252"/>
                  <a:pt x="57996" y="105252"/>
                </a:cubicBezTo>
                <a:lnTo>
                  <a:pt x="49404" y="105252"/>
                </a:lnTo>
                <a:cubicBezTo>
                  <a:pt x="45833" y="105252"/>
                  <a:pt x="42960" y="102379"/>
                  <a:pt x="42960" y="98808"/>
                </a:cubicBezTo>
                <a:close/>
                <a:moveTo>
                  <a:pt x="75180" y="98808"/>
                </a:moveTo>
                <a:cubicBezTo>
                  <a:pt x="75180" y="95237"/>
                  <a:pt x="78053" y="92364"/>
                  <a:pt x="81624" y="92364"/>
                </a:cubicBezTo>
                <a:lnTo>
                  <a:pt x="90216" y="92364"/>
                </a:lnTo>
                <a:cubicBezTo>
                  <a:pt x="93787" y="92364"/>
                  <a:pt x="96660" y="95237"/>
                  <a:pt x="96660" y="98808"/>
                </a:cubicBezTo>
                <a:cubicBezTo>
                  <a:pt x="96660" y="102379"/>
                  <a:pt x="93787" y="105252"/>
                  <a:pt x="90216" y="105252"/>
                </a:cubicBezTo>
                <a:lnTo>
                  <a:pt x="81624" y="105252"/>
                </a:lnTo>
                <a:cubicBezTo>
                  <a:pt x="78053" y="105252"/>
                  <a:pt x="75180" y="102379"/>
                  <a:pt x="75180" y="98808"/>
                </a:cubicBezTo>
                <a:close/>
                <a:moveTo>
                  <a:pt x="107400" y="98808"/>
                </a:moveTo>
                <a:cubicBezTo>
                  <a:pt x="107400" y="95237"/>
                  <a:pt x="110273" y="92364"/>
                  <a:pt x="113844" y="92364"/>
                </a:cubicBezTo>
                <a:lnTo>
                  <a:pt x="122436" y="92364"/>
                </a:lnTo>
                <a:cubicBezTo>
                  <a:pt x="126007" y="92364"/>
                  <a:pt x="128879" y="95237"/>
                  <a:pt x="128879" y="98808"/>
                </a:cubicBezTo>
                <a:cubicBezTo>
                  <a:pt x="128879" y="102379"/>
                  <a:pt x="126007" y="105252"/>
                  <a:pt x="122436" y="105252"/>
                </a:cubicBezTo>
                <a:lnTo>
                  <a:pt x="113844" y="105252"/>
                </a:lnTo>
                <a:cubicBezTo>
                  <a:pt x="110273" y="105252"/>
                  <a:pt x="107400" y="102379"/>
                  <a:pt x="107400" y="98808"/>
                </a:cubicBezTo>
                <a:close/>
                <a:moveTo>
                  <a:pt x="60144" y="47256"/>
                </a:moveTo>
                <a:cubicBezTo>
                  <a:pt x="67257" y="47256"/>
                  <a:pt x="73032" y="53031"/>
                  <a:pt x="73032" y="60144"/>
                </a:cubicBezTo>
                <a:cubicBezTo>
                  <a:pt x="73032" y="67257"/>
                  <a:pt x="67257" y="73032"/>
                  <a:pt x="60144" y="73032"/>
                </a:cubicBezTo>
                <a:cubicBezTo>
                  <a:pt x="53031" y="73032"/>
                  <a:pt x="47256" y="67257"/>
                  <a:pt x="47256" y="60144"/>
                </a:cubicBezTo>
                <a:cubicBezTo>
                  <a:pt x="47256" y="53031"/>
                  <a:pt x="53031" y="47256"/>
                  <a:pt x="60144" y="47256"/>
                </a:cubicBezTo>
                <a:close/>
                <a:moveTo>
                  <a:pt x="98808" y="60144"/>
                </a:moveTo>
                <a:cubicBezTo>
                  <a:pt x="98808" y="53031"/>
                  <a:pt x="104583" y="47256"/>
                  <a:pt x="111696" y="47256"/>
                </a:cubicBezTo>
                <a:cubicBezTo>
                  <a:pt x="118809" y="47256"/>
                  <a:pt x="124584" y="53031"/>
                  <a:pt x="124584" y="60144"/>
                </a:cubicBezTo>
                <a:cubicBezTo>
                  <a:pt x="124584" y="67257"/>
                  <a:pt x="118809" y="73032"/>
                  <a:pt x="111696" y="73032"/>
                </a:cubicBezTo>
                <a:cubicBezTo>
                  <a:pt x="104583" y="73032"/>
                  <a:pt x="98808" y="67257"/>
                  <a:pt x="98808" y="60144"/>
                </a:cubicBezTo>
                <a:close/>
                <a:moveTo>
                  <a:pt x="17184" y="60144"/>
                </a:moveTo>
                <a:cubicBezTo>
                  <a:pt x="17184" y="55391"/>
                  <a:pt x="13344" y="51552"/>
                  <a:pt x="8592" y="51552"/>
                </a:cubicBezTo>
                <a:cubicBezTo>
                  <a:pt x="3840" y="51552"/>
                  <a:pt x="0" y="55391"/>
                  <a:pt x="0" y="60144"/>
                </a:cubicBezTo>
                <a:lnTo>
                  <a:pt x="0" y="85920"/>
                </a:lnTo>
                <a:cubicBezTo>
                  <a:pt x="0" y="90672"/>
                  <a:pt x="3840" y="94512"/>
                  <a:pt x="8592" y="94512"/>
                </a:cubicBezTo>
                <a:cubicBezTo>
                  <a:pt x="13344" y="94512"/>
                  <a:pt x="17184" y="90672"/>
                  <a:pt x="17184" y="85920"/>
                </a:cubicBezTo>
                <a:lnTo>
                  <a:pt x="17184" y="60144"/>
                </a:lnTo>
                <a:close/>
                <a:moveTo>
                  <a:pt x="163247" y="51552"/>
                </a:moveTo>
                <a:cubicBezTo>
                  <a:pt x="158495" y="51552"/>
                  <a:pt x="154655" y="55391"/>
                  <a:pt x="154655" y="60144"/>
                </a:cubicBezTo>
                <a:lnTo>
                  <a:pt x="154655" y="85920"/>
                </a:lnTo>
                <a:cubicBezTo>
                  <a:pt x="154655" y="90672"/>
                  <a:pt x="158495" y="94512"/>
                  <a:pt x="163247" y="94512"/>
                </a:cubicBezTo>
                <a:cubicBezTo>
                  <a:pt x="168000" y="94512"/>
                  <a:pt x="171839" y="90672"/>
                  <a:pt x="171839" y="85920"/>
                </a:cubicBezTo>
                <a:lnTo>
                  <a:pt x="171839" y="60144"/>
                </a:lnTo>
                <a:cubicBezTo>
                  <a:pt x="171839" y="55391"/>
                  <a:pt x="168000" y="51552"/>
                  <a:pt x="163247" y="5155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678777" y="4622478"/>
            <a:ext cx="158092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Entrenamiento con MLlib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8202" y="4897421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Entrenas modelo en </a:t>
            </a:r>
            <a:pPr>
              <a:lnSpc>
                <a:spcPct val="120000"/>
              </a:lnSpc>
            </a:pPr>
            <a:r>
              <a:rPr lang="en-US" sz="94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minutos u horas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lugar de días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7367" y="5275467"/>
            <a:ext cx="1273759" cy="309311"/>
          </a:xfrm>
          <a:custGeom>
            <a:avLst/>
            <a:gdLst/>
            <a:ahLst/>
            <a:cxnLst/>
            <a:rect l="l" t="t" r="r" b="b"/>
            <a:pathLst>
              <a:path w="1273759" h="309311">
                <a:moveTo>
                  <a:pt x="68735" y="0"/>
                </a:moveTo>
                <a:lnTo>
                  <a:pt x="1205024" y="0"/>
                </a:lnTo>
                <a:cubicBezTo>
                  <a:pt x="1242985" y="0"/>
                  <a:pt x="1273759" y="30774"/>
                  <a:pt x="1273759" y="68735"/>
                </a:cubicBezTo>
                <a:lnTo>
                  <a:pt x="1273759" y="240576"/>
                </a:lnTo>
                <a:cubicBezTo>
                  <a:pt x="1273759" y="278537"/>
                  <a:pt x="1242985" y="309311"/>
                  <a:pt x="1205024" y="309311"/>
                </a:cubicBezTo>
                <a:lnTo>
                  <a:pt x="68735" y="309311"/>
                </a:lnTo>
                <a:cubicBezTo>
                  <a:pt x="30774" y="309311"/>
                  <a:pt x="0" y="278537"/>
                  <a:pt x="0" y="240576"/>
                </a:cubicBezTo>
                <a:lnTo>
                  <a:pt x="0" y="68735"/>
                </a:lnTo>
                <a:cubicBezTo>
                  <a:pt x="0" y="30799"/>
                  <a:pt x="30799" y="0"/>
                  <a:pt x="6873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28703" y="5275467"/>
            <a:ext cx="1351087" cy="309311"/>
          </a:xfrm>
          <a:prstGeom prst="rect">
            <a:avLst/>
          </a:prstGeom>
          <a:noFill/>
          <a:ln/>
        </p:spPr>
        <p:txBody>
          <a:bodyPr wrap="square" lIns="137471" tIns="68736" rIns="137471" bIns="68736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Minutos/Horas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47975" y="5864017"/>
            <a:ext cx="5670698" cy="764685"/>
          </a:xfrm>
          <a:custGeom>
            <a:avLst/>
            <a:gdLst/>
            <a:ahLst/>
            <a:cxnLst/>
            <a:rect l="l" t="t" r="r" b="b"/>
            <a:pathLst>
              <a:path w="5670698" h="764685">
                <a:moveTo>
                  <a:pt x="68738" y="0"/>
                </a:moveTo>
                <a:lnTo>
                  <a:pt x="5601960" y="0"/>
                </a:lnTo>
                <a:cubicBezTo>
                  <a:pt x="5639923" y="0"/>
                  <a:pt x="5670698" y="30775"/>
                  <a:pt x="5670698" y="68738"/>
                </a:cubicBezTo>
                <a:lnTo>
                  <a:pt x="5670698" y="695947"/>
                </a:lnTo>
                <a:cubicBezTo>
                  <a:pt x="5670698" y="733910"/>
                  <a:pt x="5639923" y="764685"/>
                  <a:pt x="5601960" y="764685"/>
                </a:cubicBezTo>
                <a:lnTo>
                  <a:pt x="68738" y="764685"/>
                </a:lnTo>
                <a:cubicBezTo>
                  <a:pt x="30775" y="764685"/>
                  <a:pt x="0" y="733910"/>
                  <a:pt x="0" y="695947"/>
                </a:cubicBezTo>
                <a:lnTo>
                  <a:pt x="0" y="68738"/>
                </a:lnTo>
                <a:cubicBezTo>
                  <a:pt x="0" y="30800"/>
                  <a:pt x="30800" y="0"/>
                  <a:pt x="6873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2702" y="6040152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21480" y="0"/>
                </a:moveTo>
                <a:cubicBezTo>
                  <a:pt x="9632" y="0"/>
                  <a:pt x="0" y="9632"/>
                  <a:pt x="0" y="21480"/>
                </a:cubicBezTo>
                <a:lnTo>
                  <a:pt x="0" y="150359"/>
                </a:lnTo>
                <a:cubicBezTo>
                  <a:pt x="0" y="162207"/>
                  <a:pt x="9632" y="171839"/>
                  <a:pt x="21480" y="171839"/>
                </a:cubicBezTo>
                <a:lnTo>
                  <a:pt x="107400" y="171839"/>
                </a:lnTo>
                <a:cubicBezTo>
                  <a:pt x="119247" y="171839"/>
                  <a:pt x="128879" y="162207"/>
                  <a:pt x="128879" y="150359"/>
                </a:cubicBezTo>
                <a:lnTo>
                  <a:pt x="128879" y="21480"/>
                </a:lnTo>
                <a:cubicBezTo>
                  <a:pt x="128879" y="9632"/>
                  <a:pt x="119247" y="0"/>
                  <a:pt x="107400" y="0"/>
                </a:cubicBezTo>
                <a:lnTo>
                  <a:pt x="21480" y="0"/>
                </a:lnTo>
                <a:close/>
                <a:moveTo>
                  <a:pt x="59070" y="118140"/>
                </a:moveTo>
                <a:lnTo>
                  <a:pt x="69810" y="118140"/>
                </a:lnTo>
                <a:cubicBezTo>
                  <a:pt x="75750" y="118140"/>
                  <a:pt x="80550" y="122939"/>
                  <a:pt x="80550" y="128879"/>
                </a:cubicBezTo>
                <a:lnTo>
                  <a:pt x="80550" y="155729"/>
                </a:lnTo>
                <a:lnTo>
                  <a:pt x="48330" y="155729"/>
                </a:lnTo>
                <a:lnTo>
                  <a:pt x="48330" y="128879"/>
                </a:lnTo>
                <a:cubicBezTo>
                  <a:pt x="48330" y="122939"/>
                  <a:pt x="53129" y="118140"/>
                  <a:pt x="59070" y="118140"/>
                </a:cubicBezTo>
                <a:close/>
                <a:moveTo>
                  <a:pt x="32220" y="37590"/>
                </a:moveTo>
                <a:cubicBezTo>
                  <a:pt x="32220" y="34636"/>
                  <a:pt x="34636" y="32220"/>
                  <a:pt x="37590" y="32220"/>
                </a:cubicBezTo>
                <a:lnTo>
                  <a:pt x="48330" y="32220"/>
                </a:lnTo>
                <a:cubicBezTo>
                  <a:pt x="51283" y="32220"/>
                  <a:pt x="53700" y="34636"/>
                  <a:pt x="53700" y="37590"/>
                </a:cubicBezTo>
                <a:lnTo>
                  <a:pt x="53700" y="48330"/>
                </a:lnTo>
                <a:cubicBezTo>
                  <a:pt x="53700" y="51283"/>
                  <a:pt x="51283" y="53700"/>
                  <a:pt x="48330" y="53700"/>
                </a:cubicBezTo>
                <a:lnTo>
                  <a:pt x="37590" y="53700"/>
                </a:lnTo>
                <a:cubicBezTo>
                  <a:pt x="34636" y="53700"/>
                  <a:pt x="32220" y="51283"/>
                  <a:pt x="32220" y="48330"/>
                </a:cubicBezTo>
                <a:lnTo>
                  <a:pt x="32220" y="37590"/>
                </a:lnTo>
                <a:close/>
                <a:moveTo>
                  <a:pt x="80550" y="32220"/>
                </a:moveTo>
                <a:lnTo>
                  <a:pt x="91290" y="32220"/>
                </a:lnTo>
                <a:cubicBezTo>
                  <a:pt x="94243" y="32220"/>
                  <a:pt x="96660" y="34636"/>
                  <a:pt x="96660" y="37590"/>
                </a:cubicBezTo>
                <a:lnTo>
                  <a:pt x="96660" y="48330"/>
                </a:lnTo>
                <a:cubicBezTo>
                  <a:pt x="96660" y="51283"/>
                  <a:pt x="94243" y="53700"/>
                  <a:pt x="91290" y="53700"/>
                </a:cubicBezTo>
                <a:lnTo>
                  <a:pt x="80550" y="53700"/>
                </a:lnTo>
                <a:cubicBezTo>
                  <a:pt x="77596" y="53700"/>
                  <a:pt x="75180" y="51283"/>
                  <a:pt x="75180" y="48330"/>
                </a:cubicBezTo>
                <a:lnTo>
                  <a:pt x="75180" y="37590"/>
                </a:lnTo>
                <a:cubicBezTo>
                  <a:pt x="75180" y="34636"/>
                  <a:pt x="77596" y="32220"/>
                  <a:pt x="80550" y="32220"/>
                </a:cubicBezTo>
                <a:close/>
                <a:moveTo>
                  <a:pt x="32220" y="80550"/>
                </a:moveTo>
                <a:cubicBezTo>
                  <a:pt x="32220" y="77596"/>
                  <a:pt x="34636" y="75180"/>
                  <a:pt x="37590" y="75180"/>
                </a:cubicBezTo>
                <a:lnTo>
                  <a:pt x="48330" y="75180"/>
                </a:lnTo>
                <a:cubicBezTo>
                  <a:pt x="51283" y="75180"/>
                  <a:pt x="53700" y="77596"/>
                  <a:pt x="53700" y="80550"/>
                </a:cubicBezTo>
                <a:lnTo>
                  <a:pt x="53700" y="91290"/>
                </a:lnTo>
                <a:cubicBezTo>
                  <a:pt x="53700" y="94243"/>
                  <a:pt x="51283" y="96660"/>
                  <a:pt x="48330" y="96660"/>
                </a:cubicBezTo>
                <a:lnTo>
                  <a:pt x="37590" y="96660"/>
                </a:lnTo>
                <a:cubicBezTo>
                  <a:pt x="34636" y="96660"/>
                  <a:pt x="32220" y="94243"/>
                  <a:pt x="32220" y="91290"/>
                </a:cubicBezTo>
                <a:lnTo>
                  <a:pt x="32220" y="80550"/>
                </a:lnTo>
                <a:close/>
                <a:moveTo>
                  <a:pt x="80550" y="75180"/>
                </a:moveTo>
                <a:lnTo>
                  <a:pt x="91290" y="75180"/>
                </a:lnTo>
                <a:cubicBezTo>
                  <a:pt x="94243" y="75180"/>
                  <a:pt x="96660" y="77596"/>
                  <a:pt x="96660" y="80550"/>
                </a:cubicBezTo>
                <a:lnTo>
                  <a:pt x="96660" y="91290"/>
                </a:lnTo>
                <a:cubicBezTo>
                  <a:pt x="96660" y="94243"/>
                  <a:pt x="94243" y="96660"/>
                  <a:pt x="91290" y="96660"/>
                </a:cubicBezTo>
                <a:lnTo>
                  <a:pt x="80550" y="96660"/>
                </a:lnTo>
                <a:cubicBezTo>
                  <a:pt x="77596" y="96660"/>
                  <a:pt x="75180" y="94243"/>
                  <a:pt x="75180" y="91290"/>
                </a:cubicBezTo>
                <a:lnTo>
                  <a:pt x="75180" y="80550"/>
                </a:lnTo>
                <a:cubicBezTo>
                  <a:pt x="75180" y="77596"/>
                  <a:pt x="77596" y="75180"/>
                  <a:pt x="80550" y="7518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0" name="Text 48"/>
          <p:cNvSpPr/>
          <p:nvPr/>
        </p:nvSpPr>
        <p:spPr>
          <a:xfrm>
            <a:off x="807645" y="6005784"/>
            <a:ext cx="592846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Alibaba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89742" y="6315095"/>
            <a:ext cx="544730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Spark para analizar </a:t>
            </a:r>
            <a:pPr>
              <a:lnSpc>
                <a:spcPct val="120000"/>
              </a:lnSpc>
            </a:pPr>
            <a:r>
              <a:rPr lang="en-US" sz="94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petabytes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mejorar recomendaciones en tiempo real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7555" y="5864017"/>
            <a:ext cx="5670698" cy="764685"/>
          </a:xfrm>
          <a:custGeom>
            <a:avLst/>
            <a:gdLst/>
            <a:ahLst/>
            <a:cxnLst/>
            <a:rect l="l" t="t" r="r" b="b"/>
            <a:pathLst>
              <a:path w="5670698" h="764685">
                <a:moveTo>
                  <a:pt x="68738" y="0"/>
                </a:moveTo>
                <a:lnTo>
                  <a:pt x="5601960" y="0"/>
                </a:lnTo>
                <a:cubicBezTo>
                  <a:pt x="5639923" y="0"/>
                  <a:pt x="5670698" y="30775"/>
                  <a:pt x="5670698" y="68738"/>
                </a:cubicBezTo>
                <a:lnTo>
                  <a:pt x="5670698" y="695947"/>
                </a:lnTo>
                <a:cubicBezTo>
                  <a:pt x="5670698" y="733910"/>
                  <a:pt x="5639923" y="764685"/>
                  <a:pt x="5601960" y="764685"/>
                </a:cubicBezTo>
                <a:lnTo>
                  <a:pt x="68738" y="764685"/>
                </a:lnTo>
                <a:cubicBezTo>
                  <a:pt x="30775" y="764685"/>
                  <a:pt x="0" y="733910"/>
                  <a:pt x="0" y="695947"/>
                </a:cubicBezTo>
                <a:lnTo>
                  <a:pt x="0" y="68738"/>
                </a:lnTo>
                <a:cubicBezTo>
                  <a:pt x="0" y="30800"/>
                  <a:pt x="30800" y="0"/>
                  <a:pt x="6873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0802" y="6040152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66789" y="2349"/>
                </a:moveTo>
                <a:cubicBezTo>
                  <a:pt x="69944" y="-805"/>
                  <a:pt x="75045" y="-805"/>
                  <a:pt x="78167" y="2349"/>
                </a:cubicBezTo>
                <a:lnTo>
                  <a:pt x="108172" y="32354"/>
                </a:lnTo>
                <a:lnTo>
                  <a:pt x="126631" y="13895"/>
                </a:lnTo>
                <a:cubicBezTo>
                  <a:pt x="130826" y="9700"/>
                  <a:pt x="137639" y="9700"/>
                  <a:pt x="141835" y="13895"/>
                </a:cubicBezTo>
                <a:lnTo>
                  <a:pt x="157945" y="30005"/>
                </a:lnTo>
                <a:cubicBezTo>
                  <a:pt x="162140" y="34200"/>
                  <a:pt x="162140" y="41013"/>
                  <a:pt x="157945" y="45209"/>
                </a:cubicBezTo>
                <a:lnTo>
                  <a:pt x="139485" y="63668"/>
                </a:lnTo>
                <a:lnTo>
                  <a:pt x="169490" y="93673"/>
                </a:lnTo>
                <a:cubicBezTo>
                  <a:pt x="172645" y="96827"/>
                  <a:pt x="172645" y="101929"/>
                  <a:pt x="169490" y="105050"/>
                </a:cubicBezTo>
                <a:lnTo>
                  <a:pt x="137270" y="137270"/>
                </a:lnTo>
                <a:cubicBezTo>
                  <a:pt x="134115" y="140425"/>
                  <a:pt x="129014" y="140425"/>
                  <a:pt x="125892" y="137270"/>
                </a:cubicBezTo>
                <a:lnTo>
                  <a:pt x="95888" y="107265"/>
                </a:lnTo>
                <a:lnTo>
                  <a:pt x="90686" y="112467"/>
                </a:lnTo>
                <a:cubicBezTo>
                  <a:pt x="94512" y="120724"/>
                  <a:pt x="96660" y="129920"/>
                  <a:pt x="96660" y="139619"/>
                </a:cubicBezTo>
                <a:cubicBezTo>
                  <a:pt x="96660" y="150259"/>
                  <a:pt x="94075" y="160260"/>
                  <a:pt x="89544" y="169087"/>
                </a:cubicBezTo>
                <a:cubicBezTo>
                  <a:pt x="87967" y="172108"/>
                  <a:pt x="83939" y="172544"/>
                  <a:pt x="81557" y="170128"/>
                </a:cubicBezTo>
                <a:lnTo>
                  <a:pt x="49236" y="137807"/>
                </a:lnTo>
                <a:lnTo>
                  <a:pt x="29099" y="157945"/>
                </a:lnTo>
                <a:cubicBezTo>
                  <a:pt x="24903" y="162140"/>
                  <a:pt x="18090" y="162140"/>
                  <a:pt x="13895" y="157945"/>
                </a:cubicBezTo>
                <a:cubicBezTo>
                  <a:pt x="9700" y="153749"/>
                  <a:pt x="9700" y="146936"/>
                  <a:pt x="13895" y="142741"/>
                </a:cubicBezTo>
                <a:lnTo>
                  <a:pt x="34032" y="122603"/>
                </a:lnTo>
                <a:lnTo>
                  <a:pt x="1712" y="90283"/>
                </a:lnTo>
                <a:cubicBezTo>
                  <a:pt x="-705" y="87866"/>
                  <a:pt x="-268" y="83839"/>
                  <a:pt x="2752" y="82295"/>
                </a:cubicBezTo>
                <a:cubicBezTo>
                  <a:pt x="11579" y="77730"/>
                  <a:pt x="21614" y="75180"/>
                  <a:pt x="32220" y="75180"/>
                </a:cubicBezTo>
                <a:cubicBezTo>
                  <a:pt x="41919" y="75180"/>
                  <a:pt x="51115" y="77328"/>
                  <a:pt x="59372" y="81154"/>
                </a:cubicBezTo>
                <a:lnTo>
                  <a:pt x="64574" y="75952"/>
                </a:lnTo>
                <a:lnTo>
                  <a:pt x="34569" y="45980"/>
                </a:lnTo>
                <a:cubicBezTo>
                  <a:pt x="31414" y="42826"/>
                  <a:pt x="31414" y="37724"/>
                  <a:pt x="34569" y="34603"/>
                </a:cubicBezTo>
                <a:lnTo>
                  <a:pt x="66789" y="2349"/>
                </a:lnTo>
                <a:close/>
                <a:moveTo>
                  <a:pt x="72495" y="19433"/>
                </a:moveTo>
                <a:lnTo>
                  <a:pt x="51652" y="40275"/>
                </a:lnTo>
                <a:lnTo>
                  <a:pt x="75952" y="64574"/>
                </a:lnTo>
                <a:lnTo>
                  <a:pt x="96794" y="43732"/>
                </a:lnTo>
                <a:lnTo>
                  <a:pt x="72495" y="19433"/>
                </a:lnTo>
                <a:close/>
                <a:moveTo>
                  <a:pt x="131564" y="120187"/>
                </a:moveTo>
                <a:lnTo>
                  <a:pt x="152407" y="99345"/>
                </a:lnTo>
                <a:lnTo>
                  <a:pt x="128108" y="75045"/>
                </a:lnTo>
                <a:lnTo>
                  <a:pt x="107265" y="95888"/>
                </a:lnTo>
                <a:lnTo>
                  <a:pt x="131564" y="1201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2"/>
          <p:cNvSpPr/>
          <p:nvPr/>
        </p:nvSpPr>
        <p:spPr>
          <a:xfrm>
            <a:off x="6627225" y="6005784"/>
            <a:ext cx="489742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09322" y="6315095"/>
            <a:ext cx="544730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 datos de satélites con Spark para análisis científico masivo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Integrado en Desarrollo de IA Generativa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11410950" cy="476250"/>
          </a:xfrm>
          <a:custGeom>
            <a:avLst/>
            <a:gdLst/>
            <a:ahLst/>
            <a:cxnLst/>
            <a:rect l="l" t="t" r="r" b="b"/>
            <a:pathLst>
              <a:path w="11410950" h="47625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400050"/>
                </a:lnTo>
                <a:cubicBezTo>
                  <a:pt x="11410950" y="442106"/>
                  <a:pt x="11376806" y="476250"/>
                  <a:pt x="11334750" y="476250"/>
                </a:cubicBez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19200"/>
            <a:ext cx="38100" cy="476250"/>
          </a:xfrm>
          <a:custGeom>
            <a:avLst/>
            <a:gdLst/>
            <a:ahLst/>
            <a:cxnLst/>
            <a:rect l="l" t="t" r="r" b="b"/>
            <a:pathLst>
              <a:path w="38100" h="476250">
                <a:moveTo>
                  <a:pt x="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" y="1333500"/>
            <a:ext cx="1123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proyectos reales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generativa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(como modelos de lenguaje grandes), Hadoop y Spark trabajan juntos para optimizar todo el pipeline de datos: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1828800"/>
            <a:ext cx="3733800" cy="2514600"/>
          </a:xfrm>
          <a:custGeom>
            <a:avLst/>
            <a:gdLst/>
            <a:ahLst/>
            <a:cxnLst/>
            <a:rect l="l" t="t" r="r" b="b"/>
            <a:pathLst>
              <a:path w="3733800" h="2514600">
                <a:moveTo>
                  <a:pt x="0" y="0"/>
                </a:moveTo>
                <a:lnTo>
                  <a:pt x="3733800" y="0"/>
                </a:lnTo>
                <a:lnTo>
                  <a:pt x="3733800" y="2438408"/>
                </a:lnTo>
                <a:cubicBezTo>
                  <a:pt x="3733800" y="2480488"/>
                  <a:pt x="3699688" y="2514600"/>
                  <a:pt x="365760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81000" y="1828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Shape 8"/>
          <p:cNvSpPr/>
          <p:nvPr/>
        </p:nvSpPr>
        <p:spPr>
          <a:xfrm>
            <a:off x="495300" y="1962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8061" y="20383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19621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Almacenamiento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222885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Lake con HDFS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" y="2495550"/>
            <a:ext cx="3581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Recolectas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terabytes de texto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internet (web scraping, datasets públicos) y lo guardas en un Data Lake con HDFS.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300" y="33147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2931" y="3390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790575" y="33528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Almacenamiento masivo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5300" y="363855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5788" y="37147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58177" y="0"/>
                  <a:pt x="59204" y="223"/>
                  <a:pt x="60141" y="647"/>
                </a:cubicBezTo>
                <a:lnTo>
                  <a:pt x="102200" y="18484"/>
                </a:lnTo>
                <a:cubicBezTo>
                  <a:pt x="107112" y="20561"/>
                  <a:pt x="110773" y="25405"/>
                  <a:pt x="110750" y="31254"/>
                </a:cubicBezTo>
                <a:cubicBezTo>
                  <a:pt x="110639" y="53400"/>
                  <a:pt x="101531" y="93918"/>
                  <a:pt x="63066" y="112335"/>
                </a:cubicBezTo>
                <a:cubicBezTo>
                  <a:pt x="59338" y="114121"/>
                  <a:pt x="55007" y="114121"/>
                  <a:pt x="51279" y="112335"/>
                </a:cubicBezTo>
                <a:cubicBezTo>
                  <a:pt x="12792" y="93918"/>
                  <a:pt x="3706" y="53400"/>
                  <a:pt x="3594" y="31254"/>
                </a:cubicBezTo>
                <a:cubicBezTo>
                  <a:pt x="3572" y="25405"/>
                  <a:pt x="7233" y="20561"/>
                  <a:pt x="12144" y="18484"/>
                </a:cubicBezTo>
                <a:lnTo>
                  <a:pt x="54181" y="647"/>
                </a:lnTo>
                <a:cubicBezTo>
                  <a:pt x="55118" y="223"/>
                  <a:pt x="56123" y="0"/>
                  <a:pt x="57150" y="0"/>
                </a:cubicBezTo>
                <a:close/>
                <a:moveTo>
                  <a:pt x="57150" y="14913"/>
                </a:moveTo>
                <a:lnTo>
                  <a:pt x="57150" y="99320"/>
                </a:lnTo>
                <a:cubicBezTo>
                  <a:pt x="87957" y="84408"/>
                  <a:pt x="96240" y="51368"/>
                  <a:pt x="96441" y="31589"/>
                </a:cubicBezTo>
                <a:lnTo>
                  <a:pt x="57150" y="14935"/>
                </a:lnTo>
                <a:lnTo>
                  <a:pt x="57150" y="1493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790575" y="367665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Replicación 3x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5300" y="39624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7219" y="40386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0361" y="5358"/>
                </a:moveTo>
                <a:cubicBezTo>
                  <a:pt x="30361" y="2389"/>
                  <a:pt x="32750" y="0"/>
                  <a:pt x="35719" y="0"/>
                </a:cubicBezTo>
                <a:cubicBezTo>
                  <a:pt x="38688" y="0"/>
                  <a:pt x="41077" y="2389"/>
                  <a:pt x="41077" y="5358"/>
                </a:cubicBezTo>
                <a:lnTo>
                  <a:pt x="41077" y="14288"/>
                </a:lnTo>
                <a:lnTo>
                  <a:pt x="53578" y="14288"/>
                </a:lnTo>
                <a:cubicBezTo>
                  <a:pt x="57530" y="14288"/>
                  <a:pt x="60722" y="17480"/>
                  <a:pt x="60722" y="21431"/>
                </a:cubicBezTo>
                <a:cubicBezTo>
                  <a:pt x="60722" y="25383"/>
                  <a:pt x="57530" y="28575"/>
                  <a:pt x="53578" y="28575"/>
                </a:cubicBezTo>
                <a:lnTo>
                  <a:pt x="27928" y="28575"/>
                </a:lnTo>
                <a:cubicBezTo>
                  <a:pt x="22369" y="28575"/>
                  <a:pt x="17859" y="33084"/>
                  <a:pt x="17859" y="38643"/>
                </a:cubicBezTo>
                <a:cubicBezTo>
                  <a:pt x="17859" y="43666"/>
                  <a:pt x="21543" y="47908"/>
                  <a:pt x="26499" y="48622"/>
                </a:cubicBezTo>
                <a:lnTo>
                  <a:pt x="46948" y="51547"/>
                </a:lnTo>
                <a:cubicBezTo>
                  <a:pt x="58958" y="53266"/>
                  <a:pt x="67866" y="63535"/>
                  <a:pt x="67866" y="75657"/>
                </a:cubicBezTo>
                <a:cubicBezTo>
                  <a:pt x="67866" y="89118"/>
                  <a:pt x="56949" y="100013"/>
                  <a:pt x="43510" y="100013"/>
                </a:cubicBezTo>
                <a:lnTo>
                  <a:pt x="41077" y="100013"/>
                </a:lnTo>
                <a:lnTo>
                  <a:pt x="41077" y="108942"/>
                </a:lnTo>
                <a:cubicBezTo>
                  <a:pt x="41077" y="111911"/>
                  <a:pt x="38688" y="114300"/>
                  <a:pt x="35719" y="114300"/>
                </a:cubicBezTo>
                <a:cubicBezTo>
                  <a:pt x="32750" y="114300"/>
                  <a:pt x="30361" y="111911"/>
                  <a:pt x="30361" y="108942"/>
                </a:cubicBezTo>
                <a:lnTo>
                  <a:pt x="30361" y="100013"/>
                </a:lnTo>
                <a:lnTo>
                  <a:pt x="14288" y="100013"/>
                </a:lnTo>
                <a:cubicBezTo>
                  <a:pt x="10336" y="100013"/>
                  <a:pt x="7144" y="96820"/>
                  <a:pt x="7144" y="92869"/>
                </a:cubicBezTo>
                <a:cubicBezTo>
                  <a:pt x="7144" y="88917"/>
                  <a:pt x="10336" y="85725"/>
                  <a:pt x="14288" y="85725"/>
                </a:cubicBezTo>
                <a:lnTo>
                  <a:pt x="43510" y="85725"/>
                </a:lnTo>
                <a:cubicBezTo>
                  <a:pt x="49069" y="85725"/>
                  <a:pt x="53578" y="81216"/>
                  <a:pt x="53578" y="75657"/>
                </a:cubicBezTo>
                <a:cubicBezTo>
                  <a:pt x="53578" y="70634"/>
                  <a:pt x="49895" y="66392"/>
                  <a:pt x="44939" y="65678"/>
                </a:cubicBezTo>
                <a:lnTo>
                  <a:pt x="24490" y="62753"/>
                </a:lnTo>
                <a:cubicBezTo>
                  <a:pt x="12479" y="61057"/>
                  <a:pt x="3572" y="50765"/>
                  <a:pt x="3572" y="38643"/>
                </a:cubicBezTo>
                <a:cubicBezTo>
                  <a:pt x="3572" y="25204"/>
                  <a:pt x="14488" y="14288"/>
                  <a:pt x="27928" y="14288"/>
                </a:cubicBezTo>
                <a:lnTo>
                  <a:pt x="30361" y="14288"/>
                </a:lnTo>
                <a:lnTo>
                  <a:pt x="30361" y="535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790575" y="4000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Bajo costo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9100" y="1828800"/>
            <a:ext cx="3733800" cy="2514600"/>
          </a:xfrm>
          <a:custGeom>
            <a:avLst/>
            <a:gdLst/>
            <a:ahLst/>
            <a:cxnLst/>
            <a:rect l="l" t="t" r="r" b="b"/>
            <a:pathLst>
              <a:path w="3733800" h="2514600">
                <a:moveTo>
                  <a:pt x="0" y="0"/>
                </a:moveTo>
                <a:lnTo>
                  <a:pt x="3733800" y="0"/>
                </a:lnTo>
                <a:lnTo>
                  <a:pt x="3733800" y="2438408"/>
                </a:lnTo>
                <a:cubicBezTo>
                  <a:pt x="3733800" y="2480488"/>
                  <a:pt x="3699688" y="2514600"/>
                  <a:pt x="365760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29100" y="1828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1962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05474" y="2038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14900" y="196215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14900" y="22288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en Cluster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43400" y="2495550"/>
            <a:ext cx="3581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Usas Spark para limpiar (quitar duplicados, filtrar spam), tokenizar (convertir palabras a números), y crear batches de entrenamiento.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43400" y="33147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26744" y="339090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126489" y="12189"/>
                </a:moveTo>
                <a:cubicBezTo>
                  <a:pt x="129280" y="9398"/>
                  <a:pt x="129280" y="4867"/>
                  <a:pt x="126489" y="2076"/>
                </a:cubicBezTo>
                <a:cubicBezTo>
                  <a:pt x="123698" y="-714"/>
                  <a:pt x="119167" y="-714"/>
                  <a:pt x="116376" y="2076"/>
                </a:cubicBezTo>
                <a:lnTo>
                  <a:pt x="73514" y="44939"/>
                </a:lnTo>
                <a:lnTo>
                  <a:pt x="65767" y="37192"/>
                </a:lnTo>
                <a:cubicBezTo>
                  <a:pt x="64830" y="36255"/>
                  <a:pt x="63535" y="35719"/>
                  <a:pt x="62195" y="35719"/>
                </a:cubicBezTo>
                <a:cubicBezTo>
                  <a:pt x="59405" y="35719"/>
                  <a:pt x="57150" y="37973"/>
                  <a:pt x="57150" y="40764"/>
                </a:cubicBezTo>
                <a:lnTo>
                  <a:pt x="57150" y="47260"/>
                </a:lnTo>
                <a:lnTo>
                  <a:pt x="81327" y="71438"/>
                </a:lnTo>
                <a:lnTo>
                  <a:pt x="87823" y="71438"/>
                </a:lnTo>
                <a:cubicBezTo>
                  <a:pt x="90614" y="71438"/>
                  <a:pt x="92869" y="69183"/>
                  <a:pt x="92869" y="66392"/>
                </a:cubicBezTo>
                <a:cubicBezTo>
                  <a:pt x="92869" y="65053"/>
                  <a:pt x="92333" y="63758"/>
                  <a:pt x="91395" y="62820"/>
                </a:cubicBezTo>
                <a:lnTo>
                  <a:pt x="83649" y="55074"/>
                </a:lnTo>
                <a:lnTo>
                  <a:pt x="126511" y="12211"/>
                </a:lnTo>
                <a:close/>
                <a:moveTo>
                  <a:pt x="76148" y="78894"/>
                </a:moveTo>
                <a:lnTo>
                  <a:pt x="49694" y="52440"/>
                </a:lnTo>
                <a:cubicBezTo>
                  <a:pt x="40161" y="51614"/>
                  <a:pt x="30673" y="55052"/>
                  <a:pt x="23842" y="61883"/>
                </a:cubicBezTo>
                <a:lnTo>
                  <a:pt x="22056" y="63669"/>
                </a:lnTo>
                <a:cubicBezTo>
                  <a:pt x="17078" y="68647"/>
                  <a:pt x="14288" y="75389"/>
                  <a:pt x="14288" y="82421"/>
                </a:cubicBezTo>
                <a:cubicBezTo>
                  <a:pt x="14288" y="83939"/>
                  <a:pt x="15873" y="84921"/>
                  <a:pt x="17234" y="84252"/>
                </a:cubicBezTo>
                <a:lnTo>
                  <a:pt x="28642" y="78559"/>
                </a:lnTo>
                <a:cubicBezTo>
                  <a:pt x="29758" y="78001"/>
                  <a:pt x="30763" y="79474"/>
                  <a:pt x="29847" y="80323"/>
                </a:cubicBezTo>
                <a:lnTo>
                  <a:pt x="1630" y="105683"/>
                </a:lnTo>
                <a:cubicBezTo>
                  <a:pt x="603" y="106620"/>
                  <a:pt x="0" y="107960"/>
                  <a:pt x="0" y="109366"/>
                </a:cubicBezTo>
                <a:cubicBezTo>
                  <a:pt x="0" y="112090"/>
                  <a:pt x="2210" y="114300"/>
                  <a:pt x="4934" y="114300"/>
                </a:cubicBezTo>
                <a:lnTo>
                  <a:pt x="43622" y="114300"/>
                </a:lnTo>
                <a:cubicBezTo>
                  <a:pt x="52283" y="114300"/>
                  <a:pt x="60566" y="110862"/>
                  <a:pt x="66705" y="104745"/>
                </a:cubicBezTo>
                <a:cubicBezTo>
                  <a:pt x="73536" y="97914"/>
                  <a:pt x="76952" y="88426"/>
                  <a:pt x="76148" y="7889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4638675" y="33528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Limpieza masiva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43400" y="363855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26744" y="37147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35719" y="0"/>
                </a:moveTo>
                <a:cubicBezTo>
                  <a:pt x="39670" y="0"/>
                  <a:pt x="42863" y="3192"/>
                  <a:pt x="42863" y="7144"/>
                </a:cubicBezTo>
                <a:lnTo>
                  <a:pt x="42863" y="14288"/>
                </a:lnTo>
                <a:lnTo>
                  <a:pt x="71438" y="14288"/>
                </a:lnTo>
                <a:cubicBezTo>
                  <a:pt x="75389" y="14288"/>
                  <a:pt x="78581" y="17480"/>
                  <a:pt x="78581" y="21431"/>
                </a:cubicBezTo>
                <a:cubicBezTo>
                  <a:pt x="78581" y="25383"/>
                  <a:pt x="75389" y="28575"/>
                  <a:pt x="71438" y="28575"/>
                </a:cubicBezTo>
                <a:lnTo>
                  <a:pt x="69294" y="28575"/>
                </a:lnTo>
                <a:lnTo>
                  <a:pt x="67419" y="33732"/>
                </a:lnTo>
                <a:cubicBezTo>
                  <a:pt x="63758" y="43822"/>
                  <a:pt x="58244" y="53042"/>
                  <a:pt x="51301" y="60967"/>
                </a:cubicBezTo>
                <a:cubicBezTo>
                  <a:pt x="54471" y="62932"/>
                  <a:pt x="57775" y="64673"/>
                  <a:pt x="61213" y="66214"/>
                </a:cubicBezTo>
                <a:lnTo>
                  <a:pt x="72464" y="71214"/>
                </a:lnTo>
                <a:lnTo>
                  <a:pt x="86350" y="39960"/>
                </a:lnTo>
                <a:cubicBezTo>
                  <a:pt x="87489" y="37371"/>
                  <a:pt x="90056" y="35719"/>
                  <a:pt x="92869" y="35719"/>
                </a:cubicBezTo>
                <a:cubicBezTo>
                  <a:pt x="95682" y="35719"/>
                  <a:pt x="98249" y="37371"/>
                  <a:pt x="99387" y="39960"/>
                </a:cubicBezTo>
                <a:lnTo>
                  <a:pt x="127962" y="104254"/>
                </a:lnTo>
                <a:cubicBezTo>
                  <a:pt x="129570" y="107871"/>
                  <a:pt x="127940" y="112090"/>
                  <a:pt x="124346" y="113675"/>
                </a:cubicBezTo>
                <a:cubicBezTo>
                  <a:pt x="120752" y="115260"/>
                  <a:pt x="116510" y="113653"/>
                  <a:pt x="114925" y="110058"/>
                </a:cubicBezTo>
                <a:lnTo>
                  <a:pt x="110460" y="100013"/>
                </a:lnTo>
                <a:lnTo>
                  <a:pt x="75300" y="100013"/>
                </a:lnTo>
                <a:lnTo>
                  <a:pt x="70835" y="110058"/>
                </a:lnTo>
                <a:cubicBezTo>
                  <a:pt x="69227" y="113675"/>
                  <a:pt x="65008" y="115282"/>
                  <a:pt x="61414" y="113675"/>
                </a:cubicBezTo>
                <a:cubicBezTo>
                  <a:pt x="57820" y="112068"/>
                  <a:pt x="56190" y="107848"/>
                  <a:pt x="57797" y="104254"/>
                </a:cubicBezTo>
                <a:lnTo>
                  <a:pt x="66682" y="84274"/>
                </a:lnTo>
                <a:lnTo>
                  <a:pt x="55431" y="79273"/>
                </a:lnTo>
                <a:cubicBezTo>
                  <a:pt x="50296" y="76996"/>
                  <a:pt x="45385" y="74273"/>
                  <a:pt x="40742" y="71147"/>
                </a:cubicBezTo>
                <a:cubicBezTo>
                  <a:pt x="35987" y="74987"/>
                  <a:pt x="30785" y="78336"/>
                  <a:pt x="25226" y="81126"/>
                </a:cubicBezTo>
                <a:lnTo>
                  <a:pt x="17480" y="84966"/>
                </a:lnTo>
                <a:cubicBezTo>
                  <a:pt x="13953" y="86730"/>
                  <a:pt x="9666" y="85301"/>
                  <a:pt x="7903" y="81774"/>
                </a:cubicBezTo>
                <a:cubicBezTo>
                  <a:pt x="6139" y="78246"/>
                  <a:pt x="7568" y="73960"/>
                  <a:pt x="11095" y="72197"/>
                </a:cubicBezTo>
                <a:lnTo>
                  <a:pt x="18797" y="68334"/>
                </a:lnTo>
                <a:cubicBezTo>
                  <a:pt x="22436" y="66504"/>
                  <a:pt x="25896" y="64383"/>
                  <a:pt x="29155" y="62017"/>
                </a:cubicBezTo>
                <a:cubicBezTo>
                  <a:pt x="26075" y="59182"/>
                  <a:pt x="23173" y="56123"/>
                  <a:pt x="20471" y="52886"/>
                </a:cubicBezTo>
                <a:lnTo>
                  <a:pt x="18217" y="50163"/>
                </a:lnTo>
                <a:cubicBezTo>
                  <a:pt x="15694" y="47126"/>
                  <a:pt x="16096" y="42617"/>
                  <a:pt x="19132" y="40094"/>
                </a:cubicBezTo>
                <a:cubicBezTo>
                  <a:pt x="22168" y="37572"/>
                  <a:pt x="26677" y="37973"/>
                  <a:pt x="29200" y="41010"/>
                </a:cubicBezTo>
                <a:lnTo>
                  <a:pt x="31477" y="43733"/>
                </a:lnTo>
                <a:cubicBezTo>
                  <a:pt x="34044" y="46836"/>
                  <a:pt x="36857" y="49716"/>
                  <a:pt x="39826" y="52373"/>
                </a:cubicBezTo>
                <a:cubicBezTo>
                  <a:pt x="45966" y="45586"/>
                  <a:pt x="50810" y="37616"/>
                  <a:pt x="54002" y="28843"/>
                </a:cubicBezTo>
                <a:lnTo>
                  <a:pt x="54114" y="28575"/>
                </a:lnTo>
                <a:lnTo>
                  <a:pt x="7166" y="28575"/>
                </a:lnTo>
                <a:cubicBezTo>
                  <a:pt x="3192" y="28575"/>
                  <a:pt x="0" y="25383"/>
                  <a:pt x="0" y="21431"/>
                </a:cubicBezTo>
                <a:cubicBezTo>
                  <a:pt x="0" y="17480"/>
                  <a:pt x="3192" y="14288"/>
                  <a:pt x="7144" y="14288"/>
                </a:cubicBezTo>
                <a:lnTo>
                  <a:pt x="28575" y="14288"/>
                </a:lnTo>
                <a:lnTo>
                  <a:pt x="28575" y="7144"/>
                </a:lnTo>
                <a:cubicBezTo>
                  <a:pt x="28575" y="3192"/>
                  <a:pt x="31767" y="0"/>
                  <a:pt x="35719" y="0"/>
                </a:cubicBezTo>
                <a:close/>
                <a:moveTo>
                  <a:pt x="92869" y="60454"/>
                </a:moveTo>
                <a:lnTo>
                  <a:pt x="81640" y="85725"/>
                </a:lnTo>
                <a:lnTo>
                  <a:pt x="104098" y="85725"/>
                </a:lnTo>
                <a:lnTo>
                  <a:pt x="92869" y="60454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Text 34"/>
          <p:cNvSpPr/>
          <p:nvPr/>
        </p:nvSpPr>
        <p:spPr>
          <a:xfrm>
            <a:off x="4638675" y="36766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Tokenización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3400" y="39624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33888" y="4038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1904" y="1161"/>
                </a:moveTo>
                <a:cubicBezTo>
                  <a:pt x="55230" y="-380"/>
                  <a:pt x="59070" y="-380"/>
                  <a:pt x="62396" y="1161"/>
                </a:cubicBezTo>
                <a:lnTo>
                  <a:pt x="111197" y="23708"/>
                </a:lnTo>
                <a:cubicBezTo>
                  <a:pt x="113094" y="24579"/>
                  <a:pt x="114300" y="26477"/>
                  <a:pt x="114300" y="28575"/>
                </a:cubicBezTo>
                <a:cubicBezTo>
                  <a:pt x="114300" y="30673"/>
                  <a:pt x="113094" y="32571"/>
                  <a:pt x="111197" y="33442"/>
                </a:cubicBezTo>
                <a:lnTo>
                  <a:pt x="62396" y="55989"/>
                </a:lnTo>
                <a:cubicBezTo>
                  <a:pt x="59070" y="57530"/>
                  <a:pt x="55230" y="57530"/>
                  <a:pt x="51904" y="55989"/>
                </a:cubicBezTo>
                <a:lnTo>
                  <a:pt x="3103" y="33442"/>
                </a:lnTo>
                <a:cubicBezTo>
                  <a:pt x="1206" y="32549"/>
                  <a:pt x="0" y="30651"/>
                  <a:pt x="0" y="28575"/>
                </a:cubicBezTo>
                <a:cubicBezTo>
                  <a:pt x="0" y="26499"/>
                  <a:pt x="1206" y="24579"/>
                  <a:pt x="3103" y="23708"/>
                </a:cubicBezTo>
                <a:lnTo>
                  <a:pt x="51904" y="1161"/>
                </a:lnTo>
                <a:close/>
                <a:moveTo>
                  <a:pt x="10738" y="48756"/>
                </a:moveTo>
                <a:lnTo>
                  <a:pt x="47417" y="65700"/>
                </a:lnTo>
                <a:cubicBezTo>
                  <a:pt x="53600" y="68558"/>
                  <a:pt x="60722" y="68558"/>
                  <a:pt x="66906" y="65700"/>
                </a:cubicBezTo>
                <a:lnTo>
                  <a:pt x="103584" y="48756"/>
                </a:lnTo>
                <a:lnTo>
                  <a:pt x="111197" y="52283"/>
                </a:lnTo>
                <a:cubicBezTo>
                  <a:pt x="113094" y="53154"/>
                  <a:pt x="114300" y="55052"/>
                  <a:pt x="114300" y="57150"/>
                </a:cubicBezTo>
                <a:cubicBezTo>
                  <a:pt x="114300" y="59248"/>
                  <a:pt x="113094" y="61146"/>
                  <a:pt x="111197" y="62017"/>
                </a:cubicBezTo>
                <a:lnTo>
                  <a:pt x="62396" y="84564"/>
                </a:lnTo>
                <a:cubicBezTo>
                  <a:pt x="59070" y="86105"/>
                  <a:pt x="55230" y="86105"/>
                  <a:pt x="51904" y="84564"/>
                </a:cubicBezTo>
                <a:lnTo>
                  <a:pt x="3103" y="62017"/>
                </a:lnTo>
                <a:cubicBezTo>
                  <a:pt x="1206" y="61124"/>
                  <a:pt x="0" y="59226"/>
                  <a:pt x="0" y="57150"/>
                </a:cubicBezTo>
                <a:cubicBezTo>
                  <a:pt x="0" y="55074"/>
                  <a:pt x="1206" y="53154"/>
                  <a:pt x="3103" y="52283"/>
                </a:cubicBezTo>
                <a:lnTo>
                  <a:pt x="10716" y="48756"/>
                </a:lnTo>
                <a:close/>
                <a:moveTo>
                  <a:pt x="3103" y="80858"/>
                </a:moveTo>
                <a:lnTo>
                  <a:pt x="10716" y="77331"/>
                </a:lnTo>
                <a:lnTo>
                  <a:pt x="47394" y="94275"/>
                </a:lnTo>
                <a:cubicBezTo>
                  <a:pt x="53578" y="97133"/>
                  <a:pt x="60700" y="97133"/>
                  <a:pt x="66883" y="94275"/>
                </a:cubicBezTo>
                <a:lnTo>
                  <a:pt x="103562" y="77331"/>
                </a:lnTo>
                <a:lnTo>
                  <a:pt x="111175" y="80858"/>
                </a:lnTo>
                <a:cubicBezTo>
                  <a:pt x="113072" y="81729"/>
                  <a:pt x="114278" y="83627"/>
                  <a:pt x="114278" y="85725"/>
                </a:cubicBezTo>
                <a:cubicBezTo>
                  <a:pt x="114278" y="87823"/>
                  <a:pt x="113072" y="89721"/>
                  <a:pt x="111175" y="90592"/>
                </a:cubicBezTo>
                <a:lnTo>
                  <a:pt x="62374" y="113139"/>
                </a:lnTo>
                <a:cubicBezTo>
                  <a:pt x="59048" y="114680"/>
                  <a:pt x="55208" y="114680"/>
                  <a:pt x="51881" y="113139"/>
                </a:cubicBezTo>
                <a:lnTo>
                  <a:pt x="3103" y="90592"/>
                </a:lnTo>
                <a:cubicBezTo>
                  <a:pt x="1206" y="89699"/>
                  <a:pt x="0" y="87801"/>
                  <a:pt x="0" y="85725"/>
                </a:cubicBezTo>
                <a:cubicBezTo>
                  <a:pt x="0" y="83649"/>
                  <a:pt x="1206" y="81729"/>
                  <a:pt x="3103" y="8085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4638675" y="40005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creation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77200" y="1828800"/>
            <a:ext cx="3733800" cy="2514600"/>
          </a:xfrm>
          <a:custGeom>
            <a:avLst/>
            <a:gdLst/>
            <a:ahLst/>
            <a:cxnLst/>
            <a:rect l="l" t="t" r="r" b="b"/>
            <a:pathLst>
              <a:path w="3733800" h="2514600">
                <a:moveTo>
                  <a:pt x="0" y="0"/>
                </a:moveTo>
                <a:lnTo>
                  <a:pt x="3733800" y="0"/>
                </a:lnTo>
                <a:lnTo>
                  <a:pt x="3733800" y="2438408"/>
                </a:lnTo>
                <a:cubicBezTo>
                  <a:pt x="3733800" y="2480488"/>
                  <a:pt x="3699688" y="2514600"/>
                  <a:pt x="365760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77200" y="1828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Shape 40"/>
          <p:cNvSpPr/>
          <p:nvPr/>
        </p:nvSpPr>
        <p:spPr>
          <a:xfrm>
            <a:off x="8191500" y="1962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352532" y="2038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63000" y="19621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Entrenamiento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63000" y="22288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PyTorch/TensorFlow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91500" y="2495550"/>
            <a:ext cx="3581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Entrenas el modelo con frameworks como PyTorch o TensorFlow, pero el preprocesamiento masivo lo hace Spark en cluster.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91500" y="33147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89131" y="3390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8182" y="44760"/>
                </a:moveTo>
                <a:cubicBezTo>
                  <a:pt x="96463" y="37862"/>
                  <a:pt x="93204" y="32660"/>
                  <a:pt x="86261" y="32660"/>
                </a:cubicBezTo>
                <a:lnTo>
                  <a:pt x="77309" y="32660"/>
                </a:lnTo>
                <a:lnTo>
                  <a:pt x="77309" y="43242"/>
                </a:lnTo>
                <a:cubicBezTo>
                  <a:pt x="77309" y="51457"/>
                  <a:pt x="70344" y="58378"/>
                  <a:pt x="62396" y="58378"/>
                </a:cubicBezTo>
                <a:lnTo>
                  <a:pt x="38554" y="58378"/>
                </a:lnTo>
                <a:cubicBezTo>
                  <a:pt x="32035" y="58378"/>
                  <a:pt x="26633" y="63959"/>
                  <a:pt x="26633" y="70500"/>
                </a:cubicBezTo>
                <a:lnTo>
                  <a:pt x="26633" y="93226"/>
                </a:lnTo>
                <a:cubicBezTo>
                  <a:pt x="26633" y="99700"/>
                  <a:pt x="32258" y="103495"/>
                  <a:pt x="38554" y="105348"/>
                </a:cubicBezTo>
                <a:cubicBezTo>
                  <a:pt x="46100" y="107558"/>
                  <a:pt x="53355" y="107960"/>
                  <a:pt x="62396" y="105348"/>
                </a:cubicBezTo>
                <a:cubicBezTo>
                  <a:pt x="68401" y="103607"/>
                  <a:pt x="74317" y="100102"/>
                  <a:pt x="74317" y="93226"/>
                </a:cubicBezTo>
                <a:lnTo>
                  <a:pt x="74317" y="84140"/>
                </a:lnTo>
                <a:lnTo>
                  <a:pt x="50497" y="84140"/>
                </a:lnTo>
                <a:lnTo>
                  <a:pt x="50497" y="81104"/>
                </a:lnTo>
                <a:lnTo>
                  <a:pt x="86261" y="81104"/>
                </a:lnTo>
                <a:cubicBezTo>
                  <a:pt x="93204" y="81104"/>
                  <a:pt x="95771" y="76260"/>
                  <a:pt x="98182" y="69004"/>
                </a:cubicBezTo>
                <a:cubicBezTo>
                  <a:pt x="100682" y="61526"/>
                  <a:pt x="100571" y="54337"/>
                  <a:pt x="98182" y="44760"/>
                </a:cubicBezTo>
                <a:close/>
                <a:moveTo>
                  <a:pt x="63892" y="99276"/>
                </a:moveTo>
                <a:cubicBezTo>
                  <a:pt x="62193" y="99395"/>
                  <a:pt x="60569" y="98556"/>
                  <a:pt x="59683" y="97101"/>
                </a:cubicBezTo>
                <a:cubicBezTo>
                  <a:pt x="58798" y="95647"/>
                  <a:pt x="58798" y="93819"/>
                  <a:pt x="59683" y="92364"/>
                </a:cubicBezTo>
                <a:cubicBezTo>
                  <a:pt x="60569" y="90910"/>
                  <a:pt x="62193" y="90071"/>
                  <a:pt x="63892" y="90190"/>
                </a:cubicBezTo>
                <a:cubicBezTo>
                  <a:pt x="65591" y="90071"/>
                  <a:pt x="67215" y="90910"/>
                  <a:pt x="68100" y="92364"/>
                </a:cubicBezTo>
                <a:cubicBezTo>
                  <a:pt x="68986" y="93819"/>
                  <a:pt x="68986" y="95647"/>
                  <a:pt x="68100" y="97101"/>
                </a:cubicBezTo>
                <a:cubicBezTo>
                  <a:pt x="67215" y="98556"/>
                  <a:pt x="65591" y="99395"/>
                  <a:pt x="63892" y="99276"/>
                </a:cubicBezTo>
                <a:close/>
                <a:moveTo>
                  <a:pt x="37460" y="55386"/>
                </a:moveTo>
                <a:lnTo>
                  <a:pt x="61302" y="55386"/>
                </a:lnTo>
                <a:cubicBezTo>
                  <a:pt x="67933" y="55386"/>
                  <a:pt x="73223" y="49917"/>
                  <a:pt x="73223" y="43264"/>
                </a:cubicBezTo>
                <a:lnTo>
                  <a:pt x="73223" y="20516"/>
                </a:lnTo>
                <a:cubicBezTo>
                  <a:pt x="73223" y="14042"/>
                  <a:pt x="67776" y="9198"/>
                  <a:pt x="61302" y="8104"/>
                </a:cubicBezTo>
                <a:cubicBezTo>
                  <a:pt x="53310" y="6787"/>
                  <a:pt x="44626" y="6854"/>
                  <a:pt x="37460" y="8126"/>
                </a:cubicBezTo>
                <a:cubicBezTo>
                  <a:pt x="27369" y="9912"/>
                  <a:pt x="25539" y="13640"/>
                  <a:pt x="25539" y="20538"/>
                </a:cubicBezTo>
                <a:lnTo>
                  <a:pt x="25539" y="29624"/>
                </a:lnTo>
                <a:lnTo>
                  <a:pt x="49403" y="29624"/>
                </a:lnTo>
                <a:lnTo>
                  <a:pt x="49403" y="32660"/>
                </a:lnTo>
                <a:lnTo>
                  <a:pt x="16587" y="32660"/>
                </a:lnTo>
                <a:cubicBezTo>
                  <a:pt x="9644" y="32660"/>
                  <a:pt x="3572" y="36835"/>
                  <a:pt x="1674" y="44760"/>
                </a:cubicBezTo>
                <a:cubicBezTo>
                  <a:pt x="-513" y="53846"/>
                  <a:pt x="-603" y="59516"/>
                  <a:pt x="1674" y="69004"/>
                </a:cubicBezTo>
                <a:cubicBezTo>
                  <a:pt x="3371" y="76059"/>
                  <a:pt x="7412" y="81104"/>
                  <a:pt x="14354" y="81104"/>
                </a:cubicBezTo>
                <a:lnTo>
                  <a:pt x="22547" y="81104"/>
                </a:lnTo>
                <a:lnTo>
                  <a:pt x="22547" y="70210"/>
                </a:lnTo>
                <a:cubicBezTo>
                  <a:pt x="22547" y="62329"/>
                  <a:pt x="29356" y="55386"/>
                  <a:pt x="37460" y="55386"/>
                </a:cubicBezTo>
                <a:close/>
                <a:moveTo>
                  <a:pt x="35987" y="14444"/>
                </a:moveTo>
                <a:cubicBezTo>
                  <a:pt x="38500" y="14444"/>
                  <a:pt x="40541" y="16484"/>
                  <a:pt x="40541" y="18998"/>
                </a:cubicBezTo>
                <a:cubicBezTo>
                  <a:pt x="40541" y="21511"/>
                  <a:pt x="38500" y="23552"/>
                  <a:pt x="35987" y="23552"/>
                </a:cubicBezTo>
                <a:cubicBezTo>
                  <a:pt x="33473" y="23552"/>
                  <a:pt x="31432" y="21511"/>
                  <a:pt x="31432" y="18998"/>
                </a:cubicBezTo>
                <a:cubicBezTo>
                  <a:pt x="31432" y="16484"/>
                  <a:pt x="33473" y="14444"/>
                  <a:pt x="35987" y="1444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9" name="Text 47"/>
          <p:cNvSpPr/>
          <p:nvPr/>
        </p:nvSpPr>
        <p:spPr>
          <a:xfrm>
            <a:off x="8486775" y="33528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PyTorch/TF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91500" y="363855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74844" y="37147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55364" y="19645"/>
                </a:moveTo>
                <a:lnTo>
                  <a:pt x="73223" y="19645"/>
                </a:lnTo>
                <a:lnTo>
                  <a:pt x="73223" y="30361"/>
                </a:lnTo>
                <a:lnTo>
                  <a:pt x="55364" y="30361"/>
                </a:lnTo>
                <a:lnTo>
                  <a:pt x="55364" y="19645"/>
                </a:lnTo>
                <a:close/>
                <a:moveTo>
                  <a:pt x="53578" y="7144"/>
                </a:moveTo>
                <a:cubicBezTo>
                  <a:pt x="47662" y="7144"/>
                  <a:pt x="42863" y="11943"/>
                  <a:pt x="42863" y="17859"/>
                </a:cubicBezTo>
                <a:lnTo>
                  <a:pt x="42863" y="32147"/>
                </a:lnTo>
                <a:cubicBezTo>
                  <a:pt x="42863" y="38063"/>
                  <a:pt x="47662" y="42863"/>
                  <a:pt x="53578" y="42863"/>
                </a:cubicBezTo>
                <a:lnTo>
                  <a:pt x="57150" y="42863"/>
                </a:lnTo>
                <a:lnTo>
                  <a:pt x="5715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28575" y="64294"/>
                </a:lnTo>
                <a:lnTo>
                  <a:pt x="28575" y="71438"/>
                </a:lnTo>
                <a:lnTo>
                  <a:pt x="25003" y="71438"/>
                </a:lnTo>
                <a:cubicBezTo>
                  <a:pt x="19087" y="71438"/>
                  <a:pt x="14288" y="76237"/>
                  <a:pt x="14288" y="82153"/>
                </a:cubicBezTo>
                <a:lnTo>
                  <a:pt x="14288" y="96441"/>
                </a:lnTo>
                <a:cubicBezTo>
                  <a:pt x="14288" y="102357"/>
                  <a:pt x="19087" y="107156"/>
                  <a:pt x="25003" y="107156"/>
                </a:cubicBezTo>
                <a:lnTo>
                  <a:pt x="46434" y="107156"/>
                </a:lnTo>
                <a:cubicBezTo>
                  <a:pt x="52350" y="107156"/>
                  <a:pt x="57150" y="102357"/>
                  <a:pt x="57150" y="96441"/>
                </a:cubicBezTo>
                <a:lnTo>
                  <a:pt x="57150" y="82153"/>
                </a:lnTo>
                <a:cubicBezTo>
                  <a:pt x="57150" y="76237"/>
                  <a:pt x="52350" y="71438"/>
                  <a:pt x="46434" y="71438"/>
                </a:cubicBezTo>
                <a:lnTo>
                  <a:pt x="42863" y="71438"/>
                </a:lnTo>
                <a:lnTo>
                  <a:pt x="42863" y="64294"/>
                </a:lnTo>
                <a:lnTo>
                  <a:pt x="85725" y="64294"/>
                </a:lnTo>
                <a:lnTo>
                  <a:pt x="85725" y="71438"/>
                </a:lnTo>
                <a:lnTo>
                  <a:pt x="82153" y="71438"/>
                </a:lnTo>
                <a:cubicBezTo>
                  <a:pt x="76237" y="71438"/>
                  <a:pt x="71438" y="76237"/>
                  <a:pt x="71438" y="82153"/>
                </a:cubicBezTo>
                <a:lnTo>
                  <a:pt x="71438" y="96441"/>
                </a:lnTo>
                <a:cubicBezTo>
                  <a:pt x="71438" y="102357"/>
                  <a:pt x="76237" y="107156"/>
                  <a:pt x="82153" y="107156"/>
                </a:cubicBezTo>
                <a:lnTo>
                  <a:pt x="103584" y="107156"/>
                </a:lnTo>
                <a:cubicBezTo>
                  <a:pt x="109500" y="107156"/>
                  <a:pt x="114300" y="102357"/>
                  <a:pt x="114300" y="96441"/>
                </a:cubicBezTo>
                <a:lnTo>
                  <a:pt x="114300" y="82153"/>
                </a:lnTo>
                <a:cubicBezTo>
                  <a:pt x="114300" y="76237"/>
                  <a:pt x="109500" y="71438"/>
                  <a:pt x="103584" y="71438"/>
                </a:cubicBezTo>
                <a:lnTo>
                  <a:pt x="100013" y="71438"/>
                </a:lnTo>
                <a:lnTo>
                  <a:pt x="100013" y="64294"/>
                </a:lnTo>
                <a:lnTo>
                  <a:pt x="121444" y="64294"/>
                </a:lnTo>
                <a:cubicBezTo>
                  <a:pt x="125395" y="64294"/>
                  <a:pt x="128588" y="61101"/>
                  <a:pt x="128588" y="57150"/>
                </a:cubicBezTo>
                <a:cubicBezTo>
                  <a:pt x="128588" y="53199"/>
                  <a:pt x="125395" y="50006"/>
                  <a:pt x="121444" y="50006"/>
                </a:cubicBezTo>
                <a:lnTo>
                  <a:pt x="71438" y="50006"/>
                </a:lnTo>
                <a:lnTo>
                  <a:pt x="71438" y="42863"/>
                </a:lnTo>
                <a:lnTo>
                  <a:pt x="75009" y="42863"/>
                </a:lnTo>
                <a:cubicBezTo>
                  <a:pt x="80925" y="42863"/>
                  <a:pt x="85725" y="38063"/>
                  <a:pt x="85725" y="32147"/>
                </a:cubicBezTo>
                <a:lnTo>
                  <a:pt x="85725" y="17859"/>
                </a:lnTo>
                <a:cubicBezTo>
                  <a:pt x="85725" y="11943"/>
                  <a:pt x="80925" y="7144"/>
                  <a:pt x="75009" y="7144"/>
                </a:cubicBezTo>
                <a:lnTo>
                  <a:pt x="53578" y="7144"/>
                </a:lnTo>
                <a:close/>
                <a:moveTo>
                  <a:pt x="100013" y="83939"/>
                </a:moveTo>
                <a:lnTo>
                  <a:pt x="101798" y="83939"/>
                </a:lnTo>
                <a:lnTo>
                  <a:pt x="101798" y="94655"/>
                </a:lnTo>
                <a:lnTo>
                  <a:pt x="83939" y="94655"/>
                </a:lnTo>
                <a:lnTo>
                  <a:pt x="83939" y="83939"/>
                </a:lnTo>
                <a:lnTo>
                  <a:pt x="100013" y="83939"/>
                </a:lnTo>
                <a:close/>
                <a:moveTo>
                  <a:pt x="42863" y="83939"/>
                </a:moveTo>
                <a:lnTo>
                  <a:pt x="44648" y="83939"/>
                </a:lnTo>
                <a:lnTo>
                  <a:pt x="44648" y="94655"/>
                </a:lnTo>
                <a:lnTo>
                  <a:pt x="26789" y="94655"/>
                </a:lnTo>
                <a:lnTo>
                  <a:pt x="26789" y="83939"/>
                </a:lnTo>
                <a:lnTo>
                  <a:pt x="42863" y="8393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8486775" y="36766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91500" y="3962400"/>
            <a:ext cx="3505200" cy="266700"/>
          </a:xfrm>
          <a:custGeom>
            <a:avLst/>
            <a:gdLst/>
            <a:ahLst/>
            <a:cxnLst/>
            <a:rect l="l" t="t" r="r" b="b"/>
            <a:pathLst>
              <a:path w="3505200" h="266700">
                <a:moveTo>
                  <a:pt x="38101" y="0"/>
                </a:moveTo>
                <a:lnTo>
                  <a:pt x="3467099" y="0"/>
                </a:lnTo>
                <a:cubicBezTo>
                  <a:pt x="3488142" y="0"/>
                  <a:pt x="3505200" y="17058"/>
                  <a:pt x="3505200" y="38101"/>
                </a:cubicBezTo>
                <a:lnTo>
                  <a:pt x="3505200" y="228599"/>
                </a:lnTo>
                <a:cubicBezTo>
                  <a:pt x="3505200" y="249642"/>
                  <a:pt x="3488142" y="266700"/>
                  <a:pt x="3467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89131" y="4038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75634" y="-2210"/>
                </a:moveTo>
                <a:cubicBezTo>
                  <a:pt x="78291" y="-290"/>
                  <a:pt x="79273" y="3192"/>
                  <a:pt x="78068" y="6228"/>
                </a:cubicBezTo>
                <a:lnTo>
                  <a:pt x="60566" y="50006"/>
                </a:lnTo>
                <a:lnTo>
                  <a:pt x="92869" y="50006"/>
                </a:lnTo>
                <a:cubicBezTo>
                  <a:pt x="95883" y="50006"/>
                  <a:pt x="98561" y="51881"/>
                  <a:pt x="99588" y="54717"/>
                </a:cubicBezTo>
                <a:cubicBezTo>
                  <a:pt x="100615" y="57552"/>
                  <a:pt x="99745" y="60722"/>
                  <a:pt x="97445" y="62642"/>
                </a:cubicBezTo>
                <a:lnTo>
                  <a:pt x="33151" y="116220"/>
                </a:lnTo>
                <a:cubicBezTo>
                  <a:pt x="30629" y="118318"/>
                  <a:pt x="27035" y="118430"/>
                  <a:pt x="24378" y="116510"/>
                </a:cubicBezTo>
                <a:cubicBezTo>
                  <a:pt x="21721" y="114590"/>
                  <a:pt x="20739" y="111108"/>
                  <a:pt x="21945" y="108072"/>
                </a:cubicBezTo>
                <a:lnTo>
                  <a:pt x="39447" y="64294"/>
                </a:lnTo>
                <a:lnTo>
                  <a:pt x="7144" y="64294"/>
                </a:lnTo>
                <a:cubicBezTo>
                  <a:pt x="4130" y="64294"/>
                  <a:pt x="1451" y="62419"/>
                  <a:pt x="424" y="59583"/>
                </a:cubicBezTo>
                <a:cubicBezTo>
                  <a:pt x="-603" y="56748"/>
                  <a:pt x="268" y="53578"/>
                  <a:pt x="2567" y="51658"/>
                </a:cubicBezTo>
                <a:lnTo>
                  <a:pt x="66861" y="-1920"/>
                </a:lnTo>
                <a:cubicBezTo>
                  <a:pt x="69384" y="-4018"/>
                  <a:pt x="72978" y="-4130"/>
                  <a:pt x="75634" y="-221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8486775" y="40005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Iteraciones rápidas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5763" y="4462463"/>
            <a:ext cx="11420475" cy="1038225"/>
          </a:xfrm>
          <a:custGeom>
            <a:avLst/>
            <a:gdLst/>
            <a:ahLst/>
            <a:cxnLst/>
            <a:rect l="l" t="t" r="r" b="b"/>
            <a:pathLst>
              <a:path w="11420475" h="1038225">
                <a:moveTo>
                  <a:pt x="76195" y="0"/>
                </a:moveTo>
                <a:lnTo>
                  <a:pt x="11344280" y="0"/>
                </a:lnTo>
                <a:cubicBezTo>
                  <a:pt x="11386361" y="0"/>
                  <a:pt x="11420475" y="34114"/>
                  <a:pt x="11420475" y="76195"/>
                </a:cubicBezTo>
                <a:lnTo>
                  <a:pt x="11420475" y="962030"/>
                </a:lnTo>
                <a:cubicBezTo>
                  <a:pt x="11420475" y="1004111"/>
                  <a:pt x="11386361" y="1038225"/>
                  <a:pt x="113442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4825" y="4714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7225" y="4867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Text 57"/>
          <p:cNvSpPr/>
          <p:nvPr/>
        </p:nvSpPr>
        <p:spPr>
          <a:xfrm>
            <a:off x="1190625" y="4581525"/>
            <a:ext cx="891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Impacto: Reducción Dramática de Tiempo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90625" y="4886325"/>
            <a:ext cx="8905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Esto reduce el tiempo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días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permitiendo experimentar más rápido y iterar en los modelos. El pipeline optimizado hace posible entrenar modelos de lenguaje grandes (LLMs) de forma eficiente y económica.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43679" y="471487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Semanas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119866" y="4943475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Días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850761" y="4714875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9525" y="0"/>
                </a:lnTo>
                <a:lnTo>
                  <a:pt x="95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955536" y="4714875"/>
            <a:ext cx="79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10x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979348" y="5019675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Rápido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02ec1d75bbad6151eeb9fc928150cccb9234a1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047750"/>
            <a:ext cx="1343025" cy="390525"/>
          </a:xfrm>
          <a:custGeom>
            <a:avLst/>
            <a:gdLst/>
            <a:ahLst/>
            <a:cxnLst/>
            <a:rect l="l" t="t" r="r" b="b"/>
            <a:pathLst>
              <a:path w="1343025" h="390525">
                <a:moveTo>
                  <a:pt x="38100" y="0"/>
                </a:moveTo>
                <a:lnTo>
                  <a:pt x="1304925" y="0"/>
                </a:lnTo>
                <a:cubicBezTo>
                  <a:pt x="1325967" y="0"/>
                  <a:pt x="1343025" y="17058"/>
                  <a:pt x="1343025" y="38100"/>
                </a:cubicBezTo>
                <a:lnTo>
                  <a:pt x="1343025" y="352425"/>
                </a:lnTo>
                <a:cubicBezTo>
                  <a:pt x="1343025" y="373467"/>
                  <a:pt x="1325967" y="390525"/>
                  <a:pt x="13049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176338"/>
            <a:ext cx="10205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95438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Comienza tu Journey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Big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6622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5"/>
          <p:cNvSpPr/>
          <p:nvPr/>
        </p:nvSpPr>
        <p:spPr>
          <a:xfrm>
            <a:off x="385763" y="2933700"/>
            <a:ext cx="5610225" cy="1952625"/>
          </a:xfrm>
          <a:custGeom>
            <a:avLst/>
            <a:gdLst/>
            <a:ahLst/>
            <a:cxnLst/>
            <a:rect l="l" t="t" r="r" b="b"/>
            <a:pathLst>
              <a:path w="5610225" h="195262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1876434"/>
                </a:lnTo>
                <a:cubicBezTo>
                  <a:pt x="5610225" y="1918485"/>
                  <a:pt x="5576085" y="1952625"/>
                  <a:pt x="5534034" y="1952625"/>
                </a:cubicBezTo>
                <a:lnTo>
                  <a:pt x="76191" y="1952625"/>
                </a:lnTo>
                <a:cubicBezTo>
                  <a:pt x="34140" y="1952625"/>
                  <a:pt x="0" y="1918485"/>
                  <a:pt x="0" y="18764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025" y="314801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7"/>
          <p:cNvSpPr/>
          <p:nvPr/>
        </p:nvSpPr>
        <p:spPr>
          <a:xfrm>
            <a:off x="981075" y="3128963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Recursos Prácticos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1025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77466" y="36147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8334"/>
                </a:moveTo>
                <a:cubicBezTo>
                  <a:pt x="66675" y="3724"/>
                  <a:pt x="62951" y="0"/>
                  <a:pt x="58341" y="0"/>
                </a:cubicBezTo>
                <a:cubicBezTo>
                  <a:pt x="53731" y="0"/>
                  <a:pt x="50006" y="3724"/>
                  <a:pt x="50006" y="8334"/>
                </a:cubicBezTo>
                <a:lnTo>
                  <a:pt x="50006" y="63211"/>
                </a:lnTo>
                <a:lnTo>
                  <a:pt x="39224" y="52428"/>
                </a:lnTo>
                <a:cubicBezTo>
                  <a:pt x="35968" y="49173"/>
                  <a:pt x="30681" y="49173"/>
                  <a:pt x="27425" y="52428"/>
                </a:cubicBezTo>
                <a:cubicBezTo>
                  <a:pt x="24170" y="55684"/>
                  <a:pt x="24170" y="60971"/>
                  <a:pt x="27425" y="64227"/>
                </a:cubicBezTo>
                <a:lnTo>
                  <a:pt x="52428" y="89230"/>
                </a:lnTo>
                <a:cubicBezTo>
                  <a:pt x="55684" y="92486"/>
                  <a:pt x="60971" y="92486"/>
                  <a:pt x="64227" y="89230"/>
                </a:cubicBezTo>
                <a:lnTo>
                  <a:pt x="89230" y="64227"/>
                </a:lnTo>
                <a:cubicBezTo>
                  <a:pt x="92486" y="60971"/>
                  <a:pt x="92486" y="55684"/>
                  <a:pt x="89230" y="52428"/>
                </a:cubicBezTo>
                <a:cubicBezTo>
                  <a:pt x="85974" y="49173"/>
                  <a:pt x="80687" y="49173"/>
                  <a:pt x="77432" y="52428"/>
                </a:cubicBezTo>
                <a:lnTo>
                  <a:pt x="66675" y="63211"/>
                </a:lnTo>
                <a:lnTo>
                  <a:pt x="66675" y="8334"/>
                </a:lnTo>
                <a:close/>
                <a:moveTo>
                  <a:pt x="16669" y="83344"/>
                </a:moveTo>
                <a:cubicBezTo>
                  <a:pt x="7475" y="83344"/>
                  <a:pt x="0" y="90819"/>
                  <a:pt x="0" y="10001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100013"/>
                </a:lnTo>
                <a:cubicBezTo>
                  <a:pt x="116681" y="90819"/>
                  <a:pt x="109206" y="83344"/>
                  <a:pt x="100013" y="83344"/>
                </a:cubicBezTo>
                <a:lnTo>
                  <a:pt x="87797" y="83344"/>
                </a:lnTo>
                <a:lnTo>
                  <a:pt x="73056" y="98085"/>
                </a:lnTo>
                <a:cubicBezTo>
                  <a:pt x="64930" y="106211"/>
                  <a:pt x="51725" y="106211"/>
                  <a:pt x="43599" y="98085"/>
                </a:cubicBezTo>
                <a:lnTo>
                  <a:pt x="28884" y="83344"/>
                </a:lnTo>
                <a:lnTo>
                  <a:pt x="16669" y="83344"/>
                </a:lnTo>
                <a:close/>
                <a:moveTo>
                  <a:pt x="95845" y="97929"/>
                </a:moveTo>
                <a:cubicBezTo>
                  <a:pt x="99295" y="97929"/>
                  <a:pt x="102096" y="100730"/>
                  <a:pt x="102096" y="104180"/>
                </a:cubicBezTo>
                <a:cubicBezTo>
                  <a:pt x="102096" y="107630"/>
                  <a:pt x="99295" y="110430"/>
                  <a:pt x="95845" y="110430"/>
                </a:cubicBezTo>
                <a:cubicBezTo>
                  <a:pt x="92395" y="110430"/>
                  <a:pt x="89595" y="107630"/>
                  <a:pt x="89595" y="104180"/>
                </a:cubicBezTo>
                <a:cubicBezTo>
                  <a:pt x="89595" y="100730"/>
                  <a:pt x="92395" y="97929"/>
                  <a:pt x="95845" y="979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0"/>
          <p:cNvSpPr/>
          <p:nvPr/>
        </p:nvSpPr>
        <p:spPr>
          <a:xfrm>
            <a:off x="1000125" y="3509963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Local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0125" y="3700463"/>
            <a:ext cx="2933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Instala Spark localmente (modo standalone) para practicar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1025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0797" y="4033837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4"/>
          <p:cNvSpPr/>
          <p:nvPr/>
        </p:nvSpPr>
        <p:spPr>
          <a:xfrm>
            <a:off x="1000125" y="3929063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Databricks Community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0125" y="4119562"/>
            <a:ext cx="2714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Edición gratuita en la nube con notebooks interactivos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1025" y="4367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77466" y="44529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8"/>
          <p:cNvSpPr/>
          <p:nvPr/>
        </p:nvSpPr>
        <p:spPr>
          <a:xfrm>
            <a:off x="1000125" y="4348163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&amp; Colab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00125" y="4538663"/>
            <a:ext cx="2228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Notebooks con Spark para datasets grandes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6013" y="2933700"/>
            <a:ext cx="5610225" cy="1952625"/>
          </a:xfrm>
          <a:custGeom>
            <a:avLst/>
            <a:gdLst/>
            <a:ahLst/>
            <a:cxnLst/>
            <a:rect l="l" t="t" r="r" b="b"/>
            <a:pathLst>
              <a:path w="5610225" h="195262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1876434"/>
                </a:lnTo>
                <a:cubicBezTo>
                  <a:pt x="5610225" y="1918485"/>
                  <a:pt x="5576085" y="1952625"/>
                  <a:pt x="5534034" y="1952625"/>
                </a:cubicBezTo>
                <a:lnTo>
                  <a:pt x="76191" y="1952625"/>
                </a:lnTo>
                <a:cubicBezTo>
                  <a:pt x="34140" y="1952625"/>
                  <a:pt x="0" y="1918485"/>
                  <a:pt x="0" y="18764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8425" y="314801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2"/>
          <p:cNvSpPr/>
          <p:nvPr/>
        </p:nvSpPr>
        <p:spPr>
          <a:xfrm>
            <a:off x="6791325" y="3128963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91275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87716" y="36147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67743"/>
                </a:lnTo>
                <a:cubicBezTo>
                  <a:pt x="4714" y="64435"/>
                  <a:pt x="10470" y="62508"/>
                  <a:pt x="16669" y="62508"/>
                </a:cubicBezTo>
                <a:lnTo>
                  <a:pt x="100013" y="62508"/>
                </a:lnTo>
                <a:cubicBezTo>
                  <a:pt x="106211" y="62508"/>
                  <a:pt x="111967" y="64435"/>
                  <a:pt x="116681" y="67743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116681" y="91678"/>
                </a:move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lose/>
                <a:moveTo>
                  <a:pt x="58341" y="100013"/>
                </a:moveTo>
                <a:cubicBezTo>
                  <a:pt x="58341" y="95413"/>
                  <a:pt x="62075" y="91678"/>
                  <a:pt x="66675" y="91678"/>
                </a:cubicBezTo>
                <a:cubicBezTo>
                  <a:pt x="71275" y="91678"/>
                  <a:pt x="75009" y="95413"/>
                  <a:pt x="75009" y="100013"/>
                </a:cubicBezTo>
                <a:cubicBezTo>
                  <a:pt x="75009" y="104612"/>
                  <a:pt x="71275" y="108347"/>
                  <a:pt x="66675" y="108347"/>
                </a:cubicBezTo>
                <a:cubicBezTo>
                  <a:pt x="62075" y="108347"/>
                  <a:pt x="58341" y="104612"/>
                  <a:pt x="58341" y="100013"/>
                </a:cubicBezTo>
                <a:close/>
                <a:moveTo>
                  <a:pt x="91678" y="91678"/>
                </a:moveTo>
                <a:cubicBezTo>
                  <a:pt x="96278" y="91678"/>
                  <a:pt x="100013" y="95413"/>
                  <a:pt x="100013" y="100013"/>
                </a:cubicBezTo>
                <a:cubicBezTo>
                  <a:pt x="100013" y="104612"/>
                  <a:pt x="96278" y="108347"/>
                  <a:pt x="91678" y="108347"/>
                </a:cubicBezTo>
                <a:cubicBezTo>
                  <a:pt x="87078" y="108347"/>
                  <a:pt x="83344" y="104612"/>
                  <a:pt x="83344" y="100013"/>
                </a:cubicBezTo>
                <a:cubicBezTo>
                  <a:pt x="83344" y="95413"/>
                  <a:pt x="87078" y="91678"/>
                  <a:pt x="91678" y="9167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5"/>
          <p:cNvSpPr/>
          <p:nvPr/>
        </p:nvSpPr>
        <p:spPr>
          <a:xfrm>
            <a:off x="6810375" y="3509963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Hadoop = Almacén Resistente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10375" y="3700463"/>
            <a:ext cx="2657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Robusto para volúmenes masivos y almacenamiento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91275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87716" y="403383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29"/>
          <p:cNvSpPr/>
          <p:nvPr/>
        </p:nvSpPr>
        <p:spPr>
          <a:xfrm>
            <a:off x="6810375" y="3929063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 = Motor Turbo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10375" y="4119562"/>
            <a:ext cx="173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Rápido y versátil para IA moderna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91275" y="4367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471047" y="445293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3"/>
          <p:cNvSpPr/>
          <p:nvPr/>
        </p:nvSpPr>
        <p:spPr>
          <a:xfrm>
            <a:off x="6810375" y="4348163"/>
            <a:ext cx="2752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Distribuido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10375" y="4538663"/>
            <a:ext cx="274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Hace posible que la IA maneje Big Data eficientemente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81000" y="5786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85763" y="59483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191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8"/>
          <p:cNvSpPr/>
          <p:nvPr/>
        </p:nvSpPr>
        <p:spPr>
          <a:xfrm>
            <a:off x="1066800" y="598170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Optimización del Procesamiento de Datos para IA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66800" y="6248400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Hadoop &amp; Apache Spark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763101" y="60388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772626" y="6229350"/>
            <a:ext cx="1038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Overview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del Procesamiento de Datos para IA</dc:title>
  <dc:subject>Optimización del Procesamiento de Datos para IA</dc:subject>
  <dc:creator>Kimi</dc:creator>
  <cp:lastModifiedBy>Kimi</cp:lastModifiedBy>
  <cp:revision>1</cp:revision>
  <dcterms:created xsi:type="dcterms:W3CDTF">2026-02-19T16:11:51Z</dcterms:created>
  <dcterms:modified xsi:type="dcterms:W3CDTF">2026-02-19T16:11:51Z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{"Label":"Optimización del Procesamiento de Datos para IA","ContentProducer":"001191110108MACG2KBH8F10000","ProduceID":"19c75c3f-fd42-8d13-8000-0000b7924eb3","ReservedCode1":"","ContentPropagator":"001191110108MACG2KBH8F20000","PropagateID":"19c75c3f-fd42-8d13-8000-0000b7924eb3","ReservedCode2":""}</vt:lpwstr>
  </property>
</Properties>
</file>