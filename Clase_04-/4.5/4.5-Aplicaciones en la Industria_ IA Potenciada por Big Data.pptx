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Quattrocento Sans" charset="-122" pitchFamily="34"/>
      <p:regular r:id="rId20"/>
    </p:embeddedFont>
    <p:embeddedFont>
      <p:font typeface="Hedvig Letters Sans" charset="-122" pitchFamily="34"/>
      <p:regular r:id="rId21"/>
    </p:embeddedFont>
    <p:embeddedFont>
      <p:font typeface="Liter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30497c901901ef8ff283c975c7a009ee40e2a67a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5556" r="5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953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" name="Text 2"/>
          <p:cNvSpPr/>
          <p:nvPr/>
        </p:nvSpPr>
        <p:spPr>
          <a:xfrm>
            <a:off x="1104900" y="3810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Industria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859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Aplicaciones en la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Industria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624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8" name="Text 5"/>
          <p:cNvSpPr/>
          <p:nvPr/>
        </p:nvSpPr>
        <p:spPr>
          <a:xfrm>
            <a:off x="609600" y="3829050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Potenciada por Big 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9600" y="4400550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Transformando sectores clave con inteligencia artificial y análisis de datos masivos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95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8"/>
          <p:cNvSpPr/>
          <p:nvPr/>
        </p:nvSpPr>
        <p:spPr>
          <a:xfrm>
            <a:off x="647700" y="6248400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512838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3" name="Text 10"/>
          <p:cNvSpPr/>
          <p:nvPr/>
        </p:nvSpPr>
        <p:spPr>
          <a:xfrm>
            <a:off x="1760488" y="6248400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06378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4256" y="9525"/>
                  <a:pt x="0" y="13781"/>
                  <a:pt x="0" y="19050"/>
                </a:cubicBezTo>
                <a:lnTo>
                  <a:pt x="0" y="128588"/>
                </a:lnTo>
                <a:cubicBezTo>
                  <a:pt x="0" y="136475"/>
                  <a:pt x="6400" y="142875"/>
                  <a:pt x="14288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45303"/>
                </a:lnTo>
                <a:cubicBezTo>
                  <a:pt x="152400" y="39886"/>
                  <a:pt x="146625" y="36463"/>
                  <a:pt x="141863" y="39023"/>
                </a:cubicBezTo>
                <a:lnTo>
                  <a:pt x="95250" y="64115"/>
                </a:lnTo>
                <a:lnTo>
                  <a:pt x="95250" y="45303"/>
                </a:lnTo>
                <a:cubicBezTo>
                  <a:pt x="95250" y="39886"/>
                  <a:pt x="89475" y="36463"/>
                  <a:pt x="84713" y="39023"/>
                </a:cubicBezTo>
                <a:lnTo>
                  <a:pt x="38100" y="64115"/>
                </a:lnTo>
                <a:lnTo>
                  <a:pt x="38100" y="19050"/>
                </a:lnTo>
                <a:cubicBezTo>
                  <a:pt x="38100" y="13781"/>
                  <a:pt x="33844" y="9525"/>
                  <a:pt x="28575" y="9525"/>
                </a:cubicBezTo>
                <a:lnTo>
                  <a:pt x="9525" y="9525"/>
                </a:ln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15" name="Text 12"/>
          <p:cNvSpPr/>
          <p:nvPr/>
        </p:nvSpPr>
        <p:spPr>
          <a:xfrm>
            <a:off x="3654028" y="624840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Aplicaciones Industriales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60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Índice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85900"/>
            <a:ext cx="5581650" cy="1676400"/>
          </a:xfrm>
          <a:custGeom>
            <a:avLst/>
            <a:gdLst/>
            <a:ahLst/>
            <a:cxnLst/>
            <a:rect l="l" t="t" r="r" b="b"/>
            <a:pathLst>
              <a:path w="5581650" h="1676400">
                <a:moveTo>
                  <a:pt x="38100" y="0"/>
                </a:moveTo>
                <a:lnTo>
                  <a:pt x="5505458" y="0"/>
                </a:lnTo>
                <a:cubicBezTo>
                  <a:pt x="5547538" y="0"/>
                  <a:pt x="5581650" y="34112"/>
                  <a:pt x="5581650" y="76192"/>
                </a:cubicBezTo>
                <a:lnTo>
                  <a:pt x="5581650" y="1600208"/>
                </a:lnTo>
                <a:cubicBezTo>
                  <a:pt x="5581650" y="1642288"/>
                  <a:pt x="5547538" y="1676400"/>
                  <a:pt x="5505458" y="1676400"/>
                </a:cubicBezTo>
                <a:lnTo>
                  <a:pt x="38100" y="1676400"/>
                </a:lnTo>
                <a:cubicBezTo>
                  <a:pt x="17058" y="1676400"/>
                  <a:pt x="0" y="1659342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4859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3810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38100" y="1676400"/>
                </a:lnTo>
                <a:cubicBezTo>
                  <a:pt x="17072" y="1676400"/>
                  <a:pt x="0" y="1659328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2019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590550" y="20193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7800" y="188595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Big Data e 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" y="2266950"/>
            <a:ext cx="4381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 sinergia transformadora que redefine los límites de la innovación tecnológica.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485900"/>
            <a:ext cx="5581650" cy="1676400"/>
          </a:xfrm>
          <a:custGeom>
            <a:avLst/>
            <a:gdLst/>
            <a:ahLst/>
            <a:cxnLst/>
            <a:rect l="l" t="t" r="r" b="b"/>
            <a:pathLst>
              <a:path w="5581650" h="1676400">
                <a:moveTo>
                  <a:pt x="38100" y="0"/>
                </a:moveTo>
                <a:lnTo>
                  <a:pt x="5505458" y="0"/>
                </a:lnTo>
                <a:cubicBezTo>
                  <a:pt x="5547538" y="0"/>
                  <a:pt x="5581650" y="34112"/>
                  <a:pt x="5581650" y="76192"/>
                </a:cubicBezTo>
                <a:lnTo>
                  <a:pt x="5581650" y="1600208"/>
                </a:lnTo>
                <a:cubicBezTo>
                  <a:pt x="5581650" y="1642288"/>
                  <a:pt x="5547538" y="1676400"/>
                  <a:pt x="5505458" y="1676400"/>
                </a:cubicBezTo>
                <a:lnTo>
                  <a:pt x="38100" y="1676400"/>
                </a:lnTo>
                <a:cubicBezTo>
                  <a:pt x="17058" y="1676400"/>
                  <a:pt x="0" y="1659342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CA28">
                  <a:alpha val="20000"/>
                </a:srgbClr>
              </a:gs>
              <a:gs pos="100000">
                <a:srgbClr val="FFCA28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6229350" y="14859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3810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38100" y="1676400"/>
                </a:lnTo>
                <a:cubicBezTo>
                  <a:pt x="17072" y="1676400"/>
                  <a:pt x="0" y="1659328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0" y="2019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850" y="20193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77100" y="188595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Salud y Diagnóstico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77100" y="2266950"/>
            <a:ext cx="4381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Detectando enfermedades con precisión milimétrica para salvar vidas.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390900"/>
            <a:ext cx="5581650" cy="1428750"/>
          </a:xfrm>
          <a:custGeom>
            <a:avLst/>
            <a:gdLst/>
            <a:ahLst/>
            <a:cxnLst/>
            <a:rect l="l" t="t" r="r" b="b"/>
            <a:pathLst>
              <a:path w="5581650" h="1428750">
                <a:moveTo>
                  <a:pt x="38100" y="0"/>
                </a:moveTo>
                <a:lnTo>
                  <a:pt x="5505455" y="0"/>
                </a:lnTo>
                <a:cubicBezTo>
                  <a:pt x="5547536" y="0"/>
                  <a:pt x="5581650" y="34114"/>
                  <a:pt x="5581650" y="76195"/>
                </a:cubicBezTo>
                <a:lnTo>
                  <a:pt x="5581650" y="1352555"/>
                </a:lnTo>
                <a:cubicBezTo>
                  <a:pt x="5581650" y="1394636"/>
                  <a:pt x="5547536" y="1428750"/>
                  <a:pt x="5505455" y="1428750"/>
                </a:cubicBezTo>
                <a:lnTo>
                  <a:pt x="38100" y="1428750"/>
                </a:lnTo>
                <a:cubicBezTo>
                  <a:pt x="17058" y="1428750"/>
                  <a:pt x="0" y="1411692"/>
                  <a:pt x="0" y="1390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400050" y="3390900"/>
            <a:ext cx="38100" cy="1428750"/>
          </a:xfrm>
          <a:custGeom>
            <a:avLst/>
            <a:gdLst/>
            <a:ahLst/>
            <a:cxnLst/>
            <a:rect l="l" t="t" r="r" b="b"/>
            <a:pathLst>
              <a:path w="38100" h="1428750">
                <a:moveTo>
                  <a:pt x="38100" y="0"/>
                </a:moveTo>
                <a:lnTo>
                  <a:pt x="38100" y="0"/>
                </a:lnTo>
                <a:lnTo>
                  <a:pt x="38100" y="1428750"/>
                </a:lnTo>
                <a:lnTo>
                  <a:pt x="38100" y="1428750"/>
                </a:lnTo>
                <a:cubicBezTo>
                  <a:pt x="17072" y="1428750"/>
                  <a:pt x="0" y="1411678"/>
                  <a:pt x="0" y="1390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38004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590550" y="3800475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47800" y="3790950"/>
            <a:ext cx="4086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Finanzas y Fraude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47800" y="4171950"/>
            <a:ext cx="40481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Protegiendo transacciones millonarias en tiempo real con IA.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390900"/>
            <a:ext cx="5581650" cy="1428750"/>
          </a:xfrm>
          <a:custGeom>
            <a:avLst/>
            <a:gdLst/>
            <a:ahLst/>
            <a:cxnLst/>
            <a:rect l="l" t="t" r="r" b="b"/>
            <a:pathLst>
              <a:path w="5581650" h="1428750">
                <a:moveTo>
                  <a:pt x="38100" y="0"/>
                </a:moveTo>
                <a:lnTo>
                  <a:pt x="5505455" y="0"/>
                </a:lnTo>
                <a:cubicBezTo>
                  <a:pt x="5547536" y="0"/>
                  <a:pt x="5581650" y="34114"/>
                  <a:pt x="5581650" y="76195"/>
                </a:cubicBezTo>
                <a:lnTo>
                  <a:pt x="5581650" y="1352555"/>
                </a:lnTo>
                <a:cubicBezTo>
                  <a:pt x="5581650" y="1394636"/>
                  <a:pt x="5547536" y="1428750"/>
                  <a:pt x="5505455" y="1428750"/>
                </a:cubicBezTo>
                <a:lnTo>
                  <a:pt x="38100" y="1428750"/>
                </a:lnTo>
                <a:cubicBezTo>
                  <a:pt x="17058" y="1428750"/>
                  <a:pt x="0" y="1411692"/>
                  <a:pt x="0" y="1390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CA28">
                  <a:alpha val="20000"/>
                </a:srgbClr>
              </a:gs>
              <a:gs pos="100000">
                <a:srgbClr val="FFCA28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6229350" y="3390900"/>
            <a:ext cx="38100" cy="1428750"/>
          </a:xfrm>
          <a:custGeom>
            <a:avLst/>
            <a:gdLst/>
            <a:ahLst/>
            <a:cxnLst/>
            <a:rect l="l" t="t" r="r" b="b"/>
            <a:pathLst>
              <a:path w="38100" h="1428750">
                <a:moveTo>
                  <a:pt x="38100" y="0"/>
                </a:moveTo>
                <a:lnTo>
                  <a:pt x="38100" y="0"/>
                </a:lnTo>
                <a:lnTo>
                  <a:pt x="38100" y="1428750"/>
                </a:lnTo>
                <a:lnTo>
                  <a:pt x="38100" y="1428750"/>
                </a:lnTo>
                <a:cubicBezTo>
                  <a:pt x="17072" y="1428750"/>
                  <a:pt x="0" y="1411678"/>
                  <a:pt x="0" y="1390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38004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850" y="3800475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77100" y="379095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Industria y Manufactura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77100" y="4171950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Prediciendo fallos y optimizando operaciones con IoT.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048250"/>
            <a:ext cx="11410950" cy="1428750"/>
          </a:xfrm>
          <a:custGeom>
            <a:avLst/>
            <a:gdLst/>
            <a:ahLst/>
            <a:cxnLst/>
            <a:rect l="l" t="t" r="r" b="b"/>
            <a:pathLst>
              <a:path w="11410950" h="1428750">
                <a:moveTo>
                  <a:pt x="38100" y="0"/>
                </a:moveTo>
                <a:lnTo>
                  <a:pt x="11334755" y="0"/>
                </a:lnTo>
                <a:cubicBezTo>
                  <a:pt x="11376836" y="0"/>
                  <a:pt x="11410950" y="34114"/>
                  <a:pt x="11410950" y="76195"/>
                </a:cubicBezTo>
                <a:lnTo>
                  <a:pt x="11410950" y="1352555"/>
                </a:lnTo>
                <a:cubicBezTo>
                  <a:pt x="11410950" y="1394636"/>
                  <a:pt x="11376836" y="1428750"/>
                  <a:pt x="11334755" y="1428750"/>
                </a:cubicBezTo>
                <a:lnTo>
                  <a:pt x="38100" y="1428750"/>
                </a:lnTo>
                <a:cubicBezTo>
                  <a:pt x="17058" y="1428750"/>
                  <a:pt x="0" y="1411692"/>
                  <a:pt x="0" y="1390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400050" y="5048250"/>
            <a:ext cx="38100" cy="1428750"/>
          </a:xfrm>
          <a:custGeom>
            <a:avLst/>
            <a:gdLst/>
            <a:ahLst/>
            <a:cxnLst/>
            <a:rect l="l" t="t" r="r" b="b"/>
            <a:pathLst>
              <a:path w="38100" h="1428750">
                <a:moveTo>
                  <a:pt x="38100" y="0"/>
                </a:moveTo>
                <a:lnTo>
                  <a:pt x="38100" y="0"/>
                </a:lnTo>
                <a:lnTo>
                  <a:pt x="38100" y="1428750"/>
                </a:lnTo>
                <a:lnTo>
                  <a:pt x="38100" y="1428750"/>
                </a:lnTo>
                <a:cubicBezTo>
                  <a:pt x="17072" y="1428750"/>
                  <a:pt x="0" y="1411678"/>
                  <a:pt x="0" y="1390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700" y="54578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590550" y="5457825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47800" y="5448300"/>
            <a:ext cx="563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Marketing y Experiencia del Cliente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47800" y="5829300"/>
            <a:ext cx="5600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Personalizando interacciones para que cada cliente se sienta verdaderamente único.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Big Data e IA: Una Sinergia Transformadora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6153150" cy="1476375"/>
          </a:xfrm>
          <a:custGeom>
            <a:avLst/>
            <a:gdLst/>
            <a:ahLst/>
            <a:cxnLst/>
            <a:rect l="l" t="t" r="r" b="b"/>
            <a:pathLst>
              <a:path w="6153150" h="1476375">
                <a:moveTo>
                  <a:pt x="76196" y="0"/>
                </a:moveTo>
                <a:lnTo>
                  <a:pt x="6076954" y="0"/>
                </a:lnTo>
                <a:cubicBezTo>
                  <a:pt x="6119008" y="0"/>
                  <a:pt x="6153150" y="34142"/>
                  <a:pt x="6153150" y="76196"/>
                </a:cubicBezTo>
                <a:lnTo>
                  <a:pt x="6153150" y="1400179"/>
                </a:lnTo>
                <a:cubicBezTo>
                  <a:pt x="6153150" y="1442233"/>
                  <a:pt x="6119008" y="1476375"/>
                  <a:pt x="6076954" y="1476375"/>
                </a:cubicBezTo>
                <a:lnTo>
                  <a:pt x="76196" y="1476375"/>
                </a:lnTo>
                <a:cubicBezTo>
                  <a:pt x="34142" y="1476375"/>
                  <a:pt x="0" y="1442233"/>
                  <a:pt x="0" y="1400179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714375" y="1666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2772" y="46174"/>
                </a:moveTo>
                <a:cubicBezTo>
                  <a:pt x="160474" y="51978"/>
                  <a:pt x="169887" y="57596"/>
                  <a:pt x="180380" y="59010"/>
                </a:cubicBezTo>
                <a:cubicBezTo>
                  <a:pt x="185254" y="59680"/>
                  <a:pt x="189756" y="56220"/>
                  <a:pt x="190426" y="51346"/>
                </a:cubicBezTo>
                <a:cubicBezTo>
                  <a:pt x="191095" y="46472"/>
                  <a:pt x="187635" y="41970"/>
                  <a:pt x="182761" y="41300"/>
                </a:cubicBezTo>
                <a:cubicBezTo>
                  <a:pt x="176845" y="40518"/>
                  <a:pt x="170408" y="37095"/>
                  <a:pt x="163525" y="31924"/>
                </a:cubicBezTo>
                <a:cubicBezTo>
                  <a:pt x="149237" y="21134"/>
                  <a:pt x="129853" y="21134"/>
                  <a:pt x="115528" y="31924"/>
                </a:cubicBezTo>
                <a:cubicBezTo>
                  <a:pt x="106598" y="38658"/>
                  <a:pt x="100385" y="41709"/>
                  <a:pt x="95250" y="41709"/>
                </a:cubicBezTo>
                <a:cubicBezTo>
                  <a:pt x="90115" y="41709"/>
                  <a:pt x="83902" y="38658"/>
                  <a:pt x="74972" y="31924"/>
                </a:cubicBezTo>
                <a:cubicBezTo>
                  <a:pt x="60685" y="21134"/>
                  <a:pt x="41300" y="21134"/>
                  <a:pt x="26975" y="31924"/>
                </a:cubicBezTo>
                <a:cubicBezTo>
                  <a:pt x="20092" y="37095"/>
                  <a:pt x="13655" y="40518"/>
                  <a:pt x="7739" y="41300"/>
                </a:cubicBezTo>
                <a:cubicBezTo>
                  <a:pt x="2865" y="41970"/>
                  <a:pt x="-595" y="46434"/>
                  <a:pt x="74" y="51346"/>
                </a:cubicBezTo>
                <a:cubicBezTo>
                  <a:pt x="744" y="56257"/>
                  <a:pt x="5209" y="59680"/>
                  <a:pt x="10120" y="59010"/>
                </a:cubicBezTo>
                <a:cubicBezTo>
                  <a:pt x="20613" y="57596"/>
                  <a:pt x="30063" y="51978"/>
                  <a:pt x="37728" y="46174"/>
                </a:cubicBezTo>
                <a:cubicBezTo>
                  <a:pt x="45653" y="40184"/>
                  <a:pt x="56294" y="40184"/>
                  <a:pt x="64219" y="46174"/>
                </a:cubicBezTo>
                <a:cubicBezTo>
                  <a:pt x="73223" y="52983"/>
                  <a:pt x="83679" y="59531"/>
                  <a:pt x="95250" y="59531"/>
                </a:cubicBezTo>
                <a:cubicBezTo>
                  <a:pt x="106821" y="59531"/>
                  <a:pt x="117239" y="52946"/>
                  <a:pt x="126281" y="46174"/>
                </a:cubicBezTo>
                <a:cubicBezTo>
                  <a:pt x="134206" y="40184"/>
                  <a:pt x="144847" y="40184"/>
                  <a:pt x="152772" y="46174"/>
                </a:cubicBezTo>
                <a:close/>
                <a:moveTo>
                  <a:pt x="152772" y="99752"/>
                </a:moveTo>
                <a:cubicBezTo>
                  <a:pt x="160474" y="105556"/>
                  <a:pt x="169887" y="111175"/>
                  <a:pt x="180380" y="112588"/>
                </a:cubicBezTo>
                <a:cubicBezTo>
                  <a:pt x="185254" y="113258"/>
                  <a:pt x="189756" y="109798"/>
                  <a:pt x="190426" y="104924"/>
                </a:cubicBezTo>
                <a:cubicBezTo>
                  <a:pt x="191095" y="100050"/>
                  <a:pt x="187635" y="95548"/>
                  <a:pt x="182761" y="94878"/>
                </a:cubicBezTo>
                <a:cubicBezTo>
                  <a:pt x="176845" y="94097"/>
                  <a:pt x="170408" y="90674"/>
                  <a:pt x="163525" y="85502"/>
                </a:cubicBezTo>
                <a:cubicBezTo>
                  <a:pt x="149237" y="74712"/>
                  <a:pt x="129853" y="74712"/>
                  <a:pt x="115528" y="85502"/>
                </a:cubicBezTo>
                <a:cubicBezTo>
                  <a:pt x="106598" y="92236"/>
                  <a:pt x="100385" y="95287"/>
                  <a:pt x="95250" y="95287"/>
                </a:cubicBezTo>
                <a:cubicBezTo>
                  <a:pt x="90115" y="95287"/>
                  <a:pt x="83902" y="92236"/>
                  <a:pt x="74972" y="85502"/>
                </a:cubicBezTo>
                <a:cubicBezTo>
                  <a:pt x="60685" y="74712"/>
                  <a:pt x="41300" y="74712"/>
                  <a:pt x="26975" y="85502"/>
                </a:cubicBezTo>
                <a:cubicBezTo>
                  <a:pt x="20092" y="90674"/>
                  <a:pt x="13655" y="94097"/>
                  <a:pt x="7739" y="94878"/>
                </a:cubicBezTo>
                <a:cubicBezTo>
                  <a:pt x="2865" y="95510"/>
                  <a:pt x="-595" y="100013"/>
                  <a:pt x="74" y="104924"/>
                </a:cubicBezTo>
                <a:cubicBezTo>
                  <a:pt x="744" y="109835"/>
                  <a:pt x="5209" y="113258"/>
                  <a:pt x="10120" y="112588"/>
                </a:cubicBezTo>
                <a:cubicBezTo>
                  <a:pt x="20613" y="111175"/>
                  <a:pt x="30063" y="105556"/>
                  <a:pt x="37728" y="99752"/>
                </a:cubicBezTo>
                <a:cubicBezTo>
                  <a:pt x="45653" y="93762"/>
                  <a:pt x="56294" y="93762"/>
                  <a:pt x="64219" y="99752"/>
                </a:cubicBezTo>
                <a:cubicBezTo>
                  <a:pt x="73223" y="106561"/>
                  <a:pt x="83679" y="113109"/>
                  <a:pt x="95250" y="113109"/>
                </a:cubicBezTo>
                <a:cubicBezTo>
                  <a:pt x="106821" y="113109"/>
                  <a:pt x="117239" y="106524"/>
                  <a:pt x="126281" y="99752"/>
                </a:cubicBezTo>
                <a:cubicBezTo>
                  <a:pt x="134206" y="93762"/>
                  <a:pt x="144847" y="93762"/>
                  <a:pt x="152772" y="99752"/>
                </a:cubicBezTo>
                <a:close/>
                <a:moveTo>
                  <a:pt x="126281" y="153330"/>
                </a:moveTo>
                <a:cubicBezTo>
                  <a:pt x="134206" y="147340"/>
                  <a:pt x="144847" y="147340"/>
                  <a:pt x="152772" y="153330"/>
                </a:cubicBezTo>
                <a:cubicBezTo>
                  <a:pt x="160474" y="159134"/>
                  <a:pt x="169887" y="164753"/>
                  <a:pt x="180380" y="166167"/>
                </a:cubicBezTo>
                <a:cubicBezTo>
                  <a:pt x="185254" y="166836"/>
                  <a:pt x="189756" y="163376"/>
                  <a:pt x="190426" y="158502"/>
                </a:cubicBezTo>
                <a:cubicBezTo>
                  <a:pt x="191095" y="153628"/>
                  <a:pt x="187635" y="149126"/>
                  <a:pt x="182761" y="148456"/>
                </a:cubicBezTo>
                <a:cubicBezTo>
                  <a:pt x="176845" y="147675"/>
                  <a:pt x="170408" y="144252"/>
                  <a:pt x="163525" y="139080"/>
                </a:cubicBezTo>
                <a:cubicBezTo>
                  <a:pt x="149237" y="128290"/>
                  <a:pt x="129853" y="128290"/>
                  <a:pt x="115528" y="139080"/>
                </a:cubicBezTo>
                <a:cubicBezTo>
                  <a:pt x="106598" y="145814"/>
                  <a:pt x="100385" y="148865"/>
                  <a:pt x="95250" y="148865"/>
                </a:cubicBezTo>
                <a:cubicBezTo>
                  <a:pt x="90115" y="148865"/>
                  <a:pt x="83902" y="145814"/>
                  <a:pt x="74972" y="139080"/>
                </a:cubicBezTo>
                <a:cubicBezTo>
                  <a:pt x="60685" y="128290"/>
                  <a:pt x="41300" y="128290"/>
                  <a:pt x="26975" y="139080"/>
                </a:cubicBezTo>
                <a:cubicBezTo>
                  <a:pt x="20092" y="144252"/>
                  <a:pt x="13655" y="147675"/>
                  <a:pt x="7739" y="148456"/>
                </a:cubicBezTo>
                <a:cubicBezTo>
                  <a:pt x="2865" y="149126"/>
                  <a:pt x="-595" y="153591"/>
                  <a:pt x="74" y="158502"/>
                </a:cubicBezTo>
                <a:cubicBezTo>
                  <a:pt x="744" y="163413"/>
                  <a:pt x="5209" y="166836"/>
                  <a:pt x="10120" y="166167"/>
                </a:cubicBezTo>
                <a:cubicBezTo>
                  <a:pt x="20613" y="164753"/>
                  <a:pt x="30063" y="159134"/>
                  <a:pt x="37728" y="153330"/>
                </a:cubicBezTo>
                <a:cubicBezTo>
                  <a:pt x="45653" y="147340"/>
                  <a:pt x="56294" y="147340"/>
                  <a:pt x="64219" y="153330"/>
                </a:cubicBezTo>
                <a:cubicBezTo>
                  <a:pt x="73223" y="160139"/>
                  <a:pt x="83679" y="166688"/>
                  <a:pt x="95250" y="166688"/>
                </a:cubicBezTo>
                <a:cubicBezTo>
                  <a:pt x="106821" y="166688"/>
                  <a:pt x="117239" y="160102"/>
                  <a:pt x="126281" y="15333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190625" y="1533525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Analogía del Océano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0625" y="1876425"/>
            <a:ext cx="52292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Imagina que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 como 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océano enorme de información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fluye constantemente, y la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 el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barco inteligente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 navega por él para encontrar tesoros ocultos.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976563"/>
            <a:ext cx="6153150" cy="1914525"/>
          </a:xfrm>
          <a:custGeom>
            <a:avLst/>
            <a:gdLst/>
            <a:ahLst/>
            <a:cxnLst/>
            <a:rect l="l" t="t" r="r" b="b"/>
            <a:pathLst>
              <a:path w="6153150" h="1914525">
                <a:moveTo>
                  <a:pt x="76198" y="0"/>
                </a:moveTo>
                <a:lnTo>
                  <a:pt x="6076952" y="0"/>
                </a:lnTo>
                <a:cubicBezTo>
                  <a:pt x="6119035" y="0"/>
                  <a:pt x="6153150" y="34115"/>
                  <a:pt x="6153150" y="76198"/>
                </a:cubicBezTo>
                <a:lnTo>
                  <a:pt x="6153150" y="1838327"/>
                </a:lnTo>
                <a:cubicBezTo>
                  <a:pt x="6153150" y="1880410"/>
                  <a:pt x="6119035" y="1914525"/>
                  <a:pt x="6076952" y="1914525"/>
                </a:cubicBezTo>
                <a:lnTo>
                  <a:pt x="76198" y="1914525"/>
                </a:lnTo>
                <a:cubicBezTo>
                  <a:pt x="34115" y="1914525"/>
                  <a:pt x="0" y="1880410"/>
                  <a:pt x="0" y="18383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4838" y="32194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" y="3171825"/>
            <a:ext cx="562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Impacto Real en 2026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1025" y="3552825"/>
            <a:ext cx="5838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 combinación no es solo teoría: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transforma industrias enteras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haciendo procesos más rápidos, seguros, baratos y personalizados.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0075" y="4219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847725" y="4200525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Mejores diagnósticos médicos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37496" y="4219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3785146" y="4200525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Menos fraudes financieros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0075" y="4524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Text 17"/>
          <p:cNvSpPr/>
          <p:nvPr/>
        </p:nvSpPr>
        <p:spPr>
          <a:xfrm>
            <a:off x="847725" y="4505325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Productos más baratos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37496" y="4524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1" name="Text 19"/>
          <p:cNvSpPr/>
          <p:nvPr/>
        </p:nvSpPr>
        <p:spPr>
          <a:xfrm>
            <a:off x="3785146" y="4505325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Experiencias agradables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5048250"/>
            <a:ext cx="6143625" cy="800100"/>
          </a:xfrm>
          <a:custGeom>
            <a:avLst/>
            <a:gdLst/>
            <a:ahLst/>
            <a:cxnLst/>
            <a:rect l="l" t="t" r="r" b="b"/>
            <a:pathLst>
              <a:path w="6143625" h="800100">
                <a:moveTo>
                  <a:pt x="38100" y="0"/>
                </a:moveTo>
                <a:lnTo>
                  <a:pt x="6067423" y="0"/>
                </a:lnTo>
                <a:cubicBezTo>
                  <a:pt x="6109508" y="0"/>
                  <a:pt x="6143625" y="34117"/>
                  <a:pt x="6143625" y="76202"/>
                </a:cubicBezTo>
                <a:lnTo>
                  <a:pt x="6143625" y="723898"/>
                </a:lnTo>
                <a:cubicBezTo>
                  <a:pt x="6143625" y="765983"/>
                  <a:pt x="6109508" y="800100"/>
                  <a:pt x="6067423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CA28">
                  <a:alpha val="20000"/>
                </a:srgbClr>
              </a:gs>
              <a:gs pos="100000">
                <a:srgbClr val="FFCA28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400050" y="504825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600" y="52482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5" name="Text 23"/>
          <p:cNvSpPr/>
          <p:nvPr/>
        </p:nvSpPr>
        <p:spPr>
          <a:xfrm>
            <a:off x="819150" y="5200650"/>
            <a:ext cx="5648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Empresas de todo el mundo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usan Big Data para alimentar modelos de IA que toman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decisiones mejores que las humanas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muchos casos.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75103" y="1338263"/>
            <a:ext cx="5029200" cy="3990975"/>
          </a:xfrm>
          <a:custGeom>
            <a:avLst/>
            <a:gdLst/>
            <a:ahLst/>
            <a:cxnLst/>
            <a:rect l="l" t="t" r="r" b="b"/>
            <a:pathLst>
              <a:path w="5029200" h="3990975">
                <a:moveTo>
                  <a:pt x="76188" y="0"/>
                </a:moveTo>
                <a:lnTo>
                  <a:pt x="4953012" y="0"/>
                </a:lnTo>
                <a:cubicBezTo>
                  <a:pt x="4995061" y="0"/>
                  <a:pt x="5029200" y="34139"/>
                  <a:pt x="5029200" y="76188"/>
                </a:cubicBezTo>
                <a:lnTo>
                  <a:pt x="5029200" y="3914787"/>
                </a:lnTo>
                <a:cubicBezTo>
                  <a:pt x="5029200" y="3956865"/>
                  <a:pt x="4995090" y="3990975"/>
                  <a:pt x="4953012" y="3990975"/>
                </a:cubicBezTo>
                <a:lnTo>
                  <a:pt x="76188" y="3990975"/>
                </a:lnTo>
                <a:cubicBezTo>
                  <a:pt x="34139" y="3990975"/>
                  <a:pt x="0" y="3956836"/>
                  <a:pt x="0" y="3914787"/>
                </a:cubicBezTo>
                <a:lnTo>
                  <a:pt x="0" y="76188"/>
                </a:lnTo>
                <a:cubicBezTo>
                  <a:pt x="0" y="34110"/>
                  <a:pt x="34110" y="0"/>
                  <a:pt x="76188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5F6B7A">
                  <a:alpha val="5000"/>
                </a:srgbClr>
              </a:gs>
            </a:gsLst>
            <a:lin ang="2700000" scaled="1"/>
          </a:gra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70365" y="15716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8" name="Text 26"/>
          <p:cNvSpPr/>
          <p:nvPr/>
        </p:nvSpPr>
        <p:spPr>
          <a:xfrm>
            <a:off x="7208490" y="1533525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¿Cómo Funciona?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70365" y="20978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0" name="Text 28"/>
          <p:cNvSpPr/>
          <p:nvPr/>
        </p:nvSpPr>
        <p:spPr>
          <a:xfrm>
            <a:off x="6937028" y="209788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89465" y="2097881"/>
            <a:ext cx="429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Recolección Masiva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89465" y="2364581"/>
            <a:ext cx="428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Sensores, transacciones, imágenes, wearables generan datos constantemente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70365" y="303609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4" name="Text 32"/>
          <p:cNvSpPr/>
          <p:nvPr/>
        </p:nvSpPr>
        <p:spPr>
          <a:xfrm>
            <a:off x="6937028" y="3036094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89465" y="3036094"/>
            <a:ext cx="407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Almacenamiento Escalable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89465" y="3302794"/>
            <a:ext cx="4067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computing guarda petabytes de información de forma eficiente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970365" y="378380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8" name="Text 36"/>
          <p:cNvSpPr/>
          <p:nvPr/>
        </p:nvSpPr>
        <p:spPr>
          <a:xfrm>
            <a:off x="6937028" y="3783806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89465" y="378380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Procesamiento Inteligente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89465" y="4050506"/>
            <a:ext cx="3648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Algoritmos de ML analizan patrones y extraen insights valiosos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70365" y="45315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2" name="Text 40"/>
          <p:cNvSpPr/>
          <p:nvPr/>
        </p:nvSpPr>
        <p:spPr>
          <a:xfrm>
            <a:off x="6937028" y="453151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389465" y="4531519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Acción Automatizada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89465" y="4798219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IA toma decisiones en tiempo real basadas en los datos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770340" y="5486400"/>
            <a:ext cx="5038725" cy="990600"/>
          </a:xfrm>
          <a:custGeom>
            <a:avLst/>
            <a:gdLst/>
            <a:ahLst/>
            <a:cxnLst/>
            <a:rect l="l" t="t" r="r" b="b"/>
            <a:pathLst>
              <a:path w="5038725" h="990600">
                <a:moveTo>
                  <a:pt x="76197" y="0"/>
                </a:moveTo>
                <a:lnTo>
                  <a:pt x="4962528" y="0"/>
                </a:lnTo>
                <a:cubicBezTo>
                  <a:pt x="5004610" y="0"/>
                  <a:pt x="5038725" y="34115"/>
                  <a:pt x="5038725" y="76197"/>
                </a:cubicBezTo>
                <a:lnTo>
                  <a:pt x="5038725" y="914403"/>
                </a:lnTo>
                <a:cubicBezTo>
                  <a:pt x="5038725" y="956485"/>
                  <a:pt x="5004610" y="990600"/>
                  <a:pt x="49625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922740" y="5695950"/>
            <a:ext cx="1533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Volumen de Datos Global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048107" y="5638800"/>
            <a:ext cx="72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175 ZB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922740" y="6019800"/>
            <a:ext cx="4733925" cy="76200"/>
          </a:xfrm>
          <a:custGeom>
            <a:avLst/>
            <a:gdLst/>
            <a:ahLst/>
            <a:cxnLst/>
            <a:rect l="l" t="t" r="r" b="b"/>
            <a:pathLst>
              <a:path w="4733925" h="76200">
                <a:moveTo>
                  <a:pt x="38100" y="0"/>
                </a:moveTo>
                <a:lnTo>
                  <a:pt x="4695825" y="0"/>
                </a:lnTo>
                <a:cubicBezTo>
                  <a:pt x="4716853" y="0"/>
                  <a:pt x="4733925" y="17072"/>
                  <a:pt x="4733925" y="38100"/>
                </a:cubicBezTo>
                <a:lnTo>
                  <a:pt x="4733925" y="38100"/>
                </a:lnTo>
                <a:cubicBezTo>
                  <a:pt x="4733925" y="59128"/>
                  <a:pt x="4716853" y="76200"/>
                  <a:pt x="46958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Shape 47"/>
          <p:cNvSpPr/>
          <p:nvPr/>
        </p:nvSpPr>
        <p:spPr>
          <a:xfrm>
            <a:off x="6922740" y="6019800"/>
            <a:ext cx="4029075" cy="76200"/>
          </a:xfrm>
          <a:custGeom>
            <a:avLst/>
            <a:gdLst/>
            <a:ahLst/>
            <a:cxnLst/>
            <a:rect l="l" t="t" r="r" b="b"/>
            <a:pathLst>
              <a:path w="4029075" h="76200">
                <a:moveTo>
                  <a:pt x="38100" y="0"/>
                </a:moveTo>
                <a:lnTo>
                  <a:pt x="3990975" y="0"/>
                </a:lnTo>
                <a:cubicBezTo>
                  <a:pt x="4012003" y="0"/>
                  <a:pt x="4029075" y="17072"/>
                  <a:pt x="4029075" y="38100"/>
                </a:cubicBezTo>
                <a:lnTo>
                  <a:pt x="4029075" y="38100"/>
                </a:lnTo>
                <a:cubicBezTo>
                  <a:pt x="4029075" y="59128"/>
                  <a:pt x="4012003" y="76200"/>
                  <a:pt x="39909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CA28"/>
              </a:gs>
            </a:gsLst>
            <a:lin ang="0" scaled="1"/>
          </a:gradFill>
          <a:ln/>
        </p:spPr>
      </p:sp>
      <p:sp>
        <p:nvSpPr>
          <p:cNvPr id="50" name="Text 48"/>
          <p:cNvSpPr/>
          <p:nvPr/>
        </p:nvSpPr>
        <p:spPr>
          <a:xfrm>
            <a:off x="6922740" y="6172200"/>
            <a:ext cx="4791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Proyección para 2025 (IDC)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edicaldevice-network.com/40ca384bb25231d676082f3e86aac4dc76cc855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710" b="171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9239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5" name="Shape 2"/>
          <p:cNvSpPr/>
          <p:nvPr/>
        </p:nvSpPr>
        <p:spPr>
          <a:xfrm>
            <a:off x="590550" y="11334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72263"/>
                </a:moveTo>
                <a:lnTo>
                  <a:pt x="161404" y="58333"/>
                </a:lnTo>
                <a:cubicBezTo>
                  <a:pt x="144661" y="35161"/>
                  <a:pt x="117805" y="21431"/>
                  <a:pt x="89141" y="21431"/>
                </a:cubicBezTo>
                <a:cubicBezTo>
                  <a:pt x="39916" y="21431"/>
                  <a:pt x="0" y="61347"/>
                  <a:pt x="0" y="110572"/>
                </a:cubicBezTo>
                <a:lnTo>
                  <a:pt x="0" y="112313"/>
                </a:lnTo>
                <a:cubicBezTo>
                  <a:pt x="0" y="128119"/>
                  <a:pt x="4152" y="144460"/>
                  <a:pt x="11117" y="160734"/>
                </a:cubicBezTo>
                <a:lnTo>
                  <a:pt x="82108" y="160734"/>
                </a:lnTo>
                <a:cubicBezTo>
                  <a:pt x="84252" y="160734"/>
                  <a:pt x="86194" y="159462"/>
                  <a:pt x="87064" y="157453"/>
                </a:cubicBezTo>
                <a:lnTo>
                  <a:pt x="108362" y="106353"/>
                </a:lnTo>
                <a:cubicBezTo>
                  <a:pt x="110840" y="100459"/>
                  <a:pt x="116599" y="96575"/>
                  <a:pt x="122962" y="96441"/>
                </a:cubicBezTo>
                <a:cubicBezTo>
                  <a:pt x="129324" y="96307"/>
                  <a:pt x="135218" y="100057"/>
                  <a:pt x="137830" y="105884"/>
                </a:cubicBezTo>
                <a:lnTo>
                  <a:pt x="172187" y="182166"/>
                </a:lnTo>
                <a:lnTo>
                  <a:pt x="199913" y="126712"/>
                </a:lnTo>
                <a:cubicBezTo>
                  <a:pt x="202659" y="121287"/>
                  <a:pt x="208218" y="117805"/>
                  <a:pt x="214313" y="117805"/>
                </a:cubicBezTo>
                <a:cubicBezTo>
                  <a:pt x="220407" y="117805"/>
                  <a:pt x="225966" y="121221"/>
                  <a:pt x="228712" y="126712"/>
                </a:cubicBezTo>
                <a:lnTo>
                  <a:pt x="244249" y="157721"/>
                </a:lnTo>
                <a:cubicBezTo>
                  <a:pt x="245187" y="159529"/>
                  <a:pt x="246995" y="160667"/>
                  <a:pt x="249071" y="160667"/>
                </a:cubicBezTo>
                <a:lnTo>
                  <a:pt x="331850" y="160667"/>
                </a:lnTo>
                <a:cubicBezTo>
                  <a:pt x="338882" y="144393"/>
                  <a:pt x="342967" y="128052"/>
                  <a:pt x="342967" y="112246"/>
                </a:cubicBezTo>
                <a:lnTo>
                  <a:pt x="342967" y="110505"/>
                </a:lnTo>
                <a:cubicBezTo>
                  <a:pt x="342900" y="61347"/>
                  <a:pt x="302984" y="21431"/>
                  <a:pt x="253759" y="21431"/>
                </a:cubicBezTo>
                <a:cubicBezTo>
                  <a:pt x="225162" y="21431"/>
                  <a:pt x="198239" y="35161"/>
                  <a:pt x="181496" y="58333"/>
                </a:cubicBezTo>
                <a:lnTo>
                  <a:pt x="171450" y="72197"/>
                </a:lnTo>
                <a:close/>
                <a:moveTo>
                  <a:pt x="314504" y="192881"/>
                </a:moveTo>
                <a:lnTo>
                  <a:pt x="249004" y="192881"/>
                </a:lnTo>
                <a:cubicBezTo>
                  <a:pt x="234806" y="192881"/>
                  <a:pt x="221813" y="184845"/>
                  <a:pt x="215451" y="172120"/>
                </a:cubicBezTo>
                <a:lnTo>
                  <a:pt x="214313" y="169843"/>
                </a:lnTo>
                <a:lnTo>
                  <a:pt x="185849" y="226836"/>
                </a:lnTo>
                <a:cubicBezTo>
                  <a:pt x="183103" y="232395"/>
                  <a:pt x="177344" y="235878"/>
                  <a:pt x="171115" y="235744"/>
                </a:cubicBezTo>
                <a:cubicBezTo>
                  <a:pt x="164887" y="235610"/>
                  <a:pt x="159328" y="231926"/>
                  <a:pt x="156783" y="226301"/>
                </a:cubicBezTo>
                <a:lnTo>
                  <a:pt x="123765" y="152966"/>
                </a:lnTo>
                <a:lnTo>
                  <a:pt x="116733" y="169843"/>
                </a:lnTo>
                <a:cubicBezTo>
                  <a:pt x="110907" y="183840"/>
                  <a:pt x="97244" y="192948"/>
                  <a:pt x="82108" y="192948"/>
                </a:cubicBezTo>
                <a:lnTo>
                  <a:pt x="28396" y="192948"/>
                </a:lnTo>
                <a:cubicBezTo>
                  <a:pt x="60008" y="242374"/>
                  <a:pt x="110773" y="287848"/>
                  <a:pt x="142518" y="312093"/>
                </a:cubicBezTo>
                <a:cubicBezTo>
                  <a:pt x="150822" y="318388"/>
                  <a:pt x="161002" y="321536"/>
                  <a:pt x="171383" y="321536"/>
                </a:cubicBezTo>
                <a:cubicBezTo>
                  <a:pt x="181764" y="321536"/>
                  <a:pt x="192011" y="318455"/>
                  <a:pt x="200248" y="312093"/>
                </a:cubicBezTo>
                <a:cubicBezTo>
                  <a:pt x="232127" y="287782"/>
                  <a:pt x="282892" y="242307"/>
                  <a:pt x="314504" y="19288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" name="Shape 3"/>
          <p:cNvSpPr/>
          <p:nvPr/>
        </p:nvSpPr>
        <p:spPr>
          <a:xfrm>
            <a:off x="1295400" y="12858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7" name="Shape 4"/>
          <p:cNvSpPr/>
          <p:nvPr/>
        </p:nvSpPr>
        <p:spPr>
          <a:xfrm>
            <a:off x="385763" y="1919288"/>
            <a:ext cx="1114425" cy="390525"/>
          </a:xfrm>
          <a:custGeom>
            <a:avLst/>
            <a:gdLst/>
            <a:ahLst/>
            <a:cxnLst/>
            <a:rect l="l" t="t" r="r" b="b"/>
            <a:pathLst>
              <a:path w="1114425" h="390525">
                <a:moveTo>
                  <a:pt x="195263" y="0"/>
                </a:moveTo>
                <a:lnTo>
                  <a:pt x="919162" y="0"/>
                </a:lnTo>
                <a:cubicBezTo>
                  <a:pt x="1026931" y="0"/>
                  <a:pt x="1114425" y="87494"/>
                  <a:pt x="1114425" y="195263"/>
                </a:cubicBezTo>
                <a:lnTo>
                  <a:pt x="1114425" y="195263"/>
                </a:lnTo>
                <a:cubicBezTo>
                  <a:pt x="1114425" y="303031"/>
                  <a:pt x="1026931" y="390525"/>
                  <a:pt x="919162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 w="12700">
            <a:solidFill>
              <a:srgbClr val="FFCA28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925" y="2028825"/>
            <a:ext cx="877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Sector 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2466975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Salud 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Diagnóstico Médico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3338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Detectando enfermedades temprano, personalizando tratamientos y salvando vidas con precisión milimétrica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5763" y="5462588"/>
            <a:ext cx="1962150" cy="466725"/>
          </a:xfrm>
          <a:custGeom>
            <a:avLst/>
            <a:gdLst/>
            <a:ahLst/>
            <a:cxnLst/>
            <a:rect l="l" t="t" r="r" b="b"/>
            <a:pathLst>
              <a:path w="1962150" h="466725">
                <a:moveTo>
                  <a:pt x="76202" y="0"/>
                </a:moveTo>
                <a:lnTo>
                  <a:pt x="1885948" y="0"/>
                </a:lnTo>
                <a:cubicBezTo>
                  <a:pt x="1928033" y="0"/>
                  <a:pt x="1962150" y="34117"/>
                  <a:pt x="1962150" y="76202"/>
                </a:cubicBezTo>
                <a:lnTo>
                  <a:pt x="1962150" y="390523"/>
                </a:lnTo>
                <a:cubicBezTo>
                  <a:pt x="1962150" y="432608"/>
                  <a:pt x="1928033" y="466725"/>
                  <a:pt x="188594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CA28">
              <a:alpha val="10196"/>
            </a:srgbClr>
          </a:solidFill>
          <a:ln w="12700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4838" y="5600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0"/>
                </a:moveTo>
                <a:cubicBezTo>
                  <a:pt x="55625" y="0"/>
                  <a:pt x="47625" y="8000"/>
                  <a:pt x="47625" y="17859"/>
                </a:cubicBezTo>
                <a:lnTo>
                  <a:pt x="47625" y="95250"/>
                </a:lnTo>
                <a:cubicBezTo>
                  <a:pt x="47625" y="105110"/>
                  <a:pt x="55625" y="113109"/>
                  <a:pt x="65484" y="113109"/>
                </a:cubicBezTo>
                <a:lnTo>
                  <a:pt x="89297" y="113109"/>
                </a:lnTo>
                <a:cubicBezTo>
                  <a:pt x="99157" y="113109"/>
                  <a:pt x="107156" y="105110"/>
                  <a:pt x="107156" y="95250"/>
                </a:cubicBezTo>
                <a:lnTo>
                  <a:pt x="107156" y="71438"/>
                </a:lnTo>
                <a:lnTo>
                  <a:pt x="119063" y="71438"/>
                </a:lnTo>
                <a:cubicBezTo>
                  <a:pt x="145368" y="71438"/>
                  <a:pt x="166688" y="92757"/>
                  <a:pt x="166688" y="119063"/>
                </a:cubicBezTo>
                <a:cubicBezTo>
                  <a:pt x="166688" y="145368"/>
                  <a:pt x="145368" y="166688"/>
                  <a:pt x="119063" y="166688"/>
                </a:cubicBezTo>
                <a:lnTo>
                  <a:pt x="11906" y="166688"/>
                </a:lnTo>
                <a:cubicBezTo>
                  <a:pt x="5321" y="166688"/>
                  <a:pt x="0" y="172008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2008"/>
                  <a:pt x="185179" y="166688"/>
                  <a:pt x="178594" y="166688"/>
                </a:cubicBezTo>
                <a:lnTo>
                  <a:pt x="172306" y="166688"/>
                </a:lnTo>
                <a:cubicBezTo>
                  <a:pt x="183617" y="154037"/>
                  <a:pt x="190500" y="137368"/>
                  <a:pt x="190500" y="119063"/>
                </a:cubicBezTo>
                <a:cubicBezTo>
                  <a:pt x="190500" y="79623"/>
                  <a:pt x="158502" y="47625"/>
                  <a:pt x="119063" y="47625"/>
                </a:cubicBezTo>
                <a:lnTo>
                  <a:pt x="107156" y="47625"/>
                </a:lnTo>
                <a:lnTo>
                  <a:pt x="107156" y="17859"/>
                </a:lnTo>
                <a:cubicBezTo>
                  <a:pt x="107156" y="8000"/>
                  <a:pt x="99157" y="0"/>
                  <a:pt x="89297" y="0"/>
                </a:cubicBezTo>
                <a:lnTo>
                  <a:pt x="65484" y="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110133" y="148828"/>
                </a:lnTo>
                <a:cubicBezTo>
                  <a:pt x="115081" y="148828"/>
                  <a:pt x="119063" y="144847"/>
                  <a:pt x="119063" y="139898"/>
                </a:cubicBezTo>
                <a:cubicBezTo>
                  <a:pt x="119063" y="134950"/>
                  <a:pt x="115081" y="130969"/>
                  <a:pt x="110133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3" name="Text 10"/>
          <p:cNvSpPr/>
          <p:nvPr/>
        </p:nvSpPr>
        <p:spPr>
          <a:xfrm>
            <a:off x="933450" y="558165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Imágenes Médicas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586484" y="5462588"/>
            <a:ext cx="2076450" cy="466725"/>
          </a:xfrm>
          <a:custGeom>
            <a:avLst/>
            <a:gdLst/>
            <a:ahLst/>
            <a:cxnLst/>
            <a:rect l="l" t="t" r="r" b="b"/>
            <a:pathLst>
              <a:path w="2076450" h="466725">
                <a:moveTo>
                  <a:pt x="76202" y="0"/>
                </a:moveTo>
                <a:lnTo>
                  <a:pt x="2000248" y="0"/>
                </a:lnTo>
                <a:cubicBezTo>
                  <a:pt x="2042333" y="0"/>
                  <a:pt x="2076450" y="34117"/>
                  <a:pt x="2076450" y="76202"/>
                </a:cubicBezTo>
                <a:lnTo>
                  <a:pt x="2076450" y="390523"/>
                </a:lnTo>
                <a:cubicBezTo>
                  <a:pt x="2076450" y="432608"/>
                  <a:pt x="2042333" y="466725"/>
                  <a:pt x="200024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05559" y="5600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6" name="Text 13"/>
          <p:cNvSpPr/>
          <p:nvPr/>
        </p:nvSpPr>
        <p:spPr>
          <a:xfrm>
            <a:off x="3134171" y="558165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Modelos Predictivos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Salud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Procesamiento de Imágenes Médicas con CNNs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00163"/>
            <a:ext cx="6734175" cy="1724025"/>
          </a:xfrm>
          <a:custGeom>
            <a:avLst/>
            <a:gdLst/>
            <a:ahLst/>
            <a:cxnLst/>
            <a:rect l="l" t="t" r="r" b="b"/>
            <a:pathLst>
              <a:path w="6734175" h="1724025">
                <a:moveTo>
                  <a:pt x="76202" y="0"/>
                </a:moveTo>
                <a:lnTo>
                  <a:pt x="6657973" y="0"/>
                </a:lnTo>
                <a:cubicBezTo>
                  <a:pt x="6700058" y="0"/>
                  <a:pt x="6734175" y="34117"/>
                  <a:pt x="6734175" y="76202"/>
                </a:cubicBezTo>
                <a:lnTo>
                  <a:pt x="6734175" y="1647823"/>
                </a:lnTo>
                <a:cubicBezTo>
                  <a:pt x="6734175" y="1689908"/>
                  <a:pt x="6700058" y="1724025"/>
                  <a:pt x="6657973" y="1724025"/>
                </a:cubicBezTo>
                <a:lnTo>
                  <a:pt x="76202" y="1724025"/>
                </a:lnTo>
                <a:cubicBezTo>
                  <a:pt x="34117" y="1724025"/>
                  <a:pt x="0" y="1689908"/>
                  <a:pt x="0" y="16478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CA28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495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7" name="Shape 5"/>
          <p:cNvSpPr/>
          <p:nvPr/>
        </p:nvSpPr>
        <p:spPr>
          <a:xfrm>
            <a:off x="719138" y="16478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266825" y="1495425"/>
            <a:ext cx="575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CA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"Ojos Superpotenciados"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6825" y="1838325"/>
            <a:ext cx="57340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Redes Neuronales Convolucionales (CNNs)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analizan imágenes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pixel por pixel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encontrar anomalías invisibles al ojo humano. Detectan cáncer en mamografías, pulmones o páncreas con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 igual o superior a radiólogos expertos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y mucho más rápido.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3186113"/>
            <a:ext cx="6734175" cy="2924175"/>
          </a:xfrm>
          <a:custGeom>
            <a:avLst/>
            <a:gdLst/>
            <a:ahLst/>
            <a:cxnLst/>
            <a:rect l="l" t="t" r="r" b="b"/>
            <a:pathLst>
              <a:path w="6734175" h="2924175">
                <a:moveTo>
                  <a:pt x="76204" y="0"/>
                </a:moveTo>
                <a:lnTo>
                  <a:pt x="6657971" y="0"/>
                </a:lnTo>
                <a:cubicBezTo>
                  <a:pt x="6700029" y="0"/>
                  <a:pt x="6734175" y="34146"/>
                  <a:pt x="6734175" y="76204"/>
                </a:cubicBezTo>
                <a:lnTo>
                  <a:pt x="6734175" y="2847971"/>
                </a:lnTo>
                <a:cubicBezTo>
                  <a:pt x="6734175" y="2890057"/>
                  <a:pt x="6700057" y="2924175"/>
                  <a:pt x="6657971" y="2924175"/>
                </a:cubicBezTo>
                <a:lnTo>
                  <a:pt x="76204" y="2924175"/>
                </a:lnTo>
                <a:cubicBezTo>
                  <a:pt x="34146" y="2924175"/>
                  <a:pt x="0" y="2890029"/>
                  <a:pt x="0" y="28479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122" y="34290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42863" y="21431"/>
                </a:moveTo>
                <a:cubicBezTo>
                  <a:pt x="42863" y="9611"/>
                  <a:pt x="52473" y="0"/>
                  <a:pt x="64294" y="0"/>
                </a:cubicBezTo>
                <a:lnTo>
                  <a:pt x="128588" y="0"/>
                </a:lnTo>
                <a:cubicBezTo>
                  <a:pt x="140408" y="0"/>
                  <a:pt x="150019" y="9611"/>
                  <a:pt x="150019" y="21431"/>
                </a:cubicBezTo>
                <a:lnTo>
                  <a:pt x="150019" y="42863"/>
                </a:lnTo>
                <a:lnTo>
                  <a:pt x="171450" y="42863"/>
                </a:lnTo>
                <a:cubicBezTo>
                  <a:pt x="183271" y="42863"/>
                  <a:pt x="192881" y="52473"/>
                  <a:pt x="192881" y="64294"/>
                </a:cubicBezTo>
                <a:lnTo>
                  <a:pt x="192881" y="150019"/>
                </a:lnTo>
                <a:cubicBezTo>
                  <a:pt x="192881" y="161839"/>
                  <a:pt x="183271" y="171450"/>
                  <a:pt x="171450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64294"/>
                </a:lnTo>
                <a:cubicBezTo>
                  <a:pt x="0" y="52473"/>
                  <a:pt x="9611" y="42863"/>
                  <a:pt x="21431" y="42863"/>
                </a:cubicBezTo>
                <a:lnTo>
                  <a:pt x="42863" y="42863"/>
                </a:lnTo>
                <a:lnTo>
                  <a:pt x="42863" y="21431"/>
                </a:lnTo>
                <a:close/>
                <a:moveTo>
                  <a:pt x="91083" y="117872"/>
                </a:moveTo>
                <a:cubicBezTo>
                  <a:pt x="85156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112514" y="155377"/>
                </a:lnTo>
                <a:lnTo>
                  <a:pt x="112514" y="128588"/>
                </a:lnTo>
                <a:cubicBezTo>
                  <a:pt x="112514" y="122660"/>
                  <a:pt x="107726" y="117872"/>
                  <a:pt x="101798" y="117872"/>
                </a:cubicBezTo>
                <a:lnTo>
                  <a:pt x="91083" y="117872"/>
                </a:lnTo>
                <a:close/>
                <a:moveTo>
                  <a:pt x="42863" y="123230"/>
                </a:moveTo>
                <a:lnTo>
                  <a:pt x="42863" y="112514"/>
                </a:lnTo>
                <a:cubicBezTo>
                  <a:pt x="42863" y="109567"/>
                  <a:pt x="40451" y="107156"/>
                  <a:pt x="37505" y="107156"/>
                </a:cubicBezTo>
                <a:lnTo>
                  <a:pt x="26789" y="107156"/>
                </a:lnTo>
                <a:cubicBezTo>
                  <a:pt x="23842" y="107156"/>
                  <a:pt x="21431" y="109567"/>
                  <a:pt x="21431" y="112514"/>
                </a:cubicBezTo>
                <a:lnTo>
                  <a:pt x="21431" y="123230"/>
                </a:lnTo>
                <a:cubicBezTo>
                  <a:pt x="21431" y="126176"/>
                  <a:pt x="23842" y="128588"/>
                  <a:pt x="26789" y="128588"/>
                </a:cubicBezTo>
                <a:lnTo>
                  <a:pt x="37505" y="128588"/>
                </a:lnTo>
                <a:cubicBezTo>
                  <a:pt x="40451" y="128588"/>
                  <a:pt x="42863" y="126176"/>
                  <a:pt x="42863" y="123230"/>
                </a:cubicBezTo>
                <a:close/>
                <a:moveTo>
                  <a:pt x="37505" y="85725"/>
                </a:moveTo>
                <a:cubicBezTo>
                  <a:pt x="40451" y="85725"/>
                  <a:pt x="42863" y="83314"/>
                  <a:pt x="42863" y="80367"/>
                </a:cubicBezTo>
                <a:lnTo>
                  <a:pt x="42863" y="69652"/>
                </a:lnTo>
                <a:cubicBezTo>
                  <a:pt x="42863" y="66705"/>
                  <a:pt x="40451" y="64294"/>
                  <a:pt x="37505" y="64294"/>
                </a:cubicBezTo>
                <a:lnTo>
                  <a:pt x="26789" y="64294"/>
                </a:lnTo>
                <a:cubicBezTo>
                  <a:pt x="23842" y="64294"/>
                  <a:pt x="21431" y="66705"/>
                  <a:pt x="21431" y="69652"/>
                </a:cubicBezTo>
                <a:lnTo>
                  <a:pt x="21431" y="80367"/>
                </a:lnTo>
                <a:cubicBezTo>
                  <a:pt x="21431" y="83314"/>
                  <a:pt x="23842" y="85725"/>
                  <a:pt x="26789" y="85725"/>
                </a:cubicBezTo>
                <a:lnTo>
                  <a:pt x="37505" y="85725"/>
                </a:lnTo>
                <a:close/>
                <a:moveTo>
                  <a:pt x="171450" y="123230"/>
                </a:moveTo>
                <a:lnTo>
                  <a:pt x="171450" y="112514"/>
                </a:lnTo>
                <a:cubicBezTo>
                  <a:pt x="171450" y="109567"/>
                  <a:pt x="169039" y="107156"/>
                  <a:pt x="166092" y="107156"/>
                </a:cubicBezTo>
                <a:lnTo>
                  <a:pt x="155377" y="107156"/>
                </a:lnTo>
                <a:cubicBezTo>
                  <a:pt x="152430" y="107156"/>
                  <a:pt x="150019" y="109567"/>
                  <a:pt x="150019" y="112514"/>
                </a:cubicBezTo>
                <a:lnTo>
                  <a:pt x="150019" y="123230"/>
                </a:lnTo>
                <a:cubicBezTo>
                  <a:pt x="150019" y="126176"/>
                  <a:pt x="152430" y="128588"/>
                  <a:pt x="155377" y="128588"/>
                </a:cubicBezTo>
                <a:lnTo>
                  <a:pt x="166092" y="128588"/>
                </a:lnTo>
                <a:cubicBezTo>
                  <a:pt x="169039" y="128588"/>
                  <a:pt x="171450" y="126176"/>
                  <a:pt x="171450" y="123230"/>
                </a:cubicBezTo>
                <a:close/>
                <a:moveTo>
                  <a:pt x="166092" y="85725"/>
                </a:moveTo>
                <a:cubicBezTo>
                  <a:pt x="169039" y="85725"/>
                  <a:pt x="171450" y="83314"/>
                  <a:pt x="171450" y="80367"/>
                </a:cubicBezTo>
                <a:lnTo>
                  <a:pt x="171450" y="69652"/>
                </a:lnTo>
                <a:cubicBezTo>
                  <a:pt x="171450" y="66705"/>
                  <a:pt x="169039" y="64294"/>
                  <a:pt x="166092" y="64294"/>
                </a:cubicBezTo>
                <a:lnTo>
                  <a:pt x="155377" y="64294"/>
                </a:lnTo>
                <a:cubicBezTo>
                  <a:pt x="152430" y="64294"/>
                  <a:pt x="150019" y="66705"/>
                  <a:pt x="150019" y="69652"/>
                </a:cubicBezTo>
                <a:lnTo>
                  <a:pt x="150019" y="80367"/>
                </a:lnTo>
                <a:cubicBezTo>
                  <a:pt x="150019" y="83314"/>
                  <a:pt x="152430" y="85725"/>
                  <a:pt x="155377" y="85725"/>
                </a:cubicBezTo>
                <a:lnTo>
                  <a:pt x="166092" y="85725"/>
                </a:lnTo>
                <a:close/>
                <a:moveTo>
                  <a:pt x="88404" y="34826"/>
                </a:moveTo>
                <a:lnTo>
                  <a:pt x="88404" y="45541"/>
                </a:lnTo>
                <a:lnTo>
                  <a:pt x="77688" y="45541"/>
                </a:lnTo>
                <a:cubicBezTo>
                  <a:pt x="74741" y="45541"/>
                  <a:pt x="72330" y="47952"/>
                  <a:pt x="72330" y="50899"/>
                </a:cubicBezTo>
                <a:lnTo>
                  <a:pt x="72330" y="56257"/>
                </a:lnTo>
                <a:cubicBezTo>
                  <a:pt x="72330" y="59204"/>
                  <a:pt x="74741" y="61615"/>
                  <a:pt x="77688" y="61615"/>
                </a:cubicBezTo>
                <a:lnTo>
                  <a:pt x="88404" y="61615"/>
                </a:lnTo>
                <a:lnTo>
                  <a:pt x="88404" y="72330"/>
                </a:lnTo>
                <a:cubicBezTo>
                  <a:pt x="88404" y="75277"/>
                  <a:pt x="90815" y="77688"/>
                  <a:pt x="93762" y="77688"/>
                </a:cubicBezTo>
                <a:lnTo>
                  <a:pt x="99120" y="77688"/>
                </a:lnTo>
                <a:cubicBezTo>
                  <a:pt x="102066" y="77688"/>
                  <a:pt x="104477" y="75277"/>
                  <a:pt x="104477" y="72330"/>
                </a:cubicBezTo>
                <a:lnTo>
                  <a:pt x="104477" y="61615"/>
                </a:lnTo>
                <a:lnTo>
                  <a:pt x="115193" y="61615"/>
                </a:lnTo>
                <a:cubicBezTo>
                  <a:pt x="118140" y="61615"/>
                  <a:pt x="120551" y="59204"/>
                  <a:pt x="120551" y="56257"/>
                </a:cubicBezTo>
                <a:lnTo>
                  <a:pt x="120551" y="50899"/>
                </a:lnTo>
                <a:cubicBezTo>
                  <a:pt x="120551" y="47952"/>
                  <a:pt x="118140" y="45541"/>
                  <a:pt x="115193" y="45541"/>
                </a:cubicBezTo>
                <a:lnTo>
                  <a:pt x="104477" y="45541"/>
                </a:lnTo>
                <a:lnTo>
                  <a:pt x="104477" y="34826"/>
                </a:lnTo>
                <a:cubicBezTo>
                  <a:pt x="104477" y="31879"/>
                  <a:pt x="102066" y="29468"/>
                  <a:pt x="99120" y="29468"/>
                </a:cubicBezTo>
                <a:lnTo>
                  <a:pt x="93762" y="29468"/>
                </a:lnTo>
                <a:cubicBezTo>
                  <a:pt x="90815" y="29468"/>
                  <a:pt x="88404" y="31879"/>
                  <a:pt x="88404" y="3482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" y="3381375"/>
            <a:ext cx="621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Ejemplos Reales en 2026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3876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Text 12"/>
          <p:cNvSpPr/>
          <p:nvPr/>
        </p:nvSpPr>
        <p:spPr>
          <a:xfrm>
            <a:off x="771525" y="3800475"/>
            <a:ext cx="622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China - Cáncer de Páncreas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1525" y="4067175"/>
            <a:ext cx="62198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Herramientas de IA analizan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tomografías computarizadas (CT) rutinarias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detectar cáncer de páncreas temprano. Un sistema identifica tumores que los doctores podrían pasar por alto.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1025" y="469106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7" name="Text 15"/>
          <p:cNvSpPr/>
          <p:nvPr/>
        </p:nvSpPr>
        <p:spPr>
          <a:xfrm>
            <a:off x="771525" y="4614863"/>
            <a:ext cx="622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Reino Unido y Canadá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1525" y="4881563"/>
            <a:ext cx="62198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en programas de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screening de mama y ojo diabético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alcanza precisiones del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96-99%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reduciendo falsos negativos y acelerando diagnósticos.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025" y="55054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771525" y="5429250"/>
            <a:ext cx="607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Health y NHS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1525" y="5695950"/>
            <a:ext cx="6067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Usan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de millones de imágenes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entrenar modelos que mejoran continuamente su precisión.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9963" y="1300163"/>
            <a:ext cx="4486275" cy="3086100"/>
          </a:xfrm>
          <a:custGeom>
            <a:avLst/>
            <a:gdLst/>
            <a:ahLst/>
            <a:cxnLst/>
            <a:rect l="l" t="t" r="r" b="b"/>
            <a:pathLst>
              <a:path w="4486275" h="3086100">
                <a:moveTo>
                  <a:pt x="76196" y="0"/>
                </a:moveTo>
                <a:lnTo>
                  <a:pt x="4410079" y="0"/>
                </a:lnTo>
                <a:cubicBezTo>
                  <a:pt x="4452161" y="0"/>
                  <a:pt x="4486275" y="34114"/>
                  <a:pt x="4486275" y="76196"/>
                </a:cubicBezTo>
                <a:lnTo>
                  <a:pt x="4486275" y="3009904"/>
                </a:lnTo>
                <a:cubicBezTo>
                  <a:pt x="4486275" y="3051986"/>
                  <a:pt x="4452161" y="3086100"/>
                  <a:pt x="4410079" y="3086100"/>
                </a:cubicBezTo>
                <a:lnTo>
                  <a:pt x="76196" y="3086100"/>
                </a:lnTo>
                <a:cubicBezTo>
                  <a:pt x="34114" y="3086100"/>
                  <a:pt x="0" y="3051986"/>
                  <a:pt x="0" y="30099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5F6B7A">
                  <a:alpha val="5000"/>
                </a:srgbClr>
              </a:gs>
            </a:gsLst>
            <a:lin ang="2700000" scaled="1"/>
          </a:gradFill>
          <a:ln w="12700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2363" y="1495425"/>
            <a:ext cx="418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Precisión de Diagnóstico</a:t>
            </a:r>
            <a:endParaRPr lang="en-US" sz="1600" dirty="0"/>
          </a:p>
        </p:txBody>
      </p:sp>
      <p:pic>
        <p:nvPicPr>
          <p:cNvPr id="24" name="Image 0" descr="https://kimi-img.moonshot.cn/pub/slides/26-02-19-20:13:47-d6bfsusomnmd85mbgoa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15225" y="1914525"/>
            <a:ext cx="4095750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25" name="Shape 22"/>
          <p:cNvSpPr/>
          <p:nvPr/>
        </p:nvSpPr>
        <p:spPr>
          <a:xfrm>
            <a:off x="7319963" y="4543425"/>
            <a:ext cx="4486275" cy="1038225"/>
          </a:xfrm>
          <a:custGeom>
            <a:avLst/>
            <a:gdLst/>
            <a:ahLst/>
            <a:cxnLst/>
            <a:rect l="l" t="t" r="r" b="b"/>
            <a:pathLst>
              <a:path w="4486275" h="1038225">
                <a:moveTo>
                  <a:pt x="76195" y="0"/>
                </a:moveTo>
                <a:lnTo>
                  <a:pt x="4410080" y="0"/>
                </a:lnTo>
                <a:cubicBezTo>
                  <a:pt x="4452161" y="0"/>
                  <a:pt x="4486275" y="34114"/>
                  <a:pt x="4486275" y="76195"/>
                </a:cubicBezTo>
                <a:lnTo>
                  <a:pt x="4486275" y="962030"/>
                </a:lnTo>
                <a:cubicBezTo>
                  <a:pt x="4486275" y="1004111"/>
                  <a:pt x="4452161" y="1038225"/>
                  <a:pt x="441008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FFCA28">
              <a:alpha val="10196"/>
            </a:srgbClr>
          </a:solidFill>
          <a:ln w="12700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77125" y="4757738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Tiempo de Análisis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998696" y="4700588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1 min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477125" y="5176838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Precisión Promedio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054655" y="5119688"/>
            <a:ext cx="70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97.5%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334250" y="5738813"/>
            <a:ext cx="4476750" cy="742950"/>
          </a:xfrm>
          <a:custGeom>
            <a:avLst/>
            <a:gdLst/>
            <a:ahLst/>
            <a:cxnLst/>
            <a:rect l="l" t="t" r="r" b="b"/>
            <a:pathLst>
              <a:path w="4476750" h="742950">
                <a:moveTo>
                  <a:pt x="38100" y="0"/>
                </a:moveTo>
                <a:lnTo>
                  <a:pt x="4400553" y="0"/>
                </a:lnTo>
                <a:cubicBezTo>
                  <a:pt x="4442635" y="0"/>
                  <a:pt x="4476750" y="34115"/>
                  <a:pt x="4476750" y="76197"/>
                </a:cubicBezTo>
                <a:lnTo>
                  <a:pt x="4476750" y="666753"/>
                </a:lnTo>
                <a:cubicBezTo>
                  <a:pt x="4476750" y="708835"/>
                  <a:pt x="4442635" y="742950"/>
                  <a:pt x="4400553" y="742950"/>
                </a:cubicBezTo>
                <a:lnTo>
                  <a:pt x="38100" y="742950"/>
                </a:lnTo>
                <a:cubicBezTo>
                  <a:pt x="17072" y="742950"/>
                  <a:pt x="0" y="725878"/>
                  <a:pt x="0" y="704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1" name="Shape 28"/>
          <p:cNvSpPr/>
          <p:nvPr/>
        </p:nvSpPr>
        <p:spPr>
          <a:xfrm>
            <a:off x="7334250" y="5738813"/>
            <a:ext cx="38100" cy="742950"/>
          </a:xfrm>
          <a:custGeom>
            <a:avLst/>
            <a:gdLst/>
            <a:ahLst/>
            <a:cxnLst/>
            <a:rect l="l" t="t" r="r" b="b"/>
            <a:pathLst>
              <a:path w="38100" h="742950">
                <a:moveTo>
                  <a:pt x="38100" y="0"/>
                </a:moveTo>
                <a:lnTo>
                  <a:pt x="38100" y="0"/>
                </a:lnTo>
                <a:lnTo>
                  <a:pt x="38100" y="742950"/>
                </a:lnTo>
                <a:lnTo>
                  <a:pt x="38100" y="742950"/>
                </a:lnTo>
                <a:cubicBezTo>
                  <a:pt x="17072" y="742950"/>
                  <a:pt x="0" y="725878"/>
                  <a:pt x="0" y="704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Shape 29"/>
          <p:cNvSpPr/>
          <p:nvPr/>
        </p:nvSpPr>
        <p:spPr>
          <a:xfrm>
            <a:off x="7524750" y="592931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3" name="Text 30"/>
          <p:cNvSpPr/>
          <p:nvPr/>
        </p:nvSpPr>
        <p:spPr>
          <a:xfrm>
            <a:off x="7734300" y="5891213"/>
            <a:ext cx="3990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Impacto: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Cirugías a tiempo, aumento de supervivencia y reducción de costos médicos.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1000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Salud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Predictivos y Detección de Sesgos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262063"/>
            <a:ext cx="5629275" cy="1400175"/>
          </a:xfrm>
          <a:custGeom>
            <a:avLst/>
            <a:gdLst/>
            <a:ahLst/>
            <a:cxnLst/>
            <a:rect l="l" t="t" r="r" b="b"/>
            <a:pathLst>
              <a:path w="5629275" h="1400175">
                <a:moveTo>
                  <a:pt x="76198" y="0"/>
                </a:moveTo>
                <a:lnTo>
                  <a:pt x="5553077" y="0"/>
                </a:lnTo>
                <a:cubicBezTo>
                  <a:pt x="5595160" y="0"/>
                  <a:pt x="5629275" y="34115"/>
                  <a:pt x="5629275" y="76198"/>
                </a:cubicBezTo>
                <a:lnTo>
                  <a:pt x="5629275" y="1323977"/>
                </a:lnTo>
                <a:cubicBezTo>
                  <a:pt x="5629275" y="1366060"/>
                  <a:pt x="5595160" y="1400175"/>
                  <a:pt x="555307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676275" y="1552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152525" y="1419225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Predicción de Brotes y Riesgos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525" y="1762125"/>
            <a:ext cx="4781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Analizando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clínicos, genéticos, búsquedas en internet y movilidad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la IA predice brotes epidémicos o riesgos individuales como probabilidad de diabetes o recaídas.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2786063"/>
            <a:ext cx="5629275" cy="3800475"/>
          </a:xfrm>
          <a:custGeom>
            <a:avLst/>
            <a:gdLst/>
            <a:ahLst/>
            <a:cxnLst/>
            <a:rect l="l" t="t" r="r" b="b"/>
            <a:pathLst>
              <a:path w="5629275" h="3800475">
                <a:moveTo>
                  <a:pt x="76200" y="0"/>
                </a:moveTo>
                <a:lnTo>
                  <a:pt x="5553075" y="0"/>
                </a:lnTo>
                <a:cubicBezTo>
                  <a:pt x="5595159" y="0"/>
                  <a:pt x="5629275" y="34116"/>
                  <a:pt x="5629275" y="76200"/>
                </a:cubicBezTo>
                <a:lnTo>
                  <a:pt x="5629275" y="3724275"/>
                </a:lnTo>
                <a:cubicBezTo>
                  <a:pt x="5629275" y="3766359"/>
                  <a:pt x="5595159" y="3800475"/>
                  <a:pt x="5553075" y="3800475"/>
                </a:cubicBezTo>
                <a:lnTo>
                  <a:pt x="76200" y="3800475"/>
                </a:lnTo>
                <a:cubicBezTo>
                  <a:pt x="34116" y="3800475"/>
                  <a:pt x="0" y="3766359"/>
                  <a:pt x="0" y="37242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5306" y="29908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21431" y="21431"/>
                </a:moveTo>
                <a:cubicBezTo>
                  <a:pt x="21431" y="9611"/>
                  <a:pt x="31042" y="0"/>
                  <a:pt x="42863" y="0"/>
                </a:cubicBezTo>
                <a:lnTo>
                  <a:pt x="128588" y="0"/>
                </a:lnTo>
                <a:cubicBezTo>
                  <a:pt x="140408" y="0"/>
                  <a:pt x="150019" y="9611"/>
                  <a:pt x="150019" y="21431"/>
                </a:cubicBezTo>
                <a:lnTo>
                  <a:pt x="150019" y="62050"/>
                </a:lnTo>
                <a:cubicBezTo>
                  <a:pt x="134314" y="68413"/>
                  <a:pt x="123230" y="83816"/>
                  <a:pt x="123230" y="101798"/>
                </a:cubicBezTo>
                <a:cubicBezTo>
                  <a:pt x="123230" y="111074"/>
                  <a:pt x="126176" y="119680"/>
                  <a:pt x="131199" y="126712"/>
                </a:cubicBezTo>
                <a:cubicBezTo>
                  <a:pt x="113954" y="133744"/>
                  <a:pt x="101798" y="150688"/>
                  <a:pt x="101798" y="170479"/>
                </a:cubicBezTo>
                <a:cubicBezTo>
                  <a:pt x="101798" y="170814"/>
                  <a:pt x="101798" y="171115"/>
                  <a:pt x="101798" y="171450"/>
                </a:cubicBezTo>
                <a:lnTo>
                  <a:pt x="42863" y="171450"/>
                </a:lnTo>
                <a:cubicBezTo>
                  <a:pt x="31042" y="171450"/>
                  <a:pt x="21431" y="161839"/>
                  <a:pt x="21431" y="150019"/>
                </a:cubicBezTo>
                <a:lnTo>
                  <a:pt x="21431" y="21431"/>
                </a:lnTo>
                <a:close/>
                <a:moveTo>
                  <a:pt x="69652" y="133945"/>
                </a:moveTo>
                <a:lnTo>
                  <a:pt x="69652" y="155377"/>
                </a:lnTo>
                <a:lnTo>
                  <a:pt x="87533" y="155377"/>
                </a:lnTo>
                <a:cubicBezTo>
                  <a:pt x="89944" y="145532"/>
                  <a:pt x="94666" y="136591"/>
                  <a:pt x="101062" y="129157"/>
                </a:cubicBezTo>
                <a:cubicBezTo>
                  <a:pt x="99019" y="122627"/>
                  <a:pt x="92925" y="117872"/>
                  <a:pt x="85725" y="117872"/>
                </a:cubicBezTo>
                <a:cubicBezTo>
                  <a:pt x="76851" y="117872"/>
                  <a:pt x="69652" y="125071"/>
                  <a:pt x="69652" y="133945"/>
                </a:cubicBezTo>
                <a:close/>
                <a:moveTo>
                  <a:pt x="83046" y="29468"/>
                </a:moveTo>
                <a:cubicBezTo>
                  <a:pt x="80099" y="29468"/>
                  <a:pt x="77688" y="31879"/>
                  <a:pt x="77688" y="34826"/>
                </a:cubicBezTo>
                <a:lnTo>
                  <a:pt x="77688" y="45541"/>
                </a:lnTo>
                <a:lnTo>
                  <a:pt x="66973" y="45541"/>
                </a:lnTo>
                <a:cubicBezTo>
                  <a:pt x="64026" y="45541"/>
                  <a:pt x="61615" y="47952"/>
                  <a:pt x="61615" y="50899"/>
                </a:cubicBezTo>
                <a:lnTo>
                  <a:pt x="61615" y="56257"/>
                </a:lnTo>
                <a:cubicBezTo>
                  <a:pt x="61615" y="59204"/>
                  <a:pt x="64026" y="61615"/>
                  <a:pt x="66973" y="61615"/>
                </a:cubicBezTo>
                <a:lnTo>
                  <a:pt x="77688" y="61615"/>
                </a:lnTo>
                <a:lnTo>
                  <a:pt x="77688" y="72330"/>
                </a:lnTo>
                <a:cubicBezTo>
                  <a:pt x="77688" y="75277"/>
                  <a:pt x="80099" y="77688"/>
                  <a:pt x="83046" y="77688"/>
                </a:cubicBezTo>
                <a:lnTo>
                  <a:pt x="88404" y="77688"/>
                </a:lnTo>
                <a:cubicBezTo>
                  <a:pt x="91351" y="77688"/>
                  <a:pt x="93762" y="75277"/>
                  <a:pt x="93762" y="72330"/>
                </a:cubicBezTo>
                <a:lnTo>
                  <a:pt x="93762" y="61615"/>
                </a:lnTo>
                <a:lnTo>
                  <a:pt x="104477" y="61615"/>
                </a:lnTo>
                <a:cubicBezTo>
                  <a:pt x="107424" y="61615"/>
                  <a:pt x="109835" y="59204"/>
                  <a:pt x="109835" y="56257"/>
                </a:cubicBezTo>
                <a:lnTo>
                  <a:pt x="109835" y="50899"/>
                </a:lnTo>
                <a:cubicBezTo>
                  <a:pt x="109835" y="47952"/>
                  <a:pt x="107424" y="45541"/>
                  <a:pt x="104477" y="45541"/>
                </a:cubicBezTo>
                <a:lnTo>
                  <a:pt x="93762" y="45541"/>
                </a:lnTo>
                <a:lnTo>
                  <a:pt x="93762" y="34826"/>
                </a:lnTo>
                <a:cubicBezTo>
                  <a:pt x="93762" y="31879"/>
                  <a:pt x="91351" y="29468"/>
                  <a:pt x="88404" y="29468"/>
                </a:cubicBezTo>
                <a:lnTo>
                  <a:pt x="83046" y="29468"/>
                </a:lnTo>
                <a:close/>
                <a:moveTo>
                  <a:pt x="139303" y="101798"/>
                </a:moveTo>
                <a:cubicBezTo>
                  <a:pt x="139303" y="87013"/>
                  <a:pt x="151307" y="75009"/>
                  <a:pt x="166092" y="75009"/>
                </a:cubicBezTo>
                <a:cubicBezTo>
                  <a:pt x="180877" y="75009"/>
                  <a:pt x="192881" y="87013"/>
                  <a:pt x="192881" y="101798"/>
                </a:cubicBezTo>
                <a:cubicBezTo>
                  <a:pt x="192881" y="116584"/>
                  <a:pt x="180877" y="128588"/>
                  <a:pt x="166092" y="128588"/>
                </a:cubicBezTo>
                <a:cubicBezTo>
                  <a:pt x="151307" y="128588"/>
                  <a:pt x="139303" y="116584"/>
                  <a:pt x="139303" y="101798"/>
                </a:cubicBezTo>
                <a:close/>
                <a:moveTo>
                  <a:pt x="117872" y="171450"/>
                </a:moveTo>
                <a:cubicBezTo>
                  <a:pt x="117872" y="153702"/>
                  <a:pt x="132271" y="139303"/>
                  <a:pt x="150019" y="139303"/>
                </a:cubicBezTo>
                <a:lnTo>
                  <a:pt x="182166" y="139303"/>
                </a:lnTo>
                <a:cubicBezTo>
                  <a:pt x="199913" y="139303"/>
                  <a:pt x="214313" y="153702"/>
                  <a:pt x="214313" y="171450"/>
                </a:cubicBezTo>
                <a:cubicBezTo>
                  <a:pt x="214313" y="177377"/>
                  <a:pt x="209524" y="182166"/>
                  <a:pt x="203597" y="182166"/>
                </a:cubicBezTo>
                <a:lnTo>
                  <a:pt x="128588" y="182166"/>
                </a:lnTo>
                <a:cubicBezTo>
                  <a:pt x="122660" y="182166"/>
                  <a:pt x="117872" y="177377"/>
                  <a:pt x="117872" y="17145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9432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Sistemas en Acción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2925" y="3324225"/>
            <a:ext cx="5314950" cy="933450"/>
          </a:xfrm>
          <a:custGeom>
            <a:avLst/>
            <a:gdLst/>
            <a:ahLst/>
            <a:cxnLst/>
            <a:rect l="l" t="t" r="r" b="b"/>
            <a:pathLst>
              <a:path w="5314950" h="933450">
                <a:moveTo>
                  <a:pt x="76198" y="0"/>
                </a:moveTo>
                <a:lnTo>
                  <a:pt x="5238752" y="0"/>
                </a:lnTo>
                <a:cubicBezTo>
                  <a:pt x="5280835" y="0"/>
                  <a:pt x="5314950" y="34115"/>
                  <a:pt x="5314950" y="76198"/>
                </a:cubicBezTo>
                <a:lnTo>
                  <a:pt x="5314950" y="857252"/>
                </a:lnTo>
                <a:cubicBezTo>
                  <a:pt x="5314950" y="899335"/>
                  <a:pt x="5280835" y="933450"/>
                  <a:pt x="5238752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57225" y="34766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923925" y="3438525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IBM Watson &amp; K Health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225" y="3705225"/>
            <a:ext cx="51530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Comparan síntomas de un paciente con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millones de registros anónimos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sugerir diagnósticos y conectar con doctores.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925" y="4329113"/>
            <a:ext cx="5314950" cy="933450"/>
          </a:xfrm>
          <a:custGeom>
            <a:avLst/>
            <a:gdLst/>
            <a:ahLst/>
            <a:cxnLst/>
            <a:rect l="l" t="t" r="r" b="b"/>
            <a:pathLst>
              <a:path w="5314950" h="933450">
                <a:moveTo>
                  <a:pt x="76198" y="0"/>
                </a:moveTo>
                <a:lnTo>
                  <a:pt x="5238752" y="0"/>
                </a:lnTo>
                <a:cubicBezTo>
                  <a:pt x="5280835" y="0"/>
                  <a:pt x="5314950" y="34115"/>
                  <a:pt x="5314950" y="76198"/>
                </a:cubicBezTo>
                <a:lnTo>
                  <a:pt x="5314950" y="857252"/>
                </a:lnTo>
                <a:cubicBezTo>
                  <a:pt x="5314950" y="899335"/>
                  <a:pt x="5280835" y="933450"/>
                  <a:pt x="5238752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5325" y="448151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04775" y="0"/>
                </a:moveTo>
                <a:cubicBezTo>
                  <a:pt x="110044" y="0"/>
                  <a:pt x="114300" y="4256"/>
                  <a:pt x="114300" y="9525"/>
                </a:cubicBezTo>
                <a:cubicBezTo>
                  <a:pt x="114300" y="26730"/>
                  <a:pt x="107037" y="40719"/>
                  <a:pt x="97215" y="52536"/>
                </a:cubicBezTo>
                <a:cubicBezTo>
                  <a:pt x="90041" y="61139"/>
                  <a:pt x="81201" y="68937"/>
                  <a:pt x="72330" y="76200"/>
                </a:cubicBezTo>
                <a:cubicBezTo>
                  <a:pt x="81201" y="83493"/>
                  <a:pt x="90041" y="91261"/>
                  <a:pt x="97215" y="99864"/>
                </a:cubicBezTo>
                <a:cubicBezTo>
                  <a:pt x="107037" y="111651"/>
                  <a:pt x="114300" y="125670"/>
                  <a:pt x="114300" y="142875"/>
                </a:cubicBezTo>
                <a:cubicBezTo>
                  <a:pt x="114300" y="148144"/>
                  <a:pt x="110044" y="152400"/>
                  <a:pt x="104775" y="152400"/>
                </a:cubicBezTo>
                <a:cubicBezTo>
                  <a:pt x="99506" y="152400"/>
                  <a:pt x="95250" y="148144"/>
                  <a:pt x="95250" y="142875"/>
                </a:cubicBezTo>
                <a:lnTo>
                  <a:pt x="19050" y="142875"/>
                </a:lnTo>
                <a:cubicBezTo>
                  <a:pt x="19050" y="148144"/>
                  <a:pt x="14794" y="152400"/>
                  <a:pt x="9525" y="152400"/>
                </a:cubicBezTo>
                <a:cubicBezTo>
                  <a:pt x="4256" y="152400"/>
                  <a:pt x="0" y="148144"/>
                  <a:pt x="0" y="142875"/>
                </a:cubicBezTo>
                <a:cubicBezTo>
                  <a:pt x="0" y="125670"/>
                  <a:pt x="7263" y="111681"/>
                  <a:pt x="17085" y="99864"/>
                </a:cubicBezTo>
                <a:cubicBezTo>
                  <a:pt x="24259" y="91261"/>
                  <a:pt x="33099" y="83493"/>
                  <a:pt x="41970" y="76200"/>
                </a:cubicBezTo>
                <a:cubicBezTo>
                  <a:pt x="33099" y="68907"/>
                  <a:pt x="24259" y="61139"/>
                  <a:pt x="17085" y="52536"/>
                </a:cubicBezTo>
                <a:cubicBezTo>
                  <a:pt x="7263" y="40719"/>
                  <a:pt x="0" y="26730"/>
                  <a:pt x="0" y="9525"/>
                </a:cubicBezTo>
                <a:cubicBezTo>
                  <a:pt x="0" y="4256"/>
                  <a:pt x="4256" y="0"/>
                  <a:pt x="9525" y="0"/>
                </a:cubicBezTo>
                <a:cubicBezTo>
                  <a:pt x="14794" y="0"/>
                  <a:pt x="19050" y="4256"/>
                  <a:pt x="19050" y="9525"/>
                </a:cubicBezTo>
                <a:lnTo>
                  <a:pt x="95250" y="9525"/>
                </a:lnTo>
                <a:cubicBezTo>
                  <a:pt x="95250" y="4256"/>
                  <a:pt x="99506" y="0"/>
                  <a:pt x="104775" y="0"/>
                </a:cubicBezTo>
                <a:close/>
                <a:moveTo>
                  <a:pt x="84386" y="114300"/>
                </a:moveTo>
                <a:lnTo>
                  <a:pt x="29944" y="114300"/>
                </a:lnTo>
                <a:cubicBezTo>
                  <a:pt x="27503" y="117425"/>
                  <a:pt x="25450" y="120581"/>
                  <a:pt x="23813" y="123825"/>
                </a:cubicBezTo>
                <a:lnTo>
                  <a:pt x="90547" y="123825"/>
                </a:lnTo>
                <a:cubicBezTo>
                  <a:pt x="88880" y="120581"/>
                  <a:pt x="86826" y="117425"/>
                  <a:pt x="84415" y="114300"/>
                </a:cubicBezTo>
                <a:close/>
                <a:moveTo>
                  <a:pt x="70842" y="100013"/>
                </a:moveTo>
                <a:cubicBezTo>
                  <a:pt x="66586" y="96143"/>
                  <a:pt x="61972" y="92333"/>
                  <a:pt x="57150" y="88404"/>
                </a:cubicBezTo>
                <a:cubicBezTo>
                  <a:pt x="52328" y="92303"/>
                  <a:pt x="47714" y="96143"/>
                  <a:pt x="43458" y="100013"/>
                </a:cubicBezTo>
                <a:lnTo>
                  <a:pt x="70842" y="100013"/>
                </a:lnTo>
                <a:close/>
                <a:moveTo>
                  <a:pt x="29914" y="38100"/>
                </a:moveTo>
                <a:lnTo>
                  <a:pt x="84356" y="38100"/>
                </a:lnTo>
                <a:cubicBezTo>
                  <a:pt x="86797" y="34975"/>
                  <a:pt x="88850" y="31819"/>
                  <a:pt x="90488" y="28575"/>
                </a:cubicBezTo>
                <a:lnTo>
                  <a:pt x="23783" y="28575"/>
                </a:lnTo>
                <a:cubicBezTo>
                  <a:pt x="25450" y="31819"/>
                  <a:pt x="27503" y="34975"/>
                  <a:pt x="29914" y="38100"/>
                </a:cubicBezTo>
                <a:close/>
                <a:moveTo>
                  <a:pt x="43458" y="52388"/>
                </a:moveTo>
                <a:cubicBezTo>
                  <a:pt x="47714" y="56257"/>
                  <a:pt x="52328" y="60067"/>
                  <a:pt x="57150" y="63996"/>
                </a:cubicBezTo>
                <a:cubicBezTo>
                  <a:pt x="61972" y="60097"/>
                  <a:pt x="66586" y="56257"/>
                  <a:pt x="70842" y="52388"/>
                </a:cubicBezTo>
                <a:lnTo>
                  <a:pt x="43458" y="52388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9" name="Text 17"/>
          <p:cNvSpPr/>
          <p:nvPr/>
        </p:nvSpPr>
        <p:spPr>
          <a:xfrm>
            <a:off x="923925" y="4443413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Oncología de Precisión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225" y="4710113"/>
            <a:ext cx="51530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integra imágenes, datos genéticos (de bases como TCGA) y historiales para predecir supervivencia o recurrencia con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 &gt;0.9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2925" y="5334000"/>
            <a:ext cx="5314950" cy="933450"/>
          </a:xfrm>
          <a:custGeom>
            <a:avLst/>
            <a:gdLst/>
            <a:ahLst/>
            <a:cxnLst/>
            <a:rect l="l" t="t" r="r" b="b"/>
            <a:pathLst>
              <a:path w="5314950" h="933450">
                <a:moveTo>
                  <a:pt x="76198" y="0"/>
                </a:moveTo>
                <a:lnTo>
                  <a:pt x="5238752" y="0"/>
                </a:lnTo>
                <a:cubicBezTo>
                  <a:pt x="5280835" y="0"/>
                  <a:pt x="5314950" y="34115"/>
                  <a:pt x="5314950" y="76198"/>
                </a:cubicBezTo>
                <a:lnTo>
                  <a:pt x="5314950" y="857252"/>
                </a:lnTo>
                <a:cubicBezTo>
                  <a:pt x="5314950" y="899335"/>
                  <a:pt x="5280835" y="933450"/>
                  <a:pt x="5238752" y="933450"/>
                </a:cubicBezTo>
                <a:lnTo>
                  <a:pt x="76198" y="933450"/>
                </a:lnTo>
                <a:cubicBezTo>
                  <a:pt x="34115" y="933450"/>
                  <a:pt x="0" y="899335"/>
                  <a:pt x="0" y="8572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76275" y="5486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32117"/>
                </a:moveTo>
                <a:lnTo>
                  <a:pt x="71735" y="25926"/>
                </a:lnTo>
                <a:cubicBezTo>
                  <a:pt x="64294" y="15627"/>
                  <a:pt x="52358" y="9525"/>
                  <a:pt x="39618" y="9525"/>
                </a:cubicBezTo>
                <a:cubicBezTo>
                  <a:pt x="17740" y="9525"/>
                  <a:pt x="0" y="27265"/>
                  <a:pt x="0" y="49143"/>
                </a:cubicBezTo>
                <a:lnTo>
                  <a:pt x="0" y="49917"/>
                </a:lnTo>
                <a:cubicBezTo>
                  <a:pt x="0" y="56942"/>
                  <a:pt x="1845" y="64204"/>
                  <a:pt x="4941" y="71438"/>
                </a:cubicBezTo>
                <a:lnTo>
                  <a:pt x="36493" y="71438"/>
                </a:lnTo>
                <a:cubicBezTo>
                  <a:pt x="37445" y="71438"/>
                  <a:pt x="38308" y="70872"/>
                  <a:pt x="38695" y="69979"/>
                </a:cubicBezTo>
                <a:lnTo>
                  <a:pt x="48161" y="47268"/>
                </a:lnTo>
                <a:cubicBezTo>
                  <a:pt x="49262" y="44648"/>
                  <a:pt x="51822" y="42922"/>
                  <a:pt x="54650" y="42863"/>
                </a:cubicBezTo>
                <a:cubicBezTo>
                  <a:pt x="57477" y="42803"/>
                  <a:pt x="60097" y="44470"/>
                  <a:pt x="61258" y="47059"/>
                </a:cubicBezTo>
                <a:lnTo>
                  <a:pt x="76527" y="80962"/>
                </a:lnTo>
                <a:lnTo>
                  <a:pt x="88850" y="56317"/>
                </a:lnTo>
                <a:cubicBezTo>
                  <a:pt x="90071" y="53906"/>
                  <a:pt x="92541" y="52358"/>
                  <a:pt x="95250" y="52358"/>
                </a:cubicBezTo>
                <a:cubicBezTo>
                  <a:pt x="97959" y="52358"/>
                  <a:pt x="100429" y="53876"/>
                  <a:pt x="101650" y="56317"/>
                </a:cubicBezTo>
                <a:lnTo>
                  <a:pt x="108555" y="70098"/>
                </a:lnTo>
                <a:cubicBezTo>
                  <a:pt x="108972" y="70902"/>
                  <a:pt x="109776" y="71408"/>
                  <a:pt x="110698" y="71408"/>
                </a:cubicBezTo>
                <a:lnTo>
                  <a:pt x="147489" y="71408"/>
                </a:lnTo>
                <a:cubicBezTo>
                  <a:pt x="150614" y="64175"/>
                  <a:pt x="152430" y="56912"/>
                  <a:pt x="152430" y="49887"/>
                </a:cubicBezTo>
                <a:lnTo>
                  <a:pt x="152430" y="49113"/>
                </a:lnTo>
                <a:cubicBezTo>
                  <a:pt x="152400" y="27265"/>
                  <a:pt x="134660" y="9525"/>
                  <a:pt x="112782" y="9525"/>
                </a:cubicBezTo>
                <a:cubicBezTo>
                  <a:pt x="100072" y="9525"/>
                  <a:pt x="88106" y="15627"/>
                  <a:pt x="80665" y="25926"/>
                </a:cubicBezTo>
                <a:lnTo>
                  <a:pt x="76200" y="32087"/>
                </a:lnTo>
                <a:close/>
                <a:moveTo>
                  <a:pt x="139779" y="85725"/>
                </a:moveTo>
                <a:lnTo>
                  <a:pt x="110669" y="85725"/>
                </a:lnTo>
                <a:cubicBezTo>
                  <a:pt x="104358" y="85725"/>
                  <a:pt x="98584" y="82153"/>
                  <a:pt x="95756" y="76498"/>
                </a:cubicBezTo>
                <a:lnTo>
                  <a:pt x="95250" y="75486"/>
                </a:lnTo>
                <a:lnTo>
                  <a:pt x="82600" y="100816"/>
                </a:lnTo>
                <a:cubicBezTo>
                  <a:pt x="81379" y="103287"/>
                  <a:pt x="78819" y="104835"/>
                  <a:pt x="76051" y="104775"/>
                </a:cubicBezTo>
                <a:cubicBezTo>
                  <a:pt x="73283" y="104715"/>
                  <a:pt x="70812" y="103078"/>
                  <a:pt x="69681" y="100578"/>
                </a:cubicBezTo>
                <a:lnTo>
                  <a:pt x="55007" y="67985"/>
                </a:lnTo>
                <a:lnTo>
                  <a:pt x="51881" y="75486"/>
                </a:lnTo>
                <a:cubicBezTo>
                  <a:pt x="49292" y="81707"/>
                  <a:pt x="43220" y="85755"/>
                  <a:pt x="36493" y="85755"/>
                </a:cubicBezTo>
                <a:lnTo>
                  <a:pt x="12621" y="85755"/>
                </a:lnTo>
                <a:cubicBezTo>
                  <a:pt x="26670" y="107722"/>
                  <a:pt x="49232" y="127933"/>
                  <a:pt x="63341" y="138708"/>
                </a:cubicBezTo>
                <a:cubicBezTo>
                  <a:pt x="67032" y="141506"/>
                  <a:pt x="71557" y="142905"/>
                  <a:pt x="76170" y="142905"/>
                </a:cubicBezTo>
                <a:cubicBezTo>
                  <a:pt x="80784" y="142905"/>
                  <a:pt x="85338" y="141536"/>
                  <a:pt x="88999" y="138708"/>
                </a:cubicBezTo>
                <a:cubicBezTo>
                  <a:pt x="103168" y="127903"/>
                  <a:pt x="125730" y="107692"/>
                  <a:pt x="139779" y="8572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3" name="Text 21"/>
          <p:cNvSpPr/>
          <p:nvPr/>
        </p:nvSpPr>
        <p:spPr>
          <a:xfrm>
            <a:off x="923925" y="54483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Cleveland Clinic (2026)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7225" y="5715000"/>
            <a:ext cx="51530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Usan IA para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monitorear actividad cerebral en UCI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detectar problemas críticos en minutos.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6963" y="1262063"/>
            <a:ext cx="5629275" cy="1400175"/>
          </a:xfrm>
          <a:custGeom>
            <a:avLst/>
            <a:gdLst/>
            <a:ahLst/>
            <a:cxnLst/>
            <a:rect l="l" t="t" r="r" b="b"/>
            <a:pathLst>
              <a:path w="5629275" h="1400175">
                <a:moveTo>
                  <a:pt x="76198" y="0"/>
                </a:moveTo>
                <a:lnTo>
                  <a:pt x="5553077" y="0"/>
                </a:lnTo>
                <a:cubicBezTo>
                  <a:pt x="5595160" y="0"/>
                  <a:pt x="5629275" y="34115"/>
                  <a:pt x="5629275" y="76198"/>
                </a:cubicBezTo>
                <a:lnTo>
                  <a:pt x="5629275" y="1323977"/>
                </a:lnTo>
                <a:cubicBezTo>
                  <a:pt x="5629275" y="1366060"/>
                  <a:pt x="5595160" y="1400175"/>
                  <a:pt x="555307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CA28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4125" y="1419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7" name="Shape 25"/>
          <p:cNvSpPr/>
          <p:nvPr/>
        </p:nvSpPr>
        <p:spPr>
          <a:xfrm>
            <a:off x="6443663" y="15525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6943725" y="1419225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CA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Detección de Sesgos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3725" y="1762125"/>
            <a:ext cx="4781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Técnicas automatizadas analizan datasets para encontrar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sesgos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(por ejemplo, si un modelo subestima riesgos en ciertos grupos étnicos) y corrigen con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más diversos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6963" y="2786063"/>
            <a:ext cx="5629275" cy="2295525"/>
          </a:xfrm>
          <a:custGeom>
            <a:avLst/>
            <a:gdLst/>
            <a:ahLst/>
            <a:cxnLst/>
            <a:rect l="l" t="t" r="r" b="b"/>
            <a:pathLst>
              <a:path w="5629275" h="2295525">
                <a:moveTo>
                  <a:pt x="76211" y="0"/>
                </a:moveTo>
                <a:lnTo>
                  <a:pt x="5553064" y="0"/>
                </a:lnTo>
                <a:cubicBezTo>
                  <a:pt x="5595154" y="0"/>
                  <a:pt x="5629275" y="34121"/>
                  <a:pt x="5629275" y="76211"/>
                </a:cubicBezTo>
                <a:lnTo>
                  <a:pt x="5629275" y="2219314"/>
                </a:lnTo>
                <a:cubicBezTo>
                  <a:pt x="5629275" y="2261404"/>
                  <a:pt x="5595154" y="2295525"/>
                  <a:pt x="5553064" y="2295525"/>
                </a:cubicBezTo>
                <a:lnTo>
                  <a:pt x="76211" y="2295525"/>
                </a:lnTo>
                <a:cubicBezTo>
                  <a:pt x="34121" y="2295525"/>
                  <a:pt x="0" y="2261404"/>
                  <a:pt x="0" y="2219314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7938" y="29908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Text 30"/>
          <p:cNvSpPr/>
          <p:nvPr/>
        </p:nvSpPr>
        <p:spPr>
          <a:xfrm>
            <a:off x="6553200" y="29432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Medicina Justa y Accesible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4125" y="33623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30566" y="3448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3"/>
          <p:cNvSpPr/>
          <p:nvPr/>
        </p:nvSpPr>
        <p:spPr>
          <a:xfrm>
            <a:off x="6753225" y="3324225"/>
            <a:ext cx="3609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Diversos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53225" y="3590925"/>
            <a:ext cx="3600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Entrenamiento con poblaciones multiculturales y multiétnicas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34125" y="39338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30566" y="4019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Text 37"/>
          <p:cNvSpPr/>
          <p:nvPr/>
        </p:nvSpPr>
        <p:spPr>
          <a:xfrm>
            <a:off x="6753225" y="3895725"/>
            <a:ext cx="2962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Auditoría Continua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53225" y="4162425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Monitoreo de resultados por grupos demográficos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4125" y="45053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30566" y="4591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Text 41"/>
          <p:cNvSpPr/>
          <p:nvPr/>
        </p:nvSpPr>
        <p:spPr>
          <a:xfrm>
            <a:off x="6753225" y="4467225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Transparencia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53225" y="4733925"/>
            <a:ext cx="2828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Explicabilidad de decisiones de IA para médicos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1250" y="5200650"/>
            <a:ext cx="5619750" cy="1390650"/>
          </a:xfrm>
          <a:custGeom>
            <a:avLst/>
            <a:gdLst/>
            <a:ahLst/>
            <a:cxnLst/>
            <a:rect l="l" t="t" r="r" b="b"/>
            <a:pathLst>
              <a:path w="5619750" h="1390650">
                <a:moveTo>
                  <a:pt x="38100" y="0"/>
                </a:moveTo>
                <a:lnTo>
                  <a:pt x="5543556" y="0"/>
                </a:lnTo>
                <a:cubicBezTo>
                  <a:pt x="5585609" y="0"/>
                  <a:pt x="5619750" y="34141"/>
                  <a:pt x="5619750" y="76194"/>
                </a:cubicBezTo>
                <a:lnTo>
                  <a:pt x="5619750" y="1314456"/>
                </a:lnTo>
                <a:cubicBezTo>
                  <a:pt x="5619750" y="1356509"/>
                  <a:pt x="5585609" y="1390650"/>
                  <a:pt x="55435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6" name="Shape 44"/>
          <p:cNvSpPr/>
          <p:nvPr/>
        </p:nvSpPr>
        <p:spPr>
          <a:xfrm>
            <a:off x="6191250" y="520065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7" name="Shape 45"/>
          <p:cNvSpPr/>
          <p:nvPr/>
        </p:nvSpPr>
        <p:spPr>
          <a:xfrm>
            <a:off x="6410325" y="5391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8" name="Text 46"/>
          <p:cNvSpPr/>
          <p:nvPr/>
        </p:nvSpPr>
        <p:spPr>
          <a:xfrm>
            <a:off x="6715125" y="535305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Analogía para Principiantes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15125" y="5695950"/>
            <a:ext cx="50196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como tener 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 que ha visto millones de casos en todo el mundo en segundos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 lugar de solo los que ha tratado en su carrera. Esto hace la medicina más justa y accesible.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financialcrimeacademy.org/d2f8edb3501a4f25aab0a8324df56cb33e19e00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9239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" name="Shape 2"/>
          <p:cNvSpPr/>
          <p:nvPr/>
        </p:nvSpPr>
        <p:spPr>
          <a:xfrm>
            <a:off x="590550" y="11334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174531" y="0"/>
                  <a:pt x="177611" y="670"/>
                  <a:pt x="180424" y="1942"/>
                </a:cubicBezTo>
                <a:lnTo>
                  <a:pt x="306601" y="55453"/>
                </a:lnTo>
                <a:cubicBezTo>
                  <a:pt x="321335" y="61682"/>
                  <a:pt x="332318" y="76215"/>
                  <a:pt x="332251" y="93762"/>
                </a:cubicBezTo>
                <a:cubicBezTo>
                  <a:pt x="331916" y="160199"/>
                  <a:pt x="304592" y="281754"/>
                  <a:pt x="189198" y="337006"/>
                </a:cubicBezTo>
                <a:cubicBezTo>
                  <a:pt x="178013" y="342364"/>
                  <a:pt x="165021" y="342364"/>
                  <a:pt x="153836" y="337006"/>
                </a:cubicBezTo>
                <a:cubicBezTo>
                  <a:pt x="38375" y="281754"/>
                  <a:pt x="11117" y="160199"/>
                  <a:pt x="10783" y="93762"/>
                </a:cubicBezTo>
                <a:cubicBezTo>
                  <a:pt x="10716" y="76215"/>
                  <a:pt x="21699" y="61682"/>
                  <a:pt x="36433" y="55453"/>
                </a:cubicBezTo>
                <a:lnTo>
                  <a:pt x="162543" y="1942"/>
                </a:lnTo>
                <a:cubicBezTo>
                  <a:pt x="165355" y="670"/>
                  <a:pt x="168369" y="0"/>
                  <a:pt x="171450" y="0"/>
                </a:cubicBezTo>
                <a:close/>
                <a:moveTo>
                  <a:pt x="171450" y="44738"/>
                </a:moveTo>
                <a:lnTo>
                  <a:pt x="171450" y="297961"/>
                </a:lnTo>
                <a:cubicBezTo>
                  <a:pt x="263872" y="253224"/>
                  <a:pt x="288719" y="154104"/>
                  <a:pt x="289322" y="94766"/>
                </a:cubicBezTo>
                <a:lnTo>
                  <a:pt x="171450" y="44805"/>
                </a:lnTo>
                <a:lnTo>
                  <a:pt x="171450" y="4480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" name="Shape 3"/>
          <p:cNvSpPr/>
          <p:nvPr/>
        </p:nvSpPr>
        <p:spPr>
          <a:xfrm>
            <a:off x="1295400" y="12858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4"/>
          <p:cNvSpPr/>
          <p:nvPr/>
        </p:nvSpPr>
        <p:spPr>
          <a:xfrm>
            <a:off x="385763" y="1919288"/>
            <a:ext cx="1143000" cy="390525"/>
          </a:xfrm>
          <a:custGeom>
            <a:avLst/>
            <a:gdLst/>
            <a:ahLst/>
            <a:cxnLst/>
            <a:rect l="l" t="t" r="r" b="b"/>
            <a:pathLst>
              <a:path w="1143000" h="390525">
                <a:moveTo>
                  <a:pt x="195263" y="0"/>
                </a:moveTo>
                <a:lnTo>
                  <a:pt x="947737" y="0"/>
                </a:lnTo>
                <a:cubicBezTo>
                  <a:pt x="1055506" y="0"/>
                  <a:pt x="1143000" y="87494"/>
                  <a:pt x="1143000" y="195263"/>
                </a:cubicBezTo>
                <a:lnTo>
                  <a:pt x="1143000" y="195263"/>
                </a:lnTo>
                <a:cubicBezTo>
                  <a:pt x="1143000" y="303031"/>
                  <a:pt x="1055506" y="390525"/>
                  <a:pt x="947737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1270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925" y="2028825"/>
            <a:ext cx="9071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Sector 02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2466975"/>
            <a:ext cx="68389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Finanzas 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Detección de Fraude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3338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Protegiendo transacciones millonarias en tiempo real con inteligencia artificial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5763" y="5462588"/>
            <a:ext cx="1562100" cy="466725"/>
          </a:xfrm>
          <a:custGeom>
            <a:avLst/>
            <a:gdLst/>
            <a:ahLst/>
            <a:cxnLst/>
            <a:rect l="l" t="t" r="r" b="b"/>
            <a:pathLst>
              <a:path w="1562100" h="466725">
                <a:moveTo>
                  <a:pt x="76202" y="0"/>
                </a:moveTo>
                <a:lnTo>
                  <a:pt x="1485898" y="0"/>
                </a:lnTo>
                <a:cubicBezTo>
                  <a:pt x="1527983" y="0"/>
                  <a:pt x="1562100" y="34117"/>
                  <a:pt x="1562100" y="76202"/>
                </a:cubicBezTo>
                <a:lnTo>
                  <a:pt x="1562100" y="390523"/>
                </a:lnTo>
                <a:cubicBezTo>
                  <a:pt x="1562100" y="432608"/>
                  <a:pt x="1527983" y="466725"/>
                  <a:pt x="148589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4838" y="5600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0"/>
          <p:cNvSpPr/>
          <p:nvPr/>
        </p:nvSpPr>
        <p:spPr>
          <a:xfrm>
            <a:off x="933450" y="5581650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Tiempo Real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184350" y="5462588"/>
            <a:ext cx="1409700" cy="466725"/>
          </a:xfrm>
          <a:custGeom>
            <a:avLst/>
            <a:gdLst/>
            <a:ahLst/>
            <a:cxnLst/>
            <a:rect l="l" t="t" r="r" b="b"/>
            <a:pathLst>
              <a:path w="1409700" h="466725">
                <a:moveTo>
                  <a:pt x="76202" y="0"/>
                </a:moveTo>
                <a:lnTo>
                  <a:pt x="1333498" y="0"/>
                </a:lnTo>
                <a:cubicBezTo>
                  <a:pt x="1375583" y="0"/>
                  <a:pt x="1409700" y="34117"/>
                  <a:pt x="1409700" y="76202"/>
                </a:cubicBezTo>
                <a:lnTo>
                  <a:pt x="1409700" y="390523"/>
                </a:lnTo>
                <a:cubicBezTo>
                  <a:pt x="1409700" y="432608"/>
                  <a:pt x="1375583" y="466725"/>
                  <a:pt x="133349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CA28">
              <a:alpha val="10196"/>
            </a:srgbClr>
          </a:solidFill>
          <a:ln w="12700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27238" y="56007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6" name="Text 13"/>
          <p:cNvSpPr/>
          <p:nvPr/>
        </p:nvSpPr>
        <p:spPr>
          <a:xfrm>
            <a:off x="2732038" y="5581650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Seguridad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472" y="428090"/>
            <a:ext cx="410966" cy="34247"/>
          </a:xfrm>
          <a:custGeom>
            <a:avLst/>
            <a:gdLst/>
            <a:ahLst/>
            <a:cxnLst/>
            <a:rect l="l" t="t" r="r" b="b"/>
            <a:pathLst>
              <a:path w="410966" h="34247">
                <a:moveTo>
                  <a:pt x="0" y="0"/>
                </a:moveTo>
                <a:lnTo>
                  <a:pt x="410966" y="0"/>
                </a:lnTo>
                <a:lnTo>
                  <a:pt x="410966" y="34247"/>
                </a:lnTo>
                <a:lnTo>
                  <a:pt x="0" y="34247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856180" y="342472"/>
            <a:ext cx="744876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spc="54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Finanzas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2472" y="650697"/>
            <a:ext cx="11661169" cy="342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en Tiempo Real y Modelos de Riesgo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6753" y="1168685"/>
            <a:ext cx="6224427" cy="1327079"/>
          </a:xfrm>
          <a:custGeom>
            <a:avLst/>
            <a:gdLst/>
            <a:ahLst/>
            <a:cxnLst/>
            <a:rect l="l" t="t" r="r" b="b"/>
            <a:pathLst>
              <a:path w="6224427" h="1327079">
                <a:moveTo>
                  <a:pt x="68491" y="0"/>
                </a:moveTo>
                <a:lnTo>
                  <a:pt x="6155936" y="0"/>
                </a:lnTo>
                <a:cubicBezTo>
                  <a:pt x="6193763" y="0"/>
                  <a:pt x="6224427" y="30664"/>
                  <a:pt x="6224427" y="68491"/>
                </a:cubicBezTo>
                <a:lnTo>
                  <a:pt x="6224427" y="1258588"/>
                </a:lnTo>
                <a:cubicBezTo>
                  <a:pt x="6224427" y="1296414"/>
                  <a:pt x="6193763" y="1327079"/>
                  <a:pt x="6155936" y="1327079"/>
                </a:cubicBezTo>
                <a:lnTo>
                  <a:pt x="68491" y="1327079"/>
                </a:lnTo>
                <a:cubicBezTo>
                  <a:pt x="30664" y="1327079"/>
                  <a:pt x="0" y="1296414"/>
                  <a:pt x="0" y="1258588"/>
                </a:cubicBezTo>
                <a:lnTo>
                  <a:pt x="0" y="68491"/>
                </a:lnTo>
                <a:cubicBezTo>
                  <a:pt x="0" y="30690"/>
                  <a:pt x="30690" y="0"/>
                  <a:pt x="68491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2270" y="1344202"/>
            <a:ext cx="479461" cy="479461"/>
          </a:xfrm>
          <a:custGeom>
            <a:avLst/>
            <a:gdLst/>
            <a:ahLst/>
            <a:cxnLst/>
            <a:rect l="l" t="t" r="r" b="b"/>
            <a:pathLst>
              <a:path w="479461" h="479461">
                <a:moveTo>
                  <a:pt x="68496" y="0"/>
                </a:moveTo>
                <a:lnTo>
                  <a:pt x="410965" y="0"/>
                </a:lnTo>
                <a:cubicBezTo>
                  <a:pt x="448794" y="0"/>
                  <a:pt x="479461" y="30667"/>
                  <a:pt x="479461" y="68496"/>
                </a:cubicBezTo>
                <a:lnTo>
                  <a:pt x="479461" y="410965"/>
                </a:lnTo>
                <a:cubicBezTo>
                  <a:pt x="479461" y="448794"/>
                  <a:pt x="448794" y="479461"/>
                  <a:pt x="410965" y="479461"/>
                </a:cubicBezTo>
                <a:lnTo>
                  <a:pt x="68496" y="479461"/>
                </a:lnTo>
                <a:cubicBezTo>
                  <a:pt x="30667" y="479461"/>
                  <a:pt x="0" y="448794"/>
                  <a:pt x="0" y="410965"/>
                </a:cubicBezTo>
                <a:lnTo>
                  <a:pt x="0" y="68496"/>
                </a:lnTo>
                <a:cubicBezTo>
                  <a:pt x="0" y="30692"/>
                  <a:pt x="30692" y="0"/>
                  <a:pt x="68496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672101" y="1481191"/>
            <a:ext cx="179798" cy="205483"/>
          </a:xfrm>
          <a:custGeom>
            <a:avLst/>
            <a:gdLst/>
            <a:ahLst/>
            <a:cxnLst/>
            <a:rect l="l" t="t" r="r" b="b"/>
            <a:pathLst>
              <a:path w="179798" h="205483">
                <a:moveTo>
                  <a:pt x="135972" y="-3973"/>
                </a:moveTo>
                <a:cubicBezTo>
                  <a:pt x="140748" y="-522"/>
                  <a:pt x="142514" y="5739"/>
                  <a:pt x="140347" y="11197"/>
                </a:cubicBezTo>
                <a:lnTo>
                  <a:pt x="108882" y="89899"/>
                </a:lnTo>
                <a:lnTo>
                  <a:pt x="166955" y="89899"/>
                </a:lnTo>
                <a:cubicBezTo>
                  <a:pt x="172373" y="89899"/>
                  <a:pt x="177189" y="93270"/>
                  <a:pt x="179035" y="98367"/>
                </a:cubicBezTo>
                <a:cubicBezTo>
                  <a:pt x="180881" y="103464"/>
                  <a:pt x="179316" y="109163"/>
                  <a:pt x="175182" y="112614"/>
                </a:cubicBezTo>
                <a:lnTo>
                  <a:pt x="59598" y="208935"/>
                </a:lnTo>
                <a:cubicBezTo>
                  <a:pt x="55063" y="212707"/>
                  <a:pt x="48602" y="212908"/>
                  <a:pt x="43826" y="209456"/>
                </a:cubicBezTo>
                <a:cubicBezTo>
                  <a:pt x="39050" y="206005"/>
                  <a:pt x="37284" y="199744"/>
                  <a:pt x="39451" y="194286"/>
                </a:cubicBezTo>
                <a:lnTo>
                  <a:pt x="70916" y="115584"/>
                </a:lnTo>
                <a:lnTo>
                  <a:pt x="12843" y="115584"/>
                </a:lnTo>
                <a:cubicBezTo>
                  <a:pt x="7425" y="115584"/>
                  <a:pt x="2609" y="112213"/>
                  <a:pt x="763" y="107116"/>
                </a:cubicBezTo>
                <a:cubicBezTo>
                  <a:pt x="-1084" y="102019"/>
                  <a:pt x="482" y="96320"/>
                  <a:pt x="4615" y="92869"/>
                </a:cubicBezTo>
                <a:lnTo>
                  <a:pt x="120200" y="-3451"/>
                </a:lnTo>
                <a:cubicBezTo>
                  <a:pt x="124735" y="-7224"/>
                  <a:pt x="131196" y="-7425"/>
                  <a:pt x="135972" y="-397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138719" y="1344202"/>
            <a:ext cx="5342562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Transacciones en Tiempo Real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8719" y="1652427"/>
            <a:ext cx="5325438" cy="66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9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finanzas, </a:t>
            </a:r>
            <a:pPr>
              <a:lnSpc>
                <a:spcPct val="140000"/>
              </a:lnSpc>
            </a:pPr>
            <a:r>
              <a:rPr lang="en-US" sz="1079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cada segundo se generan millones de transacciones</a:t>
            </a:r>
            <a:pPr>
              <a:lnSpc>
                <a:spcPct val="140000"/>
              </a:lnSpc>
            </a:pPr>
            <a:r>
              <a:rPr lang="en-US" sz="1079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Big Data permite analizarlas en tiempo real para </a:t>
            </a:r>
            <a:pPr>
              <a:lnSpc>
                <a:spcPct val="140000"/>
              </a:lnSpc>
            </a:pPr>
            <a:r>
              <a:rPr lang="en-US" sz="1079" b="1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detectar fraudes antes de que pasen</a:t>
            </a:r>
            <a:pPr>
              <a:lnSpc>
                <a:spcPct val="140000"/>
              </a:lnSpc>
            </a:pPr>
            <a:r>
              <a:rPr lang="en-US" sz="1079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Los modelos de ML miran patrones (monto, ubicación, hora, historial) y marcan lo sospechoso.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6753" y="2641315"/>
            <a:ext cx="6224427" cy="3989798"/>
          </a:xfrm>
          <a:custGeom>
            <a:avLst/>
            <a:gdLst/>
            <a:ahLst/>
            <a:cxnLst/>
            <a:rect l="l" t="t" r="r" b="b"/>
            <a:pathLst>
              <a:path w="6224427" h="3989798">
                <a:moveTo>
                  <a:pt x="68505" y="0"/>
                </a:moveTo>
                <a:lnTo>
                  <a:pt x="6155922" y="0"/>
                </a:lnTo>
                <a:cubicBezTo>
                  <a:pt x="6193756" y="0"/>
                  <a:pt x="6224427" y="30671"/>
                  <a:pt x="6224427" y="68505"/>
                </a:cubicBezTo>
                <a:lnTo>
                  <a:pt x="6224427" y="3921293"/>
                </a:lnTo>
                <a:cubicBezTo>
                  <a:pt x="6224427" y="3959127"/>
                  <a:pt x="6193756" y="3989798"/>
                  <a:pt x="6155922" y="3989798"/>
                </a:cubicBezTo>
                <a:lnTo>
                  <a:pt x="68505" y="3989798"/>
                </a:lnTo>
                <a:cubicBezTo>
                  <a:pt x="30671" y="3989798"/>
                  <a:pt x="0" y="3959127"/>
                  <a:pt x="0" y="3921293"/>
                </a:cubicBezTo>
                <a:lnTo>
                  <a:pt x="0" y="68505"/>
                </a:lnTo>
                <a:cubicBezTo>
                  <a:pt x="0" y="30671"/>
                  <a:pt x="30671" y="0"/>
                  <a:pt x="68505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3674" y="2859640"/>
            <a:ext cx="154112" cy="154112"/>
          </a:xfrm>
          <a:custGeom>
            <a:avLst/>
            <a:gdLst/>
            <a:ahLst/>
            <a:cxnLst/>
            <a:rect l="l" t="t" r="r" b="b"/>
            <a:pathLst>
              <a:path w="154112" h="154112">
                <a:moveTo>
                  <a:pt x="71849" y="1535"/>
                </a:moveTo>
                <a:cubicBezTo>
                  <a:pt x="75009" y="-512"/>
                  <a:pt x="79103" y="-512"/>
                  <a:pt x="82263" y="1535"/>
                </a:cubicBezTo>
                <a:lnTo>
                  <a:pt x="149688" y="44879"/>
                </a:lnTo>
                <a:cubicBezTo>
                  <a:pt x="153270" y="47197"/>
                  <a:pt x="154925" y="51592"/>
                  <a:pt x="153721" y="55685"/>
                </a:cubicBezTo>
                <a:cubicBezTo>
                  <a:pt x="152517" y="59779"/>
                  <a:pt x="148755" y="62608"/>
                  <a:pt x="144480" y="62608"/>
                </a:cubicBezTo>
                <a:lnTo>
                  <a:pt x="134848" y="62608"/>
                </a:lnTo>
                <a:lnTo>
                  <a:pt x="134848" y="125216"/>
                </a:lnTo>
                <a:lnTo>
                  <a:pt x="150260" y="136775"/>
                </a:lnTo>
                <a:cubicBezTo>
                  <a:pt x="152698" y="138581"/>
                  <a:pt x="154112" y="141440"/>
                  <a:pt x="154112" y="144480"/>
                </a:cubicBezTo>
                <a:cubicBezTo>
                  <a:pt x="154112" y="149808"/>
                  <a:pt x="149808" y="154112"/>
                  <a:pt x="144480" y="154112"/>
                </a:cubicBezTo>
                <a:lnTo>
                  <a:pt x="9632" y="154112"/>
                </a:lnTo>
                <a:cubicBezTo>
                  <a:pt x="4304" y="154112"/>
                  <a:pt x="0" y="149808"/>
                  <a:pt x="0" y="144480"/>
                </a:cubicBezTo>
                <a:cubicBezTo>
                  <a:pt x="0" y="141440"/>
                  <a:pt x="1415" y="138581"/>
                  <a:pt x="3853" y="136775"/>
                </a:cubicBezTo>
                <a:lnTo>
                  <a:pt x="19264" y="125216"/>
                </a:lnTo>
                <a:lnTo>
                  <a:pt x="19264" y="125216"/>
                </a:lnTo>
                <a:lnTo>
                  <a:pt x="19264" y="62608"/>
                </a:lnTo>
                <a:lnTo>
                  <a:pt x="9632" y="62608"/>
                </a:lnTo>
                <a:cubicBezTo>
                  <a:pt x="5358" y="62608"/>
                  <a:pt x="1595" y="59779"/>
                  <a:pt x="391" y="55685"/>
                </a:cubicBezTo>
                <a:cubicBezTo>
                  <a:pt x="-813" y="51592"/>
                  <a:pt x="843" y="47167"/>
                  <a:pt x="4425" y="44879"/>
                </a:cubicBezTo>
                <a:lnTo>
                  <a:pt x="71849" y="1535"/>
                </a:lnTo>
                <a:close/>
                <a:moveTo>
                  <a:pt x="101136" y="62608"/>
                </a:moveTo>
                <a:lnTo>
                  <a:pt x="101136" y="125216"/>
                </a:lnTo>
                <a:lnTo>
                  <a:pt x="120400" y="125216"/>
                </a:lnTo>
                <a:lnTo>
                  <a:pt x="120400" y="62608"/>
                </a:lnTo>
                <a:lnTo>
                  <a:pt x="101136" y="62608"/>
                </a:lnTo>
                <a:close/>
                <a:moveTo>
                  <a:pt x="67424" y="125216"/>
                </a:moveTo>
                <a:lnTo>
                  <a:pt x="86688" y="125216"/>
                </a:lnTo>
                <a:lnTo>
                  <a:pt x="86688" y="62608"/>
                </a:lnTo>
                <a:lnTo>
                  <a:pt x="67424" y="62608"/>
                </a:lnTo>
                <a:lnTo>
                  <a:pt x="67424" y="125216"/>
                </a:lnTo>
                <a:close/>
                <a:moveTo>
                  <a:pt x="33712" y="62608"/>
                </a:moveTo>
                <a:lnTo>
                  <a:pt x="33712" y="125216"/>
                </a:lnTo>
                <a:lnTo>
                  <a:pt x="52976" y="125216"/>
                </a:lnTo>
                <a:lnTo>
                  <a:pt x="52976" y="62608"/>
                </a:lnTo>
                <a:lnTo>
                  <a:pt x="33712" y="62608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2" name="Text 10"/>
          <p:cNvSpPr/>
          <p:nvPr/>
        </p:nvSpPr>
        <p:spPr>
          <a:xfrm>
            <a:off x="719191" y="2816831"/>
            <a:ext cx="5753528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Casos de Éxito en 2026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2270" y="3193551"/>
            <a:ext cx="5873393" cy="976045"/>
          </a:xfrm>
          <a:custGeom>
            <a:avLst/>
            <a:gdLst/>
            <a:ahLst/>
            <a:cxnLst/>
            <a:rect l="l" t="t" r="r" b="b"/>
            <a:pathLst>
              <a:path w="5873393" h="976045">
                <a:moveTo>
                  <a:pt x="68499" y="0"/>
                </a:moveTo>
                <a:lnTo>
                  <a:pt x="5804894" y="0"/>
                </a:lnTo>
                <a:cubicBezTo>
                  <a:pt x="5842725" y="0"/>
                  <a:pt x="5873393" y="30668"/>
                  <a:pt x="5873393" y="68499"/>
                </a:cubicBezTo>
                <a:lnTo>
                  <a:pt x="5873393" y="907546"/>
                </a:lnTo>
                <a:cubicBezTo>
                  <a:pt x="5873393" y="945377"/>
                  <a:pt x="5842725" y="976045"/>
                  <a:pt x="5804894" y="976045"/>
                </a:cubicBezTo>
                <a:lnTo>
                  <a:pt x="68499" y="976045"/>
                </a:lnTo>
                <a:cubicBezTo>
                  <a:pt x="30668" y="976045"/>
                  <a:pt x="0" y="945377"/>
                  <a:pt x="0" y="907546"/>
                </a:cubicBezTo>
                <a:lnTo>
                  <a:pt x="0" y="68499"/>
                </a:lnTo>
                <a:cubicBezTo>
                  <a:pt x="0" y="30693"/>
                  <a:pt x="30693" y="0"/>
                  <a:pt x="68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76382" y="3381910"/>
            <a:ext cx="136989" cy="136989"/>
          </a:xfrm>
          <a:custGeom>
            <a:avLst/>
            <a:gdLst/>
            <a:ahLst/>
            <a:cxnLst/>
            <a:rect l="l" t="t" r="r" b="b"/>
            <a:pathLst>
              <a:path w="136989" h="136989">
                <a:moveTo>
                  <a:pt x="0" y="34247"/>
                </a:moveTo>
                <a:lnTo>
                  <a:pt x="0" y="42809"/>
                </a:lnTo>
                <a:lnTo>
                  <a:pt x="136989" y="42809"/>
                </a:lnTo>
                <a:lnTo>
                  <a:pt x="136989" y="34247"/>
                </a:lnTo>
                <a:cubicBezTo>
                  <a:pt x="136989" y="24802"/>
                  <a:pt x="129310" y="17124"/>
                  <a:pt x="119865" y="17124"/>
                </a:cubicBezTo>
                <a:lnTo>
                  <a:pt x="17124" y="17124"/>
                </a:lnTo>
                <a:cubicBezTo>
                  <a:pt x="7679" y="17124"/>
                  <a:pt x="0" y="24802"/>
                  <a:pt x="0" y="34247"/>
                </a:cubicBezTo>
                <a:close/>
                <a:moveTo>
                  <a:pt x="0" y="55652"/>
                </a:moveTo>
                <a:lnTo>
                  <a:pt x="0" y="102742"/>
                </a:lnTo>
                <a:cubicBezTo>
                  <a:pt x="0" y="112186"/>
                  <a:pt x="7679" y="119865"/>
                  <a:pt x="17124" y="119865"/>
                </a:cubicBezTo>
                <a:lnTo>
                  <a:pt x="119865" y="119865"/>
                </a:lnTo>
                <a:cubicBezTo>
                  <a:pt x="129310" y="119865"/>
                  <a:pt x="136989" y="112186"/>
                  <a:pt x="136989" y="102742"/>
                </a:cubicBezTo>
                <a:lnTo>
                  <a:pt x="136989" y="55652"/>
                </a:lnTo>
                <a:lnTo>
                  <a:pt x="0" y="55652"/>
                </a:lnTo>
                <a:close/>
                <a:moveTo>
                  <a:pt x="17124" y="96320"/>
                </a:moveTo>
                <a:cubicBezTo>
                  <a:pt x="17124" y="92762"/>
                  <a:pt x="19986" y="89899"/>
                  <a:pt x="23545" y="89899"/>
                </a:cubicBezTo>
                <a:lnTo>
                  <a:pt x="36388" y="89899"/>
                </a:lnTo>
                <a:cubicBezTo>
                  <a:pt x="39946" y="89899"/>
                  <a:pt x="42809" y="92762"/>
                  <a:pt x="42809" y="96320"/>
                </a:cubicBezTo>
                <a:cubicBezTo>
                  <a:pt x="42809" y="99879"/>
                  <a:pt x="39946" y="102742"/>
                  <a:pt x="36388" y="102742"/>
                </a:cubicBezTo>
                <a:lnTo>
                  <a:pt x="23545" y="102742"/>
                </a:lnTo>
                <a:cubicBezTo>
                  <a:pt x="19986" y="102742"/>
                  <a:pt x="17124" y="99879"/>
                  <a:pt x="17124" y="96320"/>
                </a:cubicBezTo>
                <a:close/>
                <a:moveTo>
                  <a:pt x="55652" y="96320"/>
                </a:moveTo>
                <a:cubicBezTo>
                  <a:pt x="55652" y="92762"/>
                  <a:pt x="58515" y="89899"/>
                  <a:pt x="62073" y="89899"/>
                </a:cubicBezTo>
                <a:lnTo>
                  <a:pt x="79197" y="89899"/>
                </a:lnTo>
                <a:cubicBezTo>
                  <a:pt x="82755" y="89899"/>
                  <a:pt x="85618" y="92762"/>
                  <a:pt x="85618" y="96320"/>
                </a:cubicBezTo>
                <a:cubicBezTo>
                  <a:pt x="85618" y="99879"/>
                  <a:pt x="82755" y="102742"/>
                  <a:pt x="79197" y="102742"/>
                </a:cubicBezTo>
                <a:lnTo>
                  <a:pt x="62073" y="102742"/>
                </a:lnTo>
                <a:cubicBezTo>
                  <a:pt x="58515" y="102742"/>
                  <a:pt x="55652" y="99879"/>
                  <a:pt x="55652" y="9632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830494" y="3347663"/>
            <a:ext cx="804809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Mastercard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21091" y="3330539"/>
            <a:ext cx="1035978" cy="239730"/>
          </a:xfrm>
          <a:custGeom>
            <a:avLst/>
            <a:gdLst/>
            <a:ahLst/>
            <a:cxnLst/>
            <a:rect l="l" t="t" r="r" b="b"/>
            <a:pathLst>
              <a:path w="1035978" h="239730">
                <a:moveTo>
                  <a:pt x="119865" y="0"/>
                </a:moveTo>
                <a:lnTo>
                  <a:pt x="916112" y="0"/>
                </a:lnTo>
                <a:cubicBezTo>
                  <a:pt x="982312" y="0"/>
                  <a:pt x="1035978" y="53665"/>
                  <a:pt x="1035978" y="119865"/>
                </a:cubicBezTo>
                <a:lnTo>
                  <a:pt x="1035978" y="119865"/>
                </a:lnTo>
                <a:cubicBezTo>
                  <a:pt x="1035978" y="186065"/>
                  <a:pt x="982312" y="239730"/>
                  <a:pt x="916112" y="239730"/>
                </a:cubicBezTo>
                <a:lnTo>
                  <a:pt x="119865" y="239730"/>
                </a:lnTo>
                <a:cubicBezTo>
                  <a:pt x="53665" y="239730"/>
                  <a:pt x="0" y="186065"/>
                  <a:pt x="0" y="119865"/>
                </a:cubicBezTo>
                <a:lnTo>
                  <a:pt x="0" y="119865"/>
                </a:lnTo>
                <a:cubicBezTo>
                  <a:pt x="0" y="53665"/>
                  <a:pt x="53665" y="0"/>
                  <a:pt x="11986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221091" y="3330539"/>
            <a:ext cx="1095910" cy="239730"/>
          </a:xfrm>
          <a:prstGeom prst="rect">
            <a:avLst/>
          </a:prstGeom>
          <a:noFill/>
          <a:ln/>
        </p:spPr>
        <p:txBody>
          <a:bodyPr wrap="square" lIns="102742" tIns="34247" rIns="102742" bIns="34247" rtlCol="0" anchor="ctr"/>
          <a:lstStyle/>
          <a:p>
            <a:pPr>
              <a:lnSpc>
                <a:spcPct val="120000"/>
              </a:lnSpc>
            </a:pPr>
            <a:r>
              <a:rPr lang="en-US" sz="944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&gt;$5M ahorrados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9258" y="3638764"/>
            <a:ext cx="5659348" cy="39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reduce </a:t>
            </a:r>
            <a:pPr>
              <a:lnSpc>
                <a:spcPct val="140000"/>
              </a:lnSpc>
            </a:pPr>
            <a:r>
              <a:rPr lang="en-US" sz="944" b="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falsos positivos</a:t>
            </a:r>
            <a:pPr>
              <a:lnSpc>
                <a:spcPct val="140000"/>
              </a:lnSpc>
            </a:pPr>
            <a:r>
              <a:rPr lang="en-US" sz="9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(alertas innecesarias) y </a:t>
            </a:r>
            <a:pPr>
              <a:lnSpc>
                <a:spcPct val="140000"/>
              </a:lnSpc>
            </a:pPr>
            <a:r>
              <a:rPr lang="en-US" sz="944" b="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</a:t>
            </a:r>
            <a:pPr>
              <a:lnSpc>
                <a:spcPct val="140000"/>
              </a:lnSpc>
            </a:pPr>
            <a:r>
              <a:rPr lang="en-US" sz="9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(clientes que se van por molestias), con instituciones ahorrando más de $5 millones en intentos de fraude.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2270" y="4268056"/>
            <a:ext cx="5873393" cy="976045"/>
          </a:xfrm>
          <a:custGeom>
            <a:avLst/>
            <a:gdLst/>
            <a:ahLst/>
            <a:cxnLst/>
            <a:rect l="l" t="t" r="r" b="b"/>
            <a:pathLst>
              <a:path w="5873393" h="976045">
                <a:moveTo>
                  <a:pt x="68499" y="0"/>
                </a:moveTo>
                <a:lnTo>
                  <a:pt x="5804894" y="0"/>
                </a:lnTo>
                <a:cubicBezTo>
                  <a:pt x="5842725" y="0"/>
                  <a:pt x="5873393" y="30668"/>
                  <a:pt x="5873393" y="68499"/>
                </a:cubicBezTo>
                <a:lnTo>
                  <a:pt x="5873393" y="907546"/>
                </a:lnTo>
                <a:cubicBezTo>
                  <a:pt x="5873393" y="945377"/>
                  <a:pt x="5842725" y="976045"/>
                  <a:pt x="5804894" y="976045"/>
                </a:cubicBezTo>
                <a:lnTo>
                  <a:pt x="68499" y="976045"/>
                </a:lnTo>
                <a:cubicBezTo>
                  <a:pt x="30668" y="976045"/>
                  <a:pt x="0" y="945377"/>
                  <a:pt x="0" y="907546"/>
                </a:cubicBezTo>
                <a:lnTo>
                  <a:pt x="0" y="68499"/>
                </a:lnTo>
                <a:cubicBezTo>
                  <a:pt x="0" y="30693"/>
                  <a:pt x="30693" y="0"/>
                  <a:pt x="68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76382" y="4456416"/>
            <a:ext cx="136989" cy="136989"/>
          </a:xfrm>
          <a:custGeom>
            <a:avLst/>
            <a:gdLst/>
            <a:ahLst/>
            <a:cxnLst/>
            <a:rect l="l" t="t" r="r" b="b"/>
            <a:pathLst>
              <a:path w="136989" h="136989">
                <a:moveTo>
                  <a:pt x="72749" y="5405"/>
                </a:moveTo>
                <a:cubicBezTo>
                  <a:pt x="70126" y="3906"/>
                  <a:pt x="66889" y="3906"/>
                  <a:pt x="64240" y="5405"/>
                </a:cubicBezTo>
                <a:lnTo>
                  <a:pt x="4308" y="39652"/>
                </a:lnTo>
                <a:cubicBezTo>
                  <a:pt x="936" y="41578"/>
                  <a:pt x="-722" y="45538"/>
                  <a:pt x="268" y="49284"/>
                </a:cubicBezTo>
                <a:cubicBezTo>
                  <a:pt x="1258" y="53030"/>
                  <a:pt x="4682" y="55652"/>
                  <a:pt x="8562" y="55652"/>
                </a:cubicBezTo>
                <a:lnTo>
                  <a:pt x="17124" y="55652"/>
                </a:lnTo>
                <a:lnTo>
                  <a:pt x="17124" y="111303"/>
                </a:lnTo>
                <a:lnTo>
                  <a:pt x="17124" y="111303"/>
                </a:lnTo>
                <a:lnTo>
                  <a:pt x="3425" y="121578"/>
                </a:lnTo>
                <a:cubicBezTo>
                  <a:pt x="1258" y="123183"/>
                  <a:pt x="0" y="125725"/>
                  <a:pt x="0" y="128427"/>
                </a:cubicBezTo>
                <a:cubicBezTo>
                  <a:pt x="0" y="133163"/>
                  <a:pt x="3826" y="136989"/>
                  <a:pt x="8562" y="136989"/>
                </a:cubicBezTo>
                <a:lnTo>
                  <a:pt x="128427" y="136989"/>
                </a:lnTo>
                <a:cubicBezTo>
                  <a:pt x="133163" y="136989"/>
                  <a:pt x="136989" y="133163"/>
                  <a:pt x="136989" y="128427"/>
                </a:cubicBezTo>
                <a:cubicBezTo>
                  <a:pt x="136989" y="125725"/>
                  <a:pt x="135731" y="123183"/>
                  <a:pt x="133564" y="121578"/>
                </a:cubicBezTo>
                <a:lnTo>
                  <a:pt x="119865" y="111303"/>
                </a:lnTo>
                <a:lnTo>
                  <a:pt x="119865" y="55652"/>
                </a:lnTo>
                <a:lnTo>
                  <a:pt x="128427" y="55652"/>
                </a:lnTo>
                <a:cubicBezTo>
                  <a:pt x="132307" y="55652"/>
                  <a:pt x="135704" y="53030"/>
                  <a:pt x="136694" y="49284"/>
                </a:cubicBezTo>
                <a:cubicBezTo>
                  <a:pt x="137684" y="45538"/>
                  <a:pt x="136026" y="41578"/>
                  <a:pt x="132654" y="39652"/>
                </a:cubicBezTo>
                <a:lnTo>
                  <a:pt x="72722" y="5405"/>
                </a:lnTo>
                <a:close/>
                <a:moveTo>
                  <a:pt x="107022" y="55652"/>
                </a:moveTo>
                <a:lnTo>
                  <a:pt x="107022" y="111303"/>
                </a:lnTo>
                <a:lnTo>
                  <a:pt x="89899" y="111303"/>
                </a:lnTo>
                <a:lnTo>
                  <a:pt x="89899" y="55652"/>
                </a:lnTo>
                <a:lnTo>
                  <a:pt x="107022" y="55652"/>
                </a:lnTo>
                <a:close/>
                <a:moveTo>
                  <a:pt x="77056" y="55652"/>
                </a:moveTo>
                <a:lnTo>
                  <a:pt x="77056" y="111303"/>
                </a:lnTo>
                <a:lnTo>
                  <a:pt x="59933" y="111303"/>
                </a:lnTo>
                <a:lnTo>
                  <a:pt x="59933" y="55652"/>
                </a:lnTo>
                <a:lnTo>
                  <a:pt x="77056" y="55652"/>
                </a:lnTo>
                <a:close/>
                <a:moveTo>
                  <a:pt x="47090" y="55652"/>
                </a:moveTo>
                <a:lnTo>
                  <a:pt x="47090" y="111303"/>
                </a:lnTo>
                <a:lnTo>
                  <a:pt x="29966" y="111303"/>
                </a:lnTo>
                <a:lnTo>
                  <a:pt x="29966" y="55652"/>
                </a:lnTo>
                <a:lnTo>
                  <a:pt x="47090" y="55652"/>
                </a:lnTo>
                <a:close/>
                <a:moveTo>
                  <a:pt x="68494" y="25685"/>
                </a:moveTo>
                <a:cubicBezTo>
                  <a:pt x="73220" y="25685"/>
                  <a:pt x="77056" y="29522"/>
                  <a:pt x="77056" y="34247"/>
                </a:cubicBezTo>
                <a:cubicBezTo>
                  <a:pt x="77056" y="38973"/>
                  <a:pt x="73220" y="42809"/>
                  <a:pt x="68494" y="42809"/>
                </a:cubicBezTo>
                <a:cubicBezTo>
                  <a:pt x="63769" y="42809"/>
                  <a:pt x="59933" y="38973"/>
                  <a:pt x="59933" y="34247"/>
                </a:cubicBezTo>
                <a:cubicBezTo>
                  <a:pt x="59933" y="29522"/>
                  <a:pt x="63769" y="25685"/>
                  <a:pt x="68494" y="25685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1" name="Text 19"/>
          <p:cNvSpPr/>
          <p:nvPr/>
        </p:nvSpPr>
        <p:spPr>
          <a:xfrm>
            <a:off x="830494" y="4422169"/>
            <a:ext cx="470899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HSBC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21892" y="4405045"/>
            <a:ext cx="839056" cy="239730"/>
          </a:xfrm>
          <a:custGeom>
            <a:avLst/>
            <a:gdLst/>
            <a:ahLst/>
            <a:cxnLst/>
            <a:rect l="l" t="t" r="r" b="b"/>
            <a:pathLst>
              <a:path w="839056" h="239730">
                <a:moveTo>
                  <a:pt x="119865" y="0"/>
                </a:moveTo>
                <a:lnTo>
                  <a:pt x="719191" y="0"/>
                </a:lnTo>
                <a:cubicBezTo>
                  <a:pt x="785391" y="0"/>
                  <a:pt x="839056" y="53665"/>
                  <a:pt x="839056" y="119865"/>
                </a:cubicBezTo>
                <a:lnTo>
                  <a:pt x="839056" y="119865"/>
                </a:lnTo>
                <a:cubicBezTo>
                  <a:pt x="839056" y="186065"/>
                  <a:pt x="785391" y="239730"/>
                  <a:pt x="719191" y="239730"/>
                </a:cubicBezTo>
                <a:lnTo>
                  <a:pt x="119865" y="239730"/>
                </a:lnTo>
                <a:cubicBezTo>
                  <a:pt x="53665" y="239730"/>
                  <a:pt x="0" y="186065"/>
                  <a:pt x="0" y="119865"/>
                </a:cubicBezTo>
                <a:lnTo>
                  <a:pt x="0" y="119865"/>
                </a:lnTo>
                <a:cubicBezTo>
                  <a:pt x="0" y="53665"/>
                  <a:pt x="53665" y="0"/>
                  <a:pt x="119865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21892" y="4405045"/>
            <a:ext cx="898989" cy="239730"/>
          </a:xfrm>
          <a:prstGeom prst="rect">
            <a:avLst/>
          </a:prstGeom>
          <a:noFill/>
          <a:ln/>
        </p:spPr>
        <p:txBody>
          <a:bodyPr wrap="square" lIns="102742" tIns="34247" rIns="102742" bIns="34247" rtlCol="0" anchor="ctr"/>
          <a:lstStyle/>
          <a:p>
            <a:pPr>
              <a:lnSpc>
                <a:spcPct val="120000"/>
              </a:lnSpc>
            </a:pPr>
            <a:r>
              <a:rPr lang="en-US" sz="944" b="1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 mejora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9258" y="4713270"/>
            <a:ext cx="5659348" cy="39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Logró </a:t>
            </a:r>
            <a:pPr>
              <a:lnSpc>
                <a:spcPct val="140000"/>
              </a:lnSpc>
            </a:pPr>
            <a:r>
              <a:rPr lang="en-US" sz="944" b="1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60% menos falsos positivos</a:t>
            </a:r>
            <a:pPr>
              <a:lnSpc>
                <a:spcPct val="140000"/>
              </a:lnSpc>
            </a:pPr>
            <a:r>
              <a:rPr lang="en-US" sz="944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sistemas de evaluación dinámica de riesgo que adaptan modelos en tiempo real.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52717" y="1168685"/>
            <a:ext cx="5094270" cy="1327079"/>
          </a:xfrm>
          <a:custGeom>
            <a:avLst/>
            <a:gdLst/>
            <a:ahLst/>
            <a:cxnLst/>
            <a:rect l="l" t="t" r="r" b="b"/>
            <a:pathLst>
              <a:path w="5094270" h="1327079">
                <a:moveTo>
                  <a:pt x="68491" y="0"/>
                </a:moveTo>
                <a:lnTo>
                  <a:pt x="5025779" y="0"/>
                </a:lnTo>
                <a:cubicBezTo>
                  <a:pt x="5063605" y="0"/>
                  <a:pt x="5094270" y="30664"/>
                  <a:pt x="5094270" y="68491"/>
                </a:cubicBezTo>
                <a:lnTo>
                  <a:pt x="5094270" y="1258588"/>
                </a:lnTo>
                <a:cubicBezTo>
                  <a:pt x="5094270" y="1296414"/>
                  <a:pt x="5063605" y="1327079"/>
                  <a:pt x="5025779" y="1327079"/>
                </a:cubicBezTo>
                <a:lnTo>
                  <a:pt x="68491" y="1327079"/>
                </a:lnTo>
                <a:cubicBezTo>
                  <a:pt x="30664" y="1327079"/>
                  <a:pt x="0" y="1296414"/>
                  <a:pt x="0" y="1258588"/>
                </a:cubicBezTo>
                <a:lnTo>
                  <a:pt x="0" y="68491"/>
                </a:lnTo>
                <a:cubicBezTo>
                  <a:pt x="0" y="30690"/>
                  <a:pt x="30690" y="0"/>
                  <a:pt x="68491" y="0"/>
                </a:cubicBezTo>
                <a:close/>
              </a:path>
            </a:pathLst>
          </a:custGeom>
          <a:gradFill rotWithShape="1" flip="none">
            <a:gsLst>
              <a:gs pos="0">
                <a:srgbClr val="FFCA28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28233" y="1344202"/>
            <a:ext cx="479461" cy="479461"/>
          </a:xfrm>
          <a:custGeom>
            <a:avLst/>
            <a:gdLst/>
            <a:ahLst/>
            <a:cxnLst/>
            <a:rect l="l" t="t" r="r" b="b"/>
            <a:pathLst>
              <a:path w="479461" h="479461">
                <a:moveTo>
                  <a:pt x="68496" y="0"/>
                </a:moveTo>
                <a:lnTo>
                  <a:pt x="410965" y="0"/>
                </a:lnTo>
                <a:cubicBezTo>
                  <a:pt x="448794" y="0"/>
                  <a:pt x="479461" y="30667"/>
                  <a:pt x="479461" y="68496"/>
                </a:cubicBezTo>
                <a:lnTo>
                  <a:pt x="479461" y="410965"/>
                </a:lnTo>
                <a:cubicBezTo>
                  <a:pt x="479461" y="448794"/>
                  <a:pt x="448794" y="479461"/>
                  <a:pt x="410965" y="479461"/>
                </a:cubicBezTo>
                <a:lnTo>
                  <a:pt x="68496" y="479461"/>
                </a:lnTo>
                <a:cubicBezTo>
                  <a:pt x="30667" y="479461"/>
                  <a:pt x="0" y="448794"/>
                  <a:pt x="0" y="410965"/>
                </a:cubicBezTo>
                <a:lnTo>
                  <a:pt x="0" y="68496"/>
                </a:lnTo>
                <a:cubicBezTo>
                  <a:pt x="0" y="30692"/>
                  <a:pt x="30692" y="0"/>
                  <a:pt x="68496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7" name="Shape 25"/>
          <p:cNvSpPr/>
          <p:nvPr/>
        </p:nvSpPr>
        <p:spPr>
          <a:xfrm>
            <a:off x="7052380" y="1481191"/>
            <a:ext cx="231169" cy="205483"/>
          </a:xfrm>
          <a:custGeom>
            <a:avLst/>
            <a:gdLst/>
            <a:ahLst/>
            <a:cxnLst/>
            <a:rect l="l" t="t" r="r" b="b"/>
            <a:pathLst>
              <a:path w="231169" h="205483">
                <a:moveTo>
                  <a:pt x="205644" y="96320"/>
                </a:moveTo>
                <a:lnTo>
                  <a:pt x="135009" y="96320"/>
                </a:lnTo>
                <a:cubicBezTo>
                  <a:pt x="127905" y="96320"/>
                  <a:pt x="122166" y="90581"/>
                  <a:pt x="122166" y="83478"/>
                </a:cubicBezTo>
                <a:lnTo>
                  <a:pt x="122166" y="12843"/>
                </a:lnTo>
                <a:cubicBezTo>
                  <a:pt x="122166" y="5739"/>
                  <a:pt x="127945" y="-80"/>
                  <a:pt x="134969" y="843"/>
                </a:cubicBezTo>
                <a:cubicBezTo>
                  <a:pt x="177911" y="6542"/>
                  <a:pt x="211945" y="40575"/>
                  <a:pt x="217644" y="83518"/>
                </a:cubicBezTo>
                <a:cubicBezTo>
                  <a:pt x="218567" y="90541"/>
                  <a:pt x="212747" y="96320"/>
                  <a:pt x="205644" y="96320"/>
                </a:cubicBezTo>
                <a:close/>
                <a:moveTo>
                  <a:pt x="89337" y="14930"/>
                </a:moveTo>
                <a:cubicBezTo>
                  <a:pt x="96601" y="13405"/>
                  <a:pt x="102902" y="19344"/>
                  <a:pt x="102902" y="26769"/>
                </a:cubicBezTo>
                <a:lnTo>
                  <a:pt x="102902" y="105952"/>
                </a:lnTo>
                <a:cubicBezTo>
                  <a:pt x="102902" y="108200"/>
                  <a:pt x="103705" y="110367"/>
                  <a:pt x="105109" y="112093"/>
                </a:cubicBezTo>
                <a:lnTo>
                  <a:pt x="158126" y="176065"/>
                </a:lnTo>
                <a:cubicBezTo>
                  <a:pt x="162821" y="181724"/>
                  <a:pt x="161818" y="190273"/>
                  <a:pt x="155356" y="193764"/>
                </a:cubicBezTo>
                <a:cubicBezTo>
                  <a:pt x="141671" y="201229"/>
                  <a:pt x="125979" y="205483"/>
                  <a:pt x="109323" y="205483"/>
                </a:cubicBezTo>
                <a:cubicBezTo>
                  <a:pt x="56147" y="205483"/>
                  <a:pt x="13003" y="162340"/>
                  <a:pt x="13003" y="109163"/>
                </a:cubicBezTo>
                <a:cubicBezTo>
                  <a:pt x="13003" y="62809"/>
                  <a:pt x="45712" y="24120"/>
                  <a:pt x="89337" y="14930"/>
                </a:cubicBezTo>
                <a:close/>
                <a:moveTo>
                  <a:pt x="191758" y="115584"/>
                </a:moveTo>
                <a:lnTo>
                  <a:pt x="217443" y="115584"/>
                </a:lnTo>
                <a:cubicBezTo>
                  <a:pt x="224868" y="115584"/>
                  <a:pt x="230807" y="121885"/>
                  <a:pt x="229282" y="129149"/>
                </a:cubicBezTo>
                <a:cubicBezTo>
                  <a:pt x="225189" y="148574"/>
                  <a:pt x="215236" y="165831"/>
                  <a:pt x="201349" y="178995"/>
                </a:cubicBezTo>
                <a:cubicBezTo>
                  <a:pt x="196413" y="183691"/>
                  <a:pt x="188667" y="182687"/>
                  <a:pt x="184333" y="177430"/>
                </a:cubicBezTo>
                <a:lnTo>
                  <a:pt x="150460" y="136614"/>
                </a:lnTo>
                <a:cubicBezTo>
                  <a:pt x="143517" y="128226"/>
                  <a:pt x="149497" y="115584"/>
                  <a:pt x="160333" y="115584"/>
                </a:cubicBezTo>
                <a:lnTo>
                  <a:pt x="191717" y="11558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7544683" y="1344202"/>
            <a:ext cx="4212404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FFCA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de Riesgo Crediticio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44683" y="1652427"/>
            <a:ext cx="4195281" cy="66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9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Usando </a:t>
            </a:r>
            <a:pPr>
              <a:lnSpc>
                <a:spcPct val="140000"/>
              </a:lnSpc>
            </a:pPr>
            <a:r>
              <a:rPr lang="en-US" sz="1079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de historiales, redes sociales y comportamientos</a:t>
            </a:r>
            <a:pPr>
              <a:lnSpc>
                <a:spcPct val="140000"/>
              </a:lnSpc>
            </a:pPr>
            <a:r>
              <a:rPr lang="en-US" sz="1079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evalúan mejor quién puede pagar un préstamo, reduciendo defaults y expandiendo acceso al crédito.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52717" y="2641315"/>
            <a:ext cx="5094270" cy="2166135"/>
          </a:xfrm>
          <a:custGeom>
            <a:avLst/>
            <a:gdLst/>
            <a:ahLst/>
            <a:cxnLst/>
            <a:rect l="l" t="t" r="r" b="b"/>
            <a:pathLst>
              <a:path w="5094270" h="2166135">
                <a:moveTo>
                  <a:pt x="68493" y="0"/>
                </a:moveTo>
                <a:lnTo>
                  <a:pt x="5025776" y="0"/>
                </a:lnTo>
                <a:cubicBezTo>
                  <a:pt x="5063604" y="0"/>
                  <a:pt x="5094270" y="30665"/>
                  <a:pt x="5094270" y="68493"/>
                </a:cubicBezTo>
                <a:lnTo>
                  <a:pt x="5094270" y="2097642"/>
                </a:lnTo>
                <a:cubicBezTo>
                  <a:pt x="5094270" y="2135469"/>
                  <a:pt x="5063604" y="2166135"/>
                  <a:pt x="5025776" y="2166135"/>
                </a:cubicBezTo>
                <a:lnTo>
                  <a:pt x="68493" y="2166135"/>
                </a:lnTo>
                <a:cubicBezTo>
                  <a:pt x="30665" y="2166135"/>
                  <a:pt x="0" y="2135469"/>
                  <a:pt x="0" y="2097642"/>
                </a:cubicBezTo>
                <a:lnTo>
                  <a:pt x="0" y="68493"/>
                </a:lnTo>
                <a:cubicBezTo>
                  <a:pt x="0" y="30665"/>
                  <a:pt x="30665" y="0"/>
                  <a:pt x="68493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5458" y="2782584"/>
            <a:ext cx="4888787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Reducción de Fraude</a:t>
            </a:r>
            <a:endParaRPr lang="en-US" sz="1600" dirty="0"/>
          </a:p>
        </p:txBody>
      </p:sp>
      <p:pic>
        <p:nvPicPr>
          <p:cNvPr id="32" name="Image 0" descr="https://kimi-img.moonshot.cn/pub/slides/26-02-19-20:13:47-d6bfsup36ak7ihrqj32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93986" y="3125056"/>
            <a:ext cx="4255213" cy="1541124"/>
          </a:xfrm>
          <a:prstGeom prst="roundRect">
            <a:avLst>
              <a:gd name="adj" fmla="val 0"/>
            </a:avLst>
          </a:prstGeom>
        </p:spPr>
      </p:pic>
      <p:sp>
        <p:nvSpPr>
          <p:cNvPr id="33" name="Shape 30"/>
          <p:cNvSpPr/>
          <p:nvPr/>
        </p:nvSpPr>
        <p:spPr>
          <a:xfrm>
            <a:off x="6765559" y="4948719"/>
            <a:ext cx="5085708" cy="941798"/>
          </a:xfrm>
          <a:custGeom>
            <a:avLst/>
            <a:gdLst/>
            <a:ahLst/>
            <a:cxnLst/>
            <a:rect l="l" t="t" r="r" b="b"/>
            <a:pathLst>
              <a:path w="5085708" h="941798">
                <a:moveTo>
                  <a:pt x="34247" y="0"/>
                </a:moveTo>
                <a:lnTo>
                  <a:pt x="5017211" y="0"/>
                </a:lnTo>
                <a:cubicBezTo>
                  <a:pt x="5055041" y="0"/>
                  <a:pt x="5085708" y="30667"/>
                  <a:pt x="5085708" y="68497"/>
                </a:cubicBezTo>
                <a:lnTo>
                  <a:pt x="5085708" y="873301"/>
                </a:lnTo>
                <a:cubicBezTo>
                  <a:pt x="5085708" y="911131"/>
                  <a:pt x="5055041" y="941798"/>
                  <a:pt x="5017211" y="941798"/>
                </a:cubicBezTo>
                <a:lnTo>
                  <a:pt x="34247" y="941798"/>
                </a:lnTo>
                <a:cubicBezTo>
                  <a:pt x="15333" y="941798"/>
                  <a:pt x="0" y="926465"/>
                  <a:pt x="0" y="907551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CA2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4" name="Shape 31"/>
          <p:cNvSpPr/>
          <p:nvPr/>
        </p:nvSpPr>
        <p:spPr>
          <a:xfrm>
            <a:off x="6765559" y="4948719"/>
            <a:ext cx="34247" cy="941798"/>
          </a:xfrm>
          <a:custGeom>
            <a:avLst/>
            <a:gdLst/>
            <a:ahLst/>
            <a:cxnLst/>
            <a:rect l="l" t="t" r="r" b="b"/>
            <a:pathLst>
              <a:path w="34247" h="941798">
                <a:moveTo>
                  <a:pt x="34247" y="0"/>
                </a:moveTo>
                <a:lnTo>
                  <a:pt x="34247" y="0"/>
                </a:lnTo>
                <a:lnTo>
                  <a:pt x="34247" y="941798"/>
                </a:lnTo>
                <a:lnTo>
                  <a:pt x="34247" y="941798"/>
                </a:lnTo>
                <a:cubicBezTo>
                  <a:pt x="15333" y="941798"/>
                  <a:pt x="0" y="926465"/>
                  <a:pt x="0" y="907551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5" name="Shape 32"/>
          <p:cNvSpPr/>
          <p:nvPr/>
        </p:nvSpPr>
        <p:spPr>
          <a:xfrm>
            <a:off x="6930374" y="5119955"/>
            <a:ext cx="192640" cy="171236"/>
          </a:xfrm>
          <a:custGeom>
            <a:avLst/>
            <a:gdLst/>
            <a:ahLst/>
            <a:cxnLst/>
            <a:rect l="l" t="t" r="r" b="b"/>
            <a:pathLst>
              <a:path w="192640" h="171236">
                <a:moveTo>
                  <a:pt x="74916" y="82942"/>
                </a:moveTo>
                <a:cubicBezTo>
                  <a:pt x="97066" y="82942"/>
                  <a:pt x="115049" y="64959"/>
                  <a:pt x="115049" y="42809"/>
                </a:cubicBezTo>
                <a:cubicBezTo>
                  <a:pt x="115049" y="20659"/>
                  <a:pt x="97066" y="2676"/>
                  <a:pt x="74916" y="2676"/>
                </a:cubicBezTo>
                <a:cubicBezTo>
                  <a:pt x="52765" y="2676"/>
                  <a:pt x="34782" y="20659"/>
                  <a:pt x="34782" y="42809"/>
                </a:cubicBezTo>
                <a:cubicBezTo>
                  <a:pt x="34782" y="64959"/>
                  <a:pt x="52765" y="82942"/>
                  <a:pt x="74916" y="82942"/>
                </a:cubicBezTo>
                <a:close/>
                <a:moveTo>
                  <a:pt x="64983" y="101671"/>
                </a:moveTo>
                <a:cubicBezTo>
                  <a:pt x="32040" y="101671"/>
                  <a:pt x="5351" y="128360"/>
                  <a:pt x="5351" y="161303"/>
                </a:cubicBezTo>
                <a:cubicBezTo>
                  <a:pt x="5351" y="166788"/>
                  <a:pt x="9799" y="171236"/>
                  <a:pt x="15284" y="171236"/>
                </a:cubicBezTo>
                <a:lnTo>
                  <a:pt x="99397" y="171236"/>
                </a:lnTo>
                <a:cubicBezTo>
                  <a:pt x="87290" y="156989"/>
                  <a:pt x="80267" y="138628"/>
                  <a:pt x="80267" y="119196"/>
                </a:cubicBezTo>
                <a:lnTo>
                  <a:pt x="80267" y="108795"/>
                </a:lnTo>
                <a:cubicBezTo>
                  <a:pt x="80267" y="106354"/>
                  <a:pt x="80601" y="103946"/>
                  <a:pt x="81237" y="101671"/>
                </a:cubicBezTo>
                <a:lnTo>
                  <a:pt x="64983" y="101671"/>
                </a:lnTo>
                <a:close/>
                <a:moveTo>
                  <a:pt x="148928" y="163376"/>
                </a:moveTo>
                <a:lnTo>
                  <a:pt x="144480" y="165483"/>
                </a:lnTo>
                <a:lnTo>
                  <a:pt x="144480" y="102574"/>
                </a:lnTo>
                <a:lnTo>
                  <a:pt x="176587" y="113277"/>
                </a:lnTo>
                <a:lnTo>
                  <a:pt x="176587" y="119832"/>
                </a:lnTo>
                <a:cubicBezTo>
                  <a:pt x="176587" y="138494"/>
                  <a:pt x="165818" y="155450"/>
                  <a:pt x="148928" y="163410"/>
                </a:cubicBezTo>
                <a:close/>
                <a:moveTo>
                  <a:pt x="141102" y="86789"/>
                </a:moveTo>
                <a:lnTo>
                  <a:pt x="103645" y="99263"/>
                </a:lnTo>
                <a:cubicBezTo>
                  <a:pt x="99263" y="100735"/>
                  <a:pt x="96320" y="104815"/>
                  <a:pt x="96320" y="109430"/>
                </a:cubicBezTo>
                <a:lnTo>
                  <a:pt x="96320" y="119832"/>
                </a:lnTo>
                <a:cubicBezTo>
                  <a:pt x="96320" y="144714"/>
                  <a:pt x="110701" y="167356"/>
                  <a:pt x="133176" y="177925"/>
                </a:cubicBezTo>
                <a:lnTo>
                  <a:pt x="139363" y="180835"/>
                </a:lnTo>
                <a:cubicBezTo>
                  <a:pt x="140969" y="181570"/>
                  <a:pt x="142708" y="181972"/>
                  <a:pt x="144447" y="181972"/>
                </a:cubicBezTo>
                <a:cubicBezTo>
                  <a:pt x="146186" y="181972"/>
                  <a:pt x="147959" y="181570"/>
                  <a:pt x="149530" y="180835"/>
                </a:cubicBezTo>
                <a:lnTo>
                  <a:pt x="155718" y="177925"/>
                </a:lnTo>
                <a:cubicBezTo>
                  <a:pt x="178259" y="167323"/>
                  <a:pt x="192640" y="144681"/>
                  <a:pt x="192640" y="119798"/>
                </a:cubicBezTo>
                <a:lnTo>
                  <a:pt x="192640" y="109397"/>
                </a:lnTo>
                <a:cubicBezTo>
                  <a:pt x="192640" y="104782"/>
                  <a:pt x="189697" y="100701"/>
                  <a:pt x="185316" y="99230"/>
                </a:cubicBezTo>
                <a:lnTo>
                  <a:pt x="147858" y="86755"/>
                </a:lnTo>
                <a:cubicBezTo>
                  <a:pt x="145651" y="86019"/>
                  <a:pt x="143276" y="86019"/>
                  <a:pt x="141102" y="86755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6" name="Text 33"/>
          <p:cNvSpPr/>
          <p:nvPr/>
        </p:nvSpPr>
        <p:spPr>
          <a:xfrm>
            <a:off x="7236458" y="5085708"/>
            <a:ext cx="4546315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Analogía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236458" y="5359685"/>
            <a:ext cx="4537753" cy="39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4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Imagina un </a:t>
            </a:r>
            <a:pPr>
              <a:lnSpc>
                <a:spcPct val="140000"/>
              </a:lnSpc>
            </a:pPr>
            <a:r>
              <a:rPr lang="en-US" sz="944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guardia de banco que conoce tu vida entera</a:t>
            </a:r>
            <a:pPr>
              <a:lnSpc>
                <a:spcPct val="140000"/>
              </a:lnSpc>
            </a:pPr>
            <a:r>
              <a:rPr lang="en-US" sz="944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si de repente compras algo raro en otro país, lo bloquea instantáneamente.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752717" y="6027506"/>
            <a:ext cx="5094270" cy="607888"/>
          </a:xfrm>
          <a:custGeom>
            <a:avLst/>
            <a:gdLst/>
            <a:ahLst/>
            <a:cxnLst/>
            <a:rect l="l" t="t" r="r" b="b"/>
            <a:pathLst>
              <a:path w="5094270" h="607888">
                <a:moveTo>
                  <a:pt x="68497" y="0"/>
                </a:moveTo>
                <a:lnTo>
                  <a:pt x="5025773" y="0"/>
                </a:lnTo>
                <a:cubicBezTo>
                  <a:pt x="5063603" y="0"/>
                  <a:pt x="5094270" y="30667"/>
                  <a:pt x="5094270" y="68497"/>
                </a:cubicBezTo>
                <a:lnTo>
                  <a:pt x="5094270" y="539391"/>
                </a:lnTo>
                <a:cubicBezTo>
                  <a:pt x="5094270" y="577221"/>
                  <a:pt x="5063603" y="607888"/>
                  <a:pt x="5025773" y="607888"/>
                </a:cubicBezTo>
                <a:lnTo>
                  <a:pt x="68497" y="607888"/>
                </a:lnTo>
                <a:cubicBezTo>
                  <a:pt x="30667" y="607888"/>
                  <a:pt x="0" y="577221"/>
                  <a:pt x="0" y="539391"/>
                </a:cubicBezTo>
                <a:lnTo>
                  <a:pt x="0" y="68497"/>
                </a:lnTo>
                <a:cubicBezTo>
                  <a:pt x="0" y="30692"/>
                  <a:pt x="30692" y="0"/>
                  <a:pt x="68497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876863" y="6168775"/>
            <a:ext cx="119865" cy="119865"/>
          </a:xfrm>
          <a:custGeom>
            <a:avLst/>
            <a:gdLst/>
            <a:ahLst/>
            <a:cxnLst/>
            <a:rect l="l" t="t" r="r" b="b"/>
            <a:pathLst>
              <a:path w="119865" h="119865">
                <a:moveTo>
                  <a:pt x="59933" y="0"/>
                </a:moveTo>
                <a:cubicBezTo>
                  <a:pt x="63374" y="0"/>
                  <a:pt x="66535" y="1896"/>
                  <a:pt x="68173" y="4916"/>
                </a:cubicBezTo>
                <a:lnTo>
                  <a:pt x="118741" y="98561"/>
                </a:lnTo>
                <a:cubicBezTo>
                  <a:pt x="120310" y="101464"/>
                  <a:pt x="120240" y="104976"/>
                  <a:pt x="118554" y="107808"/>
                </a:cubicBezTo>
                <a:cubicBezTo>
                  <a:pt x="116869" y="110641"/>
                  <a:pt x="113802" y="112374"/>
                  <a:pt x="110501" y="112374"/>
                </a:cubicBezTo>
                <a:lnTo>
                  <a:pt x="9364" y="112374"/>
                </a:lnTo>
                <a:cubicBezTo>
                  <a:pt x="6063" y="112374"/>
                  <a:pt x="3020" y="110641"/>
                  <a:pt x="1311" y="107808"/>
                </a:cubicBezTo>
                <a:cubicBezTo>
                  <a:pt x="-398" y="104976"/>
                  <a:pt x="-445" y="101464"/>
                  <a:pt x="1124" y="98561"/>
                </a:cubicBezTo>
                <a:lnTo>
                  <a:pt x="51692" y="4916"/>
                </a:lnTo>
                <a:cubicBezTo>
                  <a:pt x="53331" y="1896"/>
                  <a:pt x="56491" y="0"/>
                  <a:pt x="59933" y="0"/>
                </a:cubicBezTo>
                <a:close/>
                <a:moveTo>
                  <a:pt x="59933" y="39331"/>
                </a:moveTo>
                <a:cubicBezTo>
                  <a:pt x="56819" y="39331"/>
                  <a:pt x="54314" y="41836"/>
                  <a:pt x="54314" y="44949"/>
                </a:cubicBezTo>
                <a:lnTo>
                  <a:pt x="54314" y="71170"/>
                </a:lnTo>
                <a:cubicBezTo>
                  <a:pt x="54314" y="74284"/>
                  <a:pt x="56819" y="76789"/>
                  <a:pt x="59933" y="76789"/>
                </a:cubicBezTo>
                <a:cubicBezTo>
                  <a:pt x="63046" y="76789"/>
                  <a:pt x="65551" y="74284"/>
                  <a:pt x="65551" y="71170"/>
                </a:cubicBezTo>
                <a:lnTo>
                  <a:pt x="65551" y="44949"/>
                </a:lnTo>
                <a:cubicBezTo>
                  <a:pt x="65551" y="41836"/>
                  <a:pt x="63046" y="39331"/>
                  <a:pt x="59933" y="39331"/>
                </a:cubicBezTo>
                <a:close/>
                <a:moveTo>
                  <a:pt x="66183" y="89899"/>
                </a:moveTo>
                <a:cubicBezTo>
                  <a:pt x="66326" y="87579"/>
                  <a:pt x="65168" y="85371"/>
                  <a:pt x="63179" y="84168"/>
                </a:cubicBezTo>
                <a:cubicBezTo>
                  <a:pt x="61190" y="82965"/>
                  <a:pt x="58698" y="82965"/>
                  <a:pt x="56709" y="84168"/>
                </a:cubicBezTo>
                <a:cubicBezTo>
                  <a:pt x="54720" y="85371"/>
                  <a:pt x="53563" y="87579"/>
                  <a:pt x="53705" y="89899"/>
                </a:cubicBezTo>
                <a:cubicBezTo>
                  <a:pt x="53563" y="92219"/>
                  <a:pt x="54720" y="94427"/>
                  <a:pt x="56709" y="95630"/>
                </a:cubicBezTo>
                <a:cubicBezTo>
                  <a:pt x="58698" y="96833"/>
                  <a:pt x="61190" y="96833"/>
                  <a:pt x="63179" y="95630"/>
                </a:cubicBezTo>
                <a:cubicBezTo>
                  <a:pt x="65168" y="94427"/>
                  <a:pt x="66326" y="92219"/>
                  <a:pt x="66183" y="89899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0" name="Text 37"/>
          <p:cNvSpPr/>
          <p:nvPr/>
        </p:nvSpPr>
        <p:spPr>
          <a:xfrm>
            <a:off x="7060027" y="6134528"/>
            <a:ext cx="4739869" cy="393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44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2026:</a:t>
            </a:r>
            <a:pPr>
              <a:lnSpc>
                <a:spcPct val="140000"/>
              </a:lnSpc>
            </a:pPr>
            <a:r>
              <a:rPr lang="en-US" sz="944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IA contra fraudes generados por IA (deepfakes, identidades sintéticas), los bancos usan </a:t>
            </a:r>
            <a:pPr>
              <a:lnSpc>
                <a:spcPct val="140000"/>
              </a:lnSpc>
            </a:pPr>
            <a:r>
              <a:rPr lang="en-US" sz="944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contramedidas de IA</a:t>
            </a:r>
            <a:pPr>
              <a:lnSpc>
                <a:spcPct val="140000"/>
              </a:lnSpc>
            </a:pPr>
            <a:r>
              <a:rPr lang="en-US" sz="944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protegernos.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y.avnet.com/6fa6963bf4704ee64009839eeecdc1cb61b73404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9239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5" name="Shape 2"/>
          <p:cNvSpPr/>
          <p:nvPr/>
        </p:nvSpPr>
        <p:spPr>
          <a:xfrm>
            <a:off x="547688" y="1133475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278539" y="140977"/>
                </a:moveTo>
                <a:cubicBezTo>
                  <a:pt x="286710" y="138767"/>
                  <a:pt x="295282" y="142652"/>
                  <a:pt x="298966" y="150220"/>
                </a:cubicBezTo>
                <a:lnTo>
                  <a:pt x="311423" y="175401"/>
                </a:lnTo>
                <a:cubicBezTo>
                  <a:pt x="318321" y="176339"/>
                  <a:pt x="325085" y="178214"/>
                  <a:pt x="331448" y="180826"/>
                </a:cubicBezTo>
                <a:lnTo>
                  <a:pt x="354888" y="165222"/>
                </a:lnTo>
                <a:cubicBezTo>
                  <a:pt x="361920" y="160533"/>
                  <a:pt x="371229" y="161471"/>
                  <a:pt x="377190" y="167432"/>
                </a:cubicBezTo>
                <a:lnTo>
                  <a:pt x="390049" y="180290"/>
                </a:lnTo>
                <a:cubicBezTo>
                  <a:pt x="396009" y="186251"/>
                  <a:pt x="396947" y="195627"/>
                  <a:pt x="392259" y="202592"/>
                </a:cubicBezTo>
                <a:lnTo>
                  <a:pt x="376654" y="225966"/>
                </a:lnTo>
                <a:cubicBezTo>
                  <a:pt x="377927" y="229113"/>
                  <a:pt x="379065" y="232395"/>
                  <a:pt x="380003" y="235811"/>
                </a:cubicBezTo>
                <a:cubicBezTo>
                  <a:pt x="380940" y="239226"/>
                  <a:pt x="381543" y="242575"/>
                  <a:pt x="382012" y="245991"/>
                </a:cubicBezTo>
                <a:lnTo>
                  <a:pt x="407261" y="258447"/>
                </a:lnTo>
                <a:cubicBezTo>
                  <a:pt x="414829" y="262198"/>
                  <a:pt x="418713" y="270770"/>
                  <a:pt x="416503" y="278874"/>
                </a:cubicBezTo>
                <a:lnTo>
                  <a:pt x="411815" y="296421"/>
                </a:lnTo>
                <a:cubicBezTo>
                  <a:pt x="409605" y="304525"/>
                  <a:pt x="402037" y="310016"/>
                  <a:pt x="393598" y="309481"/>
                </a:cubicBezTo>
                <a:lnTo>
                  <a:pt x="365470" y="307672"/>
                </a:lnTo>
                <a:cubicBezTo>
                  <a:pt x="361251" y="313097"/>
                  <a:pt x="356362" y="318120"/>
                  <a:pt x="350803" y="322406"/>
                </a:cubicBezTo>
                <a:lnTo>
                  <a:pt x="352611" y="350468"/>
                </a:lnTo>
                <a:cubicBezTo>
                  <a:pt x="353147" y="358906"/>
                  <a:pt x="347655" y="366541"/>
                  <a:pt x="339551" y="368684"/>
                </a:cubicBezTo>
                <a:lnTo>
                  <a:pt x="322005" y="373373"/>
                </a:lnTo>
                <a:cubicBezTo>
                  <a:pt x="313834" y="375583"/>
                  <a:pt x="305328" y="371698"/>
                  <a:pt x="301578" y="364130"/>
                </a:cubicBezTo>
                <a:lnTo>
                  <a:pt x="289121" y="338949"/>
                </a:lnTo>
                <a:cubicBezTo>
                  <a:pt x="282223" y="338011"/>
                  <a:pt x="275459" y="336136"/>
                  <a:pt x="269096" y="333524"/>
                </a:cubicBezTo>
                <a:lnTo>
                  <a:pt x="245656" y="349128"/>
                </a:lnTo>
                <a:cubicBezTo>
                  <a:pt x="238624" y="353817"/>
                  <a:pt x="229314" y="352879"/>
                  <a:pt x="223354" y="346918"/>
                </a:cubicBezTo>
                <a:lnTo>
                  <a:pt x="210495" y="334060"/>
                </a:lnTo>
                <a:cubicBezTo>
                  <a:pt x="204534" y="328099"/>
                  <a:pt x="203597" y="318790"/>
                  <a:pt x="208285" y="311758"/>
                </a:cubicBezTo>
                <a:lnTo>
                  <a:pt x="223890" y="288317"/>
                </a:lnTo>
                <a:cubicBezTo>
                  <a:pt x="222617" y="285170"/>
                  <a:pt x="221479" y="281888"/>
                  <a:pt x="220541" y="278472"/>
                </a:cubicBezTo>
                <a:cubicBezTo>
                  <a:pt x="219603" y="275057"/>
                  <a:pt x="219001" y="271641"/>
                  <a:pt x="218532" y="268292"/>
                </a:cubicBezTo>
                <a:lnTo>
                  <a:pt x="193283" y="255836"/>
                </a:lnTo>
                <a:cubicBezTo>
                  <a:pt x="185715" y="252085"/>
                  <a:pt x="181898" y="243513"/>
                  <a:pt x="184041" y="235409"/>
                </a:cubicBezTo>
                <a:lnTo>
                  <a:pt x="188729" y="217862"/>
                </a:lnTo>
                <a:cubicBezTo>
                  <a:pt x="190939" y="209758"/>
                  <a:pt x="198507" y="204267"/>
                  <a:pt x="206946" y="204802"/>
                </a:cubicBezTo>
                <a:lnTo>
                  <a:pt x="235007" y="206611"/>
                </a:lnTo>
                <a:cubicBezTo>
                  <a:pt x="239226" y="201186"/>
                  <a:pt x="244115" y="196163"/>
                  <a:pt x="249674" y="191877"/>
                </a:cubicBezTo>
                <a:lnTo>
                  <a:pt x="247866" y="163882"/>
                </a:lnTo>
                <a:cubicBezTo>
                  <a:pt x="247330" y="155444"/>
                  <a:pt x="252822" y="147809"/>
                  <a:pt x="260925" y="145666"/>
                </a:cubicBezTo>
                <a:lnTo>
                  <a:pt x="278472" y="140977"/>
                </a:lnTo>
                <a:close/>
                <a:moveTo>
                  <a:pt x="300305" y="227707"/>
                </a:moveTo>
                <a:cubicBezTo>
                  <a:pt x="284042" y="227726"/>
                  <a:pt x="270852" y="240945"/>
                  <a:pt x="270871" y="257208"/>
                </a:cubicBezTo>
                <a:cubicBezTo>
                  <a:pt x="270889" y="273472"/>
                  <a:pt x="284109" y="286661"/>
                  <a:pt x="300372" y="286643"/>
                </a:cubicBezTo>
                <a:cubicBezTo>
                  <a:pt x="316636" y="286624"/>
                  <a:pt x="329825" y="273405"/>
                  <a:pt x="329807" y="257142"/>
                </a:cubicBezTo>
                <a:cubicBezTo>
                  <a:pt x="329788" y="240878"/>
                  <a:pt x="316569" y="227689"/>
                  <a:pt x="300305" y="227707"/>
                </a:cubicBezTo>
                <a:close/>
                <a:moveTo>
                  <a:pt x="150622" y="-30473"/>
                </a:moveTo>
                <a:lnTo>
                  <a:pt x="168168" y="-25784"/>
                </a:lnTo>
                <a:cubicBezTo>
                  <a:pt x="176272" y="-23574"/>
                  <a:pt x="181764" y="-15939"/>
                  <a:pt x="181228" y="-7568"/>
                </a:cubicBezTo>
                <a:lnTo>
                  <a:pt x="179420" y="20427"/>
                </a:lnTo>
                <a:cubicBezTo>
                  <a:pt x="184978" y="24713"/>
                  <a:pt x="189867" y="29669"/>
                  <a:pt x="194087" y="35161"/>
                </a:cubicBezTo>
                <a:lnTo>
                  <a:pt x="222215" y="33352"/>
                </a:lnTo>
                <a:cubicBezTo>
                  <a:pt x="230587" y="32817"/>
                  <a:pt x="238222" y="38308"/>
                  <a:pt x="240432" y="46412"/>
                </a:cubicBezTo>
                <a:lnTo>
                  <a:pt x="245120" y="63959"/>
                </a:lnTo>
                <a:cubicBezTo>
                  <a:pt x="247263" y="72063"/>
                  <a:pt x="243446" y="80635"/>
                  <a:pt x="235878" y="84386"/>
                </a:cubicBezTo>
                <a:lnTo>
                  <a:pt x="210629" y="96842"/>
                </a:lnTo>
                <a:cubicBezTo>
                  <a:pt x="210160" y="100258"/>
                  <a:pt x="209490" y="103674"/>
                  <a:pt x="208620" y="107022"/>
                </a:cubicBezTo>
                <a:cubicBezTo>
                  <a:pt x="207749" y="110371"/>
                  <a:pt x="206544" y="113720"/>
                  <a:pt x="205271" y="116867"/>
                </a:cubicBezTo>
                <a:lnTo>
                  <a:pt x="220876" y="140308"/>
                </a:lnTo>
                <a:cubicBezTo>
                  <a:pt x="225564" y="147340"/>
                  <a:pt x="224626" y="156649"/>
                  <a:pt x="218666" y="162610"/>
                </a:cubicBezTo>
                <a:lnTo>
                  <a:pt x="205807" y="175468"/>
                </a:lnTo>
                <a:cubicBezTo>
                  <a:pt x="199846" y="181429"/>
                  <a:pt x="190537" y="182367"/>
                  <a:pt x="183505" y="177678"/>
                </a:cubicBezTo>
                <a:lnTo>
                  <a:pt x="160065" y="162074"/>
                </a:lnTo>
                <a:cubicBezTo>
                  <a:pt x="153702" y="164686"/>
                  <a:pt x="146938" y="166561"/>
                  <a:pt x="140040" y="167499"/>
                </a:cubicBezTo>
                <a:lnTo>
                  <a:pt x="127583" y="192680"/>
                </a:lnTo>
                <a:cubicBezTo>
                  <a:pt x="123832" y="200248"/>
                  <a:pt x="115260" y="204066"/>
                  <a:pt x="107156" y="201923"/>
                </a:cubicBezTo>
                <a:lnTo>
                  <a:pt x="89609" y="197234"/>
                </a:lnTo>
                <a:cubicBezTo>
                  <a:pt x="81439" y="195024"/>
                  <a:pt x="76014" y="187389"/>
                  <a:pt x="76550" y="179018"/>
                </a:cubicBezTo>
                <a:lnTo>
                  <a:pt x="78358" y="150956"/>
                </a:lnTo>
                <a:cubicBezTo>
                  <a:pt x="72799" y="146670"/>
                  <a:pt x="67910" y="141714"/>
                  <a:pt x="63691" y="136222"/>
                </a:cubicBezTo>
                <a:lnTo>
                  <a:pt x="35562" y="138031"/>
                </a:lnTo>
                <a:cubicBezTo>
                  <a:pt x="27191" y="138566"/>
                  <a:pt x="19556" y="133075"/>
                  <a:pt x="17346" y="124971"/>
                </a:cubicBezTo>
                <a:lnTo>
                  <a:pt x="12658" y="107424"/>
                </a:lnTo>
                <a:cubicBezTo>
                  <a:pt x="10515" y="99320"/>
                  <a:pt x="14332" y="90748"/>
                  <a:pt x="21900" y="86997"/>
                </a:cubicBezTo>
                <a:lnTo>
                  <a:pt x="47149" y="74541"/>
                </a:lnTo>
                <a:cubicBezTo>
                  <a:pt x="47618" y="71125"/>
                  <a:pt x="48287" y="67776"/>
                  <a:pt x="49158" y="64361"/>
                </a:cubicBezTo>
                <a:cubicBezTo>
                  <a:pt x="50096" y="60945"/>
                  <a:pt x="51167" y="57663"/>
                  <a:pt x="52507" y="54516"/>
                </a:cubicBezTo>
                <a:lnTo>
                  <a:pt x="36902" y="31142"/>
                </a:lnTo>
                <a:cubicBezTo>
                  <a:pt x="32214" y="24110"/>
                  <a:pt x="33151" y="14801"/>
                  <a:pt x="39112" y="8840"/>
                </a:cubicBezTo>
                <a:lnTo>
                  <a:pt x="51971" y="-4018"/>
                </a:lnTo>
                <a:cubicBezTo>
                  <a:pt x="57931" y="-9979"/>
                  <a:pt x="67241" y="-10917"/>
                  <a:pt x="74273" y="-6228"/>
                </a:cubicBezTo>
                <a:lnTo>
                  <a:pt x="97713" y="9376"/>
                </a:lnTo>
                <a:cubicBezTo>
                  <a:pt x="104076" y="6764"/>
                  <a:pt x="110840" y="4889"/>
                  <a:pt x="117738" y="3951"/>
                </a:cubicBezTo>
                <a:lnTo>
                  <a:pt x="130195" y="-21230"/>
                </a:lnTo>
                <a:cubicBezTo>
                  <a:pt x="133945" y="-28798"/>
                  <a:pt x="142451" y="-32616"/>
                  <a:pt x="150622" y="-30473"/>
                </a:cubicBezTo>
                <a:close/>
                <a:moveTo>
                  <a:pt x="128855" y="56257"/>
                </a:moveTo>
                <a:cubicBezTo>
                  <a:pt x="112592" y="56257"/>
                  <a:pt x="99387" y="69461"/>
                  <a:pt x="99387" y="85725"/>
                </a:cubicBezTo>
                <a:cubicBezTo>
                  <a:pt x="99387" y="101989"/>
                  <a:pt x="112592" y="115193"/>
                  <a:pt x="128855" y="115193"/>
                </a:cubicBezTo>
                <a:cubicBezTo>
                  <a:pt x="145119" y="115193"/>
                  <a:pt x="158323" y="101989"/>
                  <a:pt x="158323" y="85725"/>
                </a:cubicBezTo>
                <a:cubicBezTo>
                  <a:pt x="158323" y="69461"/>
                  <a:pt x="145119" y="56257"/>
                  <a:pt x="128855" y="5625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" name="Shape 3"/>
          <p:cNvSpPr/>
          <p:nvPr/>
        </p:nvSpPr>
        <p:spPr>
          <a:xfrm>
            <a:off x="1295400" y="12858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7" name="Shape 4"/>
          <p:cNvSpPr/>
          <p:nvPr/>
        </p:nvSpPr>
        <p:spPr>
          <a:xfrm>
            <a:off x="385763" y="1919288"/>
            <a:ext cx="1152525" cy="390525"/>
          </a:xfrm>
          <a:custGeom>
            <a:avLst/>
            <a:gdLst/>
            <a:ahLst/>
            <a:cxnLst/>
            <a:rect l="l" t="t" r="r" b="b"/>
            <a:pathLst>
              <a:path w="1152525" h="390525">
                <a:moveTo>
                  <a:pt x="195263" y="0"/>
                </a:moveTo>
                <a:lnTo>
                  <a:pt x="957263" y="0"/>
                </a:lnTo>
                <a:cubicBezTo>
                  <a:pt x="1065031" y="0"/>
                  <a:pt x="1152525" y="87494"/>
                  <a:pt x="1152525" y="195263"/>
                </a:cubicBezTo>
                <a:lnTo>
                  <a:pt x="1152525" y="195263"/>
                </a:lnTo>
                <a:cubicBezTo>
                  <a:pt x="1152525" y="303031"/>
                  <a:pt x="1065031" y="390525"/>
                  <a:pt x="95726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 w="12700">
            <a:solidFill>
              <a:srgbClr val="FFCA28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925" y="2028825"/>
            <a:ext cx="9111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Sector 03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2466975"/>
            <a:ext cx="6743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Industria 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Manufactura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3338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Prediciendo fallos y optimizando operaciones con sensores IoT e inteligencia artificial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5763" y="5462588"/>
            <a:ext cx="952500" cy="466725"/>
          </a:xfrm>
          <a:custGeom>
            <a:avLst/>
            <a:gdLst/>
            <a:ahLst/>
            <a:cxnLst/>
            <a:rect l="l" t="t" r="r" b="b"/>
            <a:pathLst>
              <a:path w="952500" h="466725">
                <a:moveTo>
                  <a:pt x="76202" y="0"/>
                </a:moveTo>
                <a:lnTo>
                  <a:pt x="876298" y="0"/>
                </a:lnTo>
                <a:cubicBezTo>
                  <a:pt x="918383" y="0"/>
                  <a:pt x="952500" y="34117"/>
                  <a:pt x="952500" y="76202"/>
                </a:cubicBezTo>
                <a:lnTo>
                  <a:pt x="952500" y="390523"/>
                </a:lnTo>
                <a:cubicBezTo>
                  <a:pt x="952500" y="432608"/>
                  <a:pt x="918383" y="466725"/>
                  <a:pt x="87629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CA28">
              <a:alpha val="10196"/>
            </a:srgbClr>
          </a:solidFill>
          <a:ln w="12700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2931" y="56007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35719"/>
                </a:moveTo>
                <a:cubicBezTo>
                  <a:pt x="73335" y="35719"/>
                  <a:pt x="42714" y="49113"/>
                  <a:pt x="20203" y="70917"/>
                </a:cubicBezTo>
                <a:cubicBezTo>
                  <a:pt x="15478" y="75493"/>
                  <a:pt x="7925" y="75381"/>
                  <a:pt x="3386" y="70656"/>
                </a:cubicBezTo>
                <a:cubicBezTo>
                  <a:pt x="-1153" y="65931"/>
                  <a:pt x="-1079" y="58378"/>
                  <a:pt x="3646" y="53839"/>
                </a:cubicBezTo>
                <a:cubicBezTo>
                  <a:pt x="30398" y="27868"/>
                  <a:pt x="66935" y="11906"/>
                  <a:pt x="107156" y="11906"/>
                </a:cubicBezTo>
                <a:cubicBezTo>
                  <a:pt x="147377" y="11906"/>
                  <a:pt x="183914" y="27868"/>
                  <a:pt x="210703" y="53839"/>
                </a:cubicBezTo>
                <a:cubicBezTo>
                  <a:pt x="215429" y="58415"/>
                  <a:pt x="215540" y="65968"/>
                  <a:pt x="210964" y="70656"/>
                </a:cubicBezTo>
                <a:cubicBezTo>
                  <a:pt x="206387" y="75344"/>
                  <a:pt x="198834" y="75493"/>
                  <a:pt x="194146" y="70917"/>
                </a:cubicBezTo>
                <a:cubicBezTo>
                  <a:pt x="171599" y="49113"/>
                  <a:pt x="140977" y="35719"/>
                  <a:pt x="107156" y="35719"/>
                </a:cubicBezTo>
                <a:close/>
                <a:moveTo>
                  <a:pt x="89297" y="160734"/>
                </a:moveTo>
                <a:cubicBezTo>
                  <a:pt x="89297" y="150878"/>
                  <a:pt x="97299" y="142875"/>
                  <a:pt x="107156" y="142875"/>
                </a:cubicBezTo>
                <a:cubicBezTo>
                  <a:pt x="117013" y="142875"/>
                  <a:pt x="125016" y="150878"/>
                  <a:pt x="125016" y="160734"/>
                </a:cubicBezTo>
                <a:cubicBezTo>
                  <a:pt x="125016" y="170591"/>
                  <a:pt x="117013" y="178594"/>
                  <a:pt x="107156" y="178594"/>
                </a:cubicBezTo>
                <a:cubicBezTo>
                  <a:pt x="97299" y="178594"/>
                  <a:pt x="89297" y="170591"/>
                  <a:pt x="89297" y="160734"/>
                </a:cubicBezTo>
                <a:close/>
                <a:moveTo>
                  <a:pt x="62508" y="121369"/>
                </a:moveTo>
                <a:cubicBezTo>
                  <a:pt x="58155" y="126318"/>
                  <a:pt x="50639" y="126764"/>
                  <a:pt x="45690" y="122411"/>
                </a:cubicBezTo>
                <a:cubicBezTo>
                  <a:pt x="40742" y="118058"/>
                  <a:pt x="40295" y="110542"/>
                  <a:pt x="44648" y="105594"/>
                </a:cubicBezTo>
                <a:cubicBezTo>
                  <a:pt x="59903" y="88329"/>
                  <a:pt x="82265" y="77391"/>
                  <a:pt x="107156" y="77391"/>
                </a:cubicBezTo>
                <a:cubicBezTo>
                  <a:pt x="132048" y="77391"/>
                  <a:pt x="154409" y="88329"/>
                  <a:pt x="169664" y="105594"/>
                </a:cubicBezTo>
                <a:cubicBezTo>
                  <a:pt x="174017" y="110542"/>
                  <a:pt x="173534" y="118058"/>
                  <a:pt x="168622" y="122411"/>
                </a:cubicBezTo>
                <a:cubicBezTo>
                  <a:pt x="163711" y="126764"/>
                  <a:pt x="156158" y="126281"/>
                  <a:pt x="151805" y="121369"/>
                </a:cubicBezTo>
                <a:cubicBezTo>
                  <a:pt x="140866" y="108979"/>
                  <a:pt x="124941" y="101203"/>
                  <a:pt x="107156" y="101203"/>
                </a:cubicBezTo>
                <a:cubicBezTo>
                  <a:pt x="89371" y="101203"/>
                  <a:pt x="73447" y="108979"/>
                  <a:pt x="62508" y="121369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3" name="Text 10"/>
          <p:cNvSpPr/>
          <p:nvPr/>
        </p:nvSpPr>
        <p:spPr>
          <a:xfrm>
            <a:off x="933450" y="558165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575197" y="5462588"/>
            <a:ext cx="1733550" cy="466725"/>
          </a:xfrm>
          <a:custGeom>
            <a:avLst/>
            <a:gdLst/>
            <a:ahLst/>
            <a:cxnLst/>
            <a:rect l="l" t="t" r="r" b="b"/>
            <a:pathLst>
              <a:path w="1733550" h="466725">
                <a:moveTo>
                  <a:pt x="76202" y="0"/>
                </a:moveTo>
                <a:lnTo>
                  <a:pt x="1657348" y="0"/>
                </a:lnTo>
                <a:cubicBezTo>
                  <a:pt x="1699433" y="0"/>
                  <a:pt x="1733550" y="34117"/>
                  <a:pt x="1733550" y="76202"/>
                </a:cubicBezTo>
                <a:lnTo>
                  <a:pt x="1733550" y="390523"/>
                </a:lnTo>
                <a:cubicBezTo>
                  <a:pt x="1733550" y="432608"/>
                  <a:pt x="1699433" y="466725"/>
                  <a:pt x="165734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82366" y="56007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6" name="Text 13"/>
          <p:cNvSpPr/>
          <p:nvPr/>
        </p:nvSpPr>
        <p:spPr>
          <a:xfrm>
            <a:off x="2122884" y="55816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Mantenimiento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398" y="454247"/>
            <a:ext cx="436077" cy="36340"/>
          </a:xfrm>
          <a:custGeom>
            <a:avLst/>
            <a:gdLst/>
            <a:ahLst/>
            <a:cxnLst/>
            <a:rect l="l" t="t" r="r" b="b"/>
            <a:pathLst>
              <a:path w="436077" h="36340">
                <a:moveTo>
                  <a:pt x="0" y="0"/>
                </a:moveTo>
                <a:lnTo>
                  <a:pt x="436077" y="0"/>
                </a:lnTo>
                <a:lnTo>
                  <a:pt x="436077" y="36340"/>
                </a:lnTo>
                <a:lnTo>
                  <a:pt x="0" y="36340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908495" y="363398"/>
            <a:ext cx="863070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spc="57" kern="0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3398" y="690456"/>
            <a:ext cx="11628733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Mantenimiento Predictivo y Optimización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940" y="1240095"/>
            <a:ext cx="6195934" cy="1408167"/>
          </a:xfrm>
          <a:custGeom>
            <a:avLst/>
            <a:gdLst/>
            <a:ahLst/>
            <a:cxnLst/>
            <a:rect l="l" t="t" r="r" b="b"/>
            <a:pathLst>
              <a:path w="6195934" h="1408167">
                <a:moveTo>
                  <a:pt x="72675" y="0"/>
                </a:moveTo>
                <a:lnTo>
                  <a:pt x="6123259" y="0"/>
                </a:lnTo>
                <a:cubicBezTo>
                  <a:pt x="6163396" y="0"/>
                  <a:pt x="6195934" y="32538"/>
                  <a:pt x="6195934" y="72675"/>
                </a:cubicBezTo>
                <a:lnTo>
                  <a:pt x="6195934" y="1335491"/>
                </a:lnTo>
                <a:cubicBezTo>
                  <a:pt x="6195934" y="1375629"/>
                  <a:pt x="6163396" y="1408167"/>
                  <a:pt x="6123259" y="1408167"/>
                </a:cubicBezTo>
                <a:lnTo>
                  <a:pt x="72675" y="1408167"/>
                </a:lnTo>
                <a:cubicBezTo>
                  <a:pt x="32538" y="1408167"/>
                  <a:pt x="0" y="1375629"/>
                  <a:pt x="0" y="1335491"/>
                </a:cubicBezTo>
                <a:lnTo>
                  <a:pt x="0" y="72675"/>
                </a:lnTo>
                <a:cubicBezTo>
                  <a:pt x="0" y="32565"/>
                  <a:pt x="32565" y="0"/>
                  <a:pt x="7267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CA28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4182" y="1426337"/>
            <a:ext cx="508757" cy="508757"/>
          </a:xfrm>
          <a:custGeom>
            <a:avLst/>
            <a:gdLst/>
            <a:ahLst/>
            <a:cxnLst/>
            <a:rect l="l" t="t" r="r" b="b"/>
            <a:pathLst>
              <a:path w="508757" h="508757">
                <a:moveTo>
                  <a:pt x="72681" y="0"/>
                </a:moveTo>
                <a:lnTo>
                  <a:pt x="436076" y="0"/>
                </a:lnTo>
                <a:cubicBezTo>
                  <a:pt x="476217" y="0"/>
                  <a:pt x="508757" y="32540"/>
                  <a:pt x="508757" y="72681"/>
                </a:cubicBezTo>
                <a:lnTo>
                  <a:pt x="508757" y="436076"/>
                </a:lnTo>
                <a:cubicBezTo>
                  <a:pt x="508757" y="476217"/>
                  <a:pt x="476217" y="508757"/>
                  <a:pt x="436076" y="508757"/>
                </a:cubicBezTo>
                <a:lnTo>
                  <a:pt x="72681" y="508757"/>
                </a:lnTo>
                <a:cubicBezTo>
                  <a:pt x="32540" y="508757"/>
                  <a:pt x="0" y="476217"/>
                  <a:pt x="0" y="436076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7" name="Shape 5"/>
          <p:cNvSpPr/>
          <p:nvPr/>
        </p:nvSpPr>
        <p:spPr>
          <a:xfrm>
            <a:off x="685914" y="1571696"/>
            <a:ext cx="245294" cy="218039"/>
          </a:xfrm>
          <a:custGeom>
            <a:avLst/>
            <a:gdLst/>
            <a:ahLst/>
            <a:cxnLst/>
            <a:rect l="l" t="t" r="r" b="b"/>
            <a:pathLst>
              <a:path w="245294" h="218039">
                <a:moveTo>
                  <a:pt x="216932" y="41989"/>
                </a:moveTo>
                <a:cubicBezTo>
                  <a:pt x="220168" y="38753"/>
                  <a:pt x="225576" y="39562"/>
                  <a:pt x="227195" y="43821"/>
                </a:cubicBezTo>
                <a:cubicBezTo>
                  <a:pt x="230090" y="51358"/>
                  <a:pt x="231666" y="59577"/>
                  <a:pt x="231666" y="68137"/>
                </a:cubicBezTo>
                <a:cubicBezTo>
                  <a:pt x="231666" y="105783"/>
                  <a:pt x="201175" y="136274"/>
                  <a:pt x="163529" y="136274"/>
                </a:cubicBezTo>
                <a:cubicBezTo>
                  <a:pt x="156077" y="136274"/>
                  <a:pt x="148880" y="135082"/>
                  <a:pt x="142151" y="132867"/>
                </a:cubicBezTo>
                <a:lnTo>
                  <a:pt x="62558" y="212460"/>
                </a:lnTo>
                <a:cubicBezTo>
                  <a:pt x="50592" y="224427"/>
                  <a:pt x="31173" y="224427"/>
                  <a:pt x="19206" y="212460"/>
                </a:cubicBezTo>
                <a:cubicBezTo>
                  <a:pt x="7240" y="200493"/>
                  <a:pt x="7240" y="181074"/>
                  <a:pt x="19206" y="169108"/>
                </a:cubicBezTo>
                <a:lnTo>
                  <a:pt x="98799" y="89515"/>
                </a:lnTo>
                <a:cubicBezTo>
                  <a:pt x="96584" y="82787"/>
                  <a:pt x="95392" y="75632"/>
                  <a:pt x="95392" y="68137"/>
                </a:cubicBezTo>
                <a:cubicBezTo>
                  <a:pt x="95392" y="30491"/>
                  <a:pt x="125883" y="0"/>
                  <a:pt x="163529" y="0"/>
                </a:cubicBezTo>
                <a:cubicBezTo>
                  <a:pt x="172089" y="0"/>
                  <a:pt x="180308" y="1576"/>
                  <a:pt x="187845" y="4471"/>
                </a:cubicBezTo>
                <a:cubicBezTo>
                  <a:pt x="192104" y="6090"/>
                  <a:pt x="192871" y="11498"/>
                  <a:pt x="189677" y="14735"/>
                </a:cubicBezTo>
                <a:lnTo>
                  <a:pt x="151903" y="52508"/>
                </a:lnTo>
                <a:cubicBezTo>
                  <a:pt x="150626" y="53786"/>
                  <a:pt x="149902" y="55532"/>
                  <a:pt x="149902" y="57320"/>
                </a:cubicBezTo>
                <a:lnTo>
                  <a:pt x="149902" y="74951"/>
                </a:lnTo>
                <a:cubicBezTo>
                  <a:pt x="149902" y="78698"/>
                  <a:pt x="152968" y="81765"/>
                  <a:pt x="156715" y="81765"/>
                </a:cubicBezTo>
                <a:lnTo>
                  <a:pt x="174346" y="81765"/>
                </a:lnTo>
                <a:cubicBezTo>
                  <a:pt x="176134" y="81765"/>
                  <a:pt x="177880" y="81041"/>
                  <a:pt x="179158" y="79763"/>
                </a:cubicBezTo>
                <a:lnTo>
                  <a:pt x="216932" y="4198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208298" y="1426337"/>
            <a:ext cx="5260185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FFCA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Mantenimiento Predictivo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8298" y="1753395"/>
            <a:ext cx="5242015" cy="70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Sensores IoT en máquinas</a:t>
            </a:r>
            <a:pPr>
              <a:lnSpc>
                <a:spcPct val="140000"/>
              </a:lnSpc>
            </a:pPr>
            <a:r>
              <a:rPr lang="en-US" sz="1145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generan datos constantes (vibración, temperatura, ruido). La IA </a:t>
            </a:r>
            <a:pPr>
              <a:lnSpc>
                <a:spcPct val="140000"/>
              </a:lnSpc>
            </a:pPr>
            <a:r>
              <a:rPr lang="en-US" sz="1145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anticipa averías antes de que ocurran</a:t>
            </a:r>
            <a:pPr>
              <a:lnSpc>
                <a:spcPct val="140000"/>
              </a:lnSpc>
            </a:pPr>
            <a:r>
              <a:rPr lang="en-US" sz="1145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evitando paradas costosas y extendiendo la vida útil del equipo.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7940" y="2802706"/>
            <a:ext cx="6195934" cy="4051887"/>
          </a:xfrm>
          <a:custGeom>
            <a:avLst/>
            <a:gdLst/>
            <a:ahLst/>
            <a:cxnLst/>
            <a:rect l="l" t="t" r="r" b="b"/>
            <a:pathLst>
              <a:path w="6195934" h="4051887">
                <a:moveTo>
                  <a:pt x="72691" y="0"/>
                </a:moveTo>
                <a:lnTo>
                  <a:pt x="6123244" y="0"/>
                </a:lnTo>
                <a:cubicBezTo>
                  <a:pt x="6163390" y="0"/>
                  <a:pt x="6195934" y="32545"/>
                  <a:pt x="6195934" y="72691"/>
                </a:cubicBezTo>
                <a:lnTo>
                  <a:pt x="6195934" y="3979196"/>
                </a:lnTo>
                <a:cubicBezTo>
                  <a:pt x="6195934" y="4019342"/>
                  <a:pt x="6163390" y="4051887"/>
                  <a:pt x="6123244" y="4051887"/>
                </a:cubicBezTo>
                <a:lnTo>
                  <a:pt x="72691" y="4051887"/>
                </a:lnTo>
                <a:cubicBezTo>
                  <a:pt x="32545" y="4051887"/>
                  <a:pt x="0" y="4019342"/>
                  <a:pt x="0" y="3979196"/>
                </a:cubicBezTo>
                <a:lnTo>
                  <a:pt x="0" y="72691"/>
                </a:lnTo>
                <a:cubicBezTo>
                  <a:pt x="0" y="32572"/>
                  <a:pt x="32572" y="0"/>
                  <a:pt x="72691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894" y="3034373"/>
            <a:ext cx="163529" cy="163529"/>
          </a:xfrm>
          <a:custGeom>
            <a:avLst/>
            <a:gdLst/>
            <a:ahLst/>
            <a:cxnLst/>
            <a:rect l="l" t="t" r="r" b="b"/>
            <a:pathLst>
              <a:path w="163529" h="163529">
                <a:moveTo>
                  <a:pt x="10221" y="10221"/>
                </a:moveTo>
                <a:cubicBezTo>
                  <a:pt x="4567" y="10221"/>
                  <a:pt x="0" y="14788"/>
                  <a:pt x="0" y="20441"/>
                </a:cubicBezTo>
                <a:lnTo>
                  <a:pt x="0" y="137978"/>
                </a:lnTo>
                <a:cubicBezTo>
                  <a:pt x="0" y="146442"/>
                  <a:pt x="6867" y="153308"/>
                  <a:pt x="15331" y="153308"/>
                </a:cubicBezTo>
                <a:lnTo>
                  <a:pt x="148198" y="153308"/>
                </a:lnTo>
                <a:cubicBezTo>
                  <a:pt x="156662" y="153308"/>
                  <a:pt x="163529" y="146442"/>
                  <a:pt x="163529" y="137978"/>
                </a:cubicBezTo>
                <a:lnTo>
                  <a:pt x="163529" y="48612"/>
                </a:lnTo>
                <a:cubicBezTo>
                  <a:pt x="163529" y="42799"/>
                  <a:pt x="157333" y="39126"/>
                  <a:pt x="152223" y="41872"/>
                </a:cubicBezTo>
                <a:lnTo>
                  <a:pt x="102206" y="68797"/>
                </a:lnTo>
                <a:lnTo>
                  <a:pt x="102206" y="48612"/>
                </a:lnTo>
                <a:cubicBezTo>
                  <a:pt x="102206" y="42799"/>
                  <a:pt x="96009" y="39126"/>
                  <a:pt x="90899" y="41872"/>
                </a:cubicBezTo>
                <a:lnTo>
                  <a:pt x="40882" y="68797"/>
                </a:lnTo>
                <a:lnTo>
                  <a:pt x="40882" y="20441"/>
                </a:lnTo>
                <a:cubicBezTo>
                  <a:pt x="40882" y="14788"/>
                  <a:pt x="36315" y="10221"/>
                  <a:pt x="30662" y="10221"/>
                </a:cubicBezTo>
                <a:lnTo>
                  <a:pt x="10221" y="1022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10"/>
          <p:cNvSpPr/>
          <p:nvPr/>
        </p:nvSpPr>
        <p:spPr>
          <a:xfrm>
            <a:off x="763136" y="2988948"/>
            <a:ext cx="5696262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Resultados en 2026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4182" y="3388686"/>
            <a:ext cx="5823452" cy="690456"/>
          </a:xfrm>
          <a:custGeom>
            <a:avLst/>
            <a:gdLst/>
            <a:ahLst/>
            <a:cxnLst/>
            <a:rect l="l" t="t" r="r" b="b"/>
            <a:pathLst>
              <a:path w="5823452" h="690456">
                <a:moveTo>
                  <a:pt x="72677" y="0"/>
                </a:moveTo>
                <a:lnTo>
                  <a:pt x="5750774" y="0"/>
                </a:lnTo>
                <a:cubicBezTo>
                  <a:pt x="5790913" y="0"/>
                  <a:pt x="5823452" y="32539"/>
                  <a:pt x="5823452" y="72677"/>
                </a:cubicBezTo>
                <a:lnTo>
                  <a:pt x="5823452" y="617779"/>
                </a:lnTo>
                <a:cubicBezTo>
                  <a:pt x="5823452" y="657917"/>
                  <a:pt x="5790913" y="690456"/>
                  <a:pt x="5750774" y="690456"/>
                </a:cubicBezTo>
                <a:lnTo>
                  <a:pt x="72677" y="690456"/>
                </a:lnTo>
                <a:cubicBezTo>
                  <a:pt x="32539" y="690456"/>
                  <a:pt x="0" y="657917"/>
                  <a:pt x="0" y="617779"/>
                </a:cubicBezTo>
                <a:lnTo>
                  <a:pt x="0" y="72677"/>
                </a:lnTo>
                <a:cubicBezTo>
                  <a:pt x="0" y="32566"/>
                  <a:pt x="32566" y="0"/>
                  <a:pt x="7267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81371" y="3552215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49967" y="6814"/>
                </a:moveTo>
                <a:cubicBezTo>
                  <a:pt x="49967" y="3038"/>
                  <a:pt x="46929" y="0"/>
                  <a:pt x="43154" y="0"/>
                </a:cubicBezTo>
                <a:cubicBezTo>
                  <a:pt x="39378" y="0"/>
                  <a:pt x="36340" y="3038"/>
                  <a:pt x="36340" y="6814"/>
                </a:cubicBezTo>
                <a:lnTo>
                  <a:pt x="36340" y="18170"/>
                </a:lnTo>
                <a:cubicBezTo>
                  <a:pt x="26318" y="18170"/>
                  <a:pt x="18170" y="26318"/>
                  <a:pt x="18170" y="36340"/>
                </a:cubicBezTo>
                <a:lnTo>
                  <a:pt x="6814" y="36340"/>
                </a:lnTo>
                <a:cubicBezTo>
                  <a:pt x="3038" y="36340"/>
                  <a:pt x="0" y="39378"/>
                  <a:pt x="0" y="43154"/>
                </a:cubicBezTo>
                <a:cubicBezTo>
                  <a:pt x="0" y="46929"/>
                  <a:pt x="3038" y="49967"/>
                  <a:pt x="6814" y="49967"/>
                </a:cubicBezTo>
                <a:lnTo>
                  <a:pt x="18170" y="49967"/>
                </a:lnTo>
                <a:lnTo>
                  <a:pt x="18170" y="65866"/>
                </a:lnTo>
                <a:lnTo>
                  <a:pt x="6814" y="65866"/>
                </a:lnTo>
                <a:cubicBezTo>
                  <a:pt x="3038" y="65866"/>
                  <a:pt x="0" y="68904"/>
                  <a:pt x="0" y="72680"/>
                </a:cubicBezTo>
                <a:cubicBezTo>
                  <a:pt x="0" y="76456"/>
                  <a:pt x="3038" y="79493"/>
                  <a:pt x="6814" y="79493"/>
                </a:cubicBezTo>
                <a:lnTo>
                  <a:pt x="18170" y="79493"/>
                </a:lnTo>
                <a:lnTo>
                  <a:pt x="18170" y="95392"/>
                </a:lnTo>
                <a:lnTo>
                  <a:pt x="6814" y="95392"/>
                </a:lnTo>
                <a:cubicBezTo>
                  <a:pt x="3038" y="95392"/>
                  <a:pt x="0" y="98430"/>
                  <a:pt x="0" y="102206"/>
                </a:cubicBezTo>
                <a:cubicBezTo>
                  <a:pt x="0" y="105982"/>
                  <a:pt x="3038" y="109019"/>
                  <a:pt x="6814" y="109019"/>
                </a:cubicBezTo>
                <a:lnTo>
                  <a:pt x="18170" y="109019"/>
                </a:lnTo>
                <a:cubicBezTo>
                  <a:pt x="18170" y="119041"/>
                  <a:pt x="26318" y="127189"/>
                  <a:pt x="36340" y="127189"/>
                </a:cubicBezTo>
                <a:lnTo>
                  <a:pt x="36340" y="138545"/>
                </a:lnTo>
                <a:cubicBezTo>
                  <a:pt x="36340" y="142321"/>
                  <a:pt x="39378" y="145359"/>
                  <a:pt x="43154" y="145359"/>
                </a:cubicBezTo>
                <a:cubicBezTo>
                  <a:pt x="46929" y="145359"/>
                  <a:pt x="49967" y="142321"/>
                  <a:pt x="49967" y="138545"/>
                </a:cubicBezTo>
                <a:lnTo>
                  <a:pt x="49967" y="127189"/>
                </a:lnTo>
                <a:lnTo>
                  <a:pt x="65866" y="127189"/>
                </a:lnTo>
                <a:lnTo>
                  <a:pt x="65866" y="138545"/>
                </a:lnTo>
                <a:cubicBezTo>
                  <a:pt x="65866" y="142321"/>
                  <a:pt x="68904" y="145359"/>
                  <a:pt x="72680" y="145359"/>
                </a:cubicBezTo>
                <a:cubicBezTo>
                  <a:pt x="76456" y="145359"/>
                  <a:pt x="79493" y="142321"/>
                  <a:pt x="79493" y="138545"/>
                </a:cubicBezTo>
                <a:lnTo>
                  <a:pt x="79493" y="127189"/>
                </a:lnTo>
                <a:lnTo>
                  <a:pt x="95392" y="127189"/>
                </a:lnTo>
                <a:lnTo>
                  <a:pt x="95392" y="138545"/>
                </a:lnTo>
                <a:cubicBezTo>
                  <a:pt x="95392" y="142321"/>
                  <a:pt x="98430" y="145359"/>
                  <a:pt x="102206" y="145359"/>
                </a:cubicBezTo>
                <a:cubicBezTo>
                  <a:pt x="105982" y="145359"/>
                  <a:pt x="109019" y="142321"/>
                  <a:pt x="109019" y="138545"/>
                </a:cubicBezTo>
                <a:lnTo>
                  <a:pt x="109019" y="127189"/>
                </a:lnTo>
                <a:cubicBezTo>
                  <a:pt x="119041" y="127189"/>
                  <a:pt x="127189" y="119041"/>
                  <a:pt x="127189" y="109019"/>
                </a:cubicBezTo>
                <a:lnTo>
                  <a:pt x="138545" y="109019"/>
                </a:lnTo>
                <a:cubicBezTo>
                  <a:pt x="142321" y="109019"/>
                  <a:pt x="145359" y="105982"/>
                  <a:pt x="145359" y="102206"/>
                </a:cubicBezTo>
                <a:cubicBezTo>
                  <a:pt x="145359" y="98430"/>
                  <a:pt x="142321" y="95392"/>
                  <a:pt x="138545" y="95392"/>
                </a:cubicBezTo>
                <a:lnTo>
                  <a:pt x="127189" y="95392"/>
                </a:lnTo>
                <a:lnTo>
                  <a:pt x="127189" y="79493"/>
                </a:lnTo>
                <a:lnTo>
                  <a:pt x="138545" y="79493"/>
                </a:lnTo>
                <a:cubicBezTo>
                  <a:pt x="142321" y="79493"/>
                  <a:pt x="145359" y="76456"/>
                  <a:pt x="145359" y="72680"/>
                </a:cubicBezTo>
                <a:cubicBezTo>
                  <a:pt x="145359" y="68904"/>
                  <a:pt x="142321" y="65866"/>
                  <a:pt x="138545" y="65866"/>
                </a:cubicBezTo>
                <a:lnTo>
                  <a:pt x="127189" y="65866"/>
                </a:lnTo>
                <a:lnTo>
                  <a:pt x="127189" y="49967"/>
                </a:lnTo>
                <a:lnTo>
                  <a:pt x="138545" y="49967"/>
                </a:lnTo>
                <a:cubicBezTo>
                  <a:pt x="142321" y="49967"/>
                  <a:pt x="145359" y="46929"/>
                  <a:pt x="145359" y="43154"/>
                </a:cubicBezTo>
                <a:cubicBezTo>
                  <a:pt x="145359" y="39378"/>
                  <a:pt x="142321" y="36340"/>
                  <a:pt x="138545" y="36340"/>
                </a:cubicBezTo>
                <a:lnTo>
                  <a:pt x="127189" y="36340"/>
                </a:lnTo>
                <a:cubicBezTo>
                  <a:pt x="127189" y="26318"/>
                  <a:pt x="119041" y="18170"/>
                  <a:pt x="109019" y="18170"/>
                </a:cubicBezTo>
                <a:lnTo>
                  <a:pt x="109019" y="6814"/>
                </a:lnTo>
                <a:cubicBezTo>
                  <a:pt x="109019" y="3038"/>
                  <a:pt x="105982" y="0"/>
                  <a:pt x="102206" y="0"/>
                </a:cubicBezTo>
                <a:cubicBezTo>
                  <a:pt x="98430" y="0"/>
                  <a:pt x="95392" y="3038"/>
                  <a:pt x="95392" y="6814"/>
                </a:cubicBezTo>
                <a:lnTo>
                  <a:pt x="95392" y="18170"/>
                </a:lnTo>
                <a:lnTo>
                  <a:pt x="79493" y="18170"/>
                </a:lnTo>
                <a:lnTo>
                  <a:pt x="79493" y="6814"/>
                </a:lnTo>
                <a:cubicBezTo>
                  <a:pt x="79493" y="3038"/>
                  <a:pt x="76456" y="0"/>
                  <a:pt x="72680" y="0"/>
                </a:cubicBezTo>
                <a:cubicBezTo>
                  <a:pt x="68904" y="0"/>
                  <a:pt x="65866" y="3038"/>
                  <a:pt x="65866" y="6814"/>
                </a:cubicBezTo>
                <a:lnTo>
                  <a:pt x="65866" y="18170"/>
                </a:lnTo>
                <a:lnTo>
                  <a:pt x="49967" y="18170"/>
                </a:lnTo>
                <a:lnTo>
                  <a:pt x="49967" y="6814"/>
                </a:lnTo>
                <a:close/>
                <a:moveTo>
                  <a:pt x="45425" y="36340"/>
                </a:moveTo>
                <a:lnTo>
                  <a:pt x="99934" y="36340"/>
                </a:lnTo>
                <a:cubicBezTo>
                  <a:pt x="104960" y="36340"/>
                  <a:pt x="109019" y="40400"/>
                  <a:pt x="109019" y="45425"/>
                </a:cubicBezTo>
                <a:lnTo>
                  <a:pt x="109019" y="99934"/>
                </a:lnTo>
                <a:cubicBezTo>
                  <a:pt x="109019" y="104960"/>
                  <a:pt x="104960" y="109019"/>
                  <a:pt x="99934" y="109019"/>
                </a:cubicBezTo>
                <a:lnTo>
                  <a:pt x="45425" y="109019"/>
                </a:lnTo>
                <a:cubicBezTo>
                  <a:pt x="40400" y="109019"/>
                  <a:pt x="36340" y="104960"/>
                  <a:pt x="36340" y="99934"/>
                </a:cubicBezTo>
                <a:lnTo>
                  <a:pt x="36340" y="45425"/>
                </a:lnTo>
                <a:cubicBezTo>
                  <a:pt x="36340" y="40400"/>
                  <a:pt x="40400" y="36340"/>
                  <a:pt x="45425" y="36340"/>
                </a:cubicBezTo>
                <a:close/>
                <a:moveTo>
                  <a:pt x="49967" y="49967"/>
                </a:moveTo>
                <a:lnTo>
                  <a:pt x="49967" y="95392"/>
                </a:lnTo>
                <a:lnTo>
                  <a:pt x="95392" y="95392"/>
                </a:lnTo>
                <a:lnTo>
                  <a:pt x="95392" y="49967"/>
                </a:lnTo>
                <a:lnTo>
                  <a:pt x="49967" y="49967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844900" y="3515875"/>
            <a:ext cx="148993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Siemens &amp; Factory AI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47344" y="3497705"/>
            <a:ext cx="926665" cy="254379"/>
          </a:xfrm>
          <a:custGeom>
            <a:avLst/>
            <a:gdLst/>
            <a:ahLst/>
            <a:cxnLst/>
            <a:rect l="l" t="t" r="r" b="b"/>
            <a:pathLst>
              <a:path w="926665" h="254379">
                <a:moveTo>
                  <a:pt x="36341" y="0"/>
                </a:moveTo>
                <a:lnTo>
                  <a:pt x="890324" y="0"/>
                </a:lnTo>
                <a:cubicBezTo>
                  <a:pt x="910394" y="0"/>
                  <a:pt x="926665" y="16270"/>
                  <a:pt x="926665" y="36341"/>
                </a:cubicBezTo>
                <a:lnTo>
                  <a:pt x="926665" y="218038"/>
                </a:lnTo>
                <a:cubicBezTo>
                  <a:pt x="926665" y="238108"/>
                  <a:pt x="910394" y="254379"/>
                  <a:pt x="890324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347344" y="3497705"/>
            <a:ext cx="990259" cy="254379"/>
          </a:xfrm>
          <a:prstGeom prst="rect">
            <a:avLst/>
          </a:prstGeom>
          <a:noFill/>
          <a:ln/>
        </p:spPr>
        <p:txBody>
          <a:bodyPr wrap="square" lIns="72680" tIns="36340" rIns="72680" bIns="3634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99% precisión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3201" y="3788423"/>
            <a:ext cx="5669007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Usan IA + IoT para predecir fallos con precisión casi perfecta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4182" y="4188161"/>
            <a:ext cx="5823452" cy="690456"/>
          </a:xfrm>
          <a:custGeom>
            <a:avLst/>
            <a:gdLst/>
            <a:ahLst/>
            <a:cxnLst/>
            <a:rect l="l" t="t" r="r" b="b"/>
            <a:pathLst>
              <a:path w="5823452" h="690456">
                <a:moveTo>
                  <a:pt x="72677" y="0"/>
                </a:moveTo>
                <a:lnTo>
                  <a:pt x="5750774" y="0"/>
                </a:lnTo>
                <a:cubicBezTo>
                  <a:pt x="5790913" y="0"/>
                  <a:pt x="5823452" y="32539"/>
                  <a:pt x="5823452" y="72677"/>
                </a:cubicBezTo>
                <a:lnTo>
                  <a:pt x="5823452" y="617779"/>
                </a:lnTo>
                <a:cubicBezTo>
                  <a:pt x="5823452" y="657917"/>
                  <a:pt x="5790913" y="690456"/>
                  <a:pt x="5750774" y="690456"/>
                </a:cubicBezTo>
                <a:lnTo>
                  <a:pt x="72677" y="690456"/>
                </a:lnTo>
                <a:cubicBezTo>
                  <a:pt x="32539" y="690456"/>
                  <a:pt x="0" y="657917"/>
                  <a:pt x="0" y="617779"/>
                </a:cubicBezTo>
                <a:lnTo>
                  <a:pt x="0" y="72677"/>
                </a:lnTo>
                <a:cubicBezTo>
                  <a:pt x="0" y="32566"/>
                  <a:pt x="32566" y="0"/>
                  <a:pt x="7267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72286" y="4351690"/>
            <a:ext cx="163529" cy="145359"/>
          </a:xfrm>
          <a:custGeom>
            <a:avLst/>
            <a:gdLst/>
            <a:ahLst/>
            <a:cxnLst/>
            <a:rect l="l" t="t" r="r" b="b"/>
            <a:pathLst>
              <a:path w="163529" h="145359">
                <a:moveTo>
                  <a:pt x="147630" y="56781"/>
                </a:moveTo>
                <a:cubicBezTo>
                  <a:pt x="156403" y="56781"/>
                  <a:pt x="163529" y="63907"/>
                  <a:pt x="163529" y="72680"/>
                </a:cubicBezTo>
                <a:cubicBezTo>
                  <a:pt x="163529" y="81452"/>
                  <a:pt x="156403" y="88578"/>
                  <a:pt x="147630" y="88578"/>
                </a:cubicBezTo>
                <a:lnTo>
                  <a:pt x="111489" y="88578"/>
                </a:lnTo>
                <a:lnTo>
                  <a:pt x="66292" y="137864"/>
                </a:lnTo>
                <a:cubicBezTo>
                  <a:pt x="64560" y="139738"/>
                  <a:pt x="62147" y="140817"/>
                  <a:pt x="59592" y="140817"/>
                </a:cubicBezTo>
                <a:lnTo>
                  <a:pt x="47185" y="140817"/>
                </a:lnTo>
                <a:cubicBezTo>
                  <a:pt x="44090" y="140817"/>
                  <a:pt x="41904" y="137779"/>
                  <a:pt x="42870" y="134826"/>
                </a:cubicBezTo>
                <a:lnTo>
                  <a:pt x="58286" y="88578"/>
                </a:lnTo>
                <a:lnTo>
                  <a:pt x="29980" y="88578"/>
                </a:lnTo>
                <a:lnTo>
                  <a:pt x="14990" y="107316"/>
                </a:lnTo>
                <a:cubicBezTo>
                  <a:pt x="14138" y="108395"/>
                  <a:pt x="12832" y="109019"/>
                  <a:pt x="11441" y="109019"/>
                </a:cubicBezTo>
                <a:lnTo>
                  <a:pt x="5820" y="109019"/>
                </a:lnTo>
                <a:cubicBezTo>
                  <a:pt x="2867" y="109019"/>
                  <a:pt x="710" y="106237"/>
                  <a:pt x="1420" y="103370"/>
                </a:cubicBezTo>
                <a:lnTo>
                  <a:pt x="9085" y="72680"/>
                </a:lnTo>
                <a:lnTo>
                  <a:pt x="1420" y="41989"/>
                </a:lnTo>
                <a:cubicBezTo>
                  <a:pt x="681" y="39122"/>
                  <a:pt x="2867" y="36340"/>
                  <a:pt x="5820" y="36340"/>
                </a:cubicBezTo>
                <a:lnTo>
                  <a:pt x="11441" y="36340"/>
                </a:lnTo>
                <a:cubicBezTo>
                  <a:pt x="12832" y="36340"/>
                  <a:pt x="14138" y="36964"/>
                  <a:pt x="14990" y="38043"/>
                </a:cubicBezTo>
                <a:lnTo>
                  <a:pt x="29980" y="56781"/>
                </a:lnTo>
                <a:lnTo>
                  <a:pt x="58286" y="56781"/>
                </a:lnTo>
                <a:lnTo>
                  <a:pt x="42870" y="10533"/>
                </a:lnTo>
                <a:cubicBezTo>
                  <a:pt x="41904" y="7580"/>
                  <a:pt x="44090" y="4542"/>
                  <a:pt x="47185" y="4542"/>
                </a:cubicBezTo>
                <a:lnTo>
                  <a:pt x="59592" y="4542"/>
                </a:lnTo>
                <a:cubicBezTo>
                  <a:pt x="62147" y="4542"/>
                  <a:pt x="64560" y="5621"/>
                  <a:pt x="66292" y="7495"/>
                </a:cubicBezTo>
                <a:lnTo>
                  <a:pt x="111489" y="56781"/>
                </a:lnTo>
                <a:lnTo>
                  <a:pt x="147630" y="56781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1" name="Text 19"/>
          <p:cNvSpPr/>
          <p:nvPr/>
        </p:nvSpPr>
        <p:spPr>
          <a:xfrm>
            <a:off x="844900" y="4315350"/>
            <a:ext cx="166254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Rolls-Royce &amp; Tetra Pak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60829" y="4297180"/>
            <a:ext cx="908495" cy="254379"/>
          </a:xfrm>
          <a:custGeom>
            <a:avLst/>
            <a:gdLst/>
            <a:ahLst/>
            <a:cxnLst/>
            <a:rect l="l" t="t" r="r" b="b"/>
            <a:pathLst>
              <a:path w="908495" h="254379">
                <a:moveTo>
                  <a:pt x="36341" y="0"/>
                </a:moveTo>
                <a:lnTo>
                  <a:pt x="872154" y="0"/>
                </a:lnTo>
                <a:cubicBezTo>
                  <a:pt x="892225" y="0"/>
                  <a:pt x="908495" y="16270"/>
                  <a:pt x="908495" y="36341"/>
                </a:cubicBezTo>
                <a:lnTo>
                  <a:pt x="908495" y="218038"/>
                </a:lnTo>
                <a:cubicBezTo>
                  <a:pt x="908495" y="238108"/>
                  <a:pt x="892225" y="254379"/>
                  <a:pt x="872154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360829" y="4297180"/>
            <a:ext cx="972089" cy="254379"/>
          </a:xfrm>
          <a:prstGeom prst="rect">
            <a:avLst/>
          </a:prstGeom>
          <a:noFill/>
          <a:ln/>
        </p:spPr>
        <p:txBody>
          <a:bodyPr wrap="square" lIns="72680" tIns="36340" rIns="72680" bIns="3634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$M ahorrados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3201" y="4587899"/>
            <a:ext cx="5669007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Evitan downtime de cientos de horas en aviación y empaques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4182" y="4987636"/>
            <a:ext cx="5823452" cy="690456"/>
          </a:xfrm>
          <a:custGeom>
            <a:avLst/>
            <a:gdLst/>
            <a:ahLst/>
            <a:cxnLst/>
            <a:rect l="l" t="t" r="r" b="b"/>
            <a:pathLst>
              <a:path w="5823452" h="690456">
                <a:moveTo>
                  <a:pt x="72677" y="0"/>
                </a:moveTo>
                <a:lnTo>
                  <a:pt x="5750774" y="0"/>
                </a:lnTo>
                <a:cubicBezTo>
                  <a:pt x="5790913" y="0"/>
                  <a:pt x="5823452" y="32539"/>
                  <a:pt x="5823452" y="72677"/>
                </a:cubicBezTo>
                <a:lnTo>
                  <a:pt x="5823452" y="617779"/>
                </a:lnTo>
                <a:cubicBezTo>
                  <a:pt x="5823452" y="657917"/>
                  <a:pt x="5790913" y="690456"/>
                  <a:pt x="5750774" y="690456"/>
                </a:cubicBezTo>
                <a:lnTo>
                  <a:pt x="72677" y="690456"/>
                </a:lnTo>
                <a:cubicBezTo>
                  <a:pt x="32539" y="690456"/>
                  <a:pt x="0" y="657917"/>
                  <a:pt x="0" y="617779"/>
                </a:cubicBezTo>
                <a:lnTo>
                  <a:pt x="0" y="72677"/>
                </a:lnTo>
                <a:cubicBezTo>
                  <a:pt x="0" y="32566"/>
                  <a:pt x="32566" y="0"/>
                  <a:pt x="7267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81371" y="5151165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38384" y="33330"/>
                </a:moveTo>
                <a:lnTo>
                  <a:pt x="30974" y="54510"/>
                </a:lnTo>
                <a:lnTo>
                  <a:pt x="114385" y="54510"/>
                </a:lnTo>
                <a:lnTo>
                  <a:pt x="106975" y="33330"/>
                </a:lnTo>
                <a:cubicBezTo>
                  <a:pt x="105698" y="29696"/>
                  <a:pt x="102262" y="27255"/>
                  <a:pt x="98401" y="27255"/>
                </a:cubicBezTo>
                <a:lnTo>
                  <a:pt x="46958" y="27255"/>
                </a:lnTo>
                <a:cubicBezTo>
                  <a:pt x="43097" y="27255"/>
                  <a:pt x="39661" y="29696"/>
                  <a:pt x="38384" y="33330"/>
                </a:cubicBezTo>
                <a:close/>
                <a:moveTo>
                  <a:pt x="11243" y="55872"/>
                </a:moveTo>
                <a:lnTo>
                  <a:pt x="21236" y="27340"/>
                </a:lnTo>
                <a:cubicBezTo>
                  <a:pt x="25069" y="16410"/>
                  <a:pt x="35375" y="9085"/>
                  <a:pt x="46958" y="9085"/>
                </a:cubicBezTo>
                <a:lnTo>
                  <a:pt x="98401" y="9085"/>
                </a:lnTo>
                <a:cubicBezTo>
                  <a:pt x="109985" y="9085"/>
                  <a:pt x="120290" y="16410"/>
                  <a:pt x="124123" y="27340"/>
                </a:cubicBezTo>
                <a:lnTo>
                  <a:pt x="134117" y="55872"/>
                </a:lnTo>
                <a:cubicBezTo>
                  <a:pt x="140703" y="58598"/>
                  <a:pt x="145359" y="65099"/>
                  <a:pt x="145359" y="72680"/>
                </a:cubicBezTo>
                <a:lnTo>
                  <a:pt x="145359" y="127189"/>
                </a:lnTo>
                <a:cubicBezTo>
                  <a:pt x="145359" y="132214"/>
                  <a:pt x="141299" y="136274"/>
                  <a:pt x="136274" y="136274"/>
                </a:cubicBezTo>
                <a:lnTo>
                  <a:pt x="127189" y="136274"/>
                </a:lnTo>
                <a:cubicBezTo>
                  <a:pt x="122164" y="136274"/>
                  <a:pt x="118104" y="132214"/>
                  <a:pt x="118104" y="127189"/>
                </a:cubicBezTo>
                <a:lnTo>
                  <a:pt x="118104" y="118104"/>
                </a:lnTo>
                <a:lnTo>
                  <a:pt x="27255" y="118104"/>
                </a:lnTo>
                <a:lnTo>
                  <a:pt x="27255" y="127189"/>
                </a:lnTo>
                <a:cubicBezTo>
                  <a:pt x="27255" y="132214"/>
                  <a:pt x="23195" y="136274"/>
                  <a:pt x="18170" y="136274"/>
                </a:cubicBezTo>
                <a:lnTo>
                  <a:pt x="9085" y="136274"/>
                </a:lnTo>
                <a:cubicBezTo>
                  <a:pt x="4060" y="136274"/>
                  <a:pt x="0" y="132214"/>
                  <a:pt x="0" y="127189"/>
                </a:cubicBezTo>
                <a:lnTo>
                  <a:pt x="0" y="72680"/>
                </a:lnTo>
                <a:cubicBezTo>
                  <a:pt x="0" y="65099"/>
                  <a:pt x="4656" y="58598"/>
                  <a:pt x="11243" y="55872"/>
                </a:cubicBezTo>
                <a:close/>
                <a:moveTo>
                  <a:pt x="36340" y="86307"/>
                </a:moveTo>
                <a:cubicBezTo>
                  <a:pt x="36340" y="81293"/>
                  <a:pt x="32269" y="77222"/>
                  <a:pt x="27255" y="77222"/>
                </a:cubicBezTo>
                <a:cubicBezTo>
                  <a:pt x="22241" y="77222"/>
                  <a:pt x="18170" y="81293"/>
                  <a:pt x="18170" y="86307"/>
                </a:cubicBezTo>
                <a:cubicBezTo>
                  <a:pt x="18170" y="91321"/>
                  <a:pt x="22241" y="95392"/>
                  <a:pt x="27255" y="95392"/>
                </a:cubicBezTo>
                <a:cubicBezTo>
                  <a:pt x="32269" y="95392"/>
                  <a:pt x="36340" y="91321"/>
                  <a:pt x="36340" y="86307"/>
                </a:cubicBezTo>
                <a:close/>
                <a:moveTo>
                  <a:pt x="118104" y="95392"/>
                </a:moveTo>
                <a:cubicBezTo>
                  <a:pt x="123118" y="95392"/>
                  <a:pt x="127189" y="91321"/>
                  <a:pt x="127189" y="86307"/>
                </a:cubicBezTo>
                <a:cubicBezTo>
                  <a:pt x="127189" y="81293"/>
                  <a:pt x="123118" y="77222"/>
                  <a:pt x="118104" y="77222"/>
                </a:cubicBezTo>
                <a:cubicBezTo>
                  <a:pt x="113090" y="77222"/>
                  <a:pt x="109019" y="81293"/>
                  <a:pt x="109019" y="86307"/>
                </a:cubicBezTo>
                <a:cubicBezTo>
                  <a:pt x="109019" y="91321"/>
                  <a:pt x="113090" y="95392"/>
                  <a:pt x="118104" y="9539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Text 25"/>
          <p:cNvSpPr/>
          <p:nvPr/>
        </p:nvSpPr>
        <p:spPr>
          <a:xfrm>
            <a:off x="844900" y="5114826"/>
            <a:ext cx="436077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02629" y="5096656"/>
            <a:ext cx="972089" cy="254379"/>
          </a:xfrm>
          <a:custGeom>
            <a:avLst/>
            <a:gdLst/>
            <a:ahLst/>
            <a:cxnLst/>
            <a:rect l="l" t="t" r="r" b="b"/>
            <a:pathLst>
              <a:path w="972089" h="254379">
                <a:moveTo>
                  <a:pt x="36341" y="0"/>
                </a:moveTo>
                <a:lnTo>
                  <a:pt x="935749" y="0"/>
                </a:lnTo>
                <a:cubicBezTo>
                  <a:pt x="955819" y="0"/>
                  <a:pt x="972089" y="16270"/>
                  <a:pt x="972089" y="36341"/>
                </a:cubicBezTo>
                <a:lnTo>
                  <a:pt x="972089" y="218038"/>
                </a:lnTo>
                <a:cubicBezTo>
                  <a:pt x="972089" y="238108"/>
                  <a:pt x="955819" y="254379"/>
                  <a:pt x="935749" y="254379"/>
                </a:cubicBezTo>
                <a:lnTo>
                  <a:pt x="36341" y="254379"/>
                </a:lnTo>
                <a:cubicBezTo>
                  <a:pt x="16270" y="254379"/>
                  <a:pt x="0" y="238108"/>
                  <a:pt x="0" y="218038"/>
                </a:cubicBezTo>
                <a:lnTo>
                  <a:pt x="0" y="36341"/>
                </a:lnTo>
                <a:cubicBezTo>
                  <a:pt x="0" y="16284"/>
                  <a:pt x="16284" y="0"/>
                  <a:pt x="36341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302629" y="5096656"/>
            <a:ext cx="1035684" cy="254379"/>
          </a:xfrm>
          <a:prstGeom prst="rect">
            <a:avLst/>
          </a:prstGeom>
          <a:noFill/>
          <a:ln/>
        </p:spPr>
        <p:txBody>
          <a:bodyPr wrap="square" lIns="72680" tIns="36340" rIns="72680" bIns="36340" rtlCol="0" anchor="ctr"/>
          <a:lstStyle/>
          <a:p>
            <a:pPr>
              <a:lnSpc>
                <a:spcPct val="120000"/>
              </a:lnSpc>
            </a:pPr>
            <a:r>
              <a:rPr lang="en-US" sz="1001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$7M ahorrados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3201" y="5387374"/>
            <a:ext cx="5669007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Predice fallos en vans comerciales </a:t>
            </a:r>
            <a:pPr>
              <a:lnSpc>
                <a:spcPct val="120000"/>
              </a:lnSpc>
            </a:pPr>
            <a:r>
              <a:rPr lang="en-US" sz="1001" b="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días antes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56646" y="1240095"/>
            <a:ext cx="5069401" cy="1408167"/>
          </a:xfrm>
          <a:custGeom>
            <a:avLst/>
            <a:gdLst/>
            <a:ahLst/>
            <a:cxnLst/>
            <a:rect l="l" t="t" r="r" b="b"/>
            <a:pathLst>
              <a:path w="5069401" h="1408167">
                <a:moveTo>
                  <a:pt x="72675" y="0"/>
                </a:moveTo>
                <a:lnTo>
                  <a:pt x="4996725" y="0"/>
                </a:lnTo>
                <a:cubicBezTo>
                  <a:pt x="5036863" y="0"/>
                  <a:pt x="5069401" y="32538"/>
                  <a:pt x="5069401" y="72675"/>
                </a:cubicBezTo>
                <a:lnTo>
                  <a:pt x="5069401" y="1335491"/>
                </a:lnTo>
                <a:cubicBezTo>
                  <a:pt x="5069401" y="1375629"/>
                  <a:pt x="5036863" y="1408167"/>
                  <a:pt x="4996725" y="1408167"/>
                </a:cubicBezTo>
                <a:lnTo>
                  <a:pt x="72675" y="1408167"/>
                </a:lnTo>
                <a:cubicBezTo>
                  <a:pt x="32538" y="1408167"/>
                  <a:pt x="0" y="1375629"/>
                  <a:pt x="0" y="1335491"/>
                </a:cubicBezTo>
                <a:lnTo>
                  <a:pt x="0" y="72675"/>
                </a:lnTo>
                <a:cubicBezTo>
                  <a:pt x="0" y="32565"/>
                  <a:pt x="32565" y="0"/>
                  <a:pt x="72675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2887" y="1426337"/>
            <a:ext cx="508757" cy="508757"/>
          </a:xfrm>
          <a:custGeom>
            <a:avLst/>
            <a:gdLst/>
            <a:ahLst/>
            <a:cxnLst/>
            <a:rect l="l" t="t" r="r" b="b"/>
            <a:pathLst>
              <a:path w="508757" h="508757">
                <a:moveTo>
                  <a:pt x="72681" y="0"/>
                </a:moveTo>
                <a:lnTo>
                  <a:pt x="436076" y="0"/>
                </a:lnTo>
                <a:cubicBezTo>
                  <a:pt x="476217" y="0"/>
                  <a:pt x="508757" y="32540"/>
                  <a:pt x="508757" y="72681"/>
                </a:cubicBezTo>
                <a:lnTo>
                  <a:pt x="508757" y="436076"/>
                </a:lnTo>
                <a:cubicBezTo>
                  <a:pt x="508757" y="476217"/>
                  <a:pt x="476217" y="508757"/>
                  <a:pt x="436076" y="508757"/>
                </a:cubicBezTo>
                <a:lnTo>
                  <a:pt x="72681" y="508757"/>
                </a:lnTo>
                <a:cubicBezTo>
                  <a:pt x="32540" y="508757"/>
                  <a:pt x="0" y="476217"/>
                  <a:pt x="0" y="436076"/>
                </a:cubicBezTo>
                <a:lnTo>
                  <a:pt x="0" y="72681"/>
                </a:lnTo>
                <a:cubicBezTo>
                  <a:pt x="0" y="32567"/>
                  <a:pt x="32567" y="0"/>
                  <a:pt x="7268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3" name="Shape 31"/>
          <p:cNvSpPr/>
          <p:nvPr/>
        </p:nvSpPr>
        <p:spPr>
          <a:xfrm>
            <a:off x="7074619" y="1571696"/>
            <a:ext cx="245294" cy="218039"/>
          </a:xfrm>
          <a:custGeom>
            <a:avLst/>
            <a:gdLst/>
            <a:ahLst/>
            <a:cxnLst/>
            <a:rect l="l" t="t" r="r" b="b"/>
            <a:pathLst>
              <a:path w="245294" h="218039">
                <a:moveTo>
                  <a:pt x="0" y="40882"/>
                </a:moveTo>
                <a:cubicBezTo>
                  <a:pt x="0" y="25850"/>
                  <a:pt x="12222" y="13627"/>
                  <a:pt x="27255" y="13627"/>
                </a:cubicBezTo>
                <a:lnTo>
                  <a:pt x="149902" y="13627"/>
                </a:lnTo>
                <a:cubicBezTo>
                  <a:pt x="164934" y="13627"/>
                  <a:pt x="177156" y="25850"/>
                  <a:pt x="177156" y="40882"/>
                </a:cubicBezTo>
                <a:lnTo>
                  <a:pt x="177156" y="54510"/>
                </a:lnTo>
                <a:lnTo>
                  <a:pt x="198747" y="54510"/>
                </a:lnTo>
                <a:cubicBezTo>
                  <a:pt x="205987" y="54510"/>
                  <a:pt x="212928" y="57363"/>
                  <a:pt x="218039" y="62473"/>
                </a:cubicBezTo>
                <a:lnTo>
                  <a:pt x="237330" y="81765"/>
                </a:lnTo>
                <a:cubicBezTo>
                  <a:pt x="242440" y="86875"/>
                  <a:pt x="245294" y="93816"/>
                  <a:pt x="245294" y="101056"/>
                </a:cubicBezTo>
                <a:lnTo>
                  <a:pt x="245294" y="163529"/>
                </a:lnTo>
                <a:cubicBezTo>
                  <a:pt x="245294" y="178562"/>
                  <a:pt x="233071" y="190784"/>
                  <a:pt x="218039" y="190784"/>
                </a:cubicBezTo>
                <a:lnTo>
                  <a:pt x="216633" y="190784"/>
                </a:lnTo>
                <a:cubicBezTo>
                  <a:pt x="212205" y="206498"/>
                  <a:pt x="197725" y="218039"/>
                  <a:pt x="180563" y="218039"/>
                </a:cubicBezTo>
                <a:cubicBezTo>
                  <a:pt x="163401" y="218039"/>
                  <a:pt x="148965" y="206498"/>
                  <a:pt x="144493" y="190784"/>
                </a:cubicBezTo>
                <a:lnTo>
                  <a:pt x="100800" y="190784"/>
                </a:lnTo>
                <a:cubicBezTo>
                  <a:pt x="96371" y="206498"/>
                  <a:pt x="81892" y="218039"/>
                  <a:pt x="64730" y="218039"/>
                </a:cubicBezTo>
                <a:cubicBezTo>
                  <a:pt x="47568" y="218039"/>
                  <a:pt x="33132" y="206498"/>
                  <a:pt x="28660" y="190784"/>
                </a:cubicBezTo>
                <a:lnTo>
                  <a:pt x="27255" y="190784"/>
                </a:lnTo>
                <a:cubicBezTo>
                  <a:pt x="12222" y="190784"/>
                  <a:pt x="0" y="178562"/>
                  <a:pt x="0" y="163529"/>
                </a:cubicBezTo>
                <a:lnTo>
                  <a:pt x="0" y="40882"/>
                </a:lnTo>
                <a:close/>
                <a:moveTo>
                  <a:pt x="218039" y="122647"/>
                </a:moveTo>
                <a:lnTo>
                  <a:pt x="218039" y="101056"/>
                </a:lnTo>
                <a:lnTo>
                  <a:pt x="198747" y="81765"/>
                </a:lnTo>
                <a:lnTo>
                  <a:pt x="177156" y="81765"/>
                </a:lnTo>
                <a:lnTo>
                  <a:pt x="177156" y="122647"/>
                </a:lnTo>
                <a:lnTo>
                  <a:pt x="218039" y="122647"/>
                </a:lnTo>
                <a:close/>
                <a:moveTo>
                  <a:pt x="81765" y="180563"/>
                </a:moveTo>
                <a:cubicBezTo>
                  <a:pt x="81765" y="171162"/>
                  <a:pt x="74132" y="163529"/>
                  <a:pt x="64730" y="163529"/>
                </a:cubicBezTo>
                <a:cubicBezTo>
                  <a:pt x="55329" y="163529"/>
                  <a:pt x="47696" y="171162"/>
                  <a:pt x="47696" y="180563"/>
                </a:cubicBezTo>
                <a:cubicBezTo>
                  <a:pt x="47696" y="189965"/>
                  <a:pt x="55329" y="197598"/>
                  <a:pt x="64730" y="197598"/>
                </a:cubicBezTo>
                <a:cubicBezTo>
                  <a:pt x="74132" y="197598"/>
                  <a:pt x="81765" y="189965"/>
                  <a:pt x="81765" y="180563"/>
                </a:cubicBezTo>
                <a:close/>
                <a:moveTo>
                  <a:pt x="180563" y="197598"/>
                </a:moveTo>
                <a:cubicBezTo>
                  <a:pt x="189965" y="197598"/>
                  <a:pt x="197598" y="189965"/>
                  <a:pt x="197598" y="180563"/>
                </a:cubicBezTo>
                <a:cubicBezTo>
                  <a:pt x="197598" y="171162"/>
                  <a:pt x="189965" y="163529"/>
                  <a:pt x="180563" y="163529"/>
                </a:cubicBezTo>
                <a:cubicBezTo>
                  <a:pt x="171162" y="163529"/>
                  <a:pt x="163529" y="171162"/>
                  <a:pt x="163529" y="180563"/>
                </a:cubicBezTo>
                <a:cubicBezTo>
                  <a:pt x="163529" y="189965"/>
                  <a:pt x="171162" y="197598"/>
                  <a:pt x="180563" y="19759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Text 32"/>
          <p:cNvSpPr/>
          <p:nvPr/>
        </p:nvSpPr>
        <p:spPr>
          <a:xfrm>
            <a:off x="7597004" y="1426337"/>
            <a:ext cx="4133651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Optimización de Cadena de Suministro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97004" y="1753395"/>
            <a:ext cx="4115481" cy="70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Predice </a:t>
            </a:r>
            <a:pPr>
              <a:lnSpc>
                <a:spcPct val="140000"/>
              </a:lnSpc>
            </a:pPr>
            <a:r>
              <a:rPr lang="en-US" sz="1145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demanda, ajusta inventarios y rutas</a:t>
            </a:r>
            <a:pPr>
              <a:lnSpc>
                <a:spcPct val="140000"/>
              </a:lnSpc>
            </a:pPr>
            <a:r>
              <a:rPr lang="en-US" sz="1145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datos históricos y en tiempo real, reduciendo costos logísticos y mejorando satisfacción del cliente.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756646" y="2802706"/>
            <a:ext cx="5069401" cy="2116793"/>
          </a:xfrm>
          <a:custGeom>
            <a:avLst/>
            <a:gdLst/>
            <a:ahLst/>
            <a:cxnLst/>
            <a:rect l="l" t="t" r="r" b="b"/>
            <a:pathLst>
              <a:path w="5069401" h="2116793">
                <a:moveTo>
                  <a:pt x="72669" y="0"/>
                </a:moveTo>
                <a:lnTo>
                  <a:pt x="4996731" y="0"/>
                </a:lnTo>
                <a:cubicBezTo>
                  <a:pt x="5036866" y="0"/>
                  <a:pt x="5069401" y="32535"/>
                  <a:pt x="5069401" y="72669"/>
                </a:cubicBezTo>
                <a:lnTo>
                  <a:pt x="5069401" y="2044123"/>
                </a:lnTo>
                <a:cubicBezTo>
                  <a:pt x="5069401" y="2084258"/>
                  <a:pt x="5036866" y="2116793"/>
                  <a:pt x="4996731" y="2116793"/>
                </a:cubicBezTo>
                <a:lnTo>
                  <a:pt x="72669" y="2116793"/>
                </a:lnTo>
                <a:cubicBezTo>
                  <a:pt x="32535" y="2116793"/>
                  <a:pt x="0" y="2084258"/>
                  <a:pt x="0" y="2044123"/>
                </a:cubicBezTo>
                <a:lnTo>
                  <a:pt x="0" y="72669"/>
                </a:lnTo>
                <a:cubicBezTo>
                  <a:pt x="0" y="32562"/>
                  <a:pt x="32562" y="0"/>
                  <a:pt x="72669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65665" y="2952608"/>
            <a:ext cx="4851362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Impacto del Mantenimiento Predictivo</a:t>
            </a:r>
            <a:endParaRPr lang="en-US" sz="1600" dirty="0"/>
          </a:p>
        </p:txBody>
      </p:sp>
      <p:pic>
        <p:nvPicPr>
          <p:cNvPr id="38" name="Image 0" descr="https://kimi-img.moonshot.cn/pub/slides/26-02-19-20:13:47-d6bfsuue8aipg94t4h3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6548" y="3316006"/>
            <a:ext cx="4515219" cy="1453592"/>
          </a:xfrm>
          <a:prstGeom prst="roundRect">
            <a:avLst>
              <a:gd name="adj" fmla="val 0"/>
            </a:avLst>
          </a:prstGeom>
        </p:spPr>
      </p:pic>
      <p:sp>
        <p:nvSpPr>
          <p:cNvPr id="39" name="Shape 36"/>
          <p:cNvSpPr/>
          <p:nvPr/>
        </p:nvSpPr>
        <p:spPr>
          <a:xfrm>
            <a:off x="6770273" y="5069401"/>
            <a:ext cx="5060316" cy="999344"/>
          </a:xfrm>
          <a:custGeom>
            <a:avLst/>
            <a:gdLst/>
            <a:ahLst/>
            <a:cxnLst/>
            <a:rect l="l" t="t" r="r" b="b"/>
            <a:pathLst>
              <a:path w="5060316" h="999344">
                <a:moveTo>
                  <a:pt x="36340" y="0"/>
                </a:moveTo>
                <a:lnTo>
                  <a:pt x="4987634" y="0"/>
                </a:lnTo>
                <a:cubicBezTo>
                  <a:pt x="5027775" y="0"/>
                  <a:pt x="5060316" y="32541"/>
                  <a:pt x="5060316" y="72682"/>
                </a:cubicBezTo>
                <a:lnTo>
                  <a:pt x="5060316" y="926662"/>
                </a:lnTo>
                <a:cubicBezTo>
                  <a:pt x="5060316" y="966803"/>
                  <a:pt x="5027775" y="999344"/>
                  <a:pt x="4987634" y="999344"/>
                </a:cubicBezTo>
                <a:lnTo>
                  <a:pt x="36340" y="999344"/>
                </a:lnTo>
                <a:cubicBezTo>
                  <a:pt x="16270" y="999344"/>
                  <a:pt x="0" y="983074"/>
                  <a:pt x="0" y="963004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CA2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0" name="Shape 37"/>
          <p:cNvSpPr/>
          <p:nvPr/>
        </p:nvSpPr>
        <p:spPr>
          <a:xfrm>
            <a:off x="6770273" y="5069401"/>
            <a:ext cx="36340" cy="999344"/>
          </a:xfrm>
          <a:custGeom>
            <a:avLst/>
            <a:gdLst/>
            <a:ahLst/>
            <a:cxnLst/>
            <a:rect l="l" t="t" r="r" b="b"/>
            <a:pathLst>
              <a:path w="36340" h="999344">
                <a:moveTo>
                  <a:pt x="36340" y="0"/>
                </a:moveTo>
                <a:lnTo>
                  <a:pt x="36340" y="0"/>
                </a:lnTo>
                <a:lnTo>
                  <a:pt x="36340" y="999344"/>
                </a:lnTo>
                <a:lnTo>
                  <a:pt x="36340" y="999344"/>
                </a:lnTo>
                <a:cubicBezTo>
                  <a:pt x="16270" y="999344"/>
                  <a:pt x="0" y="983074"/>
                  <a:pt x="0" y="963004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1" name="Shape 38"/>
          <p:cNvSpPr/>
          <p:nvPr/>
        </p:nvSpPr>
        <p:spPr>
          <a:xfrm>
            <a:off x="6979227" y="5251100"/>
            <a:ext cx="136274" cy="181699"/>
          </a:xfrm>
          <a:custGeom>
            <a:avLst/>
            <a:gdLst/>
            <a:ahLst/>
            <a:cxnLst/>
            <a:rect l="l" t="t" r="r" b="b"/>
            <a:pathLst>
              <a:path w="136274" h="181699">
                <a:moveTo>
                  <a:pt x="103945" y="136274"/>
                </a:moveTo>
                <a:cubicBezTo>
                  <a:pt x="106535" y="128360"/>
                  <a:pt x="111716" y="121192"/>
                  <a:pt x="117572" y="115017"/>
                </a:cubicBezTo>
                <a:cubicBezTo>
                  <a:pt x="129177" y="102809"/>
                  <a:pt x="136274" y="86307"/>
                  <a:pt x="136274" y="68137"/>
                </a:cubicBezTo>
                <a:cubicBezTo>
                  <a:pt x="136274" y="30520"/>
                  <a:pt x="105754" y="0"/>
                  <a:pt x="68137" y="0"/>
                </a:cubicBezTo>
                <a:cubicBezTo>
                  <a:pt x="30520" y="0"/>
                  <a:pt x="0" y="30520"/>
                  <a:pt x="0" y="68137"/>
                </a:cubicBezTo>
                <a:cubicBezTo>
                  <a:pt x="0" y="86307"/>
                  <a:pt x="7098" y="102809"/>
                  <a:pt x="18702" y="115017"/>
                </a:cubicBezTo>
                <a:cubicBezTo>
                  <a:pt x="24558" y="121192"/>
                  <a:pt x="29774" y="128360"/>
                  <a:pt x="32330" y="136274"/>
                </a:cubicBezTo>
                <a:lnTo>
                  <a:pt x="103909" y="136274"/>
                </a:lnTo>
                <a:close/>
                <a:moveTo>
                  <a:pt x="102206" y="153308"/>
                </a:moveTo>
                <a:lnTo>
                  <a:pt x="34069" y="153308"/>
                </a:lnTo>
                <a:lnTo>
                  <a:pt x="34069" y="158987"/>
                </a:lnTo>
                <a:cubicBezTo>
                  <a:pt x="34069" y="174672"/>
                  <a:pt x="46773" y="187377"/>
                  <a:pt x="62459" y="187377"/>
                </a:cubicBezTo>
                <a:lnTo>
                  <a:pt x="73815" y="187377"/>
                </a:lnTo>
                <a:cubicBezTo>
                  <a:pt x="89501" y="187377"/>
                  <a:pt x="102206" y="174672"/>
                  <a:pt x="102206" y="158987"/>
                </a:cubicBezTo>
                <a:lnTo>
                  <a:pt x="102206" y="153308"/>
                </a:lnTo>
                <a:close/>
                <a:moveTo>
                  <a:pt x="65298" y="39747"/>
                </a:moveTo>
                <a:cubicBezTo>
                  <a:pt x="51174" y="39747"/>
                  <a:pt x="39747" y="51174"/>
                  <a:pt x="39747" y="65298"/>
                </a:cubicBezTo>
                <a:cubicBezTo>
                  <a:pt x="39747" y="70018"/>
                  <a:pt x="35949" y="73815"/>
                  <a:pt x="31230" y="73815"/>
                </a:cubicBezTo>
                <a:cubicBezTo>
                  <a:pt x="26510" y="73815"/>
                  <a:pt x="22712" y="70018"/>
                  <a:pt x="22712" y="65298"/>
                </a:cubicBezTo>
                <a:cubicBezTo>
                  <a:pt x="22712" y="41769"/>
                  <a:pt x="41769" y="22712"/>
                  <a:pt x="65298" y="22712"/>
                </a:cubicBezTo>
                <a:cubicBezTo>
                  <a:pt x="70018" y="22712"/>
                  <a:pt x="73815" y="26510"/>
                  <a:pt x="73815" y="31230"/>
                </a:cubicBezTo>
                <a:cubicBezTo>
                  <a:pt x="73815" y="35949"/>
                  <a:pt x="70018" y="39747"/>
                  <a:pt x="65298" y="39747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2" name="Text 39"/>
          <p:cNvSpPr/>
          <p:nvPr/>
        </p:nvSpPr>
        <p:spPr>
          <a:xfrm>
            <a:off x="7269946" y="5214760"/>
            <a:ext cx="4487964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Analogía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269946" y="5505478"/>
            <a:ext cx="4478879" cy="417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como tener un </a:t>
            </a:r>
            <a:pPr>
              <a:lnSpc>
                <a:spcPct val="140000"/>
              </a:lnSpc>
            </a:pPr>
            <a:r>
              <a:rPr lang="en-US" sz="1001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mecánico que "escucha" la máquina</a:t>
            </a:r>
            <a:pPr>
              <a:lnSpc>
                <a:spcPct val="140000"/>
              </a:lnSpc>
            </a:pPr>
            <a:r>
              <a:rPr lang="en-US" sz="100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dice "cambia esta pieza en 2 semanas" antes de que se rompa.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756646" y="6214104"/>
            <a:ext cx="5069401" cy="645031"/>
          </a:xfrm>
          <a:custGeom>
            <a:avLst/>
            <a:gdLst/>
            <a:ahLst/>
            <a:cxnLst/>
            <a:rect l="l" t="t" r="r" b="b"/>
            <a:pathLst>
              <a:path w="5069401" h="645031">
                <a:moveTo>
                  <a:pt x="72682" y="0"/>
                </a:moveTo>
                <a:lnTo>
                  <a:pt x="4996719" y="0"/>
                </a:lnTo>
                <a:cubicBezTo>
                  <a:pt x="5036860" y="0"/>
                  <a:pt x="5069401" y="32541"/>
                  <a:pt x="5069401" y="72682"/>
                </a:cubicBezTo>
                <a:lnTo>
                  <a:pt x="5069401" y="572349"/>
                </a:lnTo>
                <a:cubicBezTo>
                  <a:pt x="5069401" y="612490"/>
                  <a:pt x="5036860" y="645031"/>
                  <a:pt x="4996719" y="645031"/>
                </a:cubicBezTo>
                <a:lnTo>
                  <a:pt x="72682" y="645031"/>
                </a:lnTo>
                <a:cubicBezTo>
                  <a:pt x="32541" y="645031"/>
                  <a:pt x="0" y="612490"/>
                  <a:pt x="0" y="572349"/>
                </a:cubicBezTo>
                <a:lnTo>
                  <a:pt x="0" y="72682"/>
                </a:lnTo>
                <a:cubicBezTo>
                  <a:pt x="0" y="32568"/>
                  <a:pt x="32568" y="0"/>
                  <a:pt x="7268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888378" y="6364006"/>
            <a:ext cx="127189" cy="127189"/>
          </a:xfrm>
          <a:custGeom>
            <a:avLst/>
            <a:gdLst/>
            <a:ahLst/>
            <a:cxnLst/>
            <a:rect l="l" t="t" r="r" b="b"/>
            <a:pathLst>
              <a:path w="127189" h="127189">
                <a:moveTo>
                  <a:pt x="31797" y="79493"/>
                </a:moveTo>
                <a:lnTo>
                  <a:pt x="6086" y="79493"/>
                </a:lnTo>
                <a:cubicBezTo>
                  <a:pt x="-99" y="79493"/>
                  <a:pt x="-3900" y="72761"/>
                  <a:pt x="-720" y="67445"/>
                </a:cubicBezTo>
                <a:lnTo>
                  <a:pt x="12421" y="45535"/>
                </a:lnTo>
                <a:cubicBezTo>
                  <a:pt x="14582" y="41933"/>
                  <a:pt x="18457" y="39747"/>
                  <a:pt x="22656" y="39747"/>
                </a:cubicBezTo>
                <a:lnTo>
                  <a:pt x="46255" y="39747"/>
                </a:lnTo>
                <a:cubicBezTo>
                  <a:pt x="65160" y="7726"/>
                  <a:pt x="93355" y="6111"/>
                  <a:pt x="112210" y="8868"/>
                </a:cubicBezTo>
                <a:cubicBezTo>
                  <a:pt x="115389" y="9340"/>
                  <a:pt x="117874" y="11825"/>
                  <a:pt x="118321" y="14980"/>
                </a:cubicBezTo>
                <a:cubicBezTo>
                  <a:pt x="121078" y="33834"/>
                  <a:pt x="119464" y="62030"/>
                  <a:pt x="87443" y="80934"/>
                </a:cubicBezTo>
                <a:lnTo>
                  <a:pt x="87443" y="104534"/>
                </a:lnTo>
                <a:cubicBezTo>
                  <a:pt x="87443" y="108732"/>
                  <a:pt x="85257" y="112607"/>
                  <a:pt x="81655" y="114768"/>
                </a:cubicBezTo>
                <a:lnTo>
                  <a:pt x="59744" y="127910"/>
                </a:lnTo>
                <a:cubicBezTo>
                  <a:pt x="54453" y="131089"/>
                  <a:pt x="47696" y="127264"/>
                  <a:pt x="47696" y="121103"/>
                </a:cubicBezTo>
                <a:lnTo>
                  <a:pt x="47696" y="95392"/>
                </a:lnTo>
                <a:cubicBezTo>
                  <a:pt x="47696" y="86623"/>
                  <a:pt x="40566" y="79493"/>
                  <a:pt x="31797" y="79493"/>
                </a:cubicBezTo>
                <a:lnTo>
                  <a:pt x="31772" y="79493"/>
                </a:lnTo>
                <a:close/>
                <a:moveTo>
                  <a:pt x="99367" y="39747"/>
                </a:moveTo>
                <a:cubicBezTo>
                  <a:pt x="99367" y="33166"/>
                  <a:pt x="94024" y="27823"/>
                  <a:pt x="87443" y="27823"/>
                </a:cubicBezTo>
                <a:cubicBezTo>
                  <a:pt x="80862" y="27823"/>
                  <a:pt x="75519" y="33166"/>
                  <a:pt x="75519" y="39747"/>
                </a:cubicBezTo>
                <a:cubicBezTo>
                  <a:pt x="75519" y="46328"/>
                  <a:pt x="80862" y="51671"/>
                  <a:pt x="87443" y="51671"/>
                </a:cubicBezTo>
                <a:cubicBezTo>
                  <a:pt x="94024" y="51671"/>
                  <a:pt x="99367" y="46328"/>
                  <a:pt x="99367" y="3974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6" name="Text 43"/>
          <p:cNvSpPr/>
          <p:nvPr/>
        </p:nvSpPr>
        <p:spPr>
          <a:xfrm>
            <a:off x="7085728" y="6327666"/>
            <a:ext cx="4690351" cy="417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2026:</a:t>
            </a:r>
            <a:pPr>
              <a:lnSpc>
                <a:spcPct val="140000"/>
              </a:lnSpc>
            </a:pPr>
            <a:r>
              <a:rPr lang="en-US" sz="100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"Industrial AI Operating Systems" de Siemens integran todo para mantenimiento automatizado.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res.cloudinary.com/c5132cd0222463be1c3b1d3f5d57b4f3a4d54c99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9239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" name="Shape 2"/>
          <p:cNvSpPr/>
          <p:nvPr/>
        </p:nvSpPr>
        <p:spPr>
          <a:xfrm>
            <a:off x="590550" y="11334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08878" y="12658"/>
                </a:moveTo>
                <a:cubicBezTo>
                  <a:pt x="316580" y="16073"/>
                  <a:pt x="321469" y="23708"/>
                  <a:pt x="321469" y="32147"/>
                </a:cubicBezTo>
                <a:lnTo>
                  <a:pt x="321469" y="310753"/>
                </a:lnTo>
                <a:cubicBezTo>
                  <a:pt x="321469" y="319192"/>
                  <a:pt x="316580" y="326827"/>
                  <a:pt x="308878" y="330242"/>
                </a:cubicBezTo>
                <a:cubicBezTo>
                  <a:pt x="301176" y="333658"/>
                  <a:pt x="292269" y="332385"/>
                  <a:pt x="285906" y="326827"/>
                </a:cubicBezTo>
                <a:lnTo>
                  <a:pt x="254697" y="299569"/>
                </a:lnTo>
                <a:cubicBezTo>
                  <a:pt x="225497" y="274052"/>
                  <a:pt x="188595" y="259184"/>
                  <a:pt x="149952" y="257376"/>
                </a:cubicBezTo>
                <a:lnTo>
                  <a:pt x="149952" y="321469"/>
                </a:lnTo>
                <a:cubicBezTo>
                  <a:pt x="149952" y="333323"/>
                  <a:pt x="140375" y="342900"/>
                  <a:pt x="128521" y="342900"/>
                </a:cubicBezTo>
                <a:lnTo>
                  <a:pt x="107089" y="342900"/>
                </a:lnTo>
                <a:cubicBezTo>
                  <a:pt x="95235" y="342900"/>
                  <a:pt x="85658" y="333323"/>
                  <a:pt x="85658" y="321469"/>
                </a:cubicBezTo>
                <a:lnTo>
                  <a:pt x="85658" y="257175"/>
                </a:lnTo>
                <a:cubicBezTo>
                  <a:pt x="38375" y="257175"/>
                  <a:pt x="0" y="218800"/>
                  <a:pt x="0" y="171450"/>
                </a:cubicBezTo>
                <a:cubicBezTo>
                  <a:pt x="0" y="124100"/>
                  <a:pt x="38375" y="85725"/>
                  <a:pt x="85725" y="85725"/>
                </a:cubicBezTo>
                <a:lnTo>
                  <a:pt x="142317" y="85725"/>
                </a:lnTo>
                <a:cubicBezTo>
                  <a:pt x="183706" y="85591"/>
                  <a:pt x="223622" y="70522"/>
                  <a:pt x="254764" y="43331"/>
                </a:cubicBezTo>
                <a:lnTo>
                  <a:pt x="285973" y="16073"/>
                </a:lnTo>
                <a:cubicBezTo>
                  <a:pt x="292269" y="10515"/>
                  <a:pt x="301310" y="9242"/>
                  <a:pt x="308945" y="12658"/>
                </a:cubicBezTo>
                <a:close/>
                <a:moveTo>
                  <a:pt x="150019" y="214313"/>
                </a:moveTo>
                <a:lnTo>
                  <a:pt x="150019" y="214446"/>
                </a:lnTo>
                <a:cubicBezTo>
                  <a:pt x="197101" y="216255"/>
                  <a:pt x="242307" y="233534"/>
                  <a:pt x="278606" y="263604"/>
                </a:cubicBezTo>
                <a:lnTo>
                  <a:pt x="278606" y="79229"/>
                </a:lnTo>
                <a:cubicBezTo>
                  <a:pt x="242307" y="109299"/>
                  <a:pt x="197101" y="126578"/>
                  <a:pt x="150019" y="128387"/>
                </a:cubicBezTo>
                <a:lnTo>
                  <a:pt x="150019" y="21431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" name="Shape 3"/>
          <p:cNvSpPr/>
          <p:nvPr/>
        </p:nvSpPr>
        <p:spPr>
          <a:xfrm>
            <a:off x="1295400" y="128587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4"/>
          <p:cNvSpPr/>
          <p:nvPr/>
        </p:nvSpPr>
        <p:spPr>
          <a:xfrm>
            <a:off x="385763" y="1919288"/>
            <a:ext cx="1143000" cy="390525"/>
          </a:xfrm>
          <a:custGeom>
            <a:avLst/>
            <a:gdLst/>
            <a:ahLst/>
            <a:cxnLst/>
            <a:rect l="l" t="t" r="r" b="b"/>
            <a:pathLst>
              <a:path w="1143000" h="390525">
                <a:moveTo>
                  <a:pt x="195263" y="0"/>
                </a:moveTo>
                <a:lnTo>
                  <a:pt x="947737" y="0"/>
                </a:lnTo>
                <a:cubicBezTo>
                  <a:pt x="1055506" y="0"/>
                  <a:pt x="1143000" y="87494"/>
                  <a:pt x="1143000" y="195263"/>
                </a:cubicBezTo>
                <a:lnTo>
                  <a:pt x="1143000" y="195263"/>
                </a:lnTo>
                <a:cubicBezTo>
                  <a:pt x="1143000" y="303031"/>
                  <a:pt x="1055506" y="390525"/>
                  <a:pt x="947737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1270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925" y="2028825"/>
            <a:ext cx="9069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Sector 04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2466975"/>
            <a:ext cx="75152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Marketing 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Experiencia del Cliente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333875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Personalizando interacciones para que cada cliente se sienta verdaderamente único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5763" y="5462588"/>
            <a:ext cx="1762125" cy="466725"/>
          </a:xfrm>
          <a:custGeom>
            <a:avLst/>
            <a:gdLst/>
            <a:ahLst/>
            <a:cxnLst/>
            <a:rect l="l" t="t" r="r" b="b"/>
            <a:pathLst>
              <a:path w="1762125" h="466725">
                <a:moveTo>
                  <a:pt x="76202" y="0"/>
                </a:moveTo>
                <a:lnTo>
                  <a:pt x="1685923" y="0"/>
                </a:lnTo>
                <a:cubicBezTo>
                  <a:pt x="1728008" y="0"/>
                  <a:pt x="1762125" y="34117"/>
                  <a:pt x="1762125" y="76202"/>
                </a:cubicBezTo>
                <a:lnTo>
                  <a:pt x="1762125" y="390523"/>
                </a:lnTo>
                <a:cubicBezTo>
                  <a:pt x="1762125" y="432608"/>
                  <a:pt x="1728008" y="466725"/>
                  <a:pt x="168592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6744" y="56007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0"/>
          <p:cNvSpPr/>
          <p:nvPr/>
        </p:nvSpPr>
        <p:spPr>
          <a:xfrm>
            <a:off x="933450" y="558165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Personalización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381696" y="5462588"/>
            <a:ext cx="1333500" cy="466725"/>
          </a:xfrm>
          <a:custGeom>
            <a:avLst/>
            <a:gdLst/>
            <a:ahLst/>
            <a:cxnLst/>
            <a:rect l="l" t="t" r="r" b="b"/>
            <a:pathLst>
              <a:path w="1333500" h="466725">
                <a:moveTo>
                  <a:pt x="76202" y="0"/>
                </a:moveTo>
                <a:lnTo>
                  <a:pt x="1257298" y="0"/>
                </a:lnTo>
                <a:cubicBezTo>
                  <a:pt x="1299383" y="0"/>
                  <a:pt x="1333500" y="34117"/>
                  <a:pt x="1333500" y="76202"/>
                </a:cubicBezTo>
                <a:lnTo>
                  <a:pt x="1333500" y="390523"/>
                </a:lnTo>
                <a:cubicBezTo>
                  <a:pt x="1333500" y="432608"/>
                  <a:pt x="1299383" y="466725"/>
                  <a:pt x="125729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CA28">
              <a:alpha val="10196"/>
            </a:srgbClr>
          </a:solidFill>
          <a:ln w="12700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76959" y="56007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6" name="Text 13"/>
          <p:cNvSpPr/>
          <p:nvPr/>
        </p:nvSpPr>
        <p:spPr>
          <a:xfrm>
            <a:off x="2929384" y="5581650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Chatbots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667" y="423333"/>
            <a:ext cx="406400" cy="33867"/>
          </a:xfrm>
          <a:custGeom>
            <a:avLst/>
            <a:gdLst/>
            <a:ahLst/>
            <a:cxnLst/>
            <a:rect l="l" t="t" r="r" b="b"/>
            <a:pathLst>
              <a:path w="406400" h="33867">
                <a:moveTo>
                  <a:pt x="0" y="0"/>
                </a:moveTo>
                <a:lnTo>
                  <a:pt x="406400" y="0"/>
                </a:lnTo>
                <a:lnTo>
                  <a:pt x="406400" y="33867"/>
                </a:lnTo>
                <a:lnTo>
                  <a:pt x="0" y="33867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846667" y="338667"/>
            <a:ext cx="8551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spc="53" kern="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8667" y="643467"/>
            <a:ext cx="116670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Hiperpersonalización y Chatbots Avanzados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2900" y="1155700"/>
            <a:ext cx="6231467" cy="1092200"/>
          </a:xfrm>
          <a:custGeom>
            <a:avLst/>
            <a:gdLst/>
            <a:ahLst/>
            <a:cxnLst/>
            <a:rect l="l" t="t" r="r" b="b"/>
            <a:pathLst>
              <a:path w="6231467" h="1092200">
                <a:moveTo>
                  <a:pt x="67738" y="0"/>
                </a:moveTo>
                <a:lnTo>
                  <a:pt x="6163728" y="0"/>
                </a:lnTo>
                <a:cubicBezTo>
                  <a:pt x="6201139" y="0"/>
                  <a:pt x="6231467" y="30327"/>
                  <a:pt x="6231467" y="67738"/>
                </a:cubicBezTo>
                <a:lnTo>
                  <a:pt x="6231467" y="1024462"/>
                </a:lnTo>
                <a:cubicBezTo>
                  <a:pt x="6231467" y="1061873"/>
                  <a:pt x="6201139" y="1092200"/>
                  <a:pt x="6163728" y="1092200"/>
                </a:cubicBezTo>
                <a:lnTo>
                  <a:pt x="67738" y="1092200"/>
                </a:lnTo>
                <a:cubicBezTo>
                  <a:pt x="30327" y="1092200"/>
                  <a:pt x="0" y="1061873"/>
                  <a:pt x="0" y="1024462"/>
                </a:cubicBezTo>
                <a:lnTo>
                  <a:pt x="0" y="67738"/>
                </a:lnTo>
                <a:cubicBezTo>
                  <a:pt x="0" y="30327"/>
                  <a:pt x="30327" y="0"/>
                  <a:pt x="67738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6467" y="1329267"/>
            <a:ext cx="474133" cy="474133"/>
          </a:xfrm>
          <a:custGeom>
            <a:avLst/>
            <a:gdLst/>
            <a:ahLst/>
            <a:cxnLst/>
            <a:rect l="l" t="t" r="r" b="b"/>
            <a:pathLst>
              <a:path w="474133" h="474133">
                <a:moveTo>
                  <a:pt x="67735" y="0"/>
                </a:moveTo>
                <a:lnTo>
                  <a:pt x="406399" y="0"/>
                </a:lnTo>
                <a:cubicBezTo>
                  <a:pt x="443782" y="0"/>
                  <a:pt x="474133" y="30351"/>
                  <a:pt x="474133" y="67735"/>
                </a:cubicBezTo>
                <a:lnTo>
                  <a:pt x="474133" y="406399"/>
                </a:lnTo>
                <a:cubicBezTo>
                  <a:pt x="474133" y="443782"/>
                  <a:pt x="443782" y="474133"/>
                  <a:pt x="406399" y="474133"/>
                </a:cubicBezTo>
                <a:lnTo>
                  <a:pt x="67735" y="474133"/>
                </a:lnTo>
                <a:cubicBezTo>
                  <a:pt x="30351" y="474133"/>
                  <a:pt x="0" y="443782"/>
                  <a:pt x="0" y="406399"/>
                </a:cubicBezTo>
                <a:lnTo>
                  <a:pt x="0" y="67735"/>
                </a:lnTo>
                <a:cubicBezTo>
                  <a:pt x="0" y="30351"/>
                  <a:pt x="30351" y="0"/>
                  <a:pt x="67735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651933" y="1464733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58353" y="152479"/>
                </a:moveTo>
                <a:cubicBezTo>
                  <a:pt x="149582" y="137239"/>
                  <a:pt x="133112" y="127000"/>
                  <a:pt x="114300" y="127000"/>
                </a:cubicBezTo>
                <a:lnTo>
                  <a:pt x="88900" y="127000"/>
                </a:lnTo>
                <a:cubicBezTo>
                  <a:pt x="70088" y="127000"/>
                  <a:pt x="53618" y="137239"/>
                  <a:pt x="44847" y="152479"/>
                </a:cubicBezTo>
                <a:cubicBezTo>
                  <a:pt x="58817" y="168037"/>
                  <a:pt x="79058" y="177800"/>
                  <a:pt x="101600" y="177800"/>
                </a:cubicBezTo>
                <a:cubicBezTo>
                  <a:pt x="124143" y="177800"/>
                  <a:pt x="144383" y="167997"/>
                  <a:pt x="158353" y="152479"/>
                </a:cubicBezTo>
                <a:close/>
                <a:moveTo>
                  <a:pt x="0" y="101600"/>
                </a:moveTo>
                <a:cubicBezTo>
                  <a:pt x="0" y="45525"/>
                  <a:pt x="45525" y="0"/>
                  <a:pt x="101600" y="0"/>
                </a:cubicBez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lose/>
                <a:moveTo>
                  <a:pt x="101600" y="107950"/>
                </a:moveTo>
                <a:cubicBezTo>
                  <a:pt x="117371" y="107950"/>
                  <a:pt x="130175" y="95146"/>
                  <a:pt x="130175" y="79375"/>
                </a:cubicBezTo>
                <a:cubicBezTo>
                  <a:pt x="130175" y="63604"/>
                  <a:pt x="117371" y="50800"/>
                  <a:pt x="101600" y="50800"/>
                </a:cubicBezTo>
                <a:cubicBezTo>
                  <a:pt x="85829" y="50800"/>
                  <a:pt x="73025" y="63604"/>
                  <a:pt x="73025" y="79375"/>
                </a:cubicBezTo>
                <a:cubicBezTo>
                  <a:pt x="73025" y="95146"/>
                  <a:pt x="85829" y="107950"/>
                  <a:pt x="101600" y="1079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126067" y="1329267"/>
            <a:ext cx="53594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Comportamiento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26067" y="1634067"/>
            <a:ext cx="5342467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7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captura clics, compras, búsquedas y feedback</a:t>
            </a:r>
            <a:pPr>
              <a:lnSpc>
                <a:spcPct val="140000"/>
              </a:lnSpc>
            </a:pPr>
            <a:r>
              <a:rPr lang="en-US" sz="1067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La IA personaliza todo para que sientas que </a:t>
            </a:r>
            <a:pPr>
              <a:lnSpc>
                <a:spcPct val="140000"/>
              </a:lnSpc>
            </a:pPr>
            <a:r>
              <a:rPr lang="en-US" sz="1067" b="1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marca te entiende</a:t>
            </a:r>
            <a:pPr>
              <a:lnSpc>
                <a:spcPct val="140000"/>
              </a:lnSpc>
            </a:pPr>
            <a:r>
              <a:rPr lang="en-US" sz="1067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usando historial para sugerir productos perfectos.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" y="2391833"/>
            <a:ext cx="6231467" cy="4241800"/>
          </a:xfrm>
          <a:custGeom>
            <a:avLst/>
            <a:gdLst/>
            <a:ahLst/>
            <a:cxnLst/>
            <a:rect l="l" t="t" r="r" b="b"/>
            <a:pathLst>
              <a:path w="6231467" h="4241800">
                <a:moveTo>
                  <a:pt x="67742" y="0"/>
                </a:moveTo>
                <a:lnTo>
                  <a:pt x="6163725" y="0"/>
                </a:lnTo>
                <a:cubicBezTo>
                  <a:pt x="6201138" y="0"/>
                  <a:pt x="6231467" y="30329"/>
                  <a:pt x="6231467" y="67742"/>
                </a:cubicBezTo>
                <a:lnTo>
                  <a:pt x="6231467" y="4174058"/>
                </a:lnTo>
                <a:cubicBezTo>
                  <a:pt x="6231467" y="4211471"/>
                  <a:pt x="6201138" y="4241800"/>
                  <a:pt x="6163725" y="4241800"/>
                </a:cubicBezTo>
                <a:lnTo>
                  <a:pt x="67742" y="4241800"/>
                </a:lnTo>
                <a:cubicBezTo>
                  <a:pt x="30329" y="4241800"/>
                  <a:pt x="0" y="4211471"/>
                  <a:pt x="0" y="4174058"/>
                </a:cubicBezTo>
                <a:lnTo>
                  <a:pt x="0" y="67742"/>
                </a:lnTo>
                <a:cubicBezTo>
                  <a:pt x="0" y="30354"/>
                  <a:pt x="30354" y="0"/>
                  <a:pt x="67742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8108" y="260773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2" name="Text 10"/>
          <p:cNvSpPr/>
          <p:nvPr/>
        </p:nvSpPr>
        <p:spPr>
          <a:xfrm>
            <a:off x="711200" y="2565400"/>
            <a:ext cx="57658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Ejemplos Clásicos y Actuales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6467" y="2937933"/>
            <a:ext cx="5884333" cy="931333"/>
          </a:xfrm>
          <a:custGeom>
            <a:avLst/>
            <a:gdLst/>
            <a:ahLst/>
            <a:cxnLst/>
            <a:rect l="l" t="t" r="r" b="b"/>
            <a:pathLst>
              <a:path w="5884333" h="931333">
                <a:moveTo>
                  <a:pt x="67736" y="0"/>
                </a:moveTo>
                <a:lnTo>
                  <a:pt x="5816597" y="0"/>
                </a:lnTo>
                <a:cubicBezTo>
                  <a:pt x="5854007" y="0"/>
                  <a:pt x="5884333" y="30326"/>
                  <a:pt x="5884333" y="67736"/>
                </a:cubicBezTo>
                <a:lnTo>
                  <a:pt x="5884333" y="863597"/>
                </a:lnTo>
                <a:cubicBezTo>
                  <a:pt x="5884333" y="901007"/>
                  <a:pt x="5854007" y="931333"/>
                  <a:pt x="5816597" y="931333"/>
                </a:cubicBezTo>
                <a:lnTo>
                  <a:pt x="67736" y="931333"/>
                </a:lnTo>
                <a:cubicBezTo>
                  <a:pt x="30326" y="931333"/>
                  <a:pt x="0" y="901007"/>
                  <a:pt x="0" y="863597"/>
                </a:cubicBezTo>
                <a:lnTo>
                  <a:pt x="0" y="67736"/>
                </a:lnTo>
                <a:cubicBezTo>
                  <a:pt x="0" y="30351"/>
                  <a:pt x="30351" y="0"/>
                  <a:pt x="677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51933" y="3090333"/>
            <a:ext cx="211667" cy="169333"/>
          </a:xfrm>
          <a:custGeom>
            <a:avLst/>
            <a:gdLst/>
            <a:ahLst/>
            <a:cxnLst/>
            <a:rect l="l" t="t" r="r" b="b"/>
            <a:pathLst>
              <a:path w="211667" h="169333">
                <a:moveTo>
                  <a:pt x="7938" y="-5292"/>
                </a:moveTo>
                <a:cubicBezTo>
                  <a:pt x="3539" y="-5292"/>
                  <a:pt x="0" y="-1753"/>
                  <a:pt x="0" y="2646"/>
                </a:cubicBezTo>
                <a:cubicBezTo>
                  <a:pt x="0" y="7045"/>
                  <a:pt x="3539" y="10583"/>
                  <a:pt x="7938" y="10583"/>
                </a:cubicBezTo>
                <a:lnTo>
                  <a:pt x="22920" y="10583"/>
                </a:lnTo>
                <a:cubicBezTo>
                  <a:pt x="24209" y="10583"/>
                  <a:pt x="25301" y="11509"/>
                  <a:pt x="25532" y="12766"/>
                </a:cubicBezTo>
                <a:lnTo>
                  <a:pt x="42763" y="107454"/>
                </a:lnTo>
                <a:cubicBezTo>
                  <a:pt x="44814" y="118765"/>
                  <a:pt x="54670" y="127000"/>
                  <a:pt x="66179" y="127000"/>
                </a:cubicBezTo>
                <a:lnTo>
                  <a:pt x="150813" y="127000"/>
                </a:lnTo>
                <a:cubicBezTo>
                  <a:pt x="155211" y="127000"/>
                  <a:pt x="158750" y="123461"/>
                  <a:pt x="158750" y="119063"/>
                </a:cubicBezTo>
                <a:cubicBezTo>
                  <a:pt x="158750" y="114664"/>
                  <a:pt x="155211" y="111125"/>
                  <a:pt x="150813" y="111125"/>
                </a:cubicBezTo>
                <a:lnTo>
                  <a:pt x="66179" y="111125"/>
                </a:lnTo>
                <a:cubicBezTo>
                  <a:pt x="62342" y="111125"/>
                  <a:pt x="59068" y="108380"/>
                  <a:pt x="58374" y="104610"/>
                </a:cubicBezTo>
                <a:lnTo>
                  <a:pt x="56687" y="95250"/>
                </a:lnTo>
                <a:lnTo>
                  <a:pt x="157096" y="95250"/>
                </a:lnTo>
                <a:cubicBezTo>
                  <a:pt x="167283" y="95250"/>
                  <a:pt x="176014" y="88007"/>
                  <a:pt x="177899" y="77986"/>
                </a:cubicBezTo>
                <a:lnTo>
                  <a:pt x="188152" y="23118"/>
                </a:lnTo>
                <a:cubicBezTo>
                  <a:pt x="189376" y="16603"/>
                  <a:pt x="184382" y="10583"/>
                  <a:pt x="177734" y="10583"/>
                </a:cubicBezTo>
                <a:lnTo>
                  <a:pt x="41242" y="10583"/>
                </a:lnTo>
                <a:lnTo>
                  <a:pt x="41110" y="9922"/>
                </a:lnTo>
                <a:cubicBezTo>
                  <a:pt x="39522" y="1124"/>
                  <a:pt x="31849" y="-5292"/>
                  <a:pt x="22886" y="-5292"/>
                </a:cubicBezTo>
                <a:lnTo>
                  <a:pt x="7938" y="-5292"/>
                </a:lnTo>
                <a:close/>
                <a:moveTo>
                  <a:pt x="68792" y="169333"/>
                </a:moveTo>
                <a:cubicBezTo>
                  <a:pt x="77553" y="169333"/>
                  <a:pt x="84667" y="162220"/>
                  <a:pt x="84667" y="153458"/>
                </a:cubicBezTo>
                <a:cubicBezTo>
                  <a:pt x="84667" y="144697"/>
                  <a:pt x="77553" y="137583"/>
                  <a:pt x="68792" y="137583"/>
                </a:cubicBezTo>
                <a:cubicBezTo>
                  <a:pt x="60030" y="137583"/>
                  <a:pt x="52917" y="144697"/>
                  <a:pt x="52917" y="153458"/>
                </a:cubicBezTo>
                <a:cubicBezTo>
                  <a:pt x="52917" y="162220"/>
                  <a:pt x="60030" y="169333"/>
                  <a:pt x="68792" y="169333"/>
                </a:cubicBezTo>
                <a:close/>
                <a:moveTo>
                  <a:pt x="142875" y="169333"/>
                </a:moveTo>
                <a:cubicBezTo>
                  <a:pt x="151637" y="169333"/>
                  <a:pt x="158750" y="162220"/>
                  <a:pt x="158750" y="153458"/>
                </a:cubicBezTo>
                <a:cubicBezTo>
                  <a:pt x="158750" y="144697"/>
                  <a:pt x="151637" y="137583"/>
                  <a:pt x="142875" y="137583"/>
                </a:cubicBezTo>
                <a:cubicBezTo>
                  <a:pt x="134113" y="137583"/>
                  <a:pt x="127000" y="144697"/>
                  <a:pt x="127000" y="153458"/>
                </a:cubicBezTo>
                <a:cubicBezTo>
                  <a:pt x="127000" y="162220"/>
                  <a:pt x="134113" y="169333"/>
                  <a:pt x="142875" y="169333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3073400"/>
            <a:ext cx="5418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1933" y="3344333"/>
            <a:ext cx="5672667" cy="389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3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 Big Data para </a:t>
            </a:r>
            <a:pPr>
              <a:lnSpc>
                <a:spcPct val="140000"/>
              </a:lnSpc>
            </a:pPr>
            <a:r>
              <a:rPr lang="en-US" sz="933" b="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recomendaciones hiperpersonalizadas</a:t>
            </a:r>
            <a:pPr>
              <a:lnSpc>
                <a:spcPct val="140000"/>
              </a:lnSpc>
            </a:pPr>
            <a:r>
              <a:rPr lang="en-US" sz="933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basadas en historial de compras, búsquedas y comportamiento similar de otros usuarios.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6467" y="3966633"/>
            <a:ext cx="5884333" cy="931333"/>
          </a:xfrm>
          <a:custGeom>
            <a:avLst/>
            <a:gdLst/>
            <a:ahLst/>
            <a:cxnLst/>
            <a:rect l="l" t="t" r="r" b="b"/>
            <a:pathLst>
              <a:path w="5884333" h="931333">
                <a:moveTo>
                  <a:pt x="67736" y="0"/>
                </a:moveTo>
                <a:lnTo>
                  <a:pt x="5816597" y="0"/>
                </a:lnTo>
                <a:cubicBezTo>
                  <a:pt x="5854007" y="0"/>
                  <a:pt x="5884333" y="30326"/>
                  <a:pt x="5884333" y="67736"/>
                </a:cubicBezTo>
                <a:lnTo>
                  <a:pt x="5884333" y="863597"/>
                </a:lnTo>
                <a:cubicBezTo>
                  <a:pt x="5884333" y="901007"/>
                  <a:pt x="5854007" y="931333"/>
                  <a:pt x="5816597" y="931333"/>
                </a:cubicBezTo>
                <a:lnTo>
                  <a:pt x="67736" y="931333"/>
                </a:lnTo>
                <a:cubicBezTo>
                  <a:pt x="30326" y="931333"/>
                  <a:pt x="0" y="901007"/>
                  <a:pt x="0" y="863597"/>
                </a:cubicBezTo>
                <a:lnTo>
                  <a:pt x="0" y="67736"/>
                </a:lnTo>
                <a:cubicBezTo>
                  <a:pt x="0" y="30351"/>
                  <a:pt x="30351" y="0"/>
                  <a:pt x="6773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83683" y="4119033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0" y="31750"/>
                </a:moveTo>
                <a:cubicBezTo>
                  <a:pt x="0" y="20075"/>
                  <a:pt x="9492" y="10583"/>
                  <a:pt x="21167" y="10583"/>
                </a:cubicBezTo>
                <a:lnTo>
                  <a:pt x="127000" y="10583"/>
                </a:lnTo>
                <a:cubicBezTo>
                  <a:pt x="138675" y="10583"/>
                  <a:pt x="148167" y="20075"/>
                  <a:pt x="148167" y="31750"/>
                </a:cubicBezTo>
                <a:lnTo>
                  <a:pt x="148167" y="137583"/>
                </a:lnTo>
                <a:cubicBezTo>
                  <a:pt x="148167" y="149258"/>
                  <a:pt x="138675" y="158750"/>
                  <a:pt x="127000" y="158750"/>
                </a:cubicBezTo>
                <a:lnTo>
                  <a:pt x="21167" y="158750"/>
                </a:lnTo>
                <a:cubicBezTo>
                  <a:pt x="9492" y="158750"/>
                  <a:pt x="0" y="149258"/>
                  <a:pt x="0" y="137583"/>
                </a:cubicBezTo>
                <a:lnTo>
                  <a:pt x="0" y="31750"/>
                </a:lnTo>
                <a:close/>
                <a:moveTo>
                  <a:pt x="15875" y="121708"/>
                </a:moveTo>
                <a:lnTo>
                  <a:pt x="15875" y="132292"/>
                </a:lnTo>
                <a:cubicBezTo>
                  <a:pt x="15875" y="135202"/>
                  <a:pt x="18256" y="137583"/>
                  <a:pt x="21167" y="137583"/>
                </a:cubicBezTo>
                <a:lnTo>
                  <a:pt x="31750" y="137583"/>
                </a:lnTo>
                <a:cubicBezTo>
                  <a:pt x="34660" y="137583"/>
                  <a:pt x="37042" y="135202"/>
                  <a:pt x="37042" y="132292"/>
                </a:cubicBezTo>
                <a:lnTo>
                  <a:pt x="37042" y="121708"/>
                </a:lnTo>
                <a:cubicBezTo>
                  <a:pt x="37042" y="118798"/>
                  <a:pt x="34660" y="116417"/>
                  <a:pt x="31750" y="116417"/>
                </a:cubicBezTo>
                <a:lnTo>
                  <a:pt x="21167" y="116417"/>
                </a:lnTo>
                <a:cubicBezTo>
                  <a:pt x="18256" y="116417"/>
                  <a:pt x="15875" y="118798"/>
                  <a:pt x="15875" y="121708"/>
                </a:cubicBezTo>
                <a:close/>
                <a:moveTo>
                  <a:pt x="116417" y="116417"/>
                </a:moveTo>
                <a:cubicBezTo>
                  <a:pt x="113506" y="116417"/>
                  <a:pt x="111125" y="118798"/>
                  <a:pt x="111125" y="121708"/>
                </a:cubicBezTo>
                <a:lnTo>
                  <a:pt x="111125" y="132292"/>
                </a:lnTo>
                <a:cubicBezTo>
                  <a:pt x="111125" y="135202"/>
                  <a:pt x="113506" y="137583"/>
                  <a:pt x="116417" y="137583"/>
                </a:cubicBezTo>
                <a:lnTo>
                  <a:pt x="127000" y="137583"/>
                </a:lnTo>
                <a:cubicBezTo>
                  <a:pt x="129910" y="137583"/>
                  <a:pt x="132292" y="135202"/>
                  <a:pt x="132292" y="132292"/>
                </a:cubicBezTo>
                <a:lnTo>
                  <a:pt x="132292" y="121708"/>
                </a:lnTo>
                <a:cubicBezTo>
                  <a:pt x="132292" y="118798"/>
                  <a:pt x="129910" y="116417"/>
                  <a:pt x="127000" y="116417"/>
                </a:cubicBezTo>
                <a:lnTo>
                  <a:pt x="116417" y="116417"/>
                </a:lnTo>
                <a:close/>
                <a:moveTo>
                  <a:pt x="15875" y="79375"/>
                </a:moveTo>
                <a:lnTo>
                  <a:pt x="15875" y="89958"/>
                </a:lnTo>
                <a:cubicBezTo>
                  <a:pt x="15875" y="92869"/>
                  <a:pt x="18256" y="95250"/>
                  <a:pt x="21167" y="95250"/>
                </a:cubicBezTo>
                <a:lnTo>
                  <a:pt x="31750" y="95250"/>
                </a:lnTo>
                <a:cubicBezTo>
                  <a:pt x="34660" y="95250"/>
                  <a:pt x="37042" y="92869"/>
                  <a:pt x="37042" y="89958"/>
                </a:cubicBezTo>
                <a:lnTo>
                  <a:pt x="37042" y="79375"/>
                </a:lnTo>
                <a:cubicBezTo>
                  <a:pt x="37042" y="76465"/>
                  <a:pt x="34660" y="74083"/>
                  <a:pt x="31750" y="74083"/>
                </a:cubicBezTo>
                <a:lnTo>
                  <a:pt x="21167" y="74083"/>
                </a:lnTo>
                <a:cubicBezTo>
                  <a:pt x="18256" y="74083"/>
                  <a:pt x="15875" y="76465"/>
                  <a:pt x="15875" y="79375"/>
                </a:cubicBezTo>
                <a:close/>
                <a:moveTo>
                  <a:pt x="116417" y="74083"/>
                </a:moveTo>
                <a:cubicBezTo>
                  <a:pt x="113506" y="74083"/>
                  <a:pt x="111125" y="76465"/>
                  <a:pt x="111125" y="79375"/>
                </a:cubicBezTo>
                <a:lnTo>
                  <a:pt x="111125" y="89958"/>
                </a:lnTo>
                <a:cubicBezTo>
                  <a:pt x="111125" y="92869"/>
                  <a:pt x="113506" y="95250"/>
                  <a:pt x="116417" y="95250"/>
                </a:cubicBezTo>
                <a:lnTo>
                  <a:pt x="127000" y="95250"/>
                </a:lnTo>
                <a:cubicBezTo>
                  <a:pt x="129910" y="95250"/>
                  <a:pt x="132292" y="92869"/>
                  <a:pt x="132292" y="89958"/>
                </a:cubicBezTo>
                <a:lnTo>
                  <a:pt x="132292" y="79375"/>
                </a:lnTo>
                <a:cubicBezTo>
                  <a:pt x="132292" y="76465"/>
                  <a:pt x="129910" y="74083"/>
                  <a:pt x="127000" y="74083"/>
                </a:cubicBezTo>
                <a:lnTo>
                  <a:pt x="116417" y="74083"/>
                </a:lnTo>
                <a:close/>
                <a:moveTo>
                  <a:pt x="15875" y="37042"/>
                </a:moveTo>
                <a:lnTo>
                  <a:pt x="15875" y="47625"/>
                </a:lnTo>
                <a:cubicBezTo>
                  <a:pt x="15875" y="50535"/>
                  <a:pt x="18256" y="52917"/>
                  <a:pt x="21167" y="52917"/>
                </a:cubicBezTo>
                <a:lnTo>
                  <a:pt x="31750" y="52917"/>
                </a:lnTo>
                <a:cubicBezTo>
                  <a:pt x="34660" y="52917"/>
                  <a:pt x="37042" y="50535"/>
                  <a:pt x="37042" y="47625"/>
                </a:cubicBezTo>
                <a:lnTo>
                  <a:pt x="37042" y="37042"/>
                </a:lnTo>
                <a:cubicBezTo>
                  <a:pt x="37042" y="34131"/>
                  <a:pt x="34660" y="31750"/>
                  <a:pt x="31750" y="31750"/>
                </a:cubicBezTo>
                <a:lnTo>
                  <a:pt x="21167" y="31750"/>
                </a:lnTo>
                <a:cubicBezTo>
                  <a:pt x="18256" y="31750"/>
                  <a:pt x="15875" y="34131"/>
                  <a:pt x="15875" y="37042"/>
                </a:cubicBezTo>
                <a:close/>
                <a:moveTo>
                  <a:pt x="116417" y="31750"/>
                </a:moveTo>
                <a:cubicBezTo>
                  <a:pt x="113506" y="31750"/>
                  <a:pt x="111125" y="34131"/>
                  <a:pt x="111125" y="37042"/>
                </a:cubicBezTo>
                <a:lnTo>
                  <a:pt x="111125" y="47625"/>
                </a:lnTo>
                <a:cubicBezTo>
                  <a:pt x="111125" y="50535"/>
                  <a:pt x="113506" y="52917"/>
                  <a:pt x="116417" y="52917"/>
                </a:cubicBezTo>
                <a:lnTo>
                  <a:pt x="127000" y="52917"/>
                </a:lnTo>
                <a:cubicBezTo>
                  <a:pt x="129910" y="52917"/>
                  <a:pt x="132292" y="50535"/>
                  <a:pt x="132292" y="47625"/>
                </a:cubicBezTo>
                <a:lnTo>
                  <a:pt x="132292" y="37042"/>
                </a:lnTo>
                <a:cubicBezTo>
                  <a:pt x="132292" y="34131"/>
                  <a:pt x="129910" y="31750"/>
                  <a:pt x="127000" y="31750"/>
                </a:cubicBezTo>
                <a:lnTo>
                  <a:pt x="116417" y="3175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Text 17"/>
          <p:cNvSpPr/>
          <p:nvPr/>
        </p:nvSpPr>
        <p:spPr>
          <a:xfrm>
            <a:off x="965200" y="4102100"/>
            <a:ext cx="4487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Netflix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933" y="4373033"/>
            <a:ext cx="5672667" cy="389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3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Algoritmos analizan </a:t>
            </a:r>
            <a:pPr>
              <a:lnSpc>
                <a:spcPct val="140000"/>
              </a:lnSpc>
            </a:pPr>
            <a:r>
              <a:rPr lang="en-US" sz="933" b="1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qué ves, cuándo pausas, qué calificas</a:t>
            </a:r>
            <a:pPr>
              <a:lnSpc>
                <a:spcPct val="140000"/>
              </a:lnSpc>
            </a:pPr>
            <a:r>
              <a:rPr lang="en-US" sz="933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 sugerir contenido que te mantendrá enganchado.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" y="4995333"/>
            <a:ext cx="5867400" cy="660400"/>
          </a:xfrm>
          <a:custGeom>
            <a:avLst/>
            <a:gdLst/>
            <a:ahLst/>
            <a:cxnLst/>
            <a:rect l="l" t="t" r="r" b="b"/>
            <a:pathLst>
              <a:path w="5867400" h="660400">
                <a:moveTo>
                  <a:pt x="33867" y="0"/>
                </a:moveTo>
                <a:lnTo>
                  <a:pt x="5799669" y="0"/>
                </a:lnTo>
                <a:cubicBezTo>
                  <a:pt x="5837076" y="0"/>
                  <a:pt x="5867400" y="30324"/>
                  <a:pt x="5867400" y="67731"/>
                </a:cubicBezTo>
                <a:lnTo>
                  <a:pt x="5867400" y="592669"/>
                </a:lnTo>
                <a:cubicBezTo>
                  <a:pt x="5867400" y="630076"/>
                  <a:pt x="5837076" y="660400"/>
                  <a:pt x="5799669" y="660400"/>
                </a:cubicBezTo>
                <a:lnTo>
                  <a:pt x="33867" y="660400"/>
                </a:lnTo>
                <a:cubicBezTo>
                  <a:pt x="15163" y="660400"/>
                  <a:pt x="0" y="645237"/>
                  <a:pt x="0" y="626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CA2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533400" y="4995333"/>
            <a:ext cx="33867" cy="660400"/>
          </a:xfrm>
          <a:custGeom>
            <a:avLst/>
            <a:gdLst/>
            <a:ahLst/>
            <a:cxnLst/>
            <a:rect l="l" t="t" r="r" b="b"/>
            <a:pathLst>
              <a:path w="33867" h="660400">
                <a:moveTo>
                  <a:pt x="33867" y="0"/>
                </a:moveTo>
                <a:lnTo>
                  <a:pt x="33867" y="0"/>
                </a:lnTo>
                <a:lnTo>
                  <a:pt x="33867" y="660400"/>
                </a:lnTo>
                <a:lnTo>
                  <a:pt x="33867" y="660400"/>
                </a:lnTo>
                <a:cubicBezTo>
                  <a:pt x="15163" y="660400"/>
                  <a:pt x="0" y="645237"/>
                  <a:pt x="0" y="626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3" name="Shape 21"/>
          <p:cNvSpPr/>
          <p:nvPr/>
        </p:nvSpPr>
        <p:spPr>
          <a:xfrm>
            <a:off x="702733" y="5164667"/>
            <a:ext cx="118533" cy="118533"/>
          </a:xfrm>
          <a:custGeom>
            <a:avLst/>
            <a:gdLst/>
            <a:ahLst/>
            <a:cxnLst/>
            <a:rect l="l" t="t" r="r" b="b"/>
            <a:pathLst>
              <a:path w="118533" h="118533">
                <a:moveTo>
                  <a:pt x="29633" y="74083"/>
                </a:moveTo>
                <a:lnTo>
                  <a:pt x="5672" y="74083"/>
                </a:lnTo>
                <a:cubicBezTo>
                  <a:pt x="-93" y="74083"/>
                  <a:pt x="-3635" y="67809"/>
                  <a:pt x="-671" y="62855"/>
                </a:cubicBezTo>
                <a:lnTo>
                  <a:pt x="11576" y="42436"/>
                </a:lnTo>
                <a:cubicBezTo>
                  <a:pt x="13590" y="39079"/>
                  <a:pt x="17201" y="37042"/>
                  <a:pt x="21114" y="37042"/>
                </a:cubicBezTo>
                <a:lnTo>
                  <a:pt x="43107" y="37042"/>
                </a:lnTo>
                <a:cubicBezTo>
                  <a:pt x="60725" y="7200"/>
                  <a:pt x="87002" y="5695"/>
                  <a:pt x="104573" y="8265"/>
                </a:cubicBezTo>
                <a:cubicBezTo>
                  <a:pt x="107537" y="8705"/>
                  <a:pt x="109852" y="11020"/>
                  <a:pt x="110268" y="13960"/>
                </a:cubicBezTo>
                <a:cubicBezTo>
                  <a:pt x="112838" y="31532"/>
                  <a:pt x="111333" y="57808"/>
                  <a:pt x="81492" y="75426"/>
                </a:cubicBezTo>
                <a:lnTo>
                  <a:pt x="81492" y="97420"/>
                </a:lnTo>
                <a:cubicBezTo>
                  <a:pt x="81492" y="101332"/>
                  <a:pt x="79454" y="104944"/>
                  <a:pt x="76097" y="106958"/>
                </a:cubicBezTo>
                <a:lnTo>
                  <a:pt x="55678" y="119205"/>
                </a:lnTo>
                <a:cubicBezTo>
                  <a:pt x="50747" y="122168"/>
                  <a:pt x="44450" y="118603"/>
                  <a:pt x="44450" y="112861"/>
                </a:cubicBezTo>
                <a:lnTo>
                  <a:pt x="44450" y="88900"/>
                </a:lnTo>
                <a:cubicBezTo>
                  <a:pt x="44450" y="80728"/>
                  <a:pt x="37806" y="74083"/>
                  <a:pt x="29633" y="74083"/>
                </a:cubicBezTo>
                <a:lnTo>
                  <a:pt x="29610" y="74083"/>
                </a:lnTo>
                <a:close/>
                <a:moveTo>
                  <a:pt x="92604" y="37042"/>
                </a:moveTo>
                <a:cubicBezTo>
                  <a:pt x="92604" y="30909"/>
                  <a:pt x="87625" y="25929"/>
                  <a:pt x="81492" y="25929"/>
                </a:cubicBezTo>
                <a:cubicBezTo>
                  <a:pt x="75359" y="25929"/>
                  <a:pt x="70379" y="30909"/>
                  <a:pt x="70379" y="37042"/>
                </a:cubicBezTo>
                <a:cubicBezTo>
                  <a:pt x="70379" y="43175"/>
                  <a:pt x="75359" y="48154"/>
                  <a:pt x="81492" y="48154"/>
                </a:cubicBezTo>
                <a:cubicBezTo>
                  <a:pt x="87625" y="48154"/>
                  <a:pt x="92604" y="43175"/>
                  <a:pt x="92604" y="37042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4" name="Text 22"/>
          <p:cNvSpPr/>
          <p:nvPr/>
        </p:nvSpPr>
        <p:spPr>
          <a:xfrm>
            <a:off x="883356" y="5130800"/>
            <a:ext cx="5441244" cy="389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3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2026:</a:t>
            </a:r>
            <a:pPr>
              <a:lnSpc>
                <a:spcPct val="140000"/>
              </a:lnSpc>
            </a:pPr>
            <a:r>
              <a:rPr lang="en-US" sz="933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 AI crea </a:t>
            </a:r>
            <a:pPr>
              <a:lnSpc>
                <a:spcPct val="140000"/>
              </a:lnSpc>
            </a:pPr>
            <a:r>
              <a:rPr lang="en-US" sz="933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mensajes, imágenes y experiencias únicas a escala</a:t>
            </a:r>
            <a:pPr>
              <a:lnSpc>
                <a:spcPct val="140000"/>
              </a:lnSpc>
            </a:pPr>
            <a:r>
              <a:rPr lang="en-US" sz="933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McKinsey destaca esto como la </a:t>
            </a:r>
            <a:pPr>
              <a:lnSpc>
                <a:spcPct val="140000"/>
              </a:lnSpc>
            </a:pPr>
            <a:r>
              <a:rPr lang="en-US" sz="93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"próxima frontera"</a:t>
            </a:r>
            <a:pPr>
              <a:lnSpc>
                <a:spcPct val="140000"/>
              </a:lnSpc>
            </a:pPr>
            <a:r>
              <a:rPr lang="en-US" sz="933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del marketing.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52167" y="1155700"/>
            <a:ext cx="5096933" cy="1092200"/>
          </a:xfrm>
          <a:custGeom>
            <a:avLst/>
            <a:gdLst/>
            <a:ahLst/>
            <a:cxnLst/>
            <a:rect l="l" t="t" r="r" b="b"/>
            <a:pathLst>
              <a:path w="5096933" h="1092200">
                <a:moveTo>
                  <a:pt x="67738" y="0"/>
                </a:moveTo>
                <a:lnTo>
                  <a:pt x="5029195" y="0"/>
                </a:lnTo>
                <a:cubicBezTo>
                  <a:pt x="5066606" y="0"/>
                  <a:pt x="5096933" y="30327"/>
                  <a:pt x="5096933" y="67738"/>
                </a:cubicBezTo>
                <a:lnTo>
                  <a:pt x="5096933" y="1024462"/>
                </a:lnTo>
                <a:cubicBezTo>
                  <a:pt x="5096933" y="1061873"/>
                  <a:pt x="5066606" y="1092200"/>
                  <a:pt x="5029195" y="1092200"/>
                </a:cubicBezTo>
                <a:lnTo>
                  <a:pt x="67738" y="1092200"/>
                </a:lnTo>
                <a:cubicBezTo>
                  <a:pt x="30327" y="1092200"/>
                  <a:pt x="0" y="1061873"/>
                  <a:pt x="0" y="1024462"/>
                </a:cubicBezTo>
                <a:lnTo>
                  <a:pt x="0" y="67738"/>
                </a:lnTo>
                <a:cubicBezTo>
                  <a:pt x="0" y="30327"/>
                  <a:pt x="30327" y="0"/>
                  <a:pt x="6773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CA28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25733" y="1329267"/>
            <a:ext cx="474133" cy="474133"/>
          </a:xfrm>
          <a:custGeom>
            <a:avLst/>
            <a:gdLst/>
            <a:ahLst/>
            <a:cxnLst/>
            <a:rect l="l" t="t" r="r" b="b"/>
            <a:pathLst>
              <a:path w="474133" h="474133">
                <a:moveTo>
                  <a:pt x="67735" y="0"/>
                </a:moveTo>
                <a:lnTo>
                  <a:pt x="406399" y="0"/>
                </a:lnTo>
                <a:cubicBezTo>
                  <a:pt x="443782" y="0"/>
                  <a:pt x="474133" y="30351"/>
                  <a:pt x="474133" y="67735"/>
                </a:cubicBezTo>
                <a:lnTo>
                  <a:pt x="474133" y="406399"/>
                </a:lnTo>
                <a:cubicBezTo>
                  <a:pt x="474133" y="443782"/>
                  <a:pt x="443782" y="474133"/>
                  <a:pt x="406399" y="474133"/>
                </a:cubicBezTo>
                <a:lnTo>
                  <a:pt x="67735" y="474133"/>
                </a:lnTo>
                <a:cubicBezTo>
                  <a:pt x="30351" y="474133"/>
                  <a:pt x="0" y="443782"/>
                  <a:pt x="0" y="406399"/>
                </a:cubicBezTo>
                <a:lnTo>
                  <a:pt x="0" y="67735"/>
                </a:lnTo>
                <a:cubicBezTo>
                  <a:pt x="0" y="30351"/>
                  <a:pt x="30351" y="0"/>
                  <a:pt x="67735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7" name="Shape 25"/>
          <p:cNvSpPr/>
          <p:nvPr/>
        </p:nvSpPr>
        <p:spPr>
          <a:xfrm>
            <a:off x="7048500" y="1464733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52400" y="57150"/>
                </a:moveTo>
                <a:cubicBezTo>
                  <a:pt x="152400" y="95726"/>
                  <a:pt x="118269" y="127000"/>
                  <a:pt x="76200" y="127000"/>
                </a:cubicBezTo>
                <a:cubicBezTo>
                  <a:pt x="65603" y="127000"/>
                  <a:pt x="55523" y="125016"/>
                  <a:pt x="46355" y="121444"/>
                </a:cubicBezTo>
                <a:lnTo>
                  <a:pt x="13970" y="138589"/>
                </a:lnTo>
                <a:cubicBezTo>
                  <a:pt x="10279" y="140533"/>
                  <a:pt x="5755" y="139859"/>
                  <a:pt x="2778" y="136922"/>
                </a:cubicBezTo>
                <a:cubicBezTo>
                  <a:pt x="-198" y="133985"/>
                  <a:pt x="-873" y="129421"/>
                  <a:pt x="1111" y="125730"/>
                </a:cubicBezTo>
                <a:lnTo>
                  <a:pt x="15240" y="99060"/>
                </a:lnTo>
                <a:cubicBezTo>
                  <a:pt x="5675" y="87392"/>
                  <a:pt x="0" y="72866"/>
                  <a:pt x="0" y="57150"/>
                </a:cubicBezTo>
                <a:cubicBezTo>
                  <a:pt x="0" y="18574"/>
                  <a:pt x="34131" y="-12700"/>
                  <a:pt x="76200" y="-12700"/>
                </a:cubicBezTo>
                <a:cubicBezTo>
                  <a:pt x="118269" y="-12700"/>
                  <a:pt x="152400" y="18574"/>
                  <a:pt x="152400" y="57150"/>
                </a:cubicBezTo>
                <a:close/>
                <a:moveTo>
                  <a:pt x="152400" y="203200"/>
                </a:moveTo>
                <a:cubicBezTo>
                  <a:pt x="115054" y="203200"/>
                  <a:pt x="83979" y="178554"/>
                  <a:pt x="77470" y="146050"/>
                </a:cubicBezTo>
                <a:cubicBezTo>
                  <a:pt x="125095" y="145455"/>
                  <a:pt x="166489" y="111562"/>
                  <a:pt x="171053" y="65603"/>
                </a:cubicBezTo>
                <a:cubicBezTo>
                  <a:pt x="204113" y="73223"/>
                  <a:pt x="228600" y="100648"/>
                  <a:pt x="228600" y="133350"/>
                </a:cubicBezTo>
                <a:cubicBezTo>
                  <a:pt x="228600" y="149066"/>
                  <a:pt x="222925" y="163592"/>
                  <a:pt x="213360" y="175260"/>
                </a:cubicBezTo>
                <a:lnTo>
                  <a:pt x="227489" y="201930"/>
                </a:lnTo>
                <a:cubicBezTo>
                  <a:pt x="229433" y="205621"/>
                  <a:pt x="228759" y="210145"/>
                  <a:pt x="225822" y="213122"/>
                </a:cubicBezTo>
                <a:cubicBezTo>
                  <a:pt x="222885" y="216098"/>
                  <a:pt x="218321" y="216773"/>
                  <a:pt x="214630" y="214789"/>
                </a:cubicBezTo>
                <a:lnTo>
                  <a:pt x="182245" y="197644"/>
                </a:lnTo>
                <a:cubicBezTo>
                  <a:pt x="173077" y="201216"/>
                  <a:pt x="162997" y="203200"/>
                  <a:pt x="152400" y="20320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7535333" y="1329267"/>
            <a:ext cx="42248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FFCA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Chatbots Avanzados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35333" y="1634067"/>
            <a:ext cx="4207933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7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Entrenados con </a:t>
            </a:r>
            <a:pPr>
              <a:lnSpc>
                <a:spcPct val="140000"/>
              </a:lnSpc>
            </a:pPr>
            <a:r>
              <a:rPr lang="en-US" sz="1067" b="1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millones de interacciones</a:t>
            </a:r>
            <a:pPr>
              <a:lnSpc>
                <a:spcPct val="140000"/>
              </a:lnSpc>
            </a:pPr>
            <a:r>
              <a:rPr lang="en-US" sz="1067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responden naturalmente y resuelven problemas complejos sin intervención humana.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52167" y="2391833"/>
            <a:ext cx="5096933" cy="1803400"/>
          </a:xfrm>
          <a:custGeom>
            <a:avLst/>
            <a:gdLst/>
            <a:ahLst/>
            <a:cxnLst/>
            <a:rect l="l" t="t" r="r" b="b"/>
            <a:pathLst>
              <a:path w="5096933" h="1803400">
                <a:moveTo>
                  <a:pt x="67736" y="0"/>
                </a:moveTo>
                <a:lnTo>
                  <a:pt x="5029198" y="0"/>
                </a:lnTo>
                <a:cubicBezTo>
                  <a:pt x="5066607" y="0"/>
                  <a:pt x="5096933" y="30326"/>
                  <a:pt x="5096933" y="67736"/>
                </a:cubicBezTo>
                <a:lnTo>
                  <a:pt x="5096933" y="1735664"/>
                </a:lnTo>
                <a:cubicBezTo>
                  <a:pt x="5096933" y="1773074"/>
                  <a:pt x="5066607" y="1803400"/>
                  <a:pt x="5029198" y="1803400"/>
                </a:cubicBezTo>
                <a:lnTo>
                  <a:pt x="67736" y="1803400"/>
                </a:lnTo>
                <a:cubicBezTo>
                  <a:pt x="30326" y="1803400"/>
                  <a:pt x="0" y="1773074"/>
                  <a:pt x="0" y="1735664"/>
                </a:cubicBezTo>
                <a:lnTo>
                  <a:pt x="0" y="67736"/>
                </a:lnTo>
                <a:cubicBezTo>
                  <a:pt x="0" y="30351"/>
                  <a:pt x="30351" y="0"/>
                  <a:pt x="67736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12700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3767" y="2531533"/>
            <a:ext cx="48937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Tendencias 2026</a:t>
            </a:r>
            <a:endParaRPr lang="en-US" sz="1600" dirty="0"/>
          </a:p>
        </p:txBody>
      </p:sp>
      <p:pic>
        <p:nvPicPr>
          <p:cNvPr id="32" name="Image 0" descr="https://kimi-img.moonshot.cn/pub/slides/26-02-19-20:13:48-d6bfsv4omnmd85mbgog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91867" y="2870200"/>
            <a:ext cx="4207933" cy="1185333"/>
          </a:xfrm>
          <a:prstGeom prst="roundRect">
            <a:avLst>
              <a:gd name="adj" fmla="val 0"/>
            </a:avLst>
          </a:prstGeom>
        </p:spPr>
      </p:pic>
      <p:sp>
        <p:nvSpPr>
          <p:cNvPr id="33" name="Shape 30"/>
          <p:cNvSpPr/>
          <p:nvPr/>
        </p:nvSpPr>
        <p:spPr>
          <a:xfrm>
            <a:off x="6752167" y="4339167"/>
            <a:ext cx="5096933" cy="1227667"/>
          </a:xfrm>
          <a:custGeom>
            <a:avLst/>
            <a:gdLst/>
            <a:ahLst/>
            <a:cxnLst/>
            <a:rect l="l" t="t" r="r" b="b"/>
            <a:pathLst>
              <a:path w="5096933" h="1227667">
                <a:moveTo>
                  <a:pt x="67730" y="0"/>
                </a:moveTo>
                <a:lnTo>
                  <a:pt x="5029203" y="0"/>
                </a:lnTo>
                <a:cubicBezTo>
                  <a:pt x="5066609" y="0"/>
                  <a:pt x="5096933" y="30324"/>
                  <a:pt x="5096933" y="67730"/>
                </a:cubicBezTo>
                <a:lnTo>
                  <a:pt x="5096933" y="1159936"/>
                </a:lnTo>
                <a:cubicBezTo>
                  <a:pt x="5096933" y="1197343"/>
                  <a:pt x="5066609" y="1227667"/>
                  <a:pt x="5029203" y="1227667"/>
                </a:cubicBezTo>
                <a:lnTo>
                  <a:pt x="67730" y="1227667"/>
                </a:lnTo>
                <a:cubicBezTo>
                  <a:pt x="30324" y="1227667"/>
                  <a:pt x="0" y="1197343"/>
                  <a:pt x="0" y="1159936"/>
                </a:cubicBezTo>
                <a:lnTo>
                  <a:pt x="0" y="67730"/>
                </a:lnTo>
                <a:cubicBezTo>
                  <a:pt x="0" y="30349"/>
                  <a:pt x="30349" y="0"/>
                  <a:pt x="67730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2700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908800" y="4512733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63765" y="23045"/>
                </a:moveTo>
                <a:lnTo>
                  <a:pt x="67733" y="28522"/>
                </a:lnTo>
                <a:lnTo>
                  <a:pt x="71702" y="23045"/>
                </a:lnTo>
                <a:cubicBezTo>
                  <a:pt x="78317" y="13891"/>
                  <a:pt x="88953" y="8467"/>
                  <a:pt x="100251" y="8467"/>
                </a:cubicBezTo>
                <a:cubicBezTo>
                  <a:pt x="119697" y="8467"/>
                  <a:pt x="135467" y="24236"/>
                  <a:pt x="135467" y="43683"/>
                </a:cubicBezTo>
                <a:lnTo>
                  <a:pt x="135467" y="44371"/>
                </a:lnTo>
                <a:cubicBezTo>
                  <a:pt x="135467" y="74057"/>
                  <a:pt x="98451" y="108532"/>
                  <a:pt x="79137" y="123269"/>
                </a:cubicBezTo>
                <a:cubicBezTo>
                  <a:pt x="75856" y="125756"/>
                  <a:pt x="71834" y="127000"/>
                  <a:pt x="67733" y="127000"/>
                </a:cubicBezTo>
                <a:cubicBezTo>
                  <a:pt x="63632" y="127000"/>
                  <a:pt x="59584" y="125783"/>
                  <a:pt x="56330" y="123269"/>
                </a:cubicBezTo>
                <a:cubicBezTo>
                  <a:pt x="37015" y="108532"/>
                  <a:pt x="0" y="74057"/>
                  <a:pt x="0" y="44371"/>
                </a:cubicBezTo>
                <a:lnTo>
                  <a:pt x="0" y="43683"/>
                </a:lnTo>
                <a:cubicBezTo>
                  <a:pt x="0" y="24236"/>
                  <a:pt x="15769" y="8467"/>
                  <a:pt x="35216" y="8467"/>
                </a:cubicBezTo>
                <a:cubicBezTo>
                  <a:pt x="46514" y="8467"/>
                  <a:pt x="57150" y="13891"/>
                  <a:pt x="63765" y="2304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Text 32"/>
          <p:cNvSpPr/>
          <p:nvPr/>
        </p:nvSpPr>
        <p:spPr>
          <a:xfrm>
            <a:off x="7061200" y="4478867"/>
            <a:ext cx="4715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First, AI Smart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916208" y="4817533"/>
            <a:ext cx="103717" cy="118533"/>
          </a:xfrm>
          <a:custGeom>
            <a:avLst/>
            <a:gdLst/>
            <a:ahLst/>
            <a:cxnLst/>
            <a:rect l="l" t="t" r="r" b="b"/>
            <a:pathLst>
              <a:path w="103717" h="118533">
                <a:moveTo>
                  <a:pt x="100661" y="16229"/>
                </a:moveTo>
                <a:cubicBezTo>
                  <a:pt x="103971" y="18637"/>
                  <a:pt x="104712" y="23267"/>
                  <a:pt x="102304" y="26577"/>
                </a:cubicBezTo>
                <a:lnTo>
                  <a:pt x="43038" y="108069"/>
                </a:lnTo>
                <a:cubicBezTo>
                  <a:pt x="41764" y="109829"/>
                  <a:pt x="39797" y="110917"/>
                  <a:pt x="37620" y="111102"/>
                </a:cubicBezTo>
                <a:cubicBezTo>
                  <a:pt x="35444" y="111287"/>
                  <a:pt x="33338" y="110477"/>
                  <a:pt x="31810" y="108949"/>
                </a:cubicBezTo>
                <a:lnTo>
                  <a:pt x="2176" y="79315"/>
                </a:lnTo>
                <a:cubicBezTo>
                  <a:pt x="-718" y="76422"/>
                  <a:pt x="-718" y="71722"/>
                  <a:pt x="2176" y="68828"/>
                </a:cubicBezTo>
                <a:cubicBezTo>
                  <a:pt x="5070" y="65934"/>
                  <a:pt x="9770" y="65934"/>
                  <a:pt x="12664" y="68828"/>
                </a:cubicBezTo>
                <a:lnTo>
                  <a:pt x="36162" y="92326"/>
                </a:lnTo>
                <a:lnTo>
                  <a:pt x="90335" y="17849"/>
                </a:lnTo>
                <a:cubicBezTo>
                  <a:pt x="92743" y="14539"/>
                  <a:pt x="97373" y="13798"/>
                  <a:pt x="100684" y="1620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7" name="Text 34"/>
          <p:cNvSpPr/>
          <p:nvPr/>
        </p:nvSpPr>
        <p:spPr>
          <a:xfrm>
            <a:off x="7107767" y="4783667"/>
            <a:ext cx="1684867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 rápida para tareas repetitivas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916208" y="5054600"/>
            <a:ext cx="103717" cy="118533"/>
          </a:xfrm>
          <a:custGeom>
            <a:avLst/>
            <a:gdLst/>
            <a:ahLst/>
            <a:cxnLst/>
            <a:rect l="l" t="t" r="r" b="b"/>
            <a:pathLst>
              <a:path w="103717" h="118533">
                <a:moveTo>
                  <a:pt x="100661" y="16229"/>
                </a:moveTo>
                <a:cubicBezTo>
                  <a:pt x="103971" y="18637"/>
                  <a:pt x="104712" y="23267"/>
                  <a:pt x="102304" y="26577"/>
                </a:cubicBezTo>
                <a:lnTo>
                  <a:pt x="43038" y="108069"/>
                </a:lnTo>
                <a:cubicBezTo>
                  <a:pt x="41764" y="109829"/>
                  <a:pt x="39797" y="110917"/>
                  <a:pt x="37620" y="111102"/>
                </a:cubicBezTo>
                <a:cubicBezTo>
                  <a:pt x="35444" y="111287"/>
                  <a:pt x="33338" y="110477"/>
                  <a:pt x="31810" y="108949"/>
                </a:cubicBezTo>
                <a:lnTo>
                  <a:pt x="2176" y="79315"/>
                </a:lnTo>
                <a:cubicBezTo>
                  <a:pt x="-718" y="76422"/>
                  <a:pt x="-718" y="71722"/>
                  <a:pt x="2176" y="68828"/>
                </a:cubicBezTo>
                <a:cubicBezTo>
                  <a:pt x="5070" y="65934"/>
                  <a:pt x="9770" y="65934"/>
                  <a:pt x="12664" y="68828"/>
                </a:cubicBezTo>
                <a:lnTo>
                  <a:pt x="36162" y="92326"/>
                </a:lnTo>
                <a:lnTo>
                  <a:pt x="90335" y="17849"/>
                </a:lnTo>
                <a:cubicBezTo>
                  <a:pt x="92743" y="14539"/>
                  <a:pt x="97373" y="13798"/>
                  <a:pt x="100684" y="1620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Text 36"/>
          <p:cNvSpPr/>
          <p:nvPr/>
        </p:nvSpPr>
        <p:spPr>
          <a:xfrm>
            <a:off x="7107767" y="5020733"/>
            <a:ext cx="23283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Empatía humana para situaciones complejas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916208" y="5291667"/>
            <a:ext cx="103717" cy="118533"/>
          </a:xfrm>
          <a:custGeom>
            <a:avLst/>
            <a:gdLst/>
            <a:ahLst/>
            <a:cxnLst/>
            <a:rect l="l" t="t" r="r" b="b"/>
            <a:pathLst>
              <a:path w="103717" h="118533">
                <a:moveTo>
                  <a:pt x="100661" y="16229"/>
                </a:moveTo>
                <a:cubicBezTo>
                  <a:pt x="103971" y="18637"/>
                  <a:pt x="104712" y="23267"/>
                  <a:pt x="102304" y="26577"/>
                </a:cubicBezTo>
                <a:lnTo>
                  <a:pt x="43038" y="108069"/>
                </a:lnTo>
                <a:cubicBezTo>
                  <a:pt x="41764" y="109829"/>
                  <a:pt x="39797" y="110917"/>
                  <a:pt x="37620" y="111102"/>
                </a:cubicBezTo>
                <a:cubicBezTo>
                  <a:pt x="35444" y="111287"/>
                  <a:pt x="33338" y="110477"/>
                  <a:pt x="31810" y="108949"/>
                </a:cubicBezTo>
                <a:lnTo>
                  <a:pt x="2176" y="79315"/>
                </a:lnTo>
                <a:cubicBezTo>
                  <a:pt x="-718" y="76422"/>
                  <a:pt x="-718" y="71722"/>
                  <a:pt x="2176" y="68828"/>
                </a:cubicBezTo>
                <a:cubicBezTo>
                  <a:pt x="5070" y="65934"/>
                  <a:pt x="9770" y="65934"/>
                  <a:pt x="12664" y="68828"/>
                </a:cubicBezTo>
                <a:lnTo>
                  <a:pt x="36162" y="92326"/>
                </a:lnTo>
                <a:lnTo>
                  <a:pt x="90335" y="17849"/>
                </a:lnTo>
                <a:cubicBezTo>
                  <a:pt x="92743" y="14539"/>
                  <a:pt x="97373" y="13798"/>
                  <a:pt x="100684" y="1620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1" name="Text 38"/>
          <p:cNvSpPr/>
          <p:nvPr/>
        </p:nvSpPr>
        <p:spPr>
          <a:xfrm>
            <a:off x="7107767" y="5257800"/>
            <a:ext cx="17695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3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Equilibrio perfecto para confianza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764867" y="5706533"/>
            <a:ext cx="5088467" cy="931333"/>
          </a:xfrm>
          <a:custGeom>
            <a:avLst/>
            <a:gdLst/>
            <a:ahLst/>
            <a:cxnLst/>
            <a:rect l="l" t="t" r="r" b="b"/>
            <a:pathLst>
              <a:path w="5088467" h="931333">
                <a:moveTo>
                  <a:pt x="33867" y="0"/>
                </a:moveTo>
                <a:lnTo>
                  <a:pt x="5020731" y="0"/>
                </a:lnTo>
                <a:cubicBezTo>
                  <a:pt x="5058140" y="0"/>
                  <a:pt x="5088467" y="30326"/>
                  <a:pt x="5088467" y="67736"/>
                </a:cubicBezTo>
                <a:lnTo>
                  <a:pt x="5088467" y="863597"/>
                </a:lnTo>
                <a:cubicBezTo>
                  <a:pt x="5088467" y="901007"/>
                  <a:pt x="5058140" y="931333"/>
                  <a:pt x="5020731" y="931333"/>
                </a:cubicBezTo>
                <a:lnTo>
                  <a:pt x="33867" y="931333"/>
                </a:lnTo>
                <a:cubicBezTo>
                  <a:pt x="15163" y="931333"/>
                  <a:pt x="0" y="916171"/>
                  <a:pt x="0" y="897467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CA2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3" name="Shape 40"/>
          <p:cNvSpPr/>
          <p:nvPr/>
        </p:nvSpPr>
        <p:spPr>
          <a:xfrm>
            <a:off x="6764867" y="5706533"/>
            <a:ext cx="33867" cy="931333"/>
          </a:xfrm>
          <a:custGeom>
            <a:avLst/>
            <a:gdLst/>
            <a:ahLst/>
            <a:cxnLst/>
            <a:rect l="l" t="t" r="r" b="b"/>
            <a:pathLst>
              <a:path w="33867" h="931333">
                <a:moveTo>
                  <a:pt x="33867" y="0"/>
                </a:moveTo>
                <a:lnTo>
                  <a:pt x="33867" y="0"/>
                </a:lnTo>
                <a:lnTo>
                  <a:pt x="33867" y="931333"/>
                </a:lnTo>
                <a:lnTo>
                  <a:pt x="33867" y="931333"/>
                </a:lnTo>
                <a:cubicBezTo>
                  <a:pt x="15163" y="931333"/>
                  <a:pt x="0" y="916171"/>
                  <a:pt x="0" y="897467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4" name="Shape 41"/>
          <p:cNvSpPr/>
          <p:nvPr/>
        </p:nvSpPr>
        <p:spPr>
          <a:xfrm>
            <a:off x="6959600" y="5875867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96871" y="127000"/>
                </a:moveTo>
                <a:cubicBezTo>
                  <a:pt x="99285" y="119625"/>
                  <a:pt x="104114" y="112944"/>
                  <a:pt x="109571" y="107189"/>
                </a:cubicBezTo>
                <a:cubicBezTo>
                  <a:pt x="120385" y="95812"/>
                  <a:pt x="127000" y="80433"/>
                  <a:pt x="127000" y="63500"/>
                </a:cubicBezTo>
                <a:cubicBezTo>
                  <a:pt x="127000" y="28443"/>
                  <a:pt x="98557" y="0"/>
                  <a:pt x="63500" y="0"/>
                </a:cubicBezTo>
                <a:cubicBezTo>
                  <a:pt x="28443" y="0"/>
                  <a:pt x="0" y="28443"/>
                  <a:pt x="0" y="63500"/>
                </a:cubicBezTo>
                <a:cubicBezTo>
                  <a:pt x="0" y="80433"/>
                  <a:pt x="6615" y="95812"/>
                  <a:pt x="17429" y="107189"/>
                </a:cubicBezTo>
                <a:cubicBezTo>
                  <a:pt x="22886" y="112944"/>
                  <a:pt x="27748" y="119625"/>
                  <a:pt x="30129" y="127000"/>
                </a:cubicBezTo>
                <a:lnTo>
                  <a:pt x="96838" y="127000"/>
                </a:lnTo>
                <a:close/>
                <a:moveTo>
                  <a:pt x="95250" y="142875"/>
                </a:moveTo>
                <a:lnTo>
                  <a:pt x="31750" y="142875"/>
                </a:lnTo>
                <a:lnTo>
                  <a:pt x="31750" y="148167"/>
                </a:lnTo>
                <a:cubicBezTo>
                  <a:pt x="31750" y="162785"/>
                  <a:pt x="43590" y="174625"/>
                  <a:pt x="58208" y="174625"/>
                </a:cubicBezTo>
                <a:lnTo>
                  <a:pt x="68792" y="174625"/>
                </a:lnTo>
                <a:cubicBezTo>
                  <a:pt x="83410" y="174625"/>
                  <a:pt x="95250" y="162785"/>
                  <a:pt x="95250" y="148167"/>
                </a:cubicBezTo>
                <a:lnTo>
                  <a:pt x="95250" y="142875"/>
                </a:lnTo>
                <a:close/>
                <a:moveTo>
                  <a:pt x="60854" y="37042"/>
                </a:moveTo>
                <a:cubicBezTo>
                  <a:pt x="47691" y="37042"/>
                  <a:pt x="37042" y="47691"/>
                  <a:pt x="37042" y="60854"/>
                </a:cubicBezTo>
                <a:cubicBezTo>
                  <a:pt x="37042" y="65253"/>
                  <a:pt x="33503" y="68792"/>
                  <a:pt x="29104" y="68792"/>
                </a:cubicBezTo>
                <a:cubicBezTo>
                  <a:pt x="24705" y="68792"/>
                  <a:pt x="21167" y="65253"/>
                  <a:pt x="21167" y="60854"/>
                </a:cubicBezTo>
                <a:cubicBezTo>
                  <a:pt x="21167" y="38927"/>
                  <a:pt x="38927" y="21167"/>
                  <a:pt x="60854" y="21167"/>
                </a:cubicBezTo>
                <a:cubicBezTo>
                  <a:pt x="65253" y="21167"/>
                  <a:pt x="68792" y="24705"/>
                  <a:pt x="68792" y="29104"/>
                </a:cubicBezTo>
                <a:cubicBezTo>
                  <a:pt x="68792" y="33503"/>
                  <a:pt x="65253" y="37042"/>
                  <a:pt x="60854" y="37042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5" name="Text 42"/>
          <p:cNvSpPr/>
          <p:nvPr/>
        </p:nvSpPr>
        <p:spPr>
          <a:xfrm>
            <a:off x="7230533" y="5842000"/>
            <a:ext cx="45550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Analogía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230533" y="6112933"/>
            <a:ext cx="4546600" cy="389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33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como un </a:t>
            </a:r>
            <a:pPr>
              <a:lnSpc>
                <a:spcPct val="140000"/>
              </a:lnSpc>
            </a:pPr>
            <a:r>
              <a:rPr lang="en-US" sz="93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amigo que recuerda exactamente qué te gusta</a:t>
            </a:r>
            <a:pPr>
              <a:lnSpc>
                <a:spcPct val="140000"/>
              </a:lnSpc>
            </a:pPr>
            <a:r>
              <a:rPr lang="en-US" sz="933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 te sugiere algo nuevo que amarás, en lugar de spam genérico.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quarespace-cdn.com/2af54aeb4a536ae0cf20e28842d071a862053452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DB6A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651" y="19526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" name="Text 2"/>
          <p:cNvSpPr/>
          <p:nvPr/>
        </p:nvSpPr>
        <p:spPr>
          <a:xfrm>
            <a:off x="2814042" y="461963"/>
            <a:ext cx="65627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El Futuro de la IA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Potenciada por Big Data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38651" y="21193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7" name="Text 4"/>
          <p:cNvSpPr/>
          <p:nvPr/>
        </p:nvSpPr>
        <p:spPr>
          <a:xfrm>
            <a:off x="1771650" y="2462213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 Data e IA no son solo tecnología: son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herramientas que mejoran vidas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protegen finanzas, optimizan industrias y crean experiencias personalizadas.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33563" y="3514725"/>
            <a:ext cx="8524875" cy="1238250"/>
          </a:xfrm>
          <a:custGeom>
            <a:avLst/>
            <a:gdLst/>
            <a:ahLst/>
            <a:cxnLst/>
            <a:rect l="l" t="t" r="r" b="b"/>
            <a:pathLst>
              <a:path w="8524875" h="1238250">
                <a:moveTo>
                  <a:pt x="152404" y="0"/>
                </a:moveTo>
                <a:lnTo>
                  <a:pt x="8372471" y="0"/>
                </a:lnTo>
                <a:cubicBezTo>
                  <a:pt x="8456641" y="0"/>
                  <a:pt x="8524875" y="68234"/>
                  <a:pt x="8524875" y="152404"/>
                </a:cubicBezTo>
                <a:lnTo>
                  <a:pt x="8524875" y="1085846"/>
                </a:lnTo>
                <a:cubicBezTo>
                  <a:pt x="8524875" y="1170016"/>
                  <a:pt x="8456641" y="1238250"/>
                  <a:pt x="8372471" y="1238250"/>
                </a:cubicBezTo>
                <a:lnTo>
                  <a:pt x="152404" y="1238250"/>
                </a:lnTo>
                <a:cubicBezTo>
                  <a:pt x="68234" y="1238250"/>
                  <a:pt x="0" y="1170016"/>
                  <a:pt x="0" y="1085846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50000">
                <a:srgbClr val="FFCA28">
                  <a:alpha val="20000"/>
                </a:srgbClr>
              </a:gs>
              <a:gs pos="100000">
                <a:srgbClr val="4DB6AC">
                  <a:alpha val="20000"/>
                </a:srgbClr>
              </a:gs>
            </a:gsLst>
            <a:lin ang="0" scaled="1"/>
          </a:gradFill>
          <a:ln w="12700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95500" y="3824288"/>
            <a:ext cx="8001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combinación de </a:t>
            </a:r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datos masivos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 </a:t>
            </a:r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inteligencia artificial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está redefiniendo lo posible en cada sector, transformando el presente y construyendo el futuro.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29125" y="5148263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0100" y="53292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48176"/>
                </a:moveTo>
                <a:lnTo>
                  <a:pt x="107603" y="38889"/>
                </a:lnTo>
                <a:cubicBezTo>
                  <a:pt x="96441" y="23440"/>
                  <a:pt x="78537" y="14288"/>
                  <a:pt x="59427" y="14288"/>
                </a:cubicBezTo>
                <a:cubicBezTo>
                  <a:pt x="26610" y="14288"/>
                  <a:pt x="0" y="40898"/>
                  <a:pt x="0" y="73715"/>
                </a:cubicBezTo>
                <a:lnTo>
                  <a:pt x="0" y="74875"/>
                </a:lnTo>
                <a:cubicBezTo>
                  <a:pt x="0" y="85412"/>
                  <a:pt x="2768" y="96307"/>
                  <a:pt x="7412" y="107156"/>
                </a:cubicBezTo>
                <a:lnTo>
                  <a:pt x="54739" y="107156"/>
                </a:lnTo>
                <a:cubicBezTo>
                  <a:pt x="56168" y="107156"/>
                  <a:pt x="57463" y="106308"/>
                  <a:pt x="58043" y="104968"/>
                </a:cubicBezTo>
                <a:lnTo>
                  <a:pt x="72241" y="70902"/>
                </a:lnTo>
                <a:cubicBezTo>
                  <a:pt x="73893" y="66973"/>
                  <a:pt x="77733" y="64383"/>
                  <a:pt x="81975" y="64294"/>
                </a:cubicBezTo>
                <a:cubicBezTo>
                  <a:pt x="86216" y="64204"/>
                  <a:pt x="90145" y="66705"/>
                  <a:pt x="91886" y="70589"/>
                </a:cubicBezTo>
                <a:lnTo>
                  <a:pt x="114791" y="121444"/>
                </a:lnTo>
                <a:lnTo>
                  <a:pt x="133276" y="84475"/>
                </a:lnTo>
                <a:cubicBezTo>
                  <a:pt x="135106" y="80858"/>
                  <a:pt x="138812" y="78537"/>
                  <a:pt x="142875" y="78537"/>
                </a:cubicBezTo>
                <a:cubicBezTo>
                  <a:pt x="146938" y="78537"/>
                  <a:pt x="150644" y="80814"/>
                  <a:pt x="152474" y="84475"/>
                </a:cubicBezTo>
                <a:lnTo>
                  <a:pt x="162833" y="105147"/>
                </a:lnTo>
                <a:cubicBezTo>
                  <a:pt x="163458" y="106353"/>
                  <a:pt x="164663" y="107112"/>
                  <a:pt x="166048" y="107112"/>
                </a:cubicBezTo>
                <a:lnTo>
                  <a:pt x="221233" y="107112"/>
                </a:lnTo>
                <a:cubicBezTo>
                  <a:pt x="225921" y="96262"/>
                  <a:pt x="228645" y="85368"/>
                  <a:pt x="228645" y="74831"/>
                </a:cubicBezTo>
                <a:lnTo>
                  <a:pt x="228645" y="73670"/>
                </a:lnTo>
                <a:cubicBezTo>
                  <a:pt x="228600" y="40898"/>
                  <a:pt x="201990" y="14288"/>
                  <a:pt x="169173" y="14288"/>
                </a:cubicBezTo>
                <a:cubicBezTo>
                  <a:pt x="150108" y="14288"/>
                  <a:pt x="132159" y="23440"/>
                  <a:pt x="120997" y="38889"/>
                </a:cubicBezTo>
                <a:lnTo>
                  <a:pt x="114300" y="48131"/>
                </a:lnTo>
                <a:close/>
                <a:moveTo>
                  <a:pt x="209669" y="128588"/>
                </a:moveTo>
                <a:lnTo>
                  <a:pt x="166003" y="128588"/>
                </a:lnTo>
                <a:cubicBezTo>
                  <a:pt x="156537" y="128588"/>
                  <a:pt x="147876" y="123230"/>
                  <a:pt x="143634" y="114746"/>
                </a:cubicBezTo>
                <a:lnTo>
                  <a:pt x="142875" y="113228"/>
                </a:lnTo>
                <a:lnTo>
                  <a:pt x="123899" y="151224"/>
                </a:lnTo>
                <a:cubicBezTo>
                  <a:pt x="122069" y="154930"/>
                  <a:pt x="118229" y="157252"/>
                  <a:pt x="114077" y="157163"/>
                </a:cubicBezTo>
                <a:cubicBezTo>
                  <a:pt x="109924" y="157073"/>
                  <a:pt x="106219" y="154618"/>
                  <a:pt x="104522" y="150867"/>
                </a:cubicBezTo>
                <a:lnTo>
                  <a:pt x="82510" y="101977"/>
                </a:lnTo>
                <a:lnTo>
                  <a:pt x="77822" y="113228"/>
                </a:lnTo>
                <a:cubicBezTo>
                  <a:pt x="73938" y="122560"/>
                  <a:pt x="64830" y="128632"/>
                  <a:pt x="54739" y="128632"/>
                </a:cubicBezTo>
                <a:lnTo>
                  <a:pt x="18931" y="128632"/>
                </a:lnTo>
                <a:cubicBezTo>
                  <a:pt x="40005" y="161583"/>
                  <a:pt x="73849" y="191899"/>
                  <a:pt x="95012" y="208062"/>
                </a:cubicBezTo>
                <a:cubicBezTo>
                  <a:pt x="100548" y="212259"/>
                  <a:pt x="107335" y="214357"/>
                  <a:pt x="114255" y="214357"/>
                </a:cubicBezTo>
                <a:cubicBezTo>
                  <a:pt x="121176" y="214357"/>
                  <a:pt x="128007" y="212303"/>
                  <a:pt x="133499" y="208062"/>
                </a:cubicBezTo>
                <a:cubicBezTo>
                  <a:pt x="154751" y="191854"/>
                  <a:pt x="188595" y="161538"/>
                  <a:pt x="209669" y="128588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9"/>
          <p:cNvSpPr/>
          <p:nvPr/>
        </p:nvSpPr>
        <p:spPr>
          <a:xfrm>
            <a:off x="4530626" y="5862638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Salud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343525" y="5148263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 w="25400">
            <a:solidFill>
              <a:srgbClr val="FFCA2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24500" y="53292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5" name="Text 12"/>
          <p:cNvSpPr/>
          <p:nvPr/>
        </p:nvSpPr>
        <p:spPr>
          <a:xfrm>
            <a:off x="5361980" y="5862638"/>
            <a:ext cx="552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Finanzas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57925" y="5148263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10325" y="532923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Text 15"/>
          <p:cNvSpPr/>
          <p:nvPr/>
        </p:nvSpPr>
        <p:spPr>
          <a:xfrm>
            <a:off x="6268343" y="5862638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Industria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172325" y="5148263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 w="25400">
            <a:solidFill>
              <a:srgbClr val="FFCA2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24725" y="532923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1" name="Text 18"/>
          <p:cNvSpPr/>
          <p:nvPr/>
        </p:nvSpPr>
        <p:spPr>
          <a:xfrm>
            <a:off x="7148810" y="5862638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91261" y="6434138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 | Transformación Digital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Aplicaciones en la Industria: IA Potenciada por Big Data</dc:title>
  <dc:subject>Aplicaciones en la Industria: IA Potenciada por Big Data</dc:subject>
  <dc:creator>Kimi</dc:creator>
  <cp:lastModifiedBy>Kimi</cp:lastModifiedBy>
  <cp:revision>1</cp:revision>
  <dcterms:created xsi:type="dcterms:W3CDTF">2026-02-19T12:14:17Z</dcterms:created>
  <dcterms:modified xsi:type="dcterms:W3CDTF">2026-02-19T12:14:17Z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{"Label":"Aplicaciones en la Industria: IA Potenciada por Big Data","ContentProducer":"001191110108MACG2KBH8F10000","ProduceID":"19c75cc8-0612-8f3f-8000-0000d5304811","ReservedCode1":"","ContentPropagator":"001191110108MACG2KBH8F20000","PropagateID":"19c75cc8-0612-8f3f-8000-0000d5304811","ReservedCode2":""}</vt:lpwstr>
  </property>
</Properties>
</file>