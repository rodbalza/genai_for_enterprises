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6287a4a480c4917dd201ac0be3bf176f611b51a5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762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" name="Text 2"/>
          <p:cNvSpPr/>
          <p:nvPr/>
        </p:nvSpPr>
        <p:spPr>
          <a:xfrm>
            <a:off x="1104900" y="3810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&amp; Inteligencia Artificial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60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de Modelos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más Precisos</a:t>
            </a:r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 </a:t>
            </a:r>
            <a:pPr>
              <a:lnSpc>
                <a:spcPct val="100000"/>
              </a:lnSpc>
            </a:pPr>
            <a:r>
              <a:rPr lang="en-US" sz="54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Adaptables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19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Text 5"/>
          <p:cNvSpPr/>
          <p:nvPr/>
        </p:nvSpPr>
        <p:spPr>
          <a:xfrm>
            <a:off x="609600" y="4305300"/>
            <a:ext cx="4029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Revolución del Aprendizaje Continuo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4813" y="6286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0" name="Text 7"/>
          <p:cNvSpPr/>
          <p:nvPr/>
        </p:nvSpPr>
        <p:spPr>
          <a:xfrm>
            <a:off x="695325" y="6286500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Adaptativa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735634" y="6286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2014240" y="6286500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40223" y="6286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4" name="Text 11"/>
          <p:cNvSpPr/>
          <p:nvPr/>
        </p:nvSpPr>
        <p:spPr>
          <a:xfrm>
            <a:off x="3030736" y="6286500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Continuo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515130" y="6286500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Navegación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490663"/>
            <a:ext cx="5591175" cy="1647825"/>
          </a:xfrm>
          <a:custGeom>
            <a:avLst/>
            <a:gdLst/>
            <a:ahLst/>
            <a:cxnLst/>
            <a:rect l="l" t="t" r="r" b="b"/>
            <a:pathLst>
              <a:path w="5591175" h="1647825">
                <a:moveTo>
                  <a:pt x="152407" y="0"/>
                </a:moveTo>
                <a:lnTo>
                  <a:pt x="5438768" y="0"/>
                </a:lnTo>
                <a:cubicBezTo>
                  <a:pt x="5522940" y="0"/>
                  <a:pt x="5591175" y="68235"/>
                  <a:pt x="5591175" y="152407"/>
                </a:cubicBezTo>
                <a:lnTo>
                  <a:pt x="5591175" y="1495418"/>
                </a:lnTo>
                <a:cubicBezTo>
                  <a:pt x="5591175" y="1579590"/>
                  <a:pt x="5522940" y="1647825"/>
                  <a:pt x="5438768" y="1647825"/>
                </a:cubicBezTo>
                <a:lnTo>
                  <a:pt x="152407" y="1647825"/>
                </a:lnTo>
                <a:cubicBezTo>
                  <a:pt x="68235" y="1647825"/>
                  <a:pt x="0" y="1579590"/>
                  <a:pt x="0" y="1495418"/>
                </a:cubicBezTo>
                <a:lnTo>
                  <a:pt x="0" y="152407"/>
                </a:lnTo>
                <a:cubicBezTo>
                  <a:pt x="0" y="68235"/>
                  <a:pt x="68235" y="0"/>
                  <a:pt x="152407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525" y="1495425"/>
            <a:ext cx="5581650" cy="38100"/>
          </a:xfrm>
          <a:custGeom>
            <a:avLst/>
            <a:gdLst/>
            <a:ahLst/>
            <a:cxnLst/>
            <a:rect l="l" t="t" r="r" b="b"/>
            <a:pathLst>
              <a:path w="5581650" h="38100">
                <a:moveTo>
                  <a:pt x="19050" y="0"/>
                </a:moveTo>
                <a:lnTo>
                  <a:pt x="5562600" y="0"/>
                </a:lnTo>
                <a:cubicBezTo>
                  <a:pt x="5573114" y="0"/>
                  <a:pt x="5581650" y="8536"/>
                  <a:pt x="5581650" y="19050"/>
                </a:cubicBezTo>
                <a:lnTo>
                  <a:pt x="5581650" y="38100"/>
                </a:lnTo>
                <a:lnTo>
                  <a:pt x="0" y="38100"/>
                </a:ln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619125" y="1724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7443" y="1819275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4925" y="1724025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Modelos Estáticos a Adaptativos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4925" y="2066925"/>
            <a:ext cx="4505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desafío de los modelos tradicionales y la necesidad de soluciones dinámicas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5063" y="1490663"/>
            <a:ext cx="5591175" cy="1647825"/>
          </a:xfrm>
          <a:custGeom>
            <a:avLst/>
            <a:gdLst/>
            <a:ahLst/>
            <a:cxnLst/>
            <a:rect l="l" t="t" r="r" b="b"/>
            <a:pathLst>
              <a:path w="5591175" h="1647825">
                <a:moveTo>
                  <a:pt x="152407" y="0"/>
                </a:moveTo>
                <a:lnTo>
                  <a:pt x="5438768" y="0"/>
                </a:lnTo>
                <a:cubicBezTo>
                  <a:pt x="5522940" y="0"/>
                  <a:pt x="5591175" y="68235"/>
                  <a:pt x="5591175" y="152407"/>
                </a:cubicBezTo>
                <a:lnTo>
                  <a:pt x="5591175" y="1495418"/>
                </a:lnTo>
                <a:cubicBezTo>
                  <a:pt x="5591175" y="1579590"/>
                  <a:pt x="5522940" y="1647825"/>
                  <a:pt x="5438768" y="1647825"/>
                </a:cubicBezTo>
                <a:lnTo>
                  <a:pt x="152407" y="1647825"/>
                </a:lnTo>
                <a:cubicBezTo>
                  <a:pt x="68235" y="1647825"/>
                  <a:pt x="0" y="1579590"/>
                  <a:pt x="0" y="1495418"/>
                </a:cubicBezTo>
                <a:lnTo>
                  <a:pt x="0" y="152407"/>
                </a:lnTo>
                <a:cubicBezTo>
                  <a:pt x="0" y="68235"/>
                  <a:pt x="68235" y="0"/>
                  <a:pt x="152407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9825" y="1495425"/>
            <a:ext cx="5581650" cy="38100"/>
          </a:xfrm>
          <a:custGeom>
            <a:avLst/>
            <a:gdLst/>
            <a:ahLst/>
            <a:cxnLst/>
            <a:rect l="l" t="t" r="r" b="b"/>
            <a:pathLst>
              <a:path w="5581650" h="38100">
                <a:moveTo>
                  <a:pt x="19050" y="0"/>
                </a:moveTo>
                <a:lnTo>
                  <a:pt x="5562600" y="0"/>
                </a:lnTo>
                <a:cubicBezTo>
                  <a:pt x="5573114" y="0"/>
                  <a:pt x="5581650" y="8536"/>
                  <a:pt x="5581650" y="19050"/>
                </a:cubicBezTo>
                <a:lnTo>
                  <a:pt x="5581650" y="38100"/>
                </a:lnTo>
                <a:lnTo>
                  <a:pt x="0" y="38100"/>
                </a:ln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6448425" y="1724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40847" y="18192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4225" y="1724025"/>
            <a:ext cx="403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Aprender Patrones Ocultos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4225" y="2066925"/>
            <a:ext cx="40100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Mayor precisión mediante el análisis de grandes volúmenes de datos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3374975"/>
            <a:ext cx="5591175" cy="1428750"/>
          </a:xfrm>
          <a:custGeom>
            <a:avLst/>
            <a:gdLst/>
            <a:ahLst/>
            <a:cxnLst/>
            <a:rect l="l" t="t" r="r" b="b"/>
            <a:pathLst>
              <a:path w="5591175" h="1428750">
                <a:moveTo>
                  <a:pt x="152405" y="0"/>
                </a:moveTo>
                <a:lnTo>
                  <a:pt x="5438770" y="0"/>
                </a:lnTo>
                <a:cubicBezTo>
                  <a:pt x="5522941" y="0"/>
                  <a:pt x="5591175" y="68234"/>
                  <a:pt x="5591175" y="152405"/>
                </a:cubicBezTo>
                <a:lnTo>
                  <a:pt x="5591175" y="1276345"/>
                </a:lnTo>
                <a:cubicBezTo>
                  <a:pt x="5591175" y="1360516"/>
                  <a:pt x="5522941" y="1428750"/>
                  <a:pt x="5438770" y="1428750"/>
                </a:cubicBezTo>
                <a:lnTo>
                  <a:pt x="152405" y="1428750"/>
                </a:lnTo>
                <a:cubicBezTo>
                  <a:pt x="68234" y="1428750"/>
                  <a:pt x="0" y="1360516"/>
                  <a:pt x="0" y="1276345"/>
                </a:cubicBezTo>
                <a:lnTo>
                  <a:pt x="0" y="152405"/>
                </a:lnTo>
                <a:cubicBezTo>
                  <a:pt x="0" y="68290"/>
                  <a:pt x="68290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0525" y="3379738"/>
            <a:ext cx="5581650" cy="38100"/>
          </a:xfrm>
          <a:custGeom>
            <a:avLst/>
            <a:gdLst/>
            <a:ahLst/>
            <a:cxnLst/>
            <a:rect l="l" t="t" r="r" b="b"/>
            <a:pathLst>
              <a:path w="5581650" h="38100">
                <a:moveTo>
                  <a:pt x="19050" y="0"/>
                </a:moveTo>
                <a:lnTo>
                  <a:pt x="5562600" y="0"/>
                </a:lnTo>
                <a:cubicBezTo>
                  <a:pt x="5573114" y="0"/>
                  <a:pt x="5581650" y="8536"/>
                  <a:pt x="5581650" y="19050"/>
                </a:cubicBezTo>
                <a:lnTo>
                  <a:pt x="5581650" y="38100"/>
                </a:lnTo>
                <a:lnTo>
                  <a:pt x="0" y="38100"/>
                </a:ln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619125" y="36083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10357" y="3703588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04925" y="3608338"/>
            <a:ext cx="3019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Adaptación Dinámica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04925" y="3951238"/>
            <a:ext cx="2990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magia del aprendizaje continuo y online learning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5063" y="3374975"/>
            <a:ext cx="5591175" cy="1428750"/>
          </a:xfrm>
          <a:custGeom>
            <a:avLst/>
            <a:gdLst/>
            <a:ahLst/>
            <a:cxnLst/>
            <a:rect l="l" t="t" r="r" b="b"/>
            <a:pathLst>
              <a:path w="5591175" h="1428750">
                <a:moveTo>
                  <a:pt x="152405" y="0"/>
                </a:moveTo>
                <a:lnTo>
                  <a:pt x="5438770" y="0"/>
                </a:lnTo>
                <a:cubicBezTo>
                  <a:pt x="5522941" y="0"/>
                  <a:pt x="5591175" y="68234"/>
                  <a:pt x="5591175" y="152405"/>
                </a:cubicBezTo>
                <a:lnTo>
                  <a:pt x="5591175" y="1276345"/>
                </a:lnTo>
                <a:cubicBezTo>
                  <a:pt x="5591175" y="1360516"/>
                  <a:pt x="5522941" y="1428750"/>
                  <a:pt x="5438770" y="1428750"/>
                </a:cubicBezTo>
                <a:lnTo>
                  <a:pt x="152405" y="1428750"/>
                </a:lnTo>
                <a:cubicBezTo>
                  <a:pt x="68234" y="1428750"/>
                  <a:pt x="0" y="1360516"/>
                  <a:pt x="0" y="1276345"/>
                </a:cubicBezTo>
                <a:lnTo>
                  <a:pt x="0" y="152405"/>
                </a:lnTo>
                <a:cubicBezTo>
                  <a:pt x="0" y="68290"/>
                  <a:pt x="68290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9825" y="3379738"/>
            <a:ext cx="5581650" cy="38100"/>
          </a:xfrm>
          <a:custGeom>
            <a:avLst/>
            <a:gdLst/>
            <a:ahLst/>
            <a:cxnLst/>
            <a:rect l="l" t="t" r="r" b="b"/>
            <a:pathLst>
              <a:path w="5581650" h="38100">
                <a:moveTo>
                  <a:pt x="19050" y="0"/>
                </a:moveTo>
                <a:lnTo>
                  <a:pt x="5562600" y="0"/>
                </a:lnTo>
                <a:cubicBezTo>
                  <a:pt x="5573114" y="0"/>
                  <a:pt x="5581650" y="8536"/>
                  <a:pt x="5581650" y="19050"/>
                </a:cubicBezTo>
                <a:lnTo>
                  <a:pt x="5581650" y="38100"/>
                </a:lnTo>
                <a:lnTo>
                  <a:pt x="0" y="38100"/>
                </a:ln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6448425" y="36083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39805" y="3703588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34225" y="3608338"/>
            <a:ext cx="3629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Prácticos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4225" y="3951238"/>
            <a:ext cx="36004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Aplicaciones reales en finanzas, transporte, educación y salud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763" y="5042595"/>
            <a:ext cx="11420475" cy="1428750"/>
          </a:xfrm>
          <a:custGeom>
            <a:avLst/>
            <a:gdLst/>
            <a:ahLst/>
            <a:cxnLst/>
            <a:rect l="l" t="t" r="r" b="b"/>
            <a:pathLst>
              <a:path w="11420475" h="1428750">
                <a:moveTo>
                  <a:pt x="152405" y="0"/>
                </a:moveTo>
                <a:lnTo>
                  <a:pt x="11268070" y="0"/>
                </a:lnTo>
                <a:cubicBezTo>
                  <a:pt x="11352241" y="0"/>
                  <a:pt x="11420475" y="68234"/>
                  <a:pt x="11420475" y="152405"/>
                </a:cubicBezTo>
                <a:lnTo>
                  <a:pt x="11420475" y="1276345"/>
                </a:lnTo>
                <a:cubicBezTo>
                  <a:pt x="11420475" y="1360516"/>
                  <a:pt x="11352241" y="1428750"/>
                  <a:pt x="11268070" y="1428750"/>
                </a:cubicBezTo>
                <a:lnTo>
                  <a:pt x="152405" y="1428750"/>
                </a:lnTo>
                <a:cubicBezTo>
                  <a:pt x="68234" y="1428750"/>
                  <a:pt x="0" y="1360516"/>
                  <a:pt x="0" y="1276345"/>
                </a:cubicBezTo>
                <a:lnTo>
                  <a:pt x="0" y="152405"/>
                </a:lnTo>
                <a:cubicBezTo>
                  <a:pt x="0" y="68290"/>
                  <a:pt x="68290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6B728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0525" y="5047357"/>
            <a:ext cx="11410950" cy="38100"/>
          </a:xfrm>
          <a:custGeom>
            <a:avLst/>
            <a:gdLst/>
            <a:ahLst/>
            <a:cxnLst/>
            <a:rect l="l" t="t" r="r" b="b"/>
            <a:pathLst>
              <a:path w="11410950" h="38100">
                <a:moveTo>
                  <a:pt x="19050" y="0"/>
                </a:moveTo>
                <a:lnTo>
                  <a:pt x="11391900" y="0"/>
                </a:lnTo>
                <a:cubicBezTo>
                  <a:pt x="11402414" y="0"/>
                  <a:pt x="11410950" y="8536"/>
                  <a:pt x="11410950" y="19050"/>
                </a:cubicBezTo>
                <a:lnTo>
                  <a:pt x="11410950" y="38100"/>
                </a:lnTo>
                <a:lnTo>
                  <a:pt x="0" y="38100"/>
                </a:ln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6B728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619125" y="527595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12291" y="5371207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04925" y="5275957"/>
            <a:ext cx="567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Herramientas para Principiantes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04925" y="5618857"/>
            <a:ext cx="5648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Recursos gratuitos para experimentar con IA adaptativa: Kaggle, River, Avalanche y Google Colab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Desafío de los Modelos Tradicionales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95400"/>
            <a:ext cx="7181850" cy="1466850"/>
          </a:xfrm>
          <a:custGeom>
            <a:avLst/>
            <a:gdLst/>
            <a:ahLst/>
            <a:cxnLst/>
            <a:rect l="l" t="t" r="r" b="b"/>
            <a:pathLst>
              <a:path w="7181850" h="1466850">
                <a:moveTo>
                  <a:pt x="0" y="0"/>
                </a:moveTo>
                <a:lnTo>
                  <a:pt x="7067553" y="0"/>
                </a:lnTo>
                <a:cubicBezTo>
                  <a:pt x="7130678" y="0"/>
                  <a:pt x="7181850" y="51172"/>
                  <a:pt x="7181850" y="114297"/>
                </a:cubicBezTo>
                <a:lnTo>
                  <a:pt x="7181850" y="1352553"/>
                </a:lnTo>
                <a:cubicBezTo>
                  <a:pt x="7181850" y="1415678"/>
                  <a:pt x="7130678" y="1466850"/>
                  <a:pt x="7067553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2954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6763" y="1619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485900"/>
            <a:ext cx="626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"Congelados"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1828800"/>
            <a:ext cx="6248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modelos de IA tradicionales se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entrenan una sola vez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un conjunto fijo de datos y luego se "congelan". No pueden adaptarse a nuevas situaciones sin un reentrenamiento completo.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2957513"/>
            <a:ext cx="7191375" cy="1476375"/>
          </a:xfrm>
          <a:custGeom>
            <a:avLst/>
            <a:gdLst/>
            <a:ahLst/>
            <a:cxnLst/>
            <a:rect l="l" t="t" r="r" b="b"/>
            <a:pathLst>
              <a:path w="7191375" h="1476375">
                <a:moveTo>
                  <a:pt x="114301" y="0"/>
                </a:moveTo>
                <a:lnTo>
                  <a:pt x="7077074" y="0"/>
                </a:lnTo>
                <a:cubicBezTo>
                  <a:pt x="7140201" y="0"/>
                  <a:pt x="7191375" y="51174"/>
                  <a:pt x="7191375" y="114301"/>
                </a:cubicBezTo>
                <a:lnTo>
                  <a:pt x="7191375" y="1362074"/>
                </a:lnTo>
                <a:cubicBezTo>
                  <a:pt x="7191375" y="1425201"/>
                  <a:pt x="7140201" y="1476375"/>
                  <a:pt x="7077074" y="1476375"/>
                </a:cubicBezTo>
                <a:lnTo>
                  <a:pt x="114301" y="1476375"/>
                </a:lnTo>
                <a:cubicBezTo>
                  <a:pt x="51174" y="1476375"/>
                  <a:pt x="0" y="1425201"/>
                  <a:pt x="0" y="13620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 w="1270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1025" y="3152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4375" y="3286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1190625" y="3152775"/>
            <a:ext cx="628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Ineficacia en el Mundo Real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0625" y="3495675"/>
            <a:ext cx="62674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el mundo real, las cosas cambian constantemente: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nuevos productos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patrones de enfermedades que evolucionan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comportamientos de usuarios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Los modelos estáticos no pueden seguir el ritmo.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4633913"/>
            <a:ext cx="7191375" cy="1266825"/>
          </a:xfrm>
          <a:custGeom>
            <a:avLst/>
            <a:gdLst/>
            <a:ahLst/>
            <a:cxnLst/>
            <a:rect l="l" t="t" r="r" b="b"/>
            <a:pathLst>
              <a:path w="7191375" h="1266825">
                <a:moveTo>
                  <a:pt x="114306" y="0"/>
                </a:moveTo>
                <a:lnTo>
                  <a:pt x="7077069" y="0"/>
                </a:lnTo>
                <a:cubicBezTo>
                  <a:pt x="7140199" y="0"/>
                  <a:pt x="7191375" y="51176"/>
                  <a:pt x="7191375" y="114306"/>
                </a:cubicBezTo>
                <a:lnTo>
                  <a:pt x="7191375" y="1152519"/>
                </a:lnTo>
                <a:cubicBezTo>
                  <a:pt x="7191375" y="1215649"/>
                  <a:pt x="7140199" y="1266825"/>
                  <a:pt x="707706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4838" y="48768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909638" y="4829175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Necesidad Crítica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1025" y="5210175"/>
            <a:ext cx="6877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Necesitamos modelos que puedan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aprender continuamente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adaptarse dinámicamente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mejorar con el tiempo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 intervención humana constante.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15263" y="1300163"/>
            <a:ext cx="3990975" cy="5172075"/>
          </a:xfrm>
          <a:custGeom>
            <a:avLst/>
            <a:gdLst/>
            <a:ahLst/>
            <a:cxnLst/>
            <a:rect l="l" t="t" r="r" b="b"/>
            <a:pathLst>
              <a:path w="3990975" h="5172075">
                <a:moveTo>
                  <a:pt x="152415" y="0"/>
                </a:moveTo>
                <a:lnTo>
                  <a:pt x="3838560" y="0"/>
                </a:lnTo>
                <a:cubicBezTo>
                  <a:pt x="3922736" y="0"/>
                  <a:pt x="3990975" y="68239"/>
                  <a:pt x="3990975" y="152415"/>
                </a:cubicBezTo>
                <a:lnTo>
                  <a:pt x="3990975" y="5019660"/>
                </a:lnTo>
                <a:cubicBezTo>
                  <a:pt x="3990975" y="5103836"/>
                  <a:pt x="3922736" y="5172075"/>
                  <a:pt x="3838560" y="5172075"/>
                </a:cubicBezTo>
                <a:lnTo>
                  <a:pt x="152415" y="5172075"/>
                </a:lnTo>
                <a:cubicBezTo>
                  <a:pt x="68239" y="5172075"/>
                  <a:pt x="0" y="5103836"/>
                  <a:pt x="0" y="5019660"/>
                </a:cubicBezTo>
                <a:lnTo>
                  <a:pt x="0" y="152415"/>
                </a:lnTo>
                <a:cubicBezTo>
                  <a:pt x="0" y="68295"/>
                  <a:pt x="68295" y="0"/>
                  <a:pt x="152415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5000"/>
                </a:srgbClr>
              </a:gs>
              <a:gs pos="100000">
                <a:srgbClr val="34D399">
                  <a:alpha val="5000"/>
                </a:srgbClr>
              </a:gs>
            </a:gsLst>
            <a:lin ang="2700000" scaled="1"/>
          </a:gradFill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1533525"/>
            <a:ext cx="361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Proceso Tradicional vs. Adaptativo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53387" y="2119313"/>
            <a:ext cx="3514725" cy="1724025"/>
          </a:xfrm>
          <a:custGeom>
            <a:avLst/>
            <a:gdLst/>
            <a:ahLst/>
            <a:cxnLst/>
            <a:rect l="l" t="t" r="r" b="b"/>
            <a:pathLst>
              <a:path w="3514725" h="1724025">
                <a:moveTo>
                  <a:pt x="114303" y="0"/>
                </a:moveTo>
                <a:lnTo>
                  <a:pt x="3400422" y="0"/>
                </a:lnTo>
                <a:cubicBezTo>
                  <a:pt x="3463508" y="0"/>
                  <a:pt x="3514725" y="51217"/>
                  <a:pt x="3514725" y="114303"/>
                </a:cubicBezTo>
                <a:lnTo>
                  <a:pt x="3514725" y="1609722"/>
                </a:lnTo>
                <a:cubicBezTo>
                  <a:pt x="3514725" y="1672808"/>
                  <a:pt x="3463508" y="1724025"/>
                  <a:pt x="340042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0550" y="22764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341668" y="2333625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29650" y="2314575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Tradicional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24837" y="27336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429625" y="2695575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Entrenamiento único con datos fijos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4837" y="30003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8429625" y="2962275"/>
            <a:ext cx="282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"congelado" después del entrenamiento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24837" y="32670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429625" y="3228975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se adapta a cambios sin reentrenamiento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4837" y="35337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8429625" y="349567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Costoso y lento actualizar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25025" y="3943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5" name="Shape 33"/>
          <p:cNvSpPr/>
          <p:nvPr/>
        </p:nvSpPr>
        <p:spPr>
          <a:xfrm>
            <a:off x="8053387" y="4386263"/>
            <a:ext cx="3514725" cy="1724025"/>
          </a:xfrm>
          <a:custGeom>
            <a:avLst/>
            <a:gdLst/>
            <a:ahLst/>
            <a:cxnLst/>
            <a:rect l="l" t="t" r="r" b="b"/>
            <a:pathLst>
              <a:path w="3514725" h="1724025">
                <a:moveTo>
                  <a:pt x="114303" y="0"/>
                </a:moveTo>
                <a:lnTo>
                  <a:pt x="3400422" y="0"/>
                </a:lnTo>
                <a:cubicBezTo>
                  <a:pt x="3463508" y="0"/>
                  <a:pt x="3514725" y="51217"/>
                  <a:pt x="3514725" y="114303"/>
                </a:cubicBezTo>
                <a:lnTo>
                  <a:pt x="3514725" y="1609722"/>
                </a:lnTo>
                <a:cubicBezTo>
                  <a:pt x="3514725" y="1672808"/>
                  <a:pt x="3463508" y="1724025"/>
                  <a:pt x="340042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0550" y="4543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328868" y="4600575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29650" y="4581525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Adaptativo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24837" y="50006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0" name="Text 38"/>
          <p:cNvSpPr/>
          <p:nvPr/>
        </p:nvSpPr>
        <p:spPr>
          <a:xfrm>
            <a:off x="8429625" y="4962525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continuo con datos en streaming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24837" y="52673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2" name="Text 40"/>
          <p:cNvSpPr/>
          <p:nvPr/>
        </p:nvSpPr>
        <p:spPr>
          <a:xfrm>
            <a:off x="8429625" y="5229225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vivo que evoluciona constantemente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24837" y="55340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4" name="Text 42"/>
          <p:cNvSpPr/>
          <p:nvPr/>
        </p:nvSpPr>
        <p:spPr>
          <a:xfrm>
            <a:off x="8429625" y="5495925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adapta automáticamente a cambios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24837" y="58007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6" name="Text 44"/>
          <p:cNvSpPr/>
          <p:nvPr/>
        </p:nvSpPr>
        <p:spPr>
          <a:xfrm>
            <a:off x="8429625" y="576262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Actualizaciones incrementales eficientes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Solución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Big Data + IA: La Solución Adaptativa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591175" cy="1724025"/>
          </a:xfrm>
          <a:custGeom>
            <a:avLst/>
            <a:gdLst/>
            <a:ahLst/>
            <a:cxnLst/>
            <a:rect l="l" t="t" r="r" b="b"/>
            <a:pathLst>
              <a:path w="5591175" h="1724025">
                <a:moveTo>
                  <a:pt x="152404" y="0"/>
                </a:moveTo>
                <a:lnTo>
                  <a:pt x="5438771" y="0"/>
                </a:lnTo>
                <a:cubicBezTo>
                  <a:pt x="5522941" y="0"/>
                  <a:pt x="5591175" y="68234"/>
                  <a:pt x="5591175" y="152404"/>
                </a:cubicBezTo>
                <a:lnTo>
                  <a:pt x="5591175" y="1571621"/>
                </a:lnTo>
                <a:cubicBezTo>
                  <a:pt x="5591175" y="1655791"/>
                  <a:pt x="5522941" y="1724025"/>
                  <a:pt x="5438771" y="1724025"/>
                </a:cubicBezTo>
                <a:lnTo>
                  <a:pt x="152404" y="1724025"/>
                </a:lnTo>
                <a:cubicBezTo>
                  <a:pt x="68234" y="1724025"/>
                  <a:pt x="0" y="1655791"/>
                  <a:pt x="0" y="157162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5000"/>
                </a:srgbClr>
              </a:gs>
              <a:gs pos="100000">
                <a:srgbClr val="34D399">
                  <a:alpha val="5000"/>
                </a:srgbClr>
              </a:gs>
            </a:gsLst>
            <a:lin ang="2700000" scaled="1"/>
          </a:gra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495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3431" y="16573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1552575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1125" y="1857375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Capacidad de aprender y adaptarse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125" y="2257425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Algoritmos que pueden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aprender patrones ocultos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detectar detalles sutiles 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adaptarse rápidamente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cuando algo cambia.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186113"/>
            <a:ext cx="5591175" cy="1724025"/>
          </a:xfrm>
          <a:custGeom>
            <a:avLst/>
            <a:gdLst/>
            <a:ahLst/>
            <a:cxnLst/>
            <a:rect l="l" t="t" r="r" b="b"/>
            <a:pathLst>
              <a:path w="5591175" h="1724025">
                <a:moveTo>
                  <a:pt x="152404" y="0"/>
                </a:moveTo>
                <a:lnTo>
                  <a:pt x="5438771" y="0"/>
                </a:lnTo>
                <a:cubicBezTo>
                  <a:pt x="5522941" y="0"/>
                  <a:pt x="5591175" y="68234"/>
                  <a:pt x="5591175" y="152404"/>
                </a:cubicBezTo>
                <a:lnTo>
                  <a:pt x="5591175" y="1571621"/>
                </a:lnTo>
                <a:cubicBezTo>
                  <a:pt x="5591175" y="1655791"/>
                  <a:pt x="5522941" y="1724025"/>
                  <a:pt x="5438771" y="1724025"/>
                </a:cubicBezTo>
                <a:lnTo>
                  <a:pt x="152404" y="1724025"/>
                </a:lnTo>
                <a:cubicBezTo>
                  <a:pt x="68234" y="1724025"/>
                  <a:pt x="0" y="1655791"/>
                  <a:pt x="0" y="157162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5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125" y="34194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1291" y="35814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381125" y="3476625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Big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81125" y="3781425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continuo de información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9125" y="4181475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Proporciona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continuo y masivo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información fresca, permitiendo que la IA aprenda patrones ocultos y se adapte dinámicamente.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5063" y="1262063"/>
            <a:ext cx="5591175" cy="4743450"/>
          </a:xfrm>
          <a:custGeom>
            <a:avLst/>
            <a:gdLst/>
            <a:ahLst/>
            <a:cxnLst/>
            <a:rect l="l" t="t" r="r" b="b"/>
            <a:pathLst>
              <a:path w="5591175" h="4743450">
                <a:moveTo>
                  <a:pt x="152407" y="0"/>
                </a:moveTo>
                <a:lnTo>
                  <a:pt x="5438768" y="0"/>
                </a:lnTo>
                <a:cubicBezTo>
                  <a:pt x="5522940" y="0"/>
                  <a:pt x="5591175" y="68235"/>
                  <a:pt x="5591175" y="152407"/>
                </a:cubicBezTo>
                <a:lnTo>
                  <a:pt x="5591175" y="4591043"/>
                </a:lnTo>
                <a:cubicBezTo>
                  <a:pt x="5591175" y="4675215"/>
                  <a:pt x="5522940" y="4743450"/>
                  <a:pt x="5438768" y="4743450"/>
                </a:cubicBezTo>
                <a:lnTo>
                  <a:pt x="152407" y="4743450"/>
                </a:lnTo>
                <a:cubicBezTo>
                  <a:pt x="68235" y="4743450"/>
                  <a:pt x="0" y="4675215"/>
                  <a:pt x="0" y="45910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50000">
                <a:srgbClr val="F59E0B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275" y="1495425"/>
            <a:ext cx="523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 Tres Pilares del Big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67475" y="1990725"/>
            <a:ext cx="5105400" cy="1162050"/>
          </a:xfrm>
          <a:custGeom>
            <a:avLst/>
            <a:gdLst/>
            <a:ahLst/>
            <a:cxnLst/>
            <a:rect l="l" t="t" r="r" b="b"/>
            <a:pathLst>
              <a:path w="5105400" h="1162050">
                <a:moveTo>
                  <a:pt x="38100" y="0"/>
                </a:moveTo>
                <a:lnTo>
                  <a:pt x="4991101" y="0"/>
                </a:lnTo>
                <a:cubicBezTo>
                  <a:pt x="5054226" y="0"/>
                  <a:pt x="5105400" y="51174"/>
                  <a:pt x="5105400" y="114299"/>
                </a:cubicBezTo>
                <a:lnTo>
                  <a:pt x="5105400" y="1047751"/>
                </a:lnTo>
                <a:cubicBezTo>
                  <a:pt x="5105400" y="1110876"/>
                  <a:pt x="5054226" y="1162050"/>
                  <a:pt x="4991101" y="1162050"/>
                </a:cubicBezTo>
                <a:lnTo>
                  <a:pt x="38100" y="1162050"/>
                </a:lnTo>
                <a:cubicBezTo>
                  <a:pt x="17072" y="1162050"/>
                  <a:pt x="0" y="1144978"/>
                  <a:pt x="0" y="1123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67475" y="1990725"/>
            <a:ext cx="38100" cy="1162050"/>
          </a:xfrm>
          <a:custGeom>
            <a:avLst/>
            <a:gdLst/>
            <a:ahLst/>
            <a:cxnLst/>
            <a:rect l="l" t="t" r="r" b="b"/>
            <a:pathLst>
              <a:path w="38100" h="1162050">
                <a:moveTo>
                  <a:pt x="38100" y="0"/>
                </a:moveTo>
                <a:lnTo>
                  <a:pt x="38100" y="0"/>
                </a:lnTo>
                <a:lnTo>
                  <a:pt x="38100" y="1162050"/>
                </a:lnTo>
                <a:lnTo>
                  <a:pt x="38100" y="1162050"/>
                </a:lnTo>
                <a:cubicBezTo>
                  <a:pt x="17072" y="1162050"/>
                  <a:pt x="0" y="1144978"/>
                  <a:pt x="0" y="1123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1" name="Shape 19"/>
          <p:cNvSpPr/>
          <p:nvPr/>
        </p:nvSpPr>
        <p:spPr>
          <a:xfrm>
            <a:off x="6712744" y="22193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7029450" y="2181225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7025" y="2524125"/>
            <a:ext cx="47720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Terabytes de información de múltiples fuentes que proporcionan ejemplos suficientes para reducir errores y alcanzar alta precisión.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67475" y="3300413"/>
            <a:ext cx="5105400" cy="1162050"/>
          </a:xfrm>
          <a:custGeom>
            <a:avLst/>
            <a:gdLst/>
            <a:ahLst/>
            <a:cxnLst/>
            <a:rect l="l" t="t" r="r" b="b"/>
            <a:pathLst>
              <a:path w="5105400" h="1162050">
                <a:moveTo>
                  <a:pt x="38100" y="0"/>
                </a:moveTo>
                <a:lnTo>
                  <a:pt x="4991101" y="0"/>
                </a:lnTo>
                <a:cubicBezTo>
                  <a:pt x="5054226" y="0"/>
                  <a:pt x="5105400" y="51174"/>
                  <a:pt x="5105400" y="114299"/>
                </a:cubicBezTo>
                <a:lnTo>
                  <a:pt x="5105400" y="1047751"/>
                </a:lnTo>
                <a:cubicBezTo>
                  <a:pt x="5105400" y="1110876"/>
                  <a:pt x="5054226" y="1162050"/>
                  <a:pt x="4991101" y="1162050"/>
                </a:cubicBezTo>
                <a:lnTo>
                  <a:pt x="38100" y="1162050"/>
                </a:lnTo>
                <a:cubicBezTo>
                  <a:pt x="17072" y="1162050"/>
                  <a:pt x="0" y="1144978"/>
                  <a:pt x="0" y="1123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67475" y="3300413"/>
            <a:ext cx="38100" cy="1162050"/>
          </a:xfrm>
          <a:custGeom>
            <a:avLst/>
            <a:gdLst/>
            <a:ahLst/>
            <a:cxnLst/>
            <a:rect l="l" t="t" r="r" b="b"/>
            <a:pathLst>
              <a:path w="38100" h="1162050">
                <a:moveTo>
                  <a:pt x="38100" y="0"/>
                </a:moveTo>
                <a:lnTo>
                  <a:pt x="38100" y="0"/>
                </a:lnTo>
                <a:lnTo>
                  <a:pt x="38100" y="1162050"/>
                </a:lnTo>
                <a:lnTo>
                  <a:pt x="38100" y="1162050"/>
                </a:lnTo>
                <a:cubicBezTo>
                  <a:pt x="17072" y="1162050"/>
                  <a:pt x="0" y="1144978"/>
                  <a:pt x="0" y="1123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700838" y="35290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029450" y="3490913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Variedad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77025" y="3833812"/>
            <a:ext cx="47720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de diferentes tipos y fuentes (texto, imágenes, videos, sensores) que enriquecen el aprendizaje del modelo.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67475" y="4610100"/>
            <a:ext cx="5105400" cy="1162050"/>
          </a:xfrm>
          <a:custGeom>
            <a:avLst/>
            <a:gdLst/>
            <a:ahLst/>
            <a:cxnLst/>
            <a:rect l="l" t="t" r="r" b="b"/>
            <a:pathLst>
              <a:path w="5105400" h="1162050">
                <a:moveTo>
                  <a:pt x="38100" y="0"/>
                </a:moveTo>
                <a:lnTo>
                  <a:pt x="4991101" y="0"/>
                </a:lnTo>
                <a:cubicBezTo>
                  <a:pt x="5054226" y="0"/>
                  <a:pt x="5105400" y="51174"/>
                  <a:pt x="5105400" y="114299"/>
                </a:cubicBezTo>
                <a:lnTo>
                  <a:pt x="5105400" y="1047751"/>
                </a:lnTo>
                <a:cubicBezTo>
                  <a:pt x="5105400" y="1110876"/>
                  <a:pt x="5054226" y="1162050"/>
                  <a:pt x="4991101" y="1162050"/>
                </a:cubicBezTo>
                <a:lnTo>
                  <a:pt x="38100" y="1162050"/>
                </a:lnTo>
                <a:cubicBezTo>
                  <a:pt x="17072" y="1162050"/>
                  <a:pt x="0" y="1144978"/>
                  <a:pt x="0" y="1123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67475" y="4610100"/>
            <a:ext cx="38100" cy="1162050"/>
          </a:xfrm>
          <a:custGeom>
            <a:avLst/>
            <a:gdLst/>
            <a:ahLst/>
            <a:cxnLst/>
            <a:rect l="l" t="t" r="r" b="b"/>
            <a:pathLst>
              <a:path w="38100" h="1162050">
                <a:moveTo>
                  <a:pt x="38100" y="0"/>
                </a:moveTo>
                <a:lnTo>
                  <a:pt x="38100" y="0"/>
                </a:lnTo>
                <a:lnTo>
                  <a:pt x="38100" y="1162050"/>
                </a:lnTo>
                <a:lnTo>
                  <a:pt x="38100" y="1162050"/>
                </a:lnTo>
                <a:cubicBezTo>
                  <a:pt x="17072" y="1162050"/>
                  <a:pt x="0" y="1144978"/>
                  <a:pt x="0" y="1123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1" name="Shape 29"/>
          <p:cNvSpPr/>
          <p:nvPr/>
        </p:nvSpPr>
        <p:spPr>
          <a:xfrm>
            <a:off x="6700838" y="4838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7029450" y="4800600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Velocidad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7025" y="5143500"/>
            <a:ext cx="47720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Información que llega en tiempo real, permitiendo actualizaciones instantáneas y adaptación continua.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6200775"/>
            <a:ext cx="11420475" cy="619125"/>
          </a:xfrm>
          <a:custGeom>
            <a:avLst/>
            <a:gdLst/>
            <a:ahLst/>
            <a:cxnLst/>
            <a:rect l="l" t="t" r="r" b="b"/>
            <a:pathLst>
              <a:path w="11420475" h="619125">
                <a:moveTo>
                  <a:pt x="114303" y="0"/>
                </a:moveTo>
                <a:lnTo>
                  <a:pt x="11306172" y="0"/>
                </a:lnTo>
                <a:cubicBezTo>
                  <a:pt x="11369258" y="0"/>
                  <a:pt x="11420475" y="51217"/>
                  <a:pt x="11420475" y="114303"/>
                </a:cubicBezTo>
                <a:lnTo>
                  <a:pt x="11420475" y="504822"/>
                </a:lnTo>
                <a:cubicBezTo>
                  <a:pt x="11420475" y="567908"/>
                  <a:pt x="11369258" y="619125"/>
                  <a:pt x="11306172" y="619125"/>
                </a:cubicBezTo>
                <a:lnTo>
                  <a:pt x="114303" y="619125"/>
                </a:lnTo>
                <a:cubicBezTo>
                  <a:pt x="51217" y="619125"/>
                  <a:pt x="0" y="567908"/>
                  <a:pt x="0" y="5048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06961" y="6415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6" name="Text 34"/>
          <p:cNvSpPr/>
          <p:nvPr/>
        </p:nvSpPr>
        <p:spPr>
          <a:xfrm>
            <a:off x="3635573" y="6396038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Continuo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54241" y="6357938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692378" y="6415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020991" y="6396038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Learning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55235" y="6357938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69560" y="641508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2" name="Text 40"/>
          <p:cNvSpPr/>
          <p:nvPr/>
        </p:nvSpPr>
        <p:spPr>
          <a:xfrm>
            <a:off x="8021985" y="6396038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Adaptativa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Mayor Precisión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Aprender Patrones Ocultos: Mayor Precisión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6153150" cy="3190875"/>
          </a:xfrm>
          <a:custGeom>
            <a:avLst/>
            <a:gdLst/>
            <a:ahLst/>
            <a:cxnLst/>
            <a:rect l="l" t="t" r="r" b="b"/>
            <a:pathLst>
              <a:path w="6153150" h="3190875">
                <a:moveTo>
                  <a:pt x="152396" y="0"/>
                </a:moveTo>
                <a:lnTo>
                  <a:pt x="6000754" y="0"/>
                </a:lnTo>
                <a:cubicBezTo>
                  <a:pt x="6084920" y="0"/>
                  <a:pt x="6153150" y="68230"/>
                  <a:pt x="6153150" y="152396"/>
                </a:cubicBezTo>
                <a:lnTo>
                  <a:pt x="6153150" y="3038479"/>
                </a:lnTo>
                <a:cubicBezTo>
                  <a:pt x="6153150" y="3122645"/>
                  <a:pt x="6084920" y="3190875"/>
                  <a:pt x="6000754" y="3190875"/>
                </a:cubicBezTo>
                <a:lnTo>
                  <a:pt x="152396" y="3190875"/>
                </a:lnTo>
                <a:cubicBezTo>
                  <a:pt x="68230" y="3190875"/>
                  <a:pt x="0" y="3122645"/>
                  <a:pt x="0" y="303847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1525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1304925" y="149542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 Más Datos, Menos Errores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4925" y="1876425"/>
            <a:ext cx="50768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 más ejemplos de entrenamiento, el modelo reduce drásticamente sus errores. Big Data ofrece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volumen, variedad y velocidad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terabytes de información de muchas fuentes que llegan constantemente.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04925" y="2771775"/>
            <a:ext cx="5000625" cy="1447800"/>
          </a:xfrm>
          <a:custGeom>
            <a:avLst/>
            <a:gdLst/>
            <a:ahLst/>
            <a:cxnLst/>
            <a:rect l="l" t="t" r="r" b="b"/>
            <a:pathLst>
              <a:path w="5000625" h="1447800">
                <a:moveTo>
                  <a:pt x="114304" y="0"/>
                </a:moveTo>
                <a:lnTo>
                  <a:pt x="4886321" y="0"/>
                </a:lnTo>
                <a:cubicBezTo>
                  <a:pt x="4949449" y="0"/>
                  <a:pt x="5000625" y="51176"/>
                  <a:pt x="5000625" y="114304"/>
                </a:cubicBezTo>
                <a:lnTo>
                  <a:pt x="5000625" y="1333496"/>
                </a:lnTo>
                <a:cubicBezTo>
                  <a:pt x="5000625" y="1396624"/>
                  <a:pt x="4949449" y="1447800"/>
                  <a:pt x="4886321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57325" y="2962275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 con 1,000 imágenes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40313" y="2924175"/>
            <a:ext cx="40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57325" y="3305175"/>
            <a:ext cx="4695825" cy="114300"/>
          </a:xfrm>
          <a:custGeom>
            <a:avLst/>
            <a:gdLst/>
            <a:ahLst/>
            <a:cxnLst/>
            <a:rect l="l" t="t" r="r" b="b"/>
            <a:pathLst>
              <a:path w="4695825" h="114300">
                <a:moveTo>
                  <a:pt x="57150" y="0"/>
                </a:moveTo>
                <a:lnTo>
                  <a:pt x="4638675" y="0"/>
                </a:lnTo>
                <a:cubicBezTo>
                  <a:pt x="4670217" y="0"/>
                  <a:pt x="4695825" y="25608"/>
                  <a:pt x="4695825" y="57150"/>
                </a:cubicBezTo>
                <a:lnTo>
                  <a:pt x="4695825" y="57150"/>
                </a:lnTo>
                <a:cubicBezTo>
                  <a:pt x="4695825" y="88692"/>
                  <a:pt x="4670217" y="114300"/>
                  <a:pt x="46386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B7280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57325" y="3305175"/>
            <a:ext cx="3524250" cy="114300"/>
          </a:xfrm>
          <a:custGeom>
            <a:avLst/>
            <a:gdLst/>
            <a:ahLst/>
            <a:cxnLst/>
            <a:rect l="l" t="t" r="r" b="b"/>
            <a:pathLst>
              <a:path w="3524250" h="114300">
                <a:moveTo>
                  <a:pt x="57150" y="0"/>
                </a:moveTo>
                <a:lnTo>
                  <a:pt x="3467100" y="0"/>
                </a:lnTo>
                <a:cubicBezTo>
                  <a:pt x="3498642" y="0"/>
                  <a:pt x="3524250" y="25608"/>
                  <a:pt x="3524250" y="57150"/>
                </a:cubicBezTo>
                <a:lnTo>
                  <a:pt x="3524250" y="57150"/>
                </a:lnTo>
                <a:cubicBezTo>
                  <a:pt x="3524250" y="88692"/>
                  <a:pt x="3498642" y="114300"/>
                  <a:pt x="34671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457325" y="3609975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 con millones de imágenes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36431" y="3571875"/>
            <a:ext cx="50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99%+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57325" y="3952875"/>
            <a:ext cx="4695825" cy="114300"/>
          </a:xfrm>
          <a:custGeom>
            <a:avLst/>
            <a:gdLst/>
            <a:ahLst/>
            <a:cxnLst/>
            <a:rect l="l" t="t" r="r" b="b"/>
            <a:pathLst>
              <a:path w="4695825" h="114300">
                <a:moveTo>
                  <a:pt x="57150" y="0"/>
                </a:moveTo>
                <a:lnTo>
                  <a:pt x="4638675" y="0"/>
                </a:lnTo>
                <a:cubicBezTo>
                  <a:pt x="4670217" y="0"/>
                  <a:pt x="4695825" y="25608"/>
                  <a:pt x="4695825" y="57150"/>
                </a:cubicBezTo>
                <a:lnTo>
                  <a:pt x="4695825" y="57150"/>
                </a:lnTo>
                <a:cubicBezTo>
                  <a:pt x="4695825" y="88692"/>
                  <a:pt x="4670217" y="114300"/>
                  <a:pt x="46386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B7280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57325" y="3952875"/>
            <a:ext cx="4648200" cy="114300"/>
          </a:xfrm>
          <a:custGeom>
            <a:avLst/>
            <a:gdLst/>
            <a:ahLst/>
            <a:cxnLst/>
            <a:rect l="l" t="t" r="r" b="b"/>
            <a:pathLst>
              <a:path w="4648200" h="114300">
                <a:moveTo>
                  <a:pt x="57150" y="0"/>
                </a:moveTo>
                <a:lnTo>
                  <a:pt x="4591050" y="0"/>
                </a:lnTo>
                <a:cubicBezTo>
                  <a:pt x="4622592" y="0"/>
                  <a:pt x="4648200" y="25608"/>
                  <a:pt x="4648200" y="57150"/>
                </a:cubicBezTo>
                <a:lnTo>
                  <a:pt x="4648200" y="57150"/>
                </a:lnTo>
                <a:cubicBezTo>
                  <a:pt x="4648200" y="88692"/>
                  <a:pt x="4622592" y="114300"/>
                  <a:pt x="45910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4648200"/>
            <a:ext cx="6143625" cy="1714500"/>
          </a:xfrm>
          <a:custGeom>
            <a:avLst/>
            <a:gdLst/>
            <a:ahLst/>
            <a:cxnLst/>
            <a:rect l="l" t="t" r="r" b="b"/>
            <a:pathLst>
              <a:path w="6143625" h="1714500">
                <a:moveTo>
                  <a:pt x="0" y="0"/>
                </a:moveTo>
                <a:lnTo>
                  <a:pt x="6029319" y="0"/>
                </a:lnTo>
                <a:cubicBezTo>
                  <a:pt x="6092449" y="0"/>
                  <a:pt x="6143625" y="51176"/>
                  <a:pt x="6143625" y="114306"/>
                </a:cubicBezTo>
                <a:lnTo>
                  <a:pt x="6143625" y="1600194"/>
                </a:lnTo>
                <a:cubicBezTo>
                  <a:pt x="6143625" y="1663324"/>
                  <a:pt x="6092449" y="1714500"/>
                  <a:pt x="6029319" y="1714500"/>
                </a:cubicBez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46482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4838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2950" y="4972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219200" y="483870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Ejemplo: Reconocimiento de Gatos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9200" y="5181600"/>
            <a:ext cx="52101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modelo entrenado con solo 1,000 fotos podría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confundir un gato persa con un conejo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Pero con millones de imágenes de Big Data (redes sociales, cámaras, etc.), aprende detalles finos como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formas de orejas, texturas de pelo o poses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alcanzando precisiones del 99% o más.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75103" y="1262063"/>
            <a:ext cx="5029200" cy="4467225"/>
          </a:xfrm>
          <a:custGeom>
            <a:avLst/>
            <a:gdLst/>
            <a:ahLst/>
            <a:cxnLst/>
            <a:rect l="l" t="t" r="r" b="b"/>
            <a:pathLst>
              <a:path w="5029200" h="4467225">
                <a:moveTo>
                  <a:pt x="152422" y="0"/>
                </a:moveTo>
                <a:lnTo>
                  <a:pt x="4876778" y="0"/>
                </a:lnTo>
                <a:cubicBezTo>
                  <a:pt x="4960958" y="0"/>
                  <a:pt x="5029200" y="68242"/>
                  <a:pt x="5029200" y="152422"/>
                </a:cubicBezTo>
                <a:lnTo>
                  <a:pt x="5029200" y="4314803"/>
                </a:lnTo>
                <a:cubicBezTo>
                  <a:pt x="5029200" y="4398983"/>
                  <a:pt x="4960958" y="4467225"/>
                  <a:pt x="4876778" y="4467225"/>
                </a:cubicBezTo>
                <a:lnTo>
                  <a:pt x="152422" y="4467225"/>
                </a:lnTo>
                <a:cubicBezTo>
                  <a:pt x="68242" y="4467225"/>
                  <a:pt x="0" y="4398983"/>
                  <a:pt x="0" y="4314803"/>
                </a:cubicBezTo>
                <a:lnTo>
                  <a:pt x="0" y="152422"/>
                </a:lnTo>
                <a:cubicBezTo>
                  <a:pt x="0" y="68298"/>
                  <a:pt x="68298" y="0"/>
                  <a:pt x="152422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0840" y="1495425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Fuentes de Big Data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08465" y="1914525"/>
            <a:ext cx="4562475" cy="762000"/>
          </a:xfrm>
          <a:custGeom>
            <a:avLst/>
            <a:gdLst/>
            <a:ahLst/>
            <a:cxnLst/>
            <a:rect l="l" t="t" r="r" b="b"/>
            <a:pathLst>
              <a:path w="4562475" h="762000">
                <a:moveTo>
                  <a:pt x="114300" y="0"/>
                </a:moveTo>
                <a:lnTo>
                  <a:pt x="4448175" y="0"/>
                </a:lnTo>
                <a:cubicBezTo>
                  <a:pt x="4511259" y="0"/>
                  <a:pt x="4562475" y="51216"/>
                  <a:pt x="4562475" y="114300"/>
                </a:cubicBezTo>
                <a:lnTo>
                  <a:pt x="4562475" y="647700"/>
                </a:lnTo>
                <a:cubicBezTo>
                  <a:pt x="4562475" y="710784"/>
                  <a:pt x="4511259" y="762000"/>
                  <a:pt x="4448175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160865" y="2066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94215" y="2200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7770465" y="2085975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 Sociales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70465" y="2314575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Millones de fotos compartidas diariamente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08465" y="2790825"/>
            <a:ext cx="4562475" cy="762000"/>
          </a:xfrm>
          <a:custGeom>
            <a:avLst/>
            <a:gdLst/>
            <a:ahLst/>
            <a:cxnLst/>
            <a:rect l="l" t="t" r="r" b="b"/>
            <a:pathLst>
              <a:path w="4562475" h="762000">
                <a:moveTo>
                  <a:pt x="114300" y="0"/>
                </a:moveTo>
                <a:lnTo>
                  <a:pt x="4448175" y="0"/>
                </a:lnTo>
                <a:cubicBezTo>
                  <a:pt x="4511259" y="0"/>
                  <a:pt x="4562475" y="51216"/>
                  <a:pt x="4562475" y="114300"/>
                </a:cubicBezTo>
                <a:lnTo>
                  <a:pt x="4562475" y="647700"/>
                </a:lnTo>
                <a:cubicBezTo>
                  <a:pt x="4562475" y="710784"/>
                  <a:pt x="4511259" y="762000"/>
                  <a:pt x="4448175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60865" y="2943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282309" y="3076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7770465" y="2962275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Cámaras de Seguridad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70465" y="3190875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visuales en tiempo real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008465" y="3667125"/>
            <a:ext cx="4562475" cy="762000"/>
          </a:xfrm>
          <a:custGeom>
            <a:avLst/>
            <a:gdLst/>
            <a:ahLst/>
            <a:cxnLst/>
            <a:rect l="l" t="t" r="r" b="b"/>
            <a:pathLst>
              <a:path w="4562475" h="762000">
                <a:moveTo>
                  <a:pt x="114300" y="0"/>
                </a:moveTo>
                <a:lnTo>
                  <a:pt x="4448175" y="0"/>
                </a:lnTo>
                <a:cubicBezTo>
                  <a:pt x="4511259" y="0"/>
                  <a:pt x="4562475" y="51216"/>
                  <a:pt x="4562475" y="114300"/>
                </a:cubicBezTo>
                <a:lnTo>
                  <a:pt x="4562475" y="647700"/>
                </a:lnTo>
                <a:cubicBezTo>
                  <a:pt x="4562475" y="710784"/>
                  <a:pt x="4511259" y="762000"/>
                  <a:pt x="4448175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160865" y="3819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18028" y="39528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0" name="Text 38"/>
          <p:cNvSpPr/>
          <p:nvPr/>
        </p:nvSpPr>
        <p:spPr>
          <a:xfrm>
            <a:off x="7770465" y="3838575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Dispositivos Móviles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70465" y="4067175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Fotos y videos de usuarios globales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008465" y="4543425"/>
            <a:ext cx="4562475" cy="762000"/>
          </a:xfrm>
          <a:custGeom>
            <a:avLst/>
            <a:gdLst/>
            <a:ahLst/>
            <a:cxnLst/>
            <a:rect l="l" t="t" r="r" b="b"/>
            <a:pathLst>
              <a:path w="4562475" h="762000">
                <a:moveTo>
                  <a:pt x="114300" y="0"/>
                </a:moveTo>
                <a:lnTo>
                  <a:pt x="4448175" y="0"/>
                </a:lnTo>
                <a:cubicBezTo>
                  <a:pt x="4511259" y="0"/>
                  <a:pt x="4562475" y="51216"/>
                  <a:pt x="4562475" y="114300"/>
                </a:cubicBezTo>
                <a:lnTo>
                  <a:pt x="4562475" y="647700"/>
                </a:lnTo>
                <a:cubicBezTo>
                  <a:pt x="4562475" y="710784"/>
                  <a:pt x="4511259" y="762000"/>
                  <a:pt x="4448175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60865" y="4695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294215" y="4829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042" y="2604"/>
                </a:moveTo>
                <a:cubicBezTo>
                  <a:pt x="77539" y="-893"/>
                  <a:pt x="83195" y="-893"/>
                  <a:pt x="86655" y="2604"/>
                </a:cubicBezTo>
                <a:lnTo>
                  <a:pt x="119918" y="35868"/>
                </a:lnTo>
                <a:lnTo>
                  <a:pt x="140382" y="15404"/>
                </a:lnTo>
                <a:cubicBezTo>
                  <a:pt x="145033" y="10753"/>
                  <a:pt x="152586" y="10753"/>
                  <a:pt x="157237" y="15404"/>
                </a:cubicBezTo>
                <a:lnTo>
                  <a:pt x="175096" y="33263"/>
                </a:lnTo>
                <a:cubicBezTo>
                  <a:pt x="179747" y="37914"/>
                  <a:pt x="179747" y="45467"/>
                  <a:pt x="175096" y="50118"/>
                </a:cubicBezTo>
                <a:lnTo>
                  <a:pt x="154632" y="70582"/>
                </a:lnTo>
                <a:lnTo>
                  <a:pt x="187896" y="103845"/>
                </a:lnTo>
                <a:cubicBezTo>
                  <a:pt x="191393" y="107342"/>
                  <a:pt x="191393" y="112998"/>
                  <a:pt x="187896" y="116458"/>
                </a:cubicBezTo>
                <a:lnTo>
                  <a:pt x="152177" y="152177"/>
                </a:lnTo>
                <a:cubicBezTo>
                  <a:pt x="148679" y="155674"/>
                  <a:pt x="143024" y="155674"/>
                  <a:pt x="139564" y="152177"/>
                </a:cubicBezTo>
                <a:lnTo>
                  <a:pt x="106300" y="118914"/>
                </a:lnTo>
                <a:lnTo>
                  <a:pt x="100533" y="124681"/>
                </a:lnTo>
                <a:cubicBezTo>
                  <a:pt x="104775" y="133834"/>
                  <a:pt x="107156" y="144028"/>
                  <a:pt x="107156" y="154781"/>
                </a:cubicBezTo>
                <a:cubicBezTo>
                  <a:pt x="107156" y="166576"/>
                  <a:pt x="104291" y="177664"/>
                  <a:pt x="99268" y="187449"/>
                </a:cubicBezTo>
                <a:cubicBezTo>
                  <a:pt x="97520" y="190798"/>
                  <a:pt x="93055" y="191281"/>
                  <a:pt x="90413" y="188602"/>
                </a:cubicBezTo>
                <a:lnTo>
                  <a:pt x="54583" y="152772"/>
                </a:lnTo>
                <a:lnTo>
                  <a:pt x="32258" y="175096"/>
                </a:lnTo>
                <a:cubicBezTo>
                  <a:pt x="27608" y="179747"/>
                  <a:pt x="20055" y="179747"/>
                  <a:pt x="15404" y="175096"/>
                </a:cubicBezTo>
                <a:cubicBezTo>
                  <a:pt x="10753" y="170445"/>
                  <a:pt x="10753" y="162892"/>
                  <a:pt x="15404" y="158242"/>
                </a:cubicBezTo>
                <a:lnTo>
                  <a:pt x="37728" y="135917"/>
                </a:lnTo>
                <a:lnTo>
                  <a:pt x="1898" y="100087"/>
                </a:lnTo>
                <a:cubicBezTo>
                  <a:pt x="-781" y="97408"/>
                  <a:pt x="-298" y="92943"/>
                  <a:pt x="3051" y="91232"/>
                </a:cubicBezTo>
                <a:cubicBezTo>
                  <a:pt x="12836" y="86171"/>
                  <a:pt x="23961" y="83344"/>
                  <a:pt x="35719" y="83344"/>
                </a:cubicBezTo>
                <a:cubicBezTo>
                  <a:pt x="46472" y="83344"/>
                  <a:pt x="56666" y="85725"/>
                  <a:pt x="65819" y="89967"/>
                </a:cubicBezTo>
                <a:lnTo>
                  <a:pt x="71586" y="84200"/>
                </a:lnTo>
                <a:lnTo>
                  <a:pt x="38323" y="50974"/>
                </a:lnTo>
                <a:cubicBezTo>
                  <a:pt x="34826" y="47476"/>
                  <a:pt x="34826" y="41821"/>
                  <a:pt x="38323" y="38360"/>
                </a:cubicBezTo>
                <a:lnTo>
                  <a:pt x="74042" y="2604"/>
                </a:lnTo>
                <a:close/>
                <a:moveTo>
                  <a:pt x="80367" y="21543"/>
                </a:moveTo>
                <a:lnTo>
                  <a:pt x="57262" y="44648"/>
                </a:lnTo>
                <a:lnTo>
                  <a:pt x="84200" y="71586"/>
                </a:lnTo>
                <a:lnTo>
                  <a:pt x="107305" y="48481"/>
                </a:lnTo>
                <a:lnTo>
                  <a:pt x="80367" y="21543"/>
                </a:lnTo>
                <a:close/>
                <a:moveTo>
                  <a:pt x="145852" y="133238"/>
                </a:moveTo>
                <a:lnTo>
                  <a:pt x="168957" y="110133"/>
                </a:lnTo>
                <a:lnTo>
                  <a:pt x="142019" y="83195"/>
                </a:lnTo>
                <a:lnTo>
                  <a:pt x="118914" y="106300"/>
                </a:lnTo>
                <a:lnTo>
                  <a:pt x="145852" y="13323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7770465" y="471487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Sensores IoT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70465" y="4943475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ambientales y contextuales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75103" y="5929313"/>
            <a:ext cx="5029200" cy="542925"/>
          </a:xfrm>
          <a:custGeom>
            <a:avLst/>
            <a:gdLst/>
            <a:ahLst/>
            <a:cxnLst/>
            <a:rect l="l" t="t" r="r" b="b"/>
            <a:pathLst>
              <a:path w="5029200" h="542925">
                <a:moveTo>
                  <a:pt x="114302" y="0"/>
                </a:moveTo>
                <a:lnTo>
                  <a:pt x="4914898" y="0"/>
                </a:lnTo>
                <a:cubicBezTo>
                  <a:pt x="4978025" y="0"/>
                  <a:pt x="5029200" y="51175"/>
                  <a:pt x="5029200" y="114302"/>
                </a:cubicBezTo>
                <a:lnTo>
                  <a:pt x="5029200" y="428623"/>
                </a:lnTo>
                <a:cubicBezTo>
                  <a:pt x="5029200" y="491750"/>
                  <a:pt x="4978025" y="542925"/>
                  <a:pt x="4914898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20000"/>
                </a:srgbClr>
              </a:gs>
              <a:gs pos="100000">
                <a:srgbClr val="F59E0B">
                  <a:alpha val="20000"/>
                </a:srgbClr>
              </a:gs>
            </a:gsLst>
            <a:lin ang="0" scaled="1"/>
          </a:gra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74260" y="60864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7517160" y="6086475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IA detecta detalles que un humano tardaría años en notar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Aplicaciones Reales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Patrones Ocultos en la Práctica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591175" cy="4400550"/>
          </a:xfrm>
          <a:custGeom>
            <a:avLst/>
            <a:gdLst/>
            <a:ahLst/>
            <a:cxnLst/>
            <a:rect l="l" t="t" r="r" b="b"/>
            <a:pathLst>
              <a:path w="5591175" h="4400550">
                <a:moveTo>
                  <a:pt x="152391" y="0"/>
                </a:moveTo>
                <a:lnTo>
                  <a:pt x="5438784" y="0"/>
                </a:lnTo>
                <a:cubicBezTo>
                  <a:pt x="5522947" y="0"/>
                  <a:pt x="5591175" y="68228"/>
                  <a:pt x="5591175" y="152391"/>
                </a:cubicBezTo>
                <a:lnTo>
                  <a:pt x="5591175" y="4248159"/>
                </a:lnTo>
                <a:cubicBezTo>
                  <a:pt x="5591175" y="4332322"/>
                  <a:pt x="5522947" y="4400550"/>
                  <a:pt x="5438784" y="4400550"/>
                </a:cubicBezTo>
                <a:lnTo>
                  <a:pt x="152391" y="4400550"/>
                </a:lnTo>
                <a:cubicBezTo>
                  <a:pt x="68228" y="4400550"/>
                  <a:pt x="0" y="4332322"/>
                  <a:pt x="0" y="424815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495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3431" y="16573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60220"/>
                </a:moveTo>
                <a:lnTo>
                  <a:pt x="134503" y="48611"/>
                </a:lnTo>
                <a:cubicBezTo>
                  <a:pt x="120551" y="29301"/>
                  <a:pt x="98171" y="17859"/>
                  <a:pt x="74284" y="17859"/>
                </a:cubicBezTo>
                <a:cubicBezTo>
                  <a:pt x="33263" y="17859"/>
                  <a:pt x="0" y="51122"/>
                  <a:pt x="0" y="92143"/>
                </a:cubicBezTo>
                <a:lnTo>
                  <a:pt x="0" y="93594"/>
                </a:lnTo>
                <a:cubicBezTo>
                  <a:pt x="0" y="106766"/>
                  <a:pt x="3460" y="120383"/>
                  <a:pt x="9265" y="133945"/>
                </a:cubicBezTo>
                <a:lnTo>
                  <a:pt x="68424" y="133945"/>
                </a:lnTo>
                <a:cubicBezTo>
                  <a:pt x="70210" y="133945"/>
                  <a:pt x="71828" y="132885"/>
                  <a:pt x="72554" y="131211"/>
                </a:cubicBezTo>
                <a:lnTo>
                  <a:pt x="90301" y="88627"/>
                </a:lnTo>
                <a:cubicBezTo>
                  <a:pt x="92366" y="83716"/>
                  <a:pt x="97166" y="80479"/>
                  <a:pt x="102468" y="80367"/>
                </a:cubicBezTo>
                <a:cubicBezTo>
                  <a:pt x="107770" y="80256"/>
                  <a:pt x="112681" y="83381"/>
                  <a:pt x="114858" y="88236"/>
                </a:cubicBezTo>
                <a:lnTo>
                  <a:pt x="143489" y="151805"/>
                </a:lnTo>
                <a:lnTo>
                  <a:pt x="166594" y="105594"/>
                </a:lnTo>
                <a:cubicBezTo>
                  <a:pt x="168883" y="101073"/>
                  <a:pt x="173515" y="98171"/>
                  <a:pt x="178594" y="98171"/>
                </a:cubicBezTo>
                <a:cubicBezTo>
                  <a:pt x="183673" y="98171"/>
                  <a:pt x="188305" y="101017"/>
                  <a:pt x="190593" y="105594"/>
                </a:cubicBezTo>
                <a:lnTo>
                  <a:pt x="203541" y="131434"/>
                </a:lnTo>
                <a:cubicBezTo>
                  <a:pt x="204322" y="132941"/>
                  <a:pt x="205829" y="133890"/>
                  <a:pt x="207559" y="133890"/>
                </a:cubicBezTo>
                <a:lnTo>
                  <a:pt x="276541" y="133890"/>
                </a:lnTo>
                <a:cubicBezTo>
                  <a:pt x="282401" y="120328"/>
                  <a:pt x="285806" y="106710"/>
                  <a:pt x="285806" y="93538"/>
                </a:cubicBezTo>
                <a:lnTo>
                  <a:pt x="285806" y="92087"/>
                </a:lnTo>
                <a:cubicBezTo>
                  <a:pt x="285750" y="51122"/>
                  <a:pt x="252487" y="17859"/>
                  <a:pt x="211466" y="17859"/>
                </a:cubicBezTo>
                <a:cubicBezTo>
                  <a:pt x="187635" y="17859"/>
                  <a:pt x="165199" y="29301"/>
                  <a:pt x="151247" y="48611"/>
                </a:cubicBezTo>
                <a:lnTo>
                  <a:pt x="142875" y="60164"/>
                </a:lnTo>
                <a:close/>
                <a:moveTo>
                  <a:pt x="262086" y="160734"/>
                </a:moveTo>
                <a:lnTo>
                  <a:pt x="207504" y="160734"/>
                </a:lnTo>
                <a:cubicBezTo>
                  <a:pt x="195672" y="160734"/>
                  <a:pt x="184845" y="154037"/>
                  <a:pt x="179543" y="143433"/>
                </a:cubicBezTo>
                <a:lnTo>
                  <a:pt x="178594" y="141536"/>
                </a:lnTo>
                <a:lnTo>
                  <a:pt x="154874" y="189030"/>
                </a:lnTo>
                <a:cubicBezTo>
                  <a:pt x="152586" y="193663"/>
                  <a:pt x="147786" y="196565"/>
                  <a:pt x="142596" y="196453"/>
                </a:cubicBezTo>
                <a:cubicBezTo>
                  <a:pt x="137406" y="196342"/>
                  <a:pt x="132773" y="193272"/>
                  <a:pt x="130652" y="188584"/>
                </a:cubicBezTo>
                <a:lnTo>
                  <a:pt x="103138" y="127471"/>
                </a:lnTo>
                <a:lnTo>
                  <a:pt x="97278" y="141536"/>
                </a:lnTo>
                <a:cubicBezTo>
                  <a:pt x="92422" y="153200"/>
                  <a:pt x="81037" y="160790"/>
                  <a:pt x="68424" y="160790"/>
                </a:cubicBezTo>
                <a:lnTo>
                  <a:pt x="23664" y="160790"/>
                </a:lnTo>
                <a:cubicBezTo>
                  <a:pt x="50006" y="201978"/>
                  <a:pt x="92311" y="239874"/>
                  <a:pt x="118765" y="260077"/>
                </a:cubicBezTo>
                <a:cubicBezTo>
                  <a:pt x="125685" y="265323"/>
                  <a:pt x="134169" y="267946"/>
                  <a:pt x="142819" y="267946"/>
                </a:cubicBezTo>
                <a:cubicBezTo>
                  <a:pt x="151470" y="267946"/>
                  <a:pt x="160009" y="265379"/>
                  <a:pt x="166874" y="260077"/>
                </a:cubicBezTo>
                <a:cubicBezTo>
                  <a:pt x="193439" y="239818"/>
                  <a:pt x="235744" y="201923"/>
                  <a:pt x="262086" y="160734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1552575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Medicina Predictiva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1125" y="1857375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Detección temprana de enfermedades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" y="2295525"/>
            <a:ext cx="5124450" cy="1047750"/>
          </a:xfrm>
          <a:custGeom>
            <a:avLst/>
            <a:gdLst/>
            <a:ahLst/>
            <a:cxnLst/>
            <a:rect l="l" t="t" r="r" b="b"/>
            <a:pathLst>
              <a:path w="5124450" h="1047750">
                <a:moveTo>
                  <a:pt x="114299" y="0"/>
                </a:moveTo>
                <a:lnTo>
                  <a:pt x="5010151" y="0"/>
                </a:lnTo>
                <a:cubicBezTo>
                  <a:pt x="5073277" y="0"/>
                  <a:pt x="5124450" y="51173"/>
                  <a:pt x="5124450" y="114299"/>
                </a:cubicBezTo>
                <a:lnTo>
                  <a:pt x="5124450" y="933451"/>
                </a:lnTo>
                <a:cubicBezTo>
                  <a:pt x="5124450" y="996577"/>
                  <a:pt x="5073277" y="1047750"/>
                  <a:pt x="50101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" y="2486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" y="2447925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Médico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1525" y="2752725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Millones de registros anónimos de pacientes: historiales clínicos, imágenes médicas, genomas, resultados de laboratorio.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" y="3490913"/>
            <a:ext cx="5124450" cy="1047750"/>
          </a:xfrm>
          <a:custGeom>
            <a:avLst/>
            <a:gdLst/>
            <a:ahLst/>
            <a:cxnLst/>
            <a:rect l="l" t="t" r="r" b="b"/>
            <a:pathLst>
              <a:path w="5124450" h="1047750">
                <a:moveTo>
                  <a:pt x="114299" y="0"/>
                </a:moveTo>
                <a:lnTo>
                  <a:pt x="5010151" y="0"/>
                </a:lnTo>
                <a:cubicBezTo>
                  <a:pt x="5073277" y="0"/>
                  <a:pt x="5124450" y="51173"/>
                  <a:pt x="5124450" y="114299"/>
                </a:cubicBezTo>
                <a:lnTo>
                  <a:pt x="5124450" y="933451"/>
                </a:lnTo>
                <a:cubicBezTo>
                  <a:pt x="5124450" y="996577"/>
                  <a:pt x="5073277" y="1047750"/>
                  <a:pt x="50101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0575" y="36814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62025" y="3643313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Patrones Detectados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1525" y="3948112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IA encuentra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relaciones sutiles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entre síntomas aparentemente no relacionados, permitiendo predecir riesgos antes de que aparezcan síntomas obvios.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8175" y="4686300"/>
            <a:ext cx="5105400" cy="742950"/>
          </a:xfrm>
          <a:custGeom>
            <a:avLst/>
            <a:gdLst/>
            <a:ahLst/>
            <a:cxnLst/>
            <a:rect l="l" t="t" r="r" b="b"/>
            <a:pathLst>
              <a:path w="5105400" h="742950">
                <a:moveTo>
                  <a:pt x="0" y="0"/>
                </a:moveTo>
                <a:lnTo>
                  <a:pt x="4991097" y="0"/>
                </a:lnTo>
                <a:cubicBezTo>
                  <a:pt x="5054183" y="0"/>
                  <a:pt x="5105400" y="51217"/>
                  <a:pt x="5105400" y="114303"/>
                </a:cubicBezTo>
                <a:lnTo>
                  <a:pt x="5105400" y="628647"/>
                </a:lnTo>
                <a:cubicBezTo>
                  <a:pt x="5105400" y="691733"/>
                  <a:pt x="5054183" y="742950"/>
                  <a:pt x="4991097" y="742950"/>
                </a:cubicBez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638175" y="4686300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809625" y="4838700"/>
            <a:ext cx="4848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Ejemplo: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Detectar patrones tempranos de cáncer en rayos X que un doctor podría pasar por alto, mejorando las tasas de supervivencia.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5063" y="1262063"/>
            <a:ext cx="5591175" cy="4400550"/>
          </a:xfrm>
          <a:custGeom>
            <a:avLst/>
            <a:gdLst/>
            <a:ahLst/>
            <a:cxnLst/>
            <a:rect l="l" t="t" r="r" b="b"/>
            <a:pathLst>
              <a:path w="5591175" h="4400550">
                <a:moveTo>
                  <a:pt x="152391" y="0"/>
                </a:moveTo>
                <a:lnTo>
                  <a:pt x="5438784" y="0"/>
                </a:lnTo>
                <a:cubicBezTo>
                  <a:pt x="5522947" y="0"/>
                  <a:pt x="5591175" y="68228"/>
                  <a:pt x="5591175" y="152391"/>
                </a:cubicBezTo>
                <a:lnTo>
                  <a:pt x="5591175" y="4248159"/>
                </a:lnTo>
                <a:cubicBezTo>
                  <a:pt x="5591175" y="4332322"/>
                  <a:pt x="5522947" y="4400550"/>
                  <a:pt x="5438784" y="4400550"/>
                </a:cubicBezTo>
                <a:lnTo>
                  <a:pt x="152391" y="4400550"/>
                </a:lnTo>
                <a:cubicBezTo>
                  <a:pt x="68228" y="4400550"/>
                  <a:pt x="0" y="4332322"/>
                  <a:pt x="0" y="424815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8425" y="1495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30591" y="16573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53578"/>
                </a:moveTo>
                <a:cubicBezTo>
                  <a:pt x="0" y="33877"/>
                  <a:pt x="16018" y="17859"/>
                  <a:pt x="35719" y="17859"/>
                </a:cubicBezTo>
                <a:lnTo>
                  <a:pt x="214313" y="17859"/>
                </a:lnTo>
                <a:cubicBezTo>
                  <a:pt x="234014" y="17859"/>
                  <a:pt x="250031" y="33877"/>
                  <a:pt x="250031" y="5357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53578"/>
                </a:lnTo>
                <a:close/>
                <a:moveTo>
                  <a:pt x="26789" y="205383"/>
                </a:moveTo>
                <a:lnTo>
                  <a:pt x="26789" y="223242"/>
                </a:lnTo>
                <a:cubicBezTo>
                  <a:pt x="26789" y="228154"/>
                  <a:pt x="30807" y="232172"/>
                  <a:pt x="35719" y="232172"/>
                </a:cubicBezTo>
                <a:lnTo>
                  <a:pt x="53578" y="232172"/>
                </a:lnTo>
                <a:cubicBezTo>
                  <a:pt x="58489" y="232172"/>
                  <a:pt x="62508" y="228154"/>
                  <a:pt x="62508" y="223242"/>
                </a:cubicBezTo>
                <a:lnTo>
                  <a:pt x="62508" y="205383"/>
                </a:lnTo>
                <a:cubicBezTo>
                  <a:pt x="62508" y="200471"/>
                  <a:pt x="58489" y="196453"/>
                  <a:pt x="53578" y="196453"/>
                </a:cubicBezTo>
                <a:lnTo>
                  <a:pt x="35719" y="196453"/>
                </a:lnTo>
                <a:cubicBezTo>
                  <a:pt x="30807" y="196453"/>
                  <a:pt x="26789" y="200471"/>
                  <a:pt x="26789" y="205383"/>
                </a:cubicBezTo>
                <a:close/>
                <a:moveTo>
                  <a:pt x="196453" y="196453"/>
                </a:moveTo>
                <a:cubicBezTo>
                  <a:pt x="191542" y="196453"/>
                  <a:pt x="187523" y="200471"/>
                  <a:pt x="187523" y="205383"/>
                </a:cubicBezTo>
                <a:lnTo>
                  <a:pt x="187523" y="223242"/>
                </a:lnTo>
                <a:cubicBezTo>
                  <a:pt x="187523" y="228154"/>
                  <a:pt x="191542" y="232172"/>
                  <a:pt x="196453" y="232172"/>
                </a:cubicBezTo>
                <a:lnTo>
                  <a:pt x="214313" y="232172"/>
                </a:lnTo>
                <a:cubicBezTo>
                  <a:pt x="219224" y="232172"/>
                  <a:pt x="223242" y="228154"/>
                  <a:pt x="223242" y="223242"/>
                </a:cubicBezTo>
                <a:lnTo>
                  <a:pt x="223242" y="205383"/>
                </a:lnTo>
                <a:cubicBezTo>
                  <a:pt x="223242" y="200471"/>
                  <a:pt x="219224" y="196453"/>
                  <a:pt x="214313" y="196453"/>
                </a:cubicBezTo>
                <a:lnTo>
                  <a:pt x="196453" y="196453"/>
                </a:lnTo>
                <a:close/>
                <a:moveTo>
                  <a:pt x="26789" y="133945"/>
                </a:moveTo>
                <a:lnTo>
                  <a:pt x="26789" y="151805"/>
                </a:lnTo>
                <a:cubicBezTo>
                  <a:pt x="26789" y="156716"/>
                  <a:pt x="30807" y="160734"/>
                  <a:pt x="35719" y="160734"/>
                </a:cubicBezTo>
                <a:lnTo>
                  <a:pt x="53578" y="160734"/>
                </a:lnTo>
                <a:cubicBezTo>
                  <a:pt x="58489" y="160734"/>
                  <a:pt x="62508" y="156716"/>
                  <a:pt x="62508" y="151805"/>
                </a:cubicBezTo>
                <a:lnTo>
                  <a:pt x="62508" y="133945"/>
                </a:lnTo>
                <a:cubicBezTo>
                  <a:pt x="62508" y="129034"/>
                  <a:pt x="58489" y="125016"/>
                  <a:pt x="53578" y="125016"/>
                </a:cubicBezTo>
                <a:lnTo>
                  <a:pt x="35719" y="125016"/>
                </a:lnTo>
                <a:cubicBezTo>
                  <a:pt x="30807" y="125016"/>
                  <a:pt x="26789" y="129034"/>
                  <a:pt x="26789" y="133945"/>
                </a:cubicBezTo>
                <a:close/>
                <a:moveTo>
                  <a:pt x="196453" y="125016"/>
                </a:moveTo>
                <a:cubicBezTo>
                  <a:pt x="191542" y="125016"/>
                  <a:pt x="187523" y="129034"/>
                  <a:pt x="187523" y="133945"/>
                </a:cubicBezTo>
                <a:lnTo>
                  <a:pt x="187523" y="151805"/>
                </a:lnTo>
                <a:cubicBezTo>
                  <a:pt x="187523" y="156716"/>
                  <a:pt x="191542" y="160734"/>
                  <a:pt x="196453" y="160734"/>
                </a:cubicBezTo>
                <a:lnTo>
                  <a:pt x="214313" y="160734"/>
                </a:lnTo>
                <a:cubicBezTo>
                  <a:pt x="219224" y="160734"/>
                  <a:pt x="223242" y="156716"/>
                  <a:pt x="223242" y="151805"/>
                </a:cubicBezTo>
                <a:lnTo>
                  <a:pt x="223242" y="133945"/>
                </a:lnTo>
                <a:cubicBezTo>
                  <a:pt x="223242" y="129034"/>
                  <a:pt x="219224" y="125016"/>
                  <a:pt x="214313" y="125016"/>
                </a:cubicBezTo>
                <a:lnTo>
                  <a:pt x="196453" y="125016"/>
                </a:lnTo>
                <a:close/>
                <a:moveTo>
                  <a:pt x="26789" y="62508"/>
                </a:moveTo>
                <a:lnTo>
                  <a:pt x="26789" y="80367"/>
                </a:lnTo>
                <a:cubicBezTo>
                  <a:pt x="26789" y="85279"/>
                  <a:pt x="30807" y="89297"/>
                  <a:pt x="35719" y="89297"/>
                </a:cubicBezTo>
                <a:lnTo>
                  <a:pt x="53578" y="89297"/>
                </a:lnTo>
                <a:cubicBezTo>
                  <a:pt x="58489" y="89297"/>
                  <a:pt x="62508" y="85279"/>
                  <a:pt x="62508" y="80367"/>
                </a:cubicBezTo>
                <a:lnTo>
                  <a:pt x="62508" y="62508"/>
                </a:lnTo>
                <a:cubicBezTo>
                  <a:pt x="62508" y="57596"/>
                  <a:pt x="58489" y="53578"/>
                  <a:pt x="53578" y="53578"/>
                </a:cubicBezTo>
                <a:lnTo>
                  <a:pt x="35719" y="53578"/>
                </a:lnTo>
                <a:cubicBezTo>
                  <a:pt x="30807" y="53578"/>
                  <a:pt x="26789" y="57596"/>
                  <a:pt x="26789" y="62508"/>
                </a:cubicBezTo>
                <a:close/>
                <a:moveTo>
                  <a:pt x="196453" y="53578"/>
                </a:moveTo>
                <a:cubicBezTo>
                  <a:pt x="191542" y="53578"/>
                  <a:pt x="187523" y="57596"/>
                  <a:pt x="187523" y="62508"/>
                </a:cubicBezTo>
                <a:lnTo>
                  <a:pt x="187523" y="80367"/>
                </a:lnTo>
                <a:cubicBezTo>
                  <a:pt x="187523" y="85279"/>
                  <a:pt x="191542" y="89297"/>
                  <a:pt x="196453" y="89297"/>
                </a:cubicBezTo>
                <a:lnTo>
                  <a:pt x="214313" y="89297"/>
                </a:lnTo>
                <a:cubicBezTo>
                  <a:pt x="219224" y="89297"/>
                  <a:pt x="223242" y="85279"/>
                  <a:pt x="223242" y="80367"/>
                </a:cubicBezTo>
                <a:lnTo>
                  <a:pt x="223242" y="62508"/>
                </a:lnTo>
                <a:cubicBezTo>
                  <a:pt x="223242" y="57596"/>
                  <a:pt x="219224" y="53578"/>
                  <a:pt x="214313" y="53578"/>
                </a:cubicBezTo>
                <a:lnTo>
                  <a:pt x="196453" y="5357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210425" y="1552575"/>
            <a:ext cx="3019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Sistemas de Recomendación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10425" y="185737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Netflix, Spotify, Amazon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8425" y="2295525"/>
            <a:ext cx="5124450" cy="1047750"/>
          </a:xfrm>
          <a:custGeom>
            <a:avLst/>
            <a:gdLst/>
            <a:ahLst/>
            <a:cxnLst/>
            <a:rect l="l" t="t" r="r" b="b"/>
            <a:pathLst>
              <a:path w="5124450" h="1047750">
                <a:moveTo>
                  <a:pt x="114299" y="0"/>
                </a:moveTo>
                <a:lnTo>
                  <a:pt x="5010151" y="0"/>
                </a:lnTo>
                <a:cubicBezTo>
                  <a:pt x="5073277" y="0"/>
                  <a:pt x="5124450" y="51173"/>
                  <a:pt x="5124450" y="114299"/>
                </a:cubicBezTo>
                <a:lnTo>
                  <a:pt x="5124450" y="933451"/>
                </a:lnTo>
                <a:cubicBezTo>
                  <a:pt x="5124450" y="996577"/>
                  <a:pt x="5073277" y="1047750"/>
                  <a:pt x="50101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00825" y="24860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791325" y="2447925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de Usuarios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00825" y="2752725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de millones de usuarios: qué ven, cuánto tiempo, qué saltan, hora del día, ubicación, dispositivo usado.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8425" y="3490913"/>
            <a:ext cx="5124450" cy="1047750"/>
          </a:xfrm>
          <a:custGeom>
            <a:avLst/>
            <a:gdLst/>
            <a:ahLst/>
            <a:cxnLst/>
            <a:rect l="l" t="t" r="r" b="b"/>
            <a:pathLst>
              <a:path w="5124450" h="1047750">
                <a:moveTo>
                  <a:pt x="114299" y="0"/>
                </a:moveTo>
                <a:lnTo>
                  <a:pt x="5010151" y="0"/>
                </a:lnTo>
                <a:cubicBezTo>
                  <a:pt x="5073277" y="0"/>
                  <a:pt x="5124450" y="51173"/>
                  <a:pt x="5124450" y="114299"/>
                </a:cubicBezTo>
                <a:lnTo>
                  <a:pt x="5124450" y="933451"/>
                </a:lnTo>
                <a:cubicBezTo>
                  <a:pt x="5124450" y="996577"/>
                  <a:pt x="5073277" y="1047750"/>
                  <a:pt x="50101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19875" y="36814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6791325" y="3643313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Patrones Ocultos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00825" y="3948112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IA descubre conexiones no obvias: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"personas que ven series de misterio los viernes por la noche también disfrutan thrillers psicológicos"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67475" y="4686300"/>
            <a:ext cx="5105400" cy="742950"/>
          </a:xfrm>
          <a:custGeom>
            <a:avLst/>
            <a:gdLst/>
            <a:ahLst/>
            <a:cxnLst/>
            <a:rect l="l" t="t" r="r" b="b"/>
            <a:pathLst>
              <a:path w="5105400" h="742950">
                <a:moveTo>
                  <a:pt x="0" y="0"/>
                </a:moveTo>
                <a:lnTo>
                  <a:pt x="4991097" y="0"/>
                </a:lnTo>
                <a:cubicBezTo>
                  <a:pt x="5054183" y="0"/>
                  <a:pt x="5105400" y="51217"/>
                  <a:pt x="5105400" y="114303"/>
                </a:cubicBezTo>
                <a:lnTo>
                  <a:pt x="5105400" y="628647"/>
                </a:lnTo>
                <a:cubicBezTo>
                  <a:pt x="5105400" y="691733"/>
                  <a:pt x="5054183" y="742950"/>
                  <a:pt x="4991097" y="742950"/>
                </a:cubicBez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6467475" y="4686300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638925" y="4838700"/>
            <a:ext cx="4848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Resultado: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Recomendaciones mucho más precisas que aumentan la retención de usuarios y el engagement.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5857875"/>
            <a:ext cx="11420475" cy="885825"/>
          </a:xfrm>
          <a:custGeom>
            <a:avLst/>
            <a:gdLst/>
            <a:ahLst/>
            <a:cxnLst/>
            <a:rect l="l" t="t" r="r" b="b"/>
            <a:pathLst>
              <a:path w="11420475" h="885825">
                <a:moveTo>
                  <a:pt x="114298" y="0"/>
                </a:moveTo>
                <a:lnTo>
                  <a:pt x="11306177" y="0"/>
                </a:lnTo>
                <a:cubicBezTo>
                  <a:pt x="11369260" y="0"/>
                  <a:pt x="11420475" y="51215"/>
                  <a:pt x="11420475" y="114298"/>
                </a:cubicBezTo>
                <a:lnTo>
                  <a:pt x="11420475" y="771527"/>
                </a:lnTo>
                <a:cubicBezTo>
                  <a:pt x="11420475" y="834610"/>
                  <a:pt x="11369260" y="885825"/>
                  <a:pt x="1130617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3431" y="6015038"/>
            <a:ext cx="1590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99%+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961531" y="6396038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 en tareas reales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752082" y="6072188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994970" y="6015038"/>
            <a:ext cx="2124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33070" y="6396038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 continua con datos frescos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47942" y="6072188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590830" y="6015038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28930" y="6396038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Tendencia más importante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Adaptación Dinámica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Magia del Aprendizaje Continuo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591175" cy="2771775"/>
          </a:xfrm>
          <a:custGeom>
            <a:avLst/>
            <a:gdLst/>
            <a:ahLst/>
            <a:cxnLst/>
            <a:rect l="l" t="t" r="r" b="b"/>
            <a:pathLst>
              <a:path w="5591175" h="2771775">
                <a:moveTo>
                  <a:pt x="152392" y="0"/>
                </a:moveTo>
                <a:lnTo>
                  <a:pt x="5438783" y="0"/>
                </a:lnTo>
                <a:cubicBezTo>
                  <a:pt x="5522947" y="0"/>
                  <a:pt x="5591175" y="68228"/>
                  <a:pt x="5591175" y="152392"/>
                </a:cubicBezTo>
                <a:lnTo>
                  <a:pt x="5591175" y="2619383"/>
                </a:lnTo>
                <a:cubicBezTo>
                  <a:pt x="5591175" y="2703547"/>
                  <a:pt x="5522947" y="2771775"/>
                  <a:pt x="5438783" y="2771775"/>
                </a:cubicBezTo>
                <a:lnTo>
                  <a:pt x="152392" y="2771775"/>
                </a:lnTo>
                <a:cubicBezTo>
                  <a:pt x="68228" y="2771775"/>
                  <a:pt x="0" y="2703547"/>
                  <a:pt x="0" y="2619383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1525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304925" y="1495425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 Reentrenamiento Constante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4925" y="1876425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lugar de reentrenar todo el modelo desde cero (lo cual cuesta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mucho tiempo, energía y dinero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), la IA actualiza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solo lo necesario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datos nuevos.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04925" y="2771775"/>
            <a:ext cx="4438650" cy="1028700"/>
          </a:xfrm>
          <a:custGeom>
            <a:avLst/>
            <a:gdLst/>
            <a:ahLst/>
            <a:cxnLst/>
            <a:rect l="l" t="t" r="r" b="b"/>
            <a:pathLst>
              <a:path w="4438650" h="1028700">
                <a:moveTo>
                  <a:pt x="114299" y="0"/>
                </a:moveTo>
                <a:lnTo>
                  <a:pt x="4324351" y="0"/>
                </a:lnTo>
                <a:cubicBezTo>
                  <a:pt x="4387477" y="0"/>
                  <a:pt x="4438650" y="51173"/>
                  <a:pt x="4438650" y="114299"/>
                </a:cubicBezTo>
                <a:lnTo>
                  <a:pt x="4438650" y="914401"/>
                </a:lnTo>
                <a:cubicBezTo>
                  <a:pt x="4438650" y="977527"/>
                  <a:pt x="4387477" y="1028700"/>
                  <a:pt x="432435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76375" y="2943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1762125" y="2924175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modelo recibe datos en streaming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76375" y="3209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762125" y="3190875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ajusta poco a poco automáticamente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76375" y="3476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762125" y="3457575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 interrupción del servicio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22910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0" y="0"/>
                </a:moveTo>
                <a:lnTo>
                  <a:pt x="5467353" y="0"/>
                </a:lnTo>
                <a:cubicBezTo>
                  <a:pt x="5530478" y="0"/>
                  <a:pt x="5581650" y="51172"/>
                  <a:pt x="5581650" y="114297"/>
                </a:cubicBezTo>
                <a:lnTo>
                  <a:pt x="5581650" y="1352553"/>
                </a:lnTo>
                <a:cubicBezTo>
                  <a:pt x="5581650" y="1415678"/>
                  <a:pt x="5530478" y="1466850"/>
                  <a:pt x="5467353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34D399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2291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419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2950" y="4552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4419600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Evitando el "Olvido Catastrófico"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476250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Técnicas como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incremental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learning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continual learning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evitan que aprender algo nuevo borre lo que el modelo ya sabía.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5063" y="1262063"/>
            <a:ext cx="5591175" cy="4200525"/>
          </a:xfrm>
          <a:custGeom>
            <a:avLst/>
            <a:gdLst/>
            <a:ahLst/>
            <a:cxnLst/>
            <a:rect l="l" t="t" r="r" b="b"/>
            <a:pathLst>
              <a:path w="5591175" h="4200525">
                <a:moveTo>
                  <a:pt x="152395" y="0"/>
                </a:moveTo>
                <a:lnTo>
                  <a:pt x="5438780" y="0"/>
                </a:lnTo>
                <a:cubicBezTo>
                  <a:pt x="5522945" y="0"/>
                  <a:pt x="5591175" y="68230"/>
                  <a:pt x="5591175" y="152395"/>
                </a:cubicBezTo>
                <a:lnTo>
                  <a:pt x="5591175" y="4048130"/>
                </a:lnTo>
                <a:cubicBezTo>
                  <a:pt x="5591175" y="4132295"/>
                  <a:pt x="5522945" y="4200525"/>
                  <a:pt x="5438780" y="4200525"/>
                </a:cubicBezTo>
                <a:lnTo>
                  <a:pt x="152395" y="4200525"/>
                </a:lnTo>
                <a:cubicBezTo>
                  <a:pt x="68230" y="4200525"/>
                  <a:pt x="0" y="4132295"/>
                  <a:pt x="0" y="4048130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495425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Manejo del "Model Drift"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8425" y="1914525"/>
            <a:ext cx="5124450" cy="1238250"/>
          </a:xfrm>
          <a:custGeom>
            <a:avLst/>
            <a:gdLst/>
            <a:ahLst/>
            <a:cxnLst/>
            <a:rect l="l" t="t" r="r" b="b"/>
            <a:pathLst>
              <a:path w="5124450" h="1238250">
                <a:moveTo>
                  <a:pt x="114303" y="0"/>
                </a:moveTo>
                <a:lnTo>
                  <a:pt x="5010147" y="0"/>
                </a:lnTo>
                <a:cubicBezTo>
                  <a:pt x="5073233" y="0"/>
                  <a:pt x="5124450" y="51217"/>
                  <a:pt x="5124450" y="114303"/>
                </a:cubicBezTo>
                <a:lnTo>
                  <a:pt x="5124450" y="1123947"/>
                </a:lnTo>
                <a:cubicBezTo>
                  <a:pt x="5124450" y="1187033"/>
                  <a:pt x="5073233" y="1238250"/>
                  <a:pt x="5010147" y="1238250"/>
                </a:cubicBezTo>
                <a:lnTo>
                  <a:pt x="114303" y="1238250"/>
                </a:lnTo>
                <a:cubicBezTo>
                  <a:pt x="51217" y="1238250"/>
                  <a:pt x="0" y="1187033"/>
                  <a:pt x="0" y="11239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00825" y="2066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715125" y="2181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096125" y="214312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¿Qué es el Model Drift?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00825" y="2562225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Cuando el mundo cambia (nueva variante de virus, cambios en hábitos de compra), el modelo detecta que su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 baja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924925" y="324326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1" name="Shape 29"/>
          <p:cNvSpPr/>
          <p:nvPr/>
        </p:nvSpPr>
        <p:spPr>
          <a:xfrm>
            <a:off x="6448425" y="3681413"/>
            <a:ext cx="5124450" cy="1238250"/>
          </a:xfrm>
          <a:custGeom>
            <a:avLst/>
            <a:gdLst/>
            <a:ahLst/>
            <a:cxnLst/>
            <a:rect l="l" t="t" r="r" b="b"/>
            <a:pathLst>
              <a:path w="5124450" h="1238250">
                <a:moveTo>
                  <a:pt x="114303" y="0"/>
                </a:moveTo>
                <a:lnTo>
                  <a:pt x="5010147" y="0"/>
                </a:lnTo>
                <a:cubicBezTo>
                  <a:pt x="5073233" y="0"/>
                  <a:pt x="5124450" y="51217"/>
                  <a:pt x="5124450" y="114303"/>
                </a:cubicBezTo>
                <a:lnTo>
                  <a:pt x="5124450" y="1123947"/>
                </a:lnTo>
                <a:cubicBezTo>
                  <a:pt x="5124450" y="1187033"/>
                  <a:pt x="5073233" y="1238250"/>
                  <a:pt x="5010147" y="1238250"/>
                </a:cubicBezTo>
                <a:lnTo>
                  <a:pt x="114303" y="1238250"/>
                </a:lnTo>
                <a:cubicBezTo>
                  <a:pt x="51217" y="1238250"/>
                  <a:pt x="0" y="1187033"/>
                  <a:pt x="0" y="11239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00825" y="383381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715125" y="39481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7096125" y="3910013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Adaptación Automática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00825" y="4329113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modelo se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 automáticamente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usando datos frescos, ajustando sus parámetros sin necesidad de intervención humana.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5063" y="5662613"/>
            <a:ext cx="5591175" cy="809625"/>
          </a:xfrm>
          <a:custGeom>
            <a:avLst/>
            <a:gdLst/>
            <a:ahLst/>
            <a:cxnLst/>
            <a:rect l="l" t="t" r="r" b="b"/>
            <a:pathLst>
              <a:path w="5591175" h="809625">
                <a:moveTo>
                  <a:pt x="114303" y="0"/>
                </a:moveTo>
                <a:lnTo>
                  <a:pt x="5476872" y="0"/>
                </a:lnTo>
                <a:cubicBezTo>
                  <a:pt x="5539958" y="0"/>
                  <a:pt x="5591175" y="51217"/>
                  <a:pt x="5591175" y="114303"/>
                </a:cubicBezTo>
                <a:lnTo>
                  <a:pt x="5591175" y="695322"/>
                </a:lnTo>
                <a:cubicBezTo>
                  <a:pt x="5591175" y="758408"/>
                  <a:pt x="5539958" y="809625"/>
                  <a:pt x="54768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34D399">
                  <a:alpha val="20000"/>
                </a:srgbClr>
              </a:gs>
            </a:gsLst>
            <a:lin ang="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57480" y="58197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823918" y="6124575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Incremental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86329" y="58769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060507" y="5819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42863"/>
                </a:moveTo>
                <a:cubicBezTo>
                  <a:pt x="0" y="34960"/>
                  <a:pt x="6385" y="28575"/>
                  <a:pt x="14288" y="28575"/>
                </a:cubicBezTo>
                <a:lnTo>
                  <a:pt x="185738" y="28575"/>
                </a:lnTo>
                <a:cubicBezTo>
                  <a:pt x="193640" y="28575"/>
                  <a:pt x="200025" y="34960"/>
                  <a:pt x="200025" y="42863"/>
                </a:cubicBezTo>
                <a:cubicBezTo>
                  <a:pt x="200025" y="50765"/>
                  <a:pt x="193640" y="57150"/>
                  <a:pt x="185738" y="57150"/>
                </a:cubicBezTo>
                <a:lnTo>
                  <a:pt x="14288" y="57150"/>
                </a:lnTo>
                <a:cubicBezTo>
                  <a:pt x="6385" y="57150"/>
                  <a:pt x="0" y="50765"/>
                  <a:pt x="0" y="42863"/>
                </a:cubicBezTo>
                <a:close/>
                <a:moveTo>
                  <a:pt x="28575" y="114300"/>
                </a:moveTo>
                <a:cubicBezTo>
                  <a:pt x="28575" y="106397"/>
                  <a:pt x="34960" y="100013"/>
                  <a:pt x="42863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42863" y="128588"/>
                </a:lnTo>
                <a:cubicBezTo>
                  <a:pt x="34960" y="128588"/>
                  <a:pt x="28575" y="122203"/>
                  <a:pt x="28575" y="114300"/>
                </a:cubicBezTo>
                <a:close/>
                <a:moveTo>
                  <a:pt x="200025" y="185738"/>
                </a:moveTo>
                <a:cubicBezTo>
                  <a:pt x="200025" y="193640"/>
                  <a:pt x="193640" y="200025"/>
                  <a:pt x="185738" y="200025"/>
                </a:cubicBezTo>
                <a:lnTo>
                  <a:pt x="14288" y="200025"/>
                </a:lnTo>
                <a:cubicBezTo>
                  <a:pt x="6385" y="200025"/>
                  <a:pt x="0" y="193640"/>
                  <a:pt x="0" y="185738"/>
                </a:cubicBezTo>
                <a:cubicBezTo>
                  <a:pt x="0" y="17783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77835"/>
                  <a:pt x="200025" y="185738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1" name="Text 39"/>
          <p:cNvSpPr/>
          <p:nvPr/>
        </p:nvSpPr>
        <p:spPr>
          <a:xfrm>
            <a:off x="8691116" y="61245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Learning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853761" y="58769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513516" y="5819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4980" y="33352"/>
                </a:moveTo>
                <a:lnTo>
                  <a:pt x="200025" y="38130"/>
                </a:lnTo>
                <a:lnTo>
                  <a:pt x="200025" y="14288"/>
                </a:lnTo>
                <a:cubicBezTo>
                  <a:pt x="200025" y="6385"/>
                  <a:pt x="206410" y="0"/>
                  <a:pt x="214313" y="0"/>
                </a:cubicBezTo>
                <a:cubicBezTo>
                  <a:pt x="222215" y="0"/>
                  <a:pt x="228600" y="6385"/>
                  <a:pt x="228600" y="14288"/>
                </a:cubicBezTo>
                <a:lnTo>
                  <a:pt x="228600" y="71438"/>
                </a:lnTo>
                <a:cubicBezTo>
                  <a:pt x="228600" y="79340"/>
                  <a:pt x="222215" y="85725"/>
                  <a:pt x="214313" y="85725"/>
                </a:cubicBezTo>
                <a:lnTo>
                  <a:pt x="157163" y="85725"/>
                </a:lnTo>
                <a:cubicBezTo>
                  <a:pt x="149260" y="85725"/>
                  <a:pt x="142875" y="79340"/>
                  <a:pt x="142875" y="71438"/>
                </a:cubicBezTo>
                <a:cubicBezTo>
                  <a:pt x="142875" y="63535"/>
                  <a:pt x="149260" y="57150"/>
                  <a:pt x="157163" y="57150"/>
                </a:cubicBezTo>
                <a:lnTo>
                  <a:pt x="178549" y="57150"/>
                </a:lnTo>
                <a:lnTo>
                  <a:pt x="175156" y="53935"/>
                </a:lnTo>
                <a:cubicBezTo>
                  <a:pt x="175067" y="53846"/>
                  <a:pt x="174977" y="53757"/>
                  <a:pt x="174888" y="53667"/>
                </a:cubicBezTo>
                <a:cubicBezTo>
                  <a:pt x="141402" y="20181"/>
                  <a:pt x="87154" y="20181"/>
                  <a:pt x="53667" y="53667"/>
                </a:cubicBezTo>
                <a:cubicBezTo>
                  <a:pt x="20181" y="87154"/>
                  <a:pt x="20181" y="141402"/>
                  <a:pt x="53667" y="174888"/>
                </a:cubicBezTo>
                <a:cubicBezTo>
                  <a:pt x="87154" y="208374"/>
                  <a:pt x="141402" y="208374"/>
                  <a:pt x="174888" y="174888"/>
                </a:cubicBezTo>
                <a:cubicBezTo>
                  <a:pt x="178549" y="171227"/>
                  <a:pt x="181808" y="167342"/>
                  <a:pt x="184666" y="163235"/>
                </a:cubicBezTo>
                <a:cubicBezTo>
                  <a:pt x="189175" y="156761"/>
                  <a:pt x="198105" y="155198"/>
                  <a:pt x="204579" y="159707"/>
                </a:cubicBezTo>
                <a:cubicBezTo>
                  <a:pt x="211053" y="164217"/>
                  <a:pt x="212616" y="173147"/>
                  <a:pt x="208106" y="179621"/>
                </a:cubicBezTo>
                <a:cubicBezTo>
                  <a:pt x="204311" y="185068"/>
                  <a:pt x="199980" y="190247"/>
                  <a:pt x="195114" y="195114"/>
                </a:cubicBezTo>
                <a:cubicBezTo>
                  <a:pt x="150465" y="239762"/>
                  <a:pt x="78090" y="239762"/>
                  <a:pt x="33486" y="195114"/>
                </a:cubicBezTo>
                <a:cubicBezTo>
                  <a:pt x="-11117" y="150465"/>
                  <a:pt x="-11162" y="78135"/>
                  <a:pt x="33486" y="33486"/>
                </a:cubicBezTo>
                <a:cubicBezTo>
                  <a:pt x="78090" y="-11117"/>
                  <a:pt x="150331" y="-11162"/>
                  <a:pt x="194980" y="3335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10058549" y="6124575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Continual Learning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Caso Práctico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Detección de Fraudes Bancarios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6153150" cy="3505200"/>
          </a:xfrm>
          <a:custGeom>
            <a:avLst/>
            <a:gdLst/>
            <a:ahLst/>
            <a:cxnLst/>
            <a:rect l="l" t="t" r="r" b="b"/>
            <a:pathLst>
              <a:path w="6153150" h="3505200">
                <a:moveTo>
                  <a:pt x="152406" y="0"/>
                </a:moveTo>
                <a:lnTo>
                  <a:pt x="6000744" y="0"/>
                </a:lnTo>
                <a:cubicBezTo>
                  <a:pt x="6084915" y="0"/>
                  <a:pt x="6153150" y="68235"/>
                  <a:pt x="6153150" y="152406"/>
                </a:cubicBezTo>
                <a:lnTo>
                  <a:pt x="6153150" y="3352794"/>
                </a:lnTo>
                <a:cubicBezTo>
                  <a:pt x="6153150" y="3436965"/>
                  <a:pt x="6084915" y="3505200"/>
                  <a:pt x="6000744" y="3505200"/>
                </a:cubicBezTo>
                <a:lnTo>
                  <a:pt x="152406" y="3505200"/>
                </a:lnTo>
                <a:cubicBezTo>
                  <a:pt x="68235" y="3505200"/>
                  <a:pt x="0" y="3436965"/>
                  <a:pt x="0" y="33527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495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3431" y="16573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1749" y="11274"/>
                </a:moveTo>
                <a:cubicBezTo>
                  <a:pt x="146279" y="8148"/>
                  <a:pt x="139526" y="8148"/>
                  <a:pt x="134001" y="11274"/>
                </a:cubicBezTo>
                <a:lnTo>
                  <a:pt x="8985" y="82711"/>
                </a:lnTo>
                <a:cubicBezTo>
                  <a:pt x="1953" y="86730"/>
                  <a:pt x="-1507" y="94990"/>
                  <a:pt x="558" y="102803"/>
                </a:cubicBezTo>
                <a:cubicBezTo>
                  <a:pt x="2623" y="110617"/>
                  <a:pt x="9767" y="116086"/>
                  <a:pt x="17859" y="116086"/>
                </a:cubicBezTo>
                <a:lnTo>
                  <a:pt x="35719" y="116086"/>
                </a:lnTo>
                <a:lnTo>
                  <a:pt x="35719" y="232172"/>
                </a:lnTo>
                <a:lnTo>
                  <a:pt x="35719" y="232172"/>
                </a:lnTo>
                <a:lnTo>
                  <a:pt x="7144" y="253603"/>
                </a:lnTo>
                <a:cubicBezTo>
                  <a:pt x="2623" y="256952"/>
                  <a:pt x="0" y="262254"/>
                  <a:pt x="0" y="267891"/>
                </a:cubicBezTo>
                <a:cubicBezTo>
                  <a:pt x="0" y="277769"/>
                  <a:pt x="7981" y="285750"/>
                  <a:pt x="17859" y="285750"/>
                </a:cubicBezTo>
                <a:lnTo>
                  <a:pt x="267891" y="285750"/>
                </a:lnTo>
                <a:cubicBezTo>
                  <a:pt x="277769" y="285750"/>
                  <a:pt x="285750" y="277769"/>
                  <a:pt x="285750" y="267891"/>
                </a:cubicBezTo>
                <a:cubicBezTo>
                  <a:pt x="285750" y="262254"/>
                  <a:pt x="283127" y="256952"/>
                  <a:pt x="278606" y="253603"/>
                </a:cubicBezTo>
                <a:lnTo>
                  <a:pt x="250031" y="232172"/>
                </a:lnTo>
                <a:lnTo>
                  <a:pt x="250031" y="116086"/>
                </a:lnTo>
                <a:lnTo>
                  <a:pt x="267891" y="116086"/>
                </a:lnTo>
                <a:cubicBezTo>
                  <a:pt x="275983" y="116086"/>
                  <a:pt x="283071" y="110617"/>
                  <a:pt x="285136" y="102803"/>
                </a:cubicBezTo>
                <a:cubicBezTo>
                  <a:pt x="287201" y="94990"/>
                  <a:pt x="283741" y="86730"/>
                  <a:pt x="276709" y="82711"/>
                </a:cubicBezTo>
                <a:lnTo>
                  <a:pt x="151693" y="11274"/>
                </a:lnTo>
                <a:close/>
                <a:moveTo>
                  <a:pt x="223242" y="116086"/>
                </a:moveTo>
                <a:lnTo>
                  <a:pt x="223242" y="232172"/>
                </a:lnTo>
                <a:lnTo>
                  <a:pt x="187523" y="232172"/>
                </a:lnTo>
                <a:lnTo>
                  <a:pt x="187523" y="116086"/>
                </a:lnTo>
                <a:lnTo>
                  <a:pt x="223242" y="116086"/>
                </a:lnTo>
                <a:close/>
                <a:moveTo>
                  <a:pt x="160734" y="116086"/>
                </a:moveTo>
                <a:lnTo>
                  <a:pt x="160734" y="232172"/>
                </a:lnTo>
                <a:lnTo>
                  <a:pt x="125016" y="232172"/>
                </a:lnTo>
                <a:lnTo>
                  <a:pt x="125016" y="116086"/>
                </a:lnTo>
                <a:lnTo>
                  <a:pt x="160734" y="116086"/>
                </a:lnTo>
                <a:close/>
                <a:moveTo>
                  <a:pt x="98227" y="116086"/>
                </a:moveTo>
                <a:lnTo>
                  <a:pt x="98227" y="232172"/>
                </a:lnTo>
                <a:lnTo>
                  <a:pt x="62508" y="232172"/>
                </a:lnTo>
                <a:lnTo>
                  <a:pt x="62508" y="116086"/>
                </a:lnTo>
                <a:lnTo>
                  <a:pt x="98227" y="116086"/>
                </a:lnTo>
                <a:close/>
                <a:moveTo>
                  <a:pt x="142875" y="53578"/>
                </a:moveTo>
                <a:cubicBezTo>
                  <a:pt x="152732" y="53578"/>
                  <a:pt x="160734" y="61581"/>
                  <a:pt x="160734" y="71438"/>
                </a:cubicBezTo>
                <a:cubicBezTo>
                  <a:pt x="160734" y="81294"/>
                  <a:pt x="152732" y="89297"/>
                  <a:pt x="142875" y="89297"/>
                </a:cubicBezTo>
                <a:cubicBezTo>
                  <a:pt x="133018" y="89297"/>
                  <a:pt x="125016" y="81294"/>
                  <a:pt x="125016" y="71438"/>
                </a:cubicBezTo>
                <a:cubicBezTo>
                  <a:pt x="125016" y="61581"/>
                  <a:pt x="133018" y="53578"/>
                  <a:pt x="142875" y="53578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1552575"/>
            <a:ext cx="2409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JPMorgan &amp; Big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1125" y="185737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de transacciones en tiempo real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" y="2295525"/>
            <a:ext cx="5686425" cy="1047750"/>
          </a:xfrm>
          <a:custGeom>
            <a:avLst/>
            <a:gdLst/>
            <a:ahLst/>
            <a:cxnLst/>
            <a:rect l="l" t="t" r="r" b="b"/>
            <a:pathLst>
              <a:path w="5686425" h="1047750">
                <a:moveTo>
                  <a:pt x="114299" y="0"/>
                </a:moveTo>
                <a:lnTo>
                  <a:pt x="5572126" y="0"/>
                </a:lnTo>
                <a:cubicBezTo>
                  <a:pt x="5635252" y="0"/>
                  <a:pt x="5686425" y="51173"/>
                  <a:pt x="5686425" y="114299"/>
                </a:cubicBezTo>
                <a:lnTo>
                  <a:pt x="5686425" y="933451"/>
                </a:lnTo>
                <a:cubicBezTo>
                  <a:pt x="5686425" y="996577"/>
                  <a:pt x="5635252" y="1047750"/>
                  <a:pt x="55721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" y="2486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" y="2447925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de Transacciones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1525" y="2752725"/>
            <a:ext cx="5448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Millones de operaciones diarias analizadas en tiempo real: montos, ubicaciones, frecuencia, patrones históricos de cada cliente.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" y="3490913"/>
            <a:ext cx="5686425" cy="1047750"/>
          </a:xfrm>
          <a:custGeom>
            <a:avLst/>
            <a:gdLst/>
            <a:ahLst/>
            <a:cxnLst/>
            <a:rect l="l" t="t" r="r" b="b"/>
            <a:pathLst>
              <a:path w="5686425" h="1047750">
                <a:moveTo>
                  <a:pt x="114299" y="0"/>
                </a:moveTo>
                <a:lnTo>
                  <a:pt x="5572126" y="0"/>
                </a:lnTo>
                <a:cubicBezTo>
                  <a:pt x="5635252" y="0"/>
                  <a:pt x="5686425" y="51173"/>
                  <a:pt x="5686425" y="114299"/>
                </a:cubicBezTo>
                <a:lnTo>
                  <a:pt x="5686425" y="933451"/>
                </a:lnTo>
                <a:cubicBezTo>
                  <a:pt x="5686425" y="996577"/>
                  <a:pt x="5635252" y="1047750"/>
                  <a:pt x="55721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0575" y="36814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62025" y="3643313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de Patrones Normales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1525" y="3948112"/>
            <a:ext cx="5448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modelo aprende qué es "normal" para cada cliente: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"compras pequeñas en supermercados locales"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horarios habituales, ubicaciones frecuentes.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4962525"/>
            <a:ext cx="6143625" cy="1219200"/>
          </a:xfrm>
          <a:custGeom>
            <a:avLst/>
            <a:gdLst/>
            <a:ahLst/>
            <a:cxnLst/>
            <a:rect l="l" t="t" r="r" b="b"/>
            <a:pathLst>
              <a:path w="6143625" h="1219200">
                <a:moveTo>
                  <a:pt x="0" y="0"/>
                </a:moveTo>
                <a:lnTo>
                  <a:pt x="6029325" y="0"/>
                </a:lnTo>
                <a:cubicBezTo>
                  <a:pt x="6092409" y="0"/>
                  <a:pt x="6143625" y="51216"/>
                  <a:pt x="6143625" y="114300"/>
                </a:cubicBezTo>
                <a:lnTo>
                  <a:pt x="6143625" y="1104900"/>
                </a:lnTo>
                <a:cubicBezTo>
                  <a:pt x="6143625" y="1167984"/>
                  <a:pt x="6092409" y="1219200"/>
                  <a:pt x="6029325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4962525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5153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2950" y="528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" y="5153025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Cuando Aparece un Nuevo Fraude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19200" y="5495925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estafadores inventan un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nuevo truco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compras grandes en apps nuevas. El modelo detecta más "falsos positivos" y errores.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75103" y="1262063"/>
            <a:ext cx="5029200" cy="4048125"/>
          </a:xfrm>
          <a:custGeom>
            <a:avLst/>
            <a:gdLst/>
            <a:ahLst/>
            <a:cxnLst/>
            <a:rect l="l" t="t" r="r" b="b"/>
            <a:pathLst>
              <a:path w="5029200" h="4048125">
                <a:moveTo>
                  <a:pt x="152412" y="0"/>
                </a:moveTo>
                <a:lnTo>
                  <a:pt x="4876788" y="0"/>
                </a:lnTo>
                <a:cubicBezTo>
                  <a:pt x="4960963" y="0"/>
                  <a:pt x="5029200" y="68237"/>
                  <a:pt x="5029200" y="152412"/>
                </a:cubicBezTo>
                <a:lnTo>
                  <a:pt x="5029200" y="3895713"/>
                </a:lnTo>
                <a:cubicBezTo>
                  <a:pt x="5029200" y="3979888"/>
                  <a:pt x="4960963" y="4048125"/>
                  <a:pt x="4876788" y="4048125"/>
                </a:cubicBezTo>
                <a:lnTo>
                  <a:pt x="152412" y="4048125"/>
                </a:lnTo>
                <a:cubicBezTo>
                  <a:pt x="68237" y="4048125"/>
                  <a:pt x="0" y="3979888"/>
                  <a:pt x="0" y="389571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60840" y="1495425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Adaptación Automática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08465" y="1990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174706" y="206692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41865" y="1952625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Detección de Anomalías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41865" y="221932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sistema nota que ciertos patrones generan más alertas.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08465" y="2600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160121" y="267652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41865" y="2562225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Continuo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41865" y="2828925"/>
            <a:ext cx="3819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 transacciones recientes para entender el nuevo patrón.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08465" y="3209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158186" y="328612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41865" y="3171825"/>
            <a:ext cx="3867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Ajuste de Reglas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41865" y="3438525"/>
            <a:ext cx="385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Actualiza sus parámetros automáticamente sin detener el sistema.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008465" y="3819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160121" y="389572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41865" y="3781425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 Continua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41865" y="4048125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fraudes drásticamente adaptándose sin parar.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75103" y="5510213"/>
            <a:ext cx="5029200" cy="962025"/>
          </a:xfrm>
          <a:custGeom>
            <a:avLst/>
            <a:gdLst/>
            <a:ahLst/>
            <a:cxnLst/>
            <a:rect l="l" t="t" r="r" b="b"/>
            <a:pathLst>
              <a:path w="5029200" h="962025">
                <a:moveTo>
                  <a:pt x="114298" y="0"/>
                </a:moveTo>
                <a:lnTo>
                  <a:pt x="4914902" y="0"/>
                </a:lnTo>
                <a:cubicBezTo>
                  <a:pt x="4978027" y="0"/>
                  <a:pt x="5029200" y="51173"/>
                  <a:pt x="5029200" y="114298"/>
                </a:cubicBezTo>
                <a:lnTo>
                  <a:pt x="5029200" y="847727"/>
                </a:lnTo>
                <a:cubicBezTo>
                  <a:pt x="5029200" y="910852"/>
                  <a:pt x="4978027" y="962025"/>
                  <a:pt x="49149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20000"/>
                </a:srgbClr>
              </a:gs>
              <a:gs pos="100000">
                <a:srgbClr val="F59E0B">
                  <a:alpha val="20000"/>
                </a:srgbClr>
              </a:gs>
            </a:gsLst>
            <a:lin ang="0" scaled="1"/>
          </a:gra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96932" y="5705475"/>
            <a:ext cx="1209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Millones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35032" y="6086475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Transacciones/día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39076" y="57626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281964" y="5705475"/>
            <a:ext cx="1704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320064" y="6086475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instantáneo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Caso Práctico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Vehículos Autónomos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591175" cy="3505200"/>
          </a:xfrm>
          <a:custGeom>
            <a:avLst/>
            <a:gdLst/>
            <a:ahLst/>
            <a:cxnLst/>
            <a:rect l="l" t="t" r="r" b="b"/>
            <a:pathLst>
              <a:path w="5591175" h="3505200">
                <a:moveTo>
                  <a:pt x="152406" y="0"/>
                </a:moveTo>
                <a:lnTo>
                  <a:pt x="5438769" y="0"/>
                </a:lnTo>
                <a:cubicBezTo>
                  <a:pt x="5522940" y="0"/>
                  <a:pt x="5591175" y="68235"/>
                  <a:pt x="5591175" y="152406"/>
                </a:cubicBezTo>
                <a:lnTo>
                  <a:pt x="5591175" y="3352794"/>
                </a:lnTo>
                <a:cubicBezTo>
                  <a:pt x="5591175" y="3436965"/>
                  <a:pt x="5522940" y="3505200"/>
                  <a:pt x="5438769" y="3505200"/>
                </a:cubicBezTo>
                <a:lnTo>
                  <a:pt x="152406" y="3505200"/>
                </a:lnTo>
                <a:cubicBezTo>
                  <a:pt x="68235" y="3505200"/>
                  <a:pt x="0" y="3436965"/>
                  <a:pt x="0" y="33527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495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3431" y="16573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5456" y="65522"/>
                </a:moveTo>
                <a:lnTo>
                  <a:pt x="60889" y="107156"/>
                </a:lnTo>
                <a:lnTo>
                  <a:pt x="224861" y="107156"/>
                </a:lnTo>
                <a:lnTo>
                  <a:pt x="210294" y="65522"/>
                </a:lnTo>
                <a:cubicBezTo>
                  <a:pt x="207783" y="58378"/>
                  <a:pt x="201030" y="53578"/>
                  <a:pt x="193439" y="53578"/>
                </a:cubicBezTo>
                <a:lnTo>
                  <a:pt x="92311" y="53578"/>
                </a:lnTo>
                <a:cubicBezTo>
                  <a:pt x="84720" y="53578"/>
                  <a:pt x="77967" y="58378"/>
                  <a:pt x="75456" y="65522"/>
                </a:cubicBezTo>
                <a:close/>
                <a:moveTo>
                  <a:pt x="22101" y="109835"/>
                </a:moveTo>
                <a:lnTo>
                  <a:pt x="41746" y="53746"/>
                </a:lnTo>
                <a:cubicBezTo>
                  <a:pt x="49281" y="32258"/>
                  <a:pt x="69540" y="17859"/>
                  <a:pt x="92311" y="17859"/>
                </a:cubicBezTo>
                <a:lnTo>
                  <a:pt x="193439" y="17859"/>
                </a:lnTo>
                <a:cubicBezTo>
                  <a:pt x="216210" y="17859"/>
                  <a:pt x="236469" y="32258"/>
                  <a:pt x="244004" y="53746"/>
                </a:cubicBezTo>
                <a:lnTo>
                  <a:pt x="263649" y="109835"/>
                </a:lnTo>
                <a:cubicBezTo>
                  <a:pt x="276597" y="115193"/>
                  <a:pt x="285750" y="127974"/>
                  <a:pt x="285750" y="142875"/>
                </a:cubicBezTo>
                <a:lnTo>
                  <a:pt x="285750" y="250031"/>
                </a:lnTo>
                <a:cubicBezTo>
                  <a:pt x="285750" y="259910"/>
                  <a:pt x="277769" y="267891"/>
                  <a:pt x="267891" y="267891"/>
                </a:cubicBezTo>
                <a:lnTo>
                  <a:pt x="250031" y="267891"/>
                </a:lnTo>
                <a:cubicBezTo>
                  <a:pt x="240153" y="267891"/>
                  <a:pt x="232172" y="259910"/>
                  <a:pt x="232172" y="250031"/>
                </a:cubicBezTo>
                <a:lnTo>
                  <a:pt x="232172" y="232172"/>
                </a:lnTo>
                <a:lnTo>
                  <a:pt x="53578" y="232172"/>
                </a:lnTo>
                <a:lnTo>
                  <a:pt x="53578" y="250031"/>
                </a:lnTo>
                <a:cubicBezTo>
                  <a:pt x="53578" y="259910"/>
                  <a:pt x="45597" y="267891"/>
                  <a:pt x="35719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142875"/>
                </a:lnTo>
                <a:cubicBezTo>
                  <a:pt x="0" y="127974"/>
                  <a:pt x="9153" y="115193"/>
                  <a:pt x="22101" y="109835"/>
                </a:cubicBezTo>
                <a:close/>
                <a:moveTo>
                  <a:pt x="71438" y="169664"/>
                </a:moveTo>
                <a:cubicBezTo>
                  <a:pt x="71438" y="159807"/>
                  <a:pt x="63435" y="151805"/>
                  <a:pt x="53578" y="151805"/>
                </a:cubicBezTo>
                <a:cubicBezTo>
                  <a:pt x="43721" y="151805"/>
                  <a:pt x="35719" y="159807"/>
                  <a:pt x="35719" y="169664"/>
                </a:cubicBezTo>
                <a:cubicBezTo>
                  <a:pt x="35719" y="179521"/>
                  <a:pt x="43721" y="187523"/>
                  <a:pt x="53578" y="187523"/>
                </a:cubicBezTo>
                <a:cubicBezTo>
                  <a:pt x="63435" y="187523"/>
                  <a:pt x="71438" y="179521"/>
                  <a:pt x="71438" y="169664"/>
                </a:cubicBezTo>
                <a:close/>
                <a:moveTo>
                  <a:pt x="232172" y="187523"/>
                </a:moveTo>
                <a:cubicBezTo>
                  <a:pt x="242029" y="187523"/>
                  <a:pt x="250031" y="179521"/>
                  <a:pt x="250031" y="169664"/>
                </a:cubicBezTo>
                <a:cubicBezTo>
                  <a:pt x="250031" y="159807"/>
                  <a:pt x="242029" y="151805"/>
                  <a:pt x="232172" y="151805"/>
                </a:cubicBezTo>
                <a:cubicBezTo>
                  <a:pt x="222315" y="151805"/>
                  <a:pt x="214313" y="159807"/>
                  <a:pt x="214313" y="169664"/>
                </a:cubicBezTo>
                <a:cubicBezTo>
                  <a:pt x="214313" y="179521"/>
                  <a:pt x="222315" y="187523"/>
                  <a:pt x="232172" y="18752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1552575"/>
            <a:ext cx="2295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Tesla &amp; Waymo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1125" y="1857375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Adaptativa en tiempo real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" y="2295525"/>
            <a:ext cx="5124450" cy="1047750"/>
          </a:xfrm>
          <a:custGeom>
            <a:avLst/>
            <a:gdLst/>
            <a:ahLst/>
            <a:cxnLst/>
            <a:rect l="l" t="t" r="r" b="b"/>
            <a:pathLst>
              <a:path w="5124450" h="1047750">
                <a:moveTo>
                  <a:pt x="114299" y="0"/>
                </a:moveTo>
                <a:lnTo>
                  <a:pt x="5010151" y="0"/>
                </a:lnTo>
                <a:cubicBezTo>
                  <a:pt x="5073277" y="0"/>
                  <a:pt x="5124450" y="51173"/>
                  <a:pt x="5124450" y="114299"/>
                </a:cubicBezTo>
                <a:lnTo>
                  <a:pt x="5124450" y="933451"/>
                </a:lnTo>
                <a:cubicBezTo>
                  <a:pt x="5124450" y="996577"/>
                  <a:pt x="5073277" y="1047750"/>
                  <a:pt x="50101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0575" y="2486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056" y="0"/>
                </a:moveTo>
                <a:cubicBezTo>
                  <a:pt x="115074" y="0"/>
                  <a:pt x="152400" y="37326"/>
                  <a:pt x="152400" y="83344"/>
                </a:cubicBezTo>
                <a:cubicBezTo>
                  <a:pt x="152400" y="87303"/>
                  <a:pt x="149215" y="90488"/>
                  <a:pt x="145256" y="90488"/>
                </a:cubicBezTo>
                <a:cubicBezTo>
                  <a:pt x="141297" y="90488"/>
                  <a:pt x="138113" y="87303"/>
                  <a:pt x="138113" y="83344"/>
                </a:cubicBezTo>
                <a:cubicBezTo>
                  <a:pt x="138113" y="45214"/>
                  <a:pt x="107186" y="14288"/>
                  <a:pt x="69056" y="14288"/>
                </a:cubicBezTo>
                <a:cubicBezTo>
                  <a:pt x="65097" y="14288"/>
                  <a:pt x="61912" y="11103"/>
                  <a:pt x="61912" y="7144"/>
                </a:cubicBezTo>
                <a:cubicBezTo>
                  <a:pt x="61912" y="3185"/>
                  <a:pt x="65097" y="0"/>
                  <a:pt x="69056" y="0"/>
                </a:cubicBezTo>
                <a:close/>
                <a:moveTo>
                  <a:pt x="61912" y="35719"/>
                </a:moveTo>
                <a:cubicBezTo>
                  <a:pt x="61912" y="31760"/>
                  <a:pt x="65097" y="28575"/>
                  <a:pt x="69056" y="28575"/>
                </a:cubicBezTo>
                <a:cubicBezTo>
                  <a:pt x="99298" y="28575"/>
                  <a:pt x="123825" y="53102"/>
                  <a:pt x="123825" y="83344"/>
                </a:cubicBezTo>
                <a:cubicBezTo>
                  <a:pt x="123825" y="87303"/>
                  <a:pt x="120640" y="90488"/>
                  <a:pt x="116681" y="90488"/>
                </a:cubicBezTo>
                <a:cubicBezTo>
                  <a:pt x="112722" y="90488"/>
                  <a:pt x="109537" y="87303"/>
                  <a:pt x="109537" y="83344"/>
                </a:cubicBezTo>
                <a:cubicBezTo>
                  <a:pt x="109537" y="60990"/>
                  <a:pt x="91410" y="42863"/>
                  <a:pt x="69056" y="42863"/>
                </a:cubicBezTo>
                <a:cubicBezTo>
                  <a:pt x="65097" y="42863"/>
                  <a:pt x="61912" y="39678"/>
                  <a:pt x="61912" y="35719"/>
                </a:cubicBezTo>
                <a:close/>
                <a:moveTo>
                  <a:pt x="7858" y="42476"/>
                </a:moveTo>
                <a:cubicBezTo>
                  <a:pt x="10478" y="37147"/>
                  <a:pt x="17502" y="36552"/>
                  <a:pt x="21699" y="40749"/>
                </a:cubicBezTo>
                <a:lnTo>
                  <a:pt x="59948" y="78998"/>
                </a:lnTo>
                <a:lnTo>
                  <a:pt x="69473" y="69473"/>
                </a:lnTo>
                <a:cubicBezTo>
                  <a:pt x="73194" y="65752"/>
                  <a:pt x="79236" y="65752"/>
                  <a:pt x="82957" y="69473"/>
                </a:cubicBezTo>
                <a:cubicBezTo>
                  <a:pt x="86678" y="73194"/>
                  <a:pt x="86678" y="79236"/>
                  <a:pt x="82957" y="82957"/>
                </a:cubicBezTo>
                <a:lnTo>
                  <a:pt x="73432" y="92482"/>
                </a:lnTo>
                <a:lnTo>
                  <a:pt x="111681" y="130731"/>
                </a:lnTo>
                <a:cubicBezTo>
                  <a:pt x="115878" y="134928"/>
                  <a:pt x="115253" y="141923"/>
                  <a:pt x="109954" y="144572"/>
                </a:cubicBezTo>
                <a:cubicBezTo>
                  <a:pt x="99774" y="149602"/>
                  <a:pt x="88344" y="152430"/>
                  <a:pt x="76230" y="152430"/>
                </a:cubicBezTo>
                <a:cubicBezTo>
                  <a:pt x="34141" y="152430"/>
                  <a:pt x="30" y="118318"/>
                  <a:pt x="30" y="76230"/>
                </a:cubicBezTo>
                <a:cubicBezTo>
                  <a:pt x="30" y="64115"/>
                  <a:pt x="2857" y="52655"/>
                  <a:pt x="7888" y="42505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" y="2447925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Múltiples Fuentes de Datos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1525" y="2752725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coche recibe datos en tiempo real de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sensores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tráfico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otros vehículos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creando un modelo completo del entorno.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" y="3490913"/>
            <a:ext cx="5124450" cy="1047750"/>
          </a:xfrm>
          <a:custGeom>
            <a:avLst/>
            <a:gdLst/>
            <a:ahLst/>
            <a:cxnLst/>
            <a:rect l="l" t="t" r="r" b="b"/>
            <a:pathLst>
              <a:path w="5124450" h="1047750">
                <a:moveTo>
                  <a:pt x="114299" y="0"/>
                </a:moveTo>
                <a:lnTo>
                  <a:pt x="5010151" y="0"/>
                </a:lnTo>
                <a:cubicBezTo>
                  <a:pt x="5073277" y="0"/>
                  <a:pt x="5124450" y="51173"/>
                  <a:pt x="5124450" y="114299"/>
                </a:cubicBezTo>
                <a:lnTo>
                  <a:pt x="5124450" y="933451"/>
                </a:lnTo>
                <a:cubicBezTo>
                  <a:pt x="5124450" y="996577"/>
                  <a:pt x="5073277" y="1047750"/>
                  <a:pt x="50101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1050" y="368141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62025" y="3643313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Visual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1525" y="3948112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Cámaras y LiDAR capturan imágenes del entorno: señales de tráfico, peatones, obstáculos, condiciones de la carretera.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4962525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104900"/>
                </a:lnTo>
                <a:cubicBezTo>
                  <a:pt x="5581650" y="1167984"/>
                  <a:pt x="5530434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4962525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5153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2950" y="528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" y="5153025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Nuevas Situaciones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19200" y="5495925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aparece una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nueva señal de tráfico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un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patrón de peatones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una ciudad, el modelo aprende incrementalmente de esos datos.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5063" y="1262063"/>
            <a:ext cx="5591175" cy="4362450"/>
          </a:xfrm>
          <a:custGeom>
            <a:avLst/>
            <a:gdLst/>
            <a:ahLst/>
            <a:cxnLst/>
            <a:rect l="l" t="t" r="r" b="b"/>
            <a:pathLst>
              <a:path w="5591175" h="4362450">
                <a:moveTo>
                  <a:pt x="152380" y="0"/>
                </a:moveTo>
                <a:lnTo>
                  <a:pt x="5438795" y="0"/>
                </a:lnTo>
                <a:cubicBezTo>
                  <a:pt x="5522952" y="0"/>
                  <a:pt x="5591175" y="68223"/>
                  <a:pt x="5591175" y="152380"/>
                </a:cubicBezTo>
                <a:lnTo>
                  <a:pt x="5591175" y="4210070"/>
                </a:lnTo>
                <a:cubicBezTo>
                  <a:pt x="5591175" y="4294227"/>
                  <a:pt x="5522952" y="4362450"/>
                  <a:pt x="5438795" y="4362450"/>
                </a:cubicBezTo>
                <a:lnTo>
                  <a:pt x="152380" y="4362450"/>
                </a:lnTo>
                <a:cubicBezTo>
                  <a:pt x="68223" y="4362450"/>
                  <a:pt x="0" y="4294227"/>
                  <a:pt x="0" y="4210070"/>
                </a:cubicBezTo>
                <a:lnTo>
                  <a:pt x="0" y="152380"/>
                </a:lnTo>
                <a:cubicBezTo>
                  <a:pt x="0" y="68279"/>
                  <a:pt x="68279" y="0"/>
                  <a:pt x="152380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495425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Beneficios de la IA Adaptativa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67475" y="1952625"/>
            <a:ext cx="5105400" cy="1047750"/>
          </a:xfrm>
          <a:custGeom>
            <a:avLst/>
            <a:gdLst/>
            <a:ahLst/>
            <a:cxnLst/>
            <a:rect l="l" t="t" r="r" b="b"/>
            <a:pathLst>
              <a:path w="5105400" h="1047750">
                <a:moveTo>
                  <a:pt x="38100" y="0"/>
                </a:moveTo>
                <a:lnTo>
                  <a:pt x="4991101" y="0"/>
                </a:lnTo>
                <a:cubicBezTo>
                  <a:pt x="5054227" y="0"/>
                  <a:pt x="5105400" y="51173"/>
                  <a:pt x="5105400" y="114299"/>
                </a:cubicBezTo>
                <a:lnTo>
                  <a:pt x="5105400" y="933451"/>
                </a:lnTo>
                <a:cubicBezTo>
                  <a:pt x="5105400" y="996577"/>
                  <a:pt x="5054227" y="1047750"/>
                  <a:pt x="4991101" y="1047750"/>
                </a:cubicBez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67475" y="1952625"/>
            <a:ext cx="38100" cy="1047750"/>
          </a:xfrm>
          <a:custGeom>
            <a:avLst/>
            <a:gdLst/>
            <a:ahLst/>
            <a:cxnLst/>
            <a:rect l="l" t="t" r="r" b="b"/>
            <a:pathLst>
              <a:path w="38100" h="1047750">
                <a:moveTo>
                  <a:pt x="38100" y="0"/>
                </a:moveTo>
                <a:lnTo>
                  <a:pt x="38100" y="0"/>
                </a:lnTo>
                <a:lnTo>
                  <a:pt x="38100" y="1047750"/>
                </a:ln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8" name="Shape 26"/>
          <p:cNvSpPr/>
          <p:nvPr/>
        </p:nvSpPr>
        <p:spPr>
          <a:xfrm>
            <a:off x="6662738" y="2133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6967538" y="2105025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Mayor Seguridad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38925" y="2409825"/>
            <a:ext cx="4848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sistema se vuelve más seguro al aprender de situaciones reales y adaptarse a condiciones cambiantes.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67475" y="3148013"/>
            <a:ext cx="5105400" cy="1047750"/>
          </a:xfrm>
          <a:custGeom>
            <a:avLst/>
            <a:gdLst/>
            <a:ahLst/>
            <a:cxnLst/>
            <a:rect l="l" t="t" r="r" b="b"/>
            <a:pathLst>
              <a:path w="5105400" h="1047750">
                <a:moveTo>
                  <a:pt x="38100" y="0"/>
                </a:moveTo>
                <a:lnTo>
                  <a:pt x="4991101" y="0"/>
                </a:lnTo>
                <a:cubicBezTo>
                  <a:pt x="5054227" y="0"/>
                  <a:pt x="5105400" y="51173"/>
                  <a:pt x="5105400" y="114299"/>
                </a:cubicBezTo>
                <a:lnTo>
                  <a:pt x="5105400" y="933451"/>
                </a:lnTo>
                <a:cubicBezTo>
                  <a:pt x="5105400" y="996577"/>
                  <a:pt x="5054227" y="1047750"/>
                  <a:pt x="4991101" y="1047750"/>
                </a:cubicBez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67475" y="3148013"/>
            <a:ext cx="38100" cy="1047750"/>
          </a:xfrm>
          <a:custGeom>
            <a:avLst/>
            <a:gdLst/>
            <a:ahLst/>
            <a:cxnLst/>
            <a:rect l="l" t="t" r="r" b="b"/>
            <a:pathLst>
              <a:path w="38100" h="1047750">
                <a:moveTo>
                  <a:pt x="38100" y="0"/>
                </a:moveTo>
                <a:lnTo>
                  <a:pt x="38100" y="0"/>
                </a:lnTo>
                <a:lnTo>
                  <a:pt x="38100" y="1047750"/>
                </a:ln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6662738" y="33289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967538" y="3300413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Adaptabilidad Global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38925" y="3605213"/>
            <a:ext cx="4848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Puede conducir en diferentes ciudades, países y condiciones sin necesidad de reprogramación completa.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67475" y="4343400"/>
            <a:ext cx="5105400" cy="1047750"/>
          </a:xfrm>
          <a:custGeom>
            <a:avLst/>
            <a:gdLst/>
            <a:ahLst/>
            <a:cxnLst/>
            <a:rect l="l" t="t" r="r" b="b"/>
            <a:pathLst>
              <a:path w="5105400" h="1047750">
                <a:moveTo>
                  <a:pt x="38100" y="0"/>
                </a:moveTo>
                <a:lnTo>
                  <a:pt x="4991101" y="0"/>
                </a:lnTo>
                <a:cubicBezTo>
                  <a:pt x="5054227" y="0"/>
                  <a:pt x="5105400" y="51173"/>
                  <a:pt x="5105400" y="114299"/>
                </a:cubicBezTo>
                <a:lnTo>
                  <a:pt x="5105400" y="933451"/>
                </a:lnTo>
                <a:cubicBezTo>
                  <a:pt x="5105400" y="996577"/>
                  <a:pt x="5054227" y="1047750"/>
                  <a:pt x="4991101" y="1047750"/>
                </a:cubicBez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67475" y="4343400"/>
            <a:ext cx="38100" cy="1047750"/>
          </a:xfrm>
          <a:custGeom>
            <a:avLst/>
            <a:gdLst/>
            <a:ahLst/>
            <a:cxnLst/>
            <a:rect l="l" t="t" r="r" b="b"/>
            <a:pathLst>
              <a:path w="38100" h="1047750">
                <a:moveTo>
                  <a:pt x="38100" y="0"/>
                </a:moveTo>
                <a:lnTo>
                  <a:pt x="38100" y="0"/>
                </a:lnTo>
                <a:lnTo>
                  <a:pt x="38100" y="1047750"/>
                </a:ln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8" name="Shape 36"/>
          <p:cNvSpPr/>
          <p:nvPr/>
        </p:nvSpPr>
        <p:spPr>
          <a:xfrm>
            <a:off x="6662738" y="4524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9611" y="21431"/>
                  <a:pt x="0" y="31042"/>
                  <a:pt x="0" y="42863"/>
                </a:cubicBezTo>
                <a:lnTo>
                  <a:pt x="0" y="45340"/>
                </a:lnTo>
                <a:cubicBezTo>
                  <a:pt x="0" y="47618"/>
                  <a:pt x="1473" y="49560"/>
                  <a:pt x="3382" y="50799"/>
                </a:cubicBezTo>
                <a:cubicBezTo>
                  <a:pt x="7802" y="53679"/>
                  <a:pt x="10716" y="58635"/>
                  <a:pt x="10716" y="64294"/>
                </a:cubicBezTo>
                <a:cubicBezTo>
                  <a:pt x="10716" y="69953"/>
                  <a:pt x="7802" y="74909"/>
                  <a:pt x="3382" y="77789"/>
                </a:cubicBezTo>
                <a:cubicBezTo>
                  <a:pt x="1473" y="79028"/>
                  <a:pt x="0" y="80970"/>
                  <a:pt x="0" y="83247"/>
                </a:cubicBezTo>
                <a:lnTo>
                  <a:pt x="0" y="101798"/>
                </a:lnTo>
                <a:lnTo>
                  <a:pt x="171450" y="101798"/>
                </a:lnTo>
                <a:lnTo>
                  <a:pt x="171450" y="83247"/>
                </a:lnTo>
                <a:cubicBezTo>
                  <a:pt x="171450" y="80970"/>
                  <a:pt x="169977" y="79028"/>
                  <a:pt x="168068" y="77789"/>
                </a:cubicBezTo>
                <a:cubicBezTo>
                  <a:pt x="163648" y="74909"/>
                  <a:pt x="160734" y="69953"/>
                  <a:pt x="160734" y="64294"/>
                </a:cubicBezTo>
                <a:cubicBezTo>
                  <a:pt x="160734" y="58635"/>
                  <a:pt x="163648" y="53679"/>
                  <a:pt x="168068" y="50799"/>
                </a:cubicBezTo>
                <a:cubicBezTo>
                  <a:pt x="169977" y="49560"/>
                  <a:pt x="171450" y="47618"/>
                  <a:pt x="171450" y="45340"/>
                </a:cubicBezTo>
                <a:lnTo>
                  <a:pt x="171450" y="42862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lose/>
                <a:moveTo>
                  <a:pt x="171450" y="139303"/>
                </a:moveTo>
                <a:lnTo>
                  <a:pt x="171450" y="117872"/>
                </a:lnTo>
                <a:lnTo>
                  <a:pt x="0" y="117872"/>
                </a:lnTo>
                <a:lnTo>
                  <a:pt x="0" y="139303"/>
                </a:lnTo>
                <a:cubicBezTo>
                  <a:pt x="0" y="145230"/>
                  <a:pt x="4789" y="150019"/>
                  <a:pt x="10716" y="150019"/>
                </a:cubicBezTo>
                <a:lnTo>
                  <a:pt x="32147" y="150019"/>
                </a:lnTo>
                <a:lnTo>
                  <a:pt x="32147" y="141982"/>
                </a:lnTo>
                <a:cubicBezTo>
                  <a:pt x="32147" y="137528"/>
                  <a:pt x="35730" y="133945"/>
                  <a:pt x="40184" y="133945"/>
                </a:cubicBezTo>
                <a:cubicBezTo>
                  <a:pt x="44637" y="133945"/>
                  <a:pt x="48220" y="137528"/>
                  <a:pt x="48220" y="141982"/>
                </a:cubicBezTo>
                <a:lnTo>
                  <a:pt x="48220" y="150019"/>
                </a:lnTo>
                <a:lnTo>
                  <a:pt x="77688" y="150019"/>
                </a:lnTo>
                <a:lnTo>
                  <a:pt x="77688" y="141982"/>
                </a:lnTo>
                <a:cubicBezTo>
                  <a:pt x="77688" y="137528"/>
                  <a:pt x="81271" y="133945"/>
                  <a:pt x="85725" y="133945"/>
                </a:cubicBezTo>
                <a:cubicBezTo>
                  <a:pt x="90179" y="133945"/>
                  <a:pt x="93762" y="137528"/>
                  <a:pt x="93762" y="141982"/>
                </a:cubicBezTo>
                <a:lnTo>
                  <a:pt x="93762" y="150019"/>
                </a:lnTo>
                <a:lnTo>
                  <a:pt x="123230" y="150019"/>
                </a:lnTo>
                <a:lnTo>
                  <a:pt x="123230" y="141982"/>
                </a:lnTo>
                <a:cubicBezTo>
                  <a:pt x="123230" y="137528"/>
                  <a:pt x="126813" y="133945"/>
                  <a:pt x="131266" y="133945"/>
                </a:cubicBezTo>
                <a:cubicBezTo>
                  <a:pt x="135720" y="133945"/>
                  <a:pt x="139303" y="137528"/>
                  <a:pt x="139303" y="141982"/>
                </a:cubicBezTo>
                <a:lnTo>
                  <a:pt x="139303" y="150019"/>
                </a:ln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lose/>
                <a:moveTo>
                  <a:pt x="53578" y="53578"/>
                </a:moveTo>
                <a:lnTo>
                  <a:pt x="53578" y="75009"/>
                </a:lnTo>
                <a:cubicBezTo>
                  <a:pt x="53578" y="80936"/>
                  <a:pt x="48790" y="85725"/>
                  <a:pt x="42863" y="85725"/>
                </a:cubicBezTo>
                <a:cubicBezTo>
                  <a:pt x="36935" y="85725"/>
                  <a:pt x="32147" y="80936"/>
                  <a:pt x="32147" y="75009"/>
                </a:cubicBezTo>
                <a:lnTo>
                  <a:pt x="32147" y="53578"/>
                </a:lnTo>
                <a:cubicBezTo>
                  <a:pt x="32147" y="47651"/>
                  <a:pt x="36935" y="42863"/>
                  <a:pt x="42863" y="42863"/>
                </a:cubicBezTo>
                <a:cubicBezTo>
                  <a:pt x="48790" y="42863"/>
                  <a:pt x="53578" y="47651"/>
                  <a:pt x="53578" y="53578"/>
                </a:cubicBezTo>
                <a:close/>
                <a:moveTo>
                  <a:pt x="96441" y="53578"/>
                </a:moveTo>
                <a:lnTo>
                  <a:pt x="96441" y="75009"/>
                </a:lnTo>
                <a:cubicBezTo>
                  <a:pt x="96441" y="80936"/>
                  <a:pt x="91652" y="85725"/>
                  <a:pt x="85725" y="85725"/>
                </a:cubicBezTo>
                <a:cubicBezTo>
                  <a:pt x="79798" y="85725"/>
                  <a:pt x="75009" y="80936"/>
                  <a:pt x="75009" y="75009"/>
                </a:cubicBezTo>
                <a:lnTo>
                  <a:pt x="75009" y="53578"/>
                </a:lnTo>
                <a:cubicBezTo>
                  <a:pt x="75009" y="47651"/>
                  <a:pt x="79798" y="42863"/>
                  <a:pt x="85725" y="42863"/>
                </a:cubicBezTo>
                <a:cubicBezTo>
                  <a:pt x="91652" y="42863"/>
                  <a:pt x="96441" y="47651"/>
                  <a:pt x="96441" y="53578"/>
                </a:cubicBezTo>
                <a:close/>
                <a:moveTo>
                  <a:pt x="139303" y="53578"/>
                </a:moveTo>
                <a:lnTo>
                  <a:pt x="139303" y="75009"/>
                </a:lnTo>
                <a:cubicBezTo>
                  <a:pt x="139303" y="80936"/>
                  <a:pt x="134515" y="85725"/>
                  <a:pt x="128588" y="85725"/>
                </a:cubicBezTo>
                <a:cubicBezTo>
                  <a:pt x="122660" y="85725"/>
                  <a:pt x="117872" y="80936"/>
                  <a:pt x="117872" y="75009"/>
                </a:cubicBezTo>
                <a:lnTo>
                  <a:pt x="117872" y="53578"/>
                </a:lnTo>
                <a:cubicBezTo>
                  <a:pt x="117872" y="47651"/>
                  <a:pt x="122660" y="42863"/>
                  <a:pt x="128588" y="42863"/>
                </a:cubicBezTo>
                <a:cubicBezTo>
                  <a:pt x="134515" y="42863"/>
                  <a:pt x="139303" y="47651"/>
                  <a:pt x="139303" y="53578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6967538" y="4495800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 Olvido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38925" y="4800600"/>
            <a:ext cx="4848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Aprende nuevas señales sin olvidar cómo manejar en autopistas, gracias al continual learning.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5063" y="5819775"/>
            <a:ext cx="5591175" cy="885825"/>
          </a:xfrm>
          <a:custGeom>
            <a:avLst/>
            <a:gdLst/>
            <a:ahLst/>
            <a:cxnLst/>
            <a:rect l="l" t="t" r="r" b="b"/>
            <a:pathLst>
              <a:path w="5591175" h="885825">
                <a:moveTo>
                  <a:pt x="114298" y="0"/>
                </a:moveTo>
                <a:lnTo>
                  <a:pt x="5476877" y="0"/>
                </a:lnTo>
                <a:cubicBezTo>
                  <a:pt x="5539960" y="0"/>
                  <a:pt x="5591175" y="51215"/>
                  <a:pt x="5591175" y="114298"/>
                </a:cubicBezTo>
                <a:lnTo>
                  <a:pt x="5591175" y="771527"/>
                </a:lnTo>
                <a:cubicBezTo>
                  <a:pt x="5591175" y="834610"/>
                  <a:pt x="5539960" y="885825"/>
                  <a:pt x="547687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34D399">
                  <a:alpha val="20000"/>
                </a:srgbClr>
              </a:gs>
            </a:gsLst>
            <a:lin ang="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648" y="601503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5633" y="47640"/>
                </a:moveTo>
                <a:lnTo>
                  <a:pt x="52328" y="85725"/>
                </a:lnTo>
                <a:lnTo>
                  <a:pt x="107201" y="85725"/>
                </a:lnTo>
                <a:lnTo>
                  <a:pt x="107201" y="42863"/>
                </a:lnTo>
                <a:lnTo>
                  <a:pt x="72420" y="42863"/>
                </a:lnTo>
                <a:cubicBezTo>
                  <a:pt x="69384" y="42863"/>
                  <a:pt x="66660" y="44782"/>
                  <a:pt x="65678" y="47640"/>
                </a:cubicBezTo>
                <a:close/>
                <a:moveTo>
                  <a:pt x="21699" y="86573"/>
                </a:moveTo>
                <a:lnTo>
                  <a:pt x="38621" y="38219"/>
                </a:lnTo>
                <a:cubicBezTo>
                  <a:pt x="43666" y="23887"/>
                  <a:pt x="57195" y="14288"/>
                  <a:pt x="72375" y="14288"/>
                </a:cubicBezTo>
                <a:lnTo>
                  <a:pt x="160734" y="14288"/>
                </a:lnTo>
                <a:cubicBezTo>
                  <a:pt x="171986" y="14288"/>
                  <a:pt x="182567" y="19601"/>
                  <a:pt x="189309" y="28575"/>
                </a:cubicBezTo>
                <a:lnTo>
                  <a:pt x="232261" y="85859"/>
                </a:lnTo>
                <a:cubicBezTo>
                  <a:pt x="262131" y="87734"/>
                  <a:pt x="285750" y="112559"/>
                  <a:pt x="285750" y="142875"/>
                </a:cubicBezTo>
                <a:lnTo>
                  <a:pt x="285750" y="150019"/>
                </a:lnTo>
                <a:cubicBezTo>
                  <a:pt x="285750" y="165780"/>
                  <a:pt x="272936" y="178594"/>
                  <a:pt x="257175" y="178594"/>
                </a:cubicBezTo>
                <a:lnTo>
                  <a:pt x="249853" y="178594"/>
                </a:lnTo>
                <a:cubicBezTo>
                  <a:pt x="248067" y="198641"/>
                  <a:pt x="231234" y="214313"/>
                  <a:pt x="210741" y="214313"/>
                </a:cubicBezTo>
                <a:cubicBezTo>
                  <a:pt x="190247" y="214313"/>
                  <a:pt x="173415" y="198641"/>
                  <a:pt x="171629" y="178594"/>
                </a:cubicBezTo>
                <a:lnTo>
                  <a:pt x="107022" y="178594"/>
                </a:lnTo>
                <a:cubicBezTo>
                  <a:pt x="105236" y="198641"/>
                  <a:pt x="88404" y="214313"/>
                  <a:pt x="67910" y="214313"/>
                </a:cubicBezTo>
                <a:cubicBezTo>
                  <a:pt x="47417" y="214313"/>
                  <a:pt x="30584" y="198641"/>
                  <a:pt x="28798" y="178594"/>
                </a:cubicBezTo>
                <a:lnTo>
                  <a:pt x="28620" y="178594"/>
                </a:lnTo>
                <a:cubicBezTo>
                  <a:pt x="12859" y="178594"/>
                  <a:pt x="45" y="165780"/>
                  <a:pt x="45" y="150019"/>
                </a:cubicBezTo>
                <a:lnTo>
                  <a:pt x="45" y="114300"/>
                </a:lnTo>
                <a:cubicBezTo>
                  <a:pt x="45" y="100861"/>
                  <a:pt x="9287" y="89609"/>
                  <a:pt x="21744" y="86573"/>
                </a:cubicBezTo>
                <a:close/>
                <a:moveTo>
                  <a:pt x="196453" y="85725"/>
                </a:moveTo>
                <a:lnTo>
                  <a:pt x="166449" y="45720"/>
                </a:lnTo>
                <a:cubicBezTo>
                  <a:pt x="165110" y="43934"/>
                  <a:pt x="162967" y="42863"/>
                  <a:pt x="160734" y="42863"/>
                </a:cubicBezTo>
                <a:lnTo>
                  <a:pt x="128588" y="42863"/>
                </a:lnTo>
                <a:lnTo>
                  <a:pt x="128588" y="85725"/>
                </a:lnTo>
                <a:lnTo>
                  <a:pt x="196453" y="85725"/>
                </a:lnTo>
                <a:close/>
                <a:moveTo>
                  <a:pt x="67866" y="192881"/>
                </a:moveTo>
                <a:cubicBezTo>
                  <a:pt x="77722" y="192881"/>
                  <a:pt x="85725" y="184879"/>
                  <a:pt x="85725" y="175022"/>
                </a:cubicBezTo>
                <a:cubicBezTo>
                  <a:pt x="85725" y="165165"/>
                  <a:pt x="77722" y="157163"/>
                  <a:pt x="67866" y="157163"/>
                </a:cubicBezTo>
                <a:cubicBezTo>
                  <a:pt x="58009" y="157163"/>
                  <a:pt x="50006" y="165165"/>
                  <a:pt x="50006" y="175022"/>
                </a:cubicBezTo>
                <a:cubicBezTo>
                  <a:pt x="50006" y="184879"/>
                  <a:pt x="58009" y="192881"/>
                  <a:pt x="67866" y="192881"/>
                </a:cubicBezTo>
                <a:close/>
                <a:moveTo>
                  <a:pt x="228600" y="175022"/>
                </a:moveTo>
                <a:cubicBezTo>
                  <a:pt x="228600" y="165165"/>
                  <a:pt x="220597" y="157163"/>
                  <a:pt x="210741" y="157163"/>
                </a:cubicBezTo>
                <a:cubicBezTo>
                  <a:pt x="200884" y="157163"/>
                  <a:pt x="192881" y="165165"/>
                  <a:pt x="192881" y="175022"/>
                </a:cubicBezTo>
                <a:cubicBezTo>
                  <a:pt x="192881" y="184879"/>
                  <a:pt x="200884" y="192881"/>
                  <a:pt x="210741" y="192881"/>
                </a:cubicBezTo>
                <a:cubicBezTo>
                  <a:pt x="220597" y="192881"/>
                  <a:pt x="228600" y="184879"/>
                  <a:pt x="228600" y="17502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7198519" y="6319838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Tesla Autopilot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96139" y="6072188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968234" y="60150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0"/>
                </a:moveTo>
                <a:cubicBezTo>
                  <a:pt x="77822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67464" y="28575"/>
                </a:lnTo>
                <a:cubicBezTo>
                  <a:pt x="48711" y="28575"/>
                  <a:pt x="32147" y="40764"/>
                  <a:pt x="26566" y="58668"/>
                </a:cubicBezTo>
                <a:lnTo>
                  <a:pt x="16297" y="91485"/>
                </a:lnTo>
                <a:cubicBezTo>
                  <a:pt x="6474" y="97825"/>
                  <a:pt x="0" y="108898"/>
                  <a:pt x="0" y="121444"/>
                </a:cubicBez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28575" y="214313"/>
                </a:lnTo>
                <a:cubicBezTo>
                  <a:pt x="36478" y="214313"/>
                  <a:pt x="42863" y="207928"/>
                  <a:pt x="42863" y="200025"/>
                </a:cubicBezTo>
                <a:lnTo>
                  <a:pt x="42863" y="185738"/>
                </a:lnTo>
                <a:lnTo>
                  <a:pt x="185738" y="185738"/>
                </a:lnTo>
                <a:lnTo>
                  <a:pt x="185738" y="200025"/>
                </a:lnTo>
                <a:cubicBezTo>
                  <a:pt x="185738" y="207928"/>
                  <a:pt x="192122" y="214313"/>
                  <a:pt x="200025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lnTo>
                  <a:pt x="228600" y="121444"/>
                </a:lnTo>
                <a:cubicBezTo>
                  <a:pt x="228600" y="108898"/>
                  <a:pt x="222126" y="97825"/>
                  <a:pt x="212348" y="91485"/>
                </a:cubicBezTo>
                <a:lnTo>
                  <a:pt x="202079" y="58668"/>
                </a:lnTo>
                <a:cubicBezTo>
                  <a:pt x="196498" y="40764"/>
                  <a:pt x="179889" y="28575"/>
                  <a:pt x="161136" y="28575"/>
                </a:cubicBezTo>
                <a:lnTo>
                  <a:pt x="157163" y="28575"/>
                </a:lnTo>
                <a:lnTo>
                  <a:pt x="157163" y="14288"/>
                </a:lnTo>
                <a:cubicBezTo>
                  <a:pt x="157163" y="6385"/>
                  <a:pt x="150778" y="0"/>
                  <a:pt x="142875" y="0"/>
                </a:cubicBezTo>
                <a:lnTo>
                  <a:pt x="85725" y="0"/>
                </a:lnTo>
                <a:close/>
                <a:moveTo>
                  <a:pt x="67464" y="57150"/>
                </a:moveTo>
                <a:lnTo>
                  <a:pt x="161181" y="57150"/>
                </a:lnTo>
                <a:cubicBezTo>
                  <a:pt x="167432" y="57150"/>
                  <a:pt x="172968" y="61213"/>
                  <a:pt x="174799" y="67196"/>
                </a:cubicBezTo>
                <a:lnTo>
                  <a:pt x="180603" y="85725"/>
                </a:lnTo>
                <a:lnTo>
                  <a:pt x="48042" y="85725"/>
                </a:lnTo>
                <a:lnTo>
                  <a:pt x="53846" y="67196"/>
                </a:lnTo>
                <a:cubicBezTo>
                  <a:pt x="55721" y="61213"/>
                  <a:pt x="61213" y="57150"/>
                  <a:pt x="67464" y="57150"/>
                </a:cubicBezTo>
                <a:close/>
                <a:moveTo>
                  <a:pt x="42863" y="121444"/>
                </a:moveTo>
                <a:cubicBezTo>
                  <a:pt x="50748" y="121444"/>
                  <a:pt x="57150" y="127846"/>
                  <a:pt x="57150" y="135731"/>
                </a:cubicBezTo>
                <a:cubicBezTo>
                  <a:pt x="57150" y="143617"/>
                  <a:pt x="50748" y="150019"/>
                  <a:pt x="42863" y="150019"/>
                </a:cubicBezTo>
                <a:cubicBezTo>
                  <a:pt x="34977" y="150019"/>
                  <a:pt x="28575" y="143617"/>
                  <a:pt x="28575" y="135731"/>
                </a:cubicBezTo>
                <a:cubicBezTo>
                  <a:pt x="28575" y="127846"/>
                  <a:pt x="34977" y="121444"/>
                  <a:pt x="42863" y="121444"/>
                </a:cubicBezTo>
                <a:close/>
                <a:moveTo>
                  <a:pt x="171450" y="135731"/>
                </a:moveTo>
                <a:cubicBezTo>
                  <a:pt x="171450" y="127846"/>
                  <a:pt x="177852" y="121444"/>
                  <a:pt x="185738" y="121444"/>
                </a:cubicBezTo>
                <a:cubicBezTo>
                  <a:pt x="193623" y="121444"/>
                  <a:pt x="200025" y="127846"/>
                  <a:pt x="200025" y="135731"/>
                </a:cubicBezTo>
                <a:cubicBezTo>
                  <a:pt x="200025" y="143617"/>
                  <a:pt x="193623" y="150019"/>
                  <a:pt x="185738" y="150019"/>
                </a:cubicBezTo>
                <a:cubicBezTo>
                  <a:pt x="177852" y="150019"/>
                  <a:pt x="171450" y="143617"/>
                  <a:pt x="171450" y="13573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6" name="Text 44"/>
          <p:cNvSpPr/>
          <p:nvPr/>
        </p:nvSpPr>
        <p:spPr>
          <a:xfrm>
            <a:off x="8677126" y="6319838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Waymo One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759553" y="6072188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317212" y="60150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10040541" y="6319838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Real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Casos Prácticos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Educación y Salud Personalizada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591175" cy="4400550"/>
          </a:xfrm>
          <a:custGeom>
            <a:avLst/>
            <a:gdLst/>
            <a:ahLst/>
            <a:cxnLst/>
            <a:rect l="l" t="t" r="r" b="b"/>
            <a:pathLst>
              <a:path w="5591175" h="4400550">
                <a:moveTo>
                  <a:pt x="152391" y="0"/>
                </a:moveTo>
                <a:lnTo>
                  <a:pt x="5438784" y="0"/>
                </a:lnTo>
                <a:cubicBezTo>
                  <a:pt x="5522947" y="0"/>
                  <a:pt x="5591175" y="68228"/>
                  <a:pt x="5591175" y="152391"/>
                </a:cubicBezTo>
                <a:lnTo>
                  <a:pt x="5591175" y="4248159"/>
                </a:lnTo>
                <a:cubicBezTo>
                  <a:pt x="5591175" y="4332322"/>
                  <a:pt x="5522947" y="4400550"/>
                  <a:pt x="5438784" y="4400550"/>
                </a:cubicBezTo>
                <a:lnTo>
                  <a:pt x="152391" y="4400550"/>
                </a:lnTo>
                <a:cubicBezTo>
                  <a:pt x="68228" y="4400550"/>
                  <a:pt x="0" y="4332322"/>
                  <a:pt x="0" y="424815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495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5572" y="16573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1552575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Educación Personalizada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1125" y="1857375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Duolingo &amp; Khan Academy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" y="2295525"/>
            <a:ext cx="5124450" cy="1047750"/>
          </a:xfrm>
          <a:custGeom>
            <a:avLst/>
            <a:gdLst/>
            <a:ahLst/>
            <a:cxnLst/>
            <a:rect l="l" t="t" r="r" b="b"/>
            <a:pathLst>
              <a:path w="5124450" h="1047750">
                <a:moveTo>
                  <a:pt x="114299" y="0"/>
                </a:moveTo>
                <a:lnTo>
                  <a:pt x="5010151" y="0"/>
                </a:lnTo>
                <a:cubicBezTo>
                  <a:pt x="5073277" y="0"/>
                  <a:pt x="5124450" y="51173"/>
                  <a:pt x="5124450" y="114299"/>
                </a:cubicBezTo>
                <a:lnTo>
                  <a:pt x="5124450" y="933451"/>
                </a:lnTo>
                <a:cubicBezTo>
                  <a:pt x="5124450" y="996577"/>
                  <a:pt x="5073277" y="1047750"/>
                  <a:pt x="50101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" y="2486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" y="2447925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Educativo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1525" y="2752725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de millones de estudiantes: qué ejercicios fallan, cuánto tiempo tardan, patrones de errores, preferencias de aprendizaje.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" y="3490913"/>
            <a:ext cx="5124450" cy="1047750"/>
          </a:xfrm>
          <a:custGeom>
            <a:avLst/>
            <a:gdLst/>
            <a:ahLst/>
            <a:cxnLst/>
            <a:rect l="l" t="t" r="r" b="b"/>
            <a:pathLst>
              <a:path w="5124450" h="1047750">
                <a:moveTo>
                  <a:pt x="114299" y="0"/>
                </a:moveTo>
                <a:lnTo>
                  <a:pt x="5010151" y="0"/>
                </a:lnTo>
                <a:cubicBezTo>
                  <a:pt x="5073277" y="0"/>
                  <a:pt x="5124450" y="51173"/>
                  <a:pt x="5124450" y="114299"/>
                </a:cubicBezTo>
                <a:lnTo>
                  <a:pt x="5124450" y="933451"/>
                </a:lnTo>
                <a:cubicBezTo>
                  <a:pt x="5124450" y="996577"/>
                  <a:pt x="5073277" y="1047750"/>
                  <a:pt x="50101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1525" y="368141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6349" y="2381"/>
                </a:moveTo>
                <a:cubicBezTo>
                  <a:pt x="96063" y="2381"/>
                  <a:pt x="112068" y="18386"/>
                  <a:pt x="112068" y="38100"/>
                </a:cubicBezTo>
                <a:cubicBezTo>
                  <a:pt x="112068" y="57814"/>
                  <a:pt x="96063" y="73819"/>
                  <a:pt x="76349" y="73819"/>
                </a:cubicBezTo>
                <a:cubicBezTo>
                  <a:pt x="56635" y="73819"/>
                  <a:pt x="40630" y="57814"/>
                  <a:pt x="40630" y="38100"/>
                </a:cubicBezTo>
                <a:cubicBezTo>
                  <a:pt x="40630" y="18386"/>
                  <a:pt x="56635" y="2381"/>
                  <a:pt x="76349" y="2381"/>
                </a:cubicBezTo>
                <a:close/>
                <a:moveTo>
                  <a:pt x="67479" y="90488"/>
                </a:moveTo>
                <a:lnTo>
                  <a:pt x="85159" y="90488"/>
                </a:lnTo>
                <a:lnTo>
                  <a:pt x="85606" y="90488"/>
                </a:lnTo>
                <a:cubicBezTo>
                  <a:pt x="81766" y="98465"/>
                  <a:pt x="83284" y="107811"/>
                  <a:pt x="89029" y="114151"/>
                </a:cubicBezTo>
                <a:cubicBezTo>
                  <a:pt x="83016" y="120789"/>
                  <a:pt x="81647" y="130760"/>
                  <a:pt x="86231" y="138976"/>
                </a:cubicBezTo>
                <a:lnTo>
                  <a:pt x="92928" y="151001"/>
                </a:lnTo>
                <a:cubicBezTo>
                  <a:pt x="93196" y="151477"/>
                  <a:pt x="93494" y="151954"/>
                  <a:pt x="93791" y="152400"/>
                </a:cubicBezTo>
                <a:lnTo>
                  <a:pt x="23247" y="152400"/>
                </a:lnTo>
                <a:cubicBezTo>
                  <a:pt x="18365" y="152400"/>
                  <a:pt x="14407" y="148441"/>
                  <a:pt x="14407" y="143560"/>
                </a:cubicBezTo>
                <a:cubicBezTo>
                  <a:pt x="14407" y="114240"/>
                  <a:pt x="38160" y="90487"/>
                  <a:pt x="67479" y="90487"/>
                </a:cubicBezTo>
                <a:close/>
                <a:moveTo>
                  <a:pt x="128766" y="73700"/>
                </a:moveTo>
                <a:cubicBezTo>
                  <a:pt x="128766" y="69741"/>
                  <a:pt x="131951" y="66556"/>
                  <a:pt x="135910" y="66556"/>
                </a:cubicBezTo>
                <a:lnTo>
                  <a:pt x="150197" y="66556"/>
                </a:lnTo>
                <a:cubicBezTo>
                  <a:pt x="154156" y="66556"/>
                  <a:pt x="157341" y="69741"/>
                  <a:pt x="157341" y="73700"/>
                </a:cubicBezTo>
                <a:lnTo>
                  <a:pt x="157341" y="75515"/>
                </a:lnTo>
                <a:cubicBezTo>
                  <a:pt x="157341" y="81141"/>
                  <a:pt x="164515" y="85279"/>
                  <a:pt x="169396" y="82481"/>
                </a:cubicBezTo>
                <a:lnTo>
                  <a:pt x="170884" y="81617"/>
                </a:lnTo>
                <a:cubicBezTo>
                  <a:pt x="174337" y="79623"/>
                  <a:pt x="178772" y="80843"/>
                  <a:pt x="180707" y="84326"/>
                </a:cubicBezTo>
                <a:lnTo>
                  <a:pt x="187375" y="96292"/>
                </a:lnTo>
                <a:cubicBezTo>
                  <a:pt x="189220" y="99626"/>
                  <a:pt x="188149" y="103793"/>
                  <a:pt x="184934" y="105817"/>
                </a:cubicBezTo>
                <a:lnTo>
                  <a:pt x="183535" y="106680"/>
                </a:lnTo>
                <a:cubicBezTo>
                  <a:pt x="178713" y="109686"/>
                  <a:pt x="178713" y="118556"/>
                  <a:pt x="183535" y="121593"/>
                </a:cubicBezTo>
                <a:lnTo>
                  <a:pt x="184904" y="122456"/>
                </a:lnTo>
                <a:cubicBezTo>
                  <a:pt x="188119" y="124480"/>
                  <a:pt x="189220" y="128647"/>
                  <a:pt x="187375" y="131981"/>
                </a:cubicBezTo>
                <a:lnTo>
                  <a:pt x="180677" y="144006"/>
                </a:lnTo>
                <a:cubicBezTo>
                  <a:pt x="178743" y="147489"/>
                  <a:pt x="174308" y="148739"/>
                  <a:pt x="170855" y="146715"/>
                </a:cubicBezTo>
                <a:lnTo>
                  <a:pt x="169396" y="145852"/>
                </a:lnTo>
                <a:cubicBezTo>
                  <a:pt x="164515" y="143024"/>
                  <a:pt x="157341" y="147191"/>
                  <a:pt x="157341" y="152817"/>
                </a:cubicBezTo>
                <a:lnTo>
                  <a:pt x="157341" y="154632"/>
                </a:lnTo>
                <a:cubicBezTo>
                  <a:pt x="157341" y="158591"/>
                  <a:pt x="154156" y="161776"/>
                  <a:pt x="150197" y="161776"/>
                </a:cubicBezTo>
                <a:lnTo>
                  <a:pt x="135910" y="161776"/>
                </a:lnTo>
                <a:cubicBezTo>
                  <a:pt x="131951" y="161776"/>
                  <a:pt x="128766" y="158591"/>
                  <a:pt x="128766" y="154632"/>
                </a:cubicBezTo>
                <a:lnTo>
                  <a:pt x="128766" y="152876"/>
                </a:lnTo>
                <a:cubicBezTo>
                  <a:pt x="128766" y="147221"/>
                  <a:pt x="121563" y="143054"/>
                  <a:pt x="116651" y="145881"/>
                </a:cubicBezTo>
                <a:lnTo>
                  <a:pt x="115223" y="146715"/>
                </a:lnTo>
                <a:cubicBezTo>
                  <a:pt x="111770" y="148709"/>
                  <a:pt x="107365" y="147489"/>
                  <a:pt x="105400" y="144006"/>
                </a:cubicBezTo>
                <a:lnTo>
                  <a:pt x="98673" y="131981"/>
                </a:lnTo>
                <a:cubicBezTo>
                  <a:pt x="96828" y="128647"/>
                  <a:pt x="97899" y="124450"/>
                  <a:pt x="101144" y="122426"/>
                </a:cubicBezTo>
                <a:lnTo>
                  <a:pt x="102453" y="121622"/>
                </a:lnTo>
                <a:cubicBezTo>
                  <a:pt x="107305" y="118616"/>
                  <a:pt x="107305" y="109686"/>
                  <a:pt x="102453" y="106680"/>
                </a:cubicBezTo>
                <a:lnTo>
                  <a:pt x="101114" y="105847"/>
                </a:lnTo>
                <a:cubicBezTo>
                  <a:pt x="97869" y="103823"/>
                  <a:pt x="96798" y="99626"/>
                  <a:pt x="98643" y="96292"/>
                </a:cubicBezTo>
                <a:lnTo>
                  <a:pt x="105341" y="84296"/>
                </a:lnTo>
                <a:cubicBezTo>
                  <a:pt x="107275" y="80814"/>
                  <a:pt x="111710" y="79593"/>
                  <a:pt x="115133" y="81588"/>
                </a:cubicBezTo>
                <a:lnTo>
                  <a:pt x="116562" y="82421"/>
                </a:lnTo>
                <a:cubicBezTo>
                  <a:pt x="121474" y="85249"/>
                  <a:pt x="128677" y="81082"/>
                  <a:pt x="128677" y="75426"/>
                </a:cubicBezTo>
                <a:lnTo>
                  <a:pt x="128677" y="73670"/>
                </a:lnTo>
                <a:close/>
                <a:moveTo>
                  <a:pt x="158502" y="114240"/>
                </a:moveTo>
                <a:cubicBezTo>
                  <a:pt x="158502" y="105698"/>
                  <a:pt x="151566" y="98762"/>
                  <a:pt x="143024" y="98762"/>
                </a:cubicBezTo>
                <a:cubicBezTo>
                  <a:pt x="134481" y="98762"/>
                  <a:pt x="127546" y="105698"/>
                  <a:pt x="127546" y="114240"/>
                </a:cubicBezTo>
                <a:cubicBezTo>
                  <a:pt x="127546" y="122783"/>
                  <a:pt x="134481" y="129719"/>
                  <a:pt x="143024" y="129719"/>
                </a:cubicBezTo>
                <a:cubicBezTo>
                  <a:pt x="151566" y="129719"/>
                  <a:pt x="158502" y="122783"/>
                  <a:pt x="158502" y="11424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62025" y="3643313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Adaptación en Tiempo Real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1525" y="3948112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un estudiante confunde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verbos irregulares en inglés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el sistema le da más práctica allí sin repetir todo el curso.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8175" y="4686300"/>
            <a:ext cx="5105400" cy="742950"/>
          </a:xfrm>
          <a:custGeom>
            <a:avLst/>
            <a:gdLst/>
            <a:ahLst/>
            <a:cxnLst/>
            <a:rect l="l" t="t" r="r" b="b"/>
            <a:pathLst>
              <a:path w="5105400" h="742950">
                <a:moveTo>
                  <a:pt x="0" y="0"/>
                </a:moveTo>
                <a:lnTo>
                  <a:pt x="4991097" y="0"/>
                </a:lnTo>
                <a:cubicBezTo>
                  <a:pt x="5054183" y="0"/>
                  <a:pt x="5105400" y="51217"/>
                  <a:pt x="5105400" y="114303"/>
                </a:cubicBezTo>
                <a:lnTo>
                  <a:pt x="5105400" y="628647"/>
                </a:lnTo>
                <a:cubicBezTo>
                  <a:pt x="5105400" y="691733"/>
                  <a:pt x="5054183" y="742950"/>
                  <a:pt x="4991097" y="742950"/>
                </a:cubicBez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638175" y="4686300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809625" y="4838700"/>
            <a:ext cx="4848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 Global: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 muchos estudiantes fallan en un tema nuevo (como IA ética), el sistema ajusta el contenido para todos.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5063" y="1262063"/>
            <a:ext cx="5591175" cy="4400550"/>
          </a:xfrm>
          <a:custGeom>
            <a:avLst/>
            <a:gdLst/>
            <a:ahLst/>
            <a:cxnLst/>
            <a:rect l="l" t="t" r="r" b="b"/>
            <a:pathLst>
              <a:path w="5591175" h="4400550">
                <a:moveTo>
                  <a:pt x="152391" y="0"/>
                </a:moveTo>
                <a:lnTo>
                  <a:pt x="5438784" y="0"/>
                </a:lnTo>
                <a:cubicBezTo>
                  <a:pt x="5522947" y="0"/>
                  <a:pt x="5591175" y="68228"/>
                  <a:pt x="5591175" y="152391"/>
                </a:cubicBezTo>
                <a:lnTo>
                  <a:pt x="5591175" y="4248159"/>
                </a:lnTo>
                <a:cubicBezTo>
                  <a:pt x="5591175" y="4332322"/>
                  <a:pt x="5522947" y="4400550"/>
                  <a:pt x="5438784" y="4400550"/>
                </a:cubicBezTo>
                <a:lnTo>
                  <a:pt x="152391" y="4400550"/>
                </a:lnTo>
                <a:cubicBezTo>
                  <a:pt x="68228" y="4400550"/>
                  <a:pt x="0" y="4332322"/>
                  <a:pt x="0" y="424815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8425" y="1495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12731" y="16573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60220"/>
                </a:moveTo>
                <a:lnTo>
                  <a:pt x="134503" y="48611"/>
                </a:lnTo>
                <a:cubicBezTo>
                  <a:pt x="120551" y="29301"/>
                  <a:pt x="98171" y="17859"/>
                  <a:pt x="74284" y="17859"/>
                </a:cubicBezTo>
                <a:cubicBezTo>
                  <a:pt x="33263" y="17859"/>
                  <a:pt x="0" y="51122"/>
                  <a:pt x="0" y="92143"/>
                </a:cubicBezTo>
                <a:lnTo>
                  <a:pt x="0" y="93594"/>
                </a:lnTo>
                <a:cubicBezTo>
                  <a:pt x="0" y="106766"/>
                  <a:pt x="3460" y="120383"/>
                  <a:pt x="9265" y="133945"/>
                </a:cubicBezTo>
                <a:lnTo>
                  <a:pt x="68424" y="133945"/>
                </a:lnTo>
                <a:cubicBezTo>
                  <a:pt x="70210" y="133945"/>
                  <a:pt x="71828" y="132885"/>
                  <a:pt x="72554" y="131211"/>
                </a:cubicBezTo>
                <a:lnTo>
                  <a:pt x="90301" y="88627"/>
                </a:lnTo>
                <a:cubicBezTo>
                  <a:pt x="92366" y="83716"/>
                  <a:pt x="97166" y="80479"/>
                  <a:pt x="102468" y="80367"/>
                </a:cubicBezTo>
                <a:cubicBezTo>
                  <a:pt x="107770" y="80256"/>
                  <a:pt x="112681" y="83381"/>
                  <a:pt x="114858" y="88236"/>
                </a:cubicBezTo>
                <a:lnTo>
                  <a:pt x="143489" y="151805"/>
                </a:lnTo>
                <a:lnTo>
                  <a:pt x="166594" y="105594"/>
                </a:lnTo>
                <a:cubicBezTo>
                  <a:pt x="168883" y="101073"/>
                  <a:pt x="173515" y="98171"/>
                  <a:pt x="178594" y="98171"/>
                </a:cubicBezTo>
                <a:cubicBezTo>
                  <a:pt x="183673" y="98171"/>
                  <a:pt x="188305" y="101017"/>
                  <a:pt x="190593" y="105594"/>
                </a:cubicBezTo>
                <a:lnTo>
                  <a:pt x="203541" y="131434"/>
                </a:lnTo>
                <a:cubicBezTo>
                  <a:pt x="204322" y="132941"/>
                  <a:pt x="205829" y="133890"/>
                  <a:pt x="207559" y="133890"/>
                </a:cubicBezTo>
                <a:lnTo>
                  <a:pt x="276541" y="133890"/>
                </a:lnTo>
                <a:cubicBezTo>
                  <a:pt x="282401" y="120328"/>
                  <a:pt x="285806" y="106710"/>
                  <a:pt x="285806" y="93538"/>
                </a:cubicBezTo>
                <a:lnTo>
                  <a:pt x="285806" y="92087"/>
                </a:lnTo>
                <a:cubicBezTo>
                  <a:pt x="285750" y="51122"/>
                  <a:pt x="252487" y="17859"/>
                  <a:pt x="211466" y="17859"/>
                </a:cubicBezTo>
                <a:cubicBezTo>
                  <a:pt x="187635" y="17859"/>
                  <a:pt x="165199" y="29301"/>
                  <a:pt x="151247" y="48611"/>
                </a:cubicBezTo>
                <a:lnTo>
                  <a:pt x="142875" y="60164"/>
                </a:lnTo>
                <a:close/>
                <a:moveTo>
                  <a:pt x="262086" y="160734"/>
                </a:moveTo>
                <a:lnTo>
                  <a:pt x="207504" y="160734"/>
                </a:lnTo>
                <a:cubicBezTo>
                  <a:pt x="195672" y="160734"/>
                  <a:pt x="184845" y="154037"/>
                  <a:pt x="179543" y="143433"/>
                </a:cubicBezTo>
                <a:lnTo>
                  <a:pt x="178594" y="141536"/>
                </a:lnTo>
                <a:lnTo>
                  <a:pt x="154874" y="189030"/>
                </a:lnTo>
                <a:cubicBezTo>
                  <a:pt x="152586" y="193663"/>
                  <a:pt x="147786" y="196565"/>
                  <a:pt x="142596" y="196453"/>
                </a:cubicBezTo>
                <a:cubicBezTo>
                  <a:pt x="137406" y="196342"/>
                  <a:pt x="132773" y="193272"/>
                  <a:pt x="130652" y="188584"/>
                </a:cubicBezTo>
                <a:lnTo>
                  <a:pt x="103138" y="127471"/>
                </a:lnTo>
                <a:lnTo>
                  <a:pt x="97278" y="141536"/>
                </a:lnTo>
                <a:cubicBezTo>
                  <a:pt x="92422" y="153200"/>
                  <a:pt x="81037" y="160790"/>
                  <a:pt x="68424" y="160790"/>
                </a:cubicBezTo>
                <a:lnTo>
                  <a:pt x="23664" y="160790"/>
                </a:lnTo>
                <a:cubicBezTo>
                  <a:pt x="50006" y="201978"/>
                  <a:pt x="92311" y="239874"/>
                  <a:pt x="118765" y="260077"/>
                </a:cubicBezTo>
                <a:cubicBezTo>
                  <a:pt x="125685" y="265323"/>
                  <a:pt x="134169" y="267946"/>
                  <a:pt x="142819" y="267946"/>
                </a:cubicBezTo>
                <a:cubicBezTo>
                  <a:pt x="151470" y="267946"/>
                  <a:pt x="160009" y="265379"/>
                  <a:pt x="166874" y="260077"/>
                </a:cubicBezTo>
                <a:cubicBezTo>
                  <a:pt x="193439" y="239818"/>
                  <a:pt x="235744" y="201923"/>
                  <a:pt x="262086" y="16073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210425" y="1552575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Medicina de Precisión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10425" y="1857375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Memorial Sloan Kettering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8425" y="2295525"/>
            <a:ext cx="5124450" cy="1047750"/>
          </a:xfrm>
          <a:custGeom>
            <a:avLst/>
            <a:gdLst/>
            <a:ahLst/>
            <a:cxnLst/>
            <a:rect l="l" t="t" r="r" b="b"/>
            <a:pathLst>
              <a:path w="5124450" h="1047750">
                <a:moveTo>
                  <a:pt x="114299" y="0"/>
                </a:moveTo>
                <a:lnTo>
                  <a:pt x="5010151" y="0"/>
                </a:lnTo>
                <a:cubicBezTo>
                  <a:pt x="5073277" y="0"/>
                  <a:pt x="5124450" y="51173"/>
                  <a:pt x="5124450" y="114299"/>
                </a:cubicBezTo>
                <a:lnTo>
                  <a:pt x="5124450" y="933451"/>
                </a:lnTo>
                <a:cubicBezTo>
                  <a:pt x="5124450" y="996577"/>
                  <a:pt x="5073277" y="1047750"/>
                  <a:pt x="50101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29400" y="2486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791325" y="2447925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Médico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00825" y="2752725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en tiempo real de pacientes: resultados de pruebas, síntomas, tratamientos aplicados, respuestas individuales.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8425" y="3490913"/>
            <a:ext cx="5124450" cy="1047750"/>
          </a:xfrm>
          <a:custGeom>
            <a:avLst/>
            <a:gdLst/>
            <a:ahLst/>
            <a:cxnLst/>
            <a:rect l="l" t="t" r="r" b="b"/>
            <a:pathLst>
              <a:path w="5124450" h="1047750">
                <a:moveTo>
                  <a:pt x="114299" y="0"/>
                </a:moveTo>
                <a:lnTo>
                  <a:pt x="5010151" y="0"/>
                </a:lnTo>
                <a:cubicBezTo>
                  <a:pt x="5073277" y="0"/>
                  <a:pt x="5124450" y="51173"/>
                  <a:pt x="5124450" y="114299"/>
                </a:cubicBezTo>
                <a:lnTo>
                  <a:pt x="5124450" y="933451"/>
                </a:lnTo>
                <a:cubicBezTo>
                  <a:pt x="5124450" y="996577"/>
                  <a:pt x="5073277" y="1047750"/>
                  <a:pt x="50101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19875" y="36814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33338"/>
                </a:moveTo>
                <a:cubicBezTo>
                  <a:pt x="19050" y="25450"/>
                  <a:pt x="25450" y="19050"/>
                  <a:pt x="33338" y="19050"/>
                </a:cubicBezTo>
                <a:cubicBezTo>
                  <a:pt x="41225" y="19050"/>
                  <a:pt x="47625" y="25450"/>
                  <a:pt x="47625" y="33338"/>
                </a:cubicBezTo>
                <a:lnTo>
                  <a:pt x="47625" y="66675"/>
                </a:lnTo>
                <a:lnTo>
                  <a:pt x="19050" y="66675"/>
                </a:lnTo>
                <a:lnTo>
                  <a:pt x="19050" y="33338"/>
                </a:lnTo>
                <a:close/>
                <a:moveTo>
                  <a:pt x="52388" y="109537"/>
                </a:moveTo>
                <a:cubicBezTo>
                  <a:pt x="52388" y="95042"/>
                  <a:pt x="57775" y="81796"/>
                  <a:pt x="66675" y="71735"/>
                </a:cubicBezTo>
                <a:lnTo>
                  <a:pt x="66675" y="33338"/>
                </a:lnTo>
                <a:cubicBezTo>
                  <a:pt x="66675" y="14913"/>
                  <a:pt x="51762" y="0"/>
                  <a:pt x="33338" y="0"/>
                </a:cubicBezTo>
                <a:cubicBezTo>
                  <a:pt x="14913" y="0"/>
                  <a:pt x="0" y="14913"/>
                  <a:pt x="0" y="33338"/>
                </a:cubicBezTo>
                <a:lnTo>
                  <a:pt x="0" y="119062"/>
                </a:lnTo>
                <a:cubicBezTo>
                  <a:pt x="0" y="137487"/>
                  <a:pt x="14913" y="152400"/>
                  <a:pt x="33338" y="152400"/>
                </a:cubicBezTo>
                <a:cubicBezTo>
                  <a:pt x="44440" y="152400"/>
                  <a:pt x="54263" y="146983"/>
                  <a:pt x="60335" y="138619"/>
                </a:cubicBezTo>
                <a:cubicBezTo>
                  <a:pt x="55275" y="130106"/>
                  <a:pt x="52388" y="120164"/>
                  <a:pt x="52388" y="109537"/>
                </a:cubicBezTo>
                <a:close/>
                <a:moveTo>
                  <a:pt x="71646" y="129600"/>
                </a:moveTo>
                <a:cubicBezTo>
                  <a:pt x="73015" y="132189"/>
                  <a:pt x="76498" y="132487"/>
                  <a:pt x="78581" y="130403"/>
                </a:cubicBezTo>
                <a:lnTo>
                  <a:pt x="130403" y="78581"/>
                </a:lnTo>
                <a:cubicBezTo>
                  <a:pt x="132487" y="76498"/>
                  <a:pt x="132189" y="73015"/>
                  <a:pt x="129600" y="71646"/>
                </a:cubicBezTo>
                <a:cubicBezTo>
                  <a:pt x="123617" y="68461"/>
                  <a:pt x="116800" y="66675"/>
                  <a:pt x="109537" y="66675"/>
                </a:cubicBezTo>
                <a:cubicBezTo>
                  <a:pt x="85874" y="66675"/>
                  <a:pt x="66675" y="85874"/>
                  <a:pt x="66675" y="109537"/>
                </a:cubicBezTo>
                <a:cubicBezTo>
                  <a:pt x="66675" y="116771"/>
                  <a:pt x="68461" y="123617"/>
                  <a:pt x="71646" y="129600"/>
                </a:cubicBezTo>
                <a:close/>
                <a:moveTo>
                  <a:pt x="88672" y="140494"/>
                </a:moveTo>
                <a:cubicBezTo>
                  <a:pt x="86588" y="142577"/>
                  <a:pt x="86886" y="146060"/>
                  <a:pt x="89475" y="147429"/>
                </a:cubicBezTo>
                <a:cubicBezTo>
                  <a:pt x="95458" y="150614"/>
                  <a:pt x="102275" y="152400"/>
                  <a:pt x="109537" y="152400"/>
                </a:cubicBezTo>
                <a:cubicBezTo>
                  <a:pt x="133201" y="152400"/>
                  <a:pt x="152400" y="133201"/>
                  <a:pt x="152400" y="109537"/>
                </a:cubicBezTo>
                <a:cubicBezTo>
                  <a:pt x="152400" y="102304"/>
                  <a:pt x="150614" y="95458"/>
                  <a:pt x="147429" y="89475"/>
                </a:cubicBezTo>
                <a:cubicBezTo>
                  <a:pt x="146060" y="86886"/>
                  <a:pt x="142577" y="86588"/>
                  <a:pt x="140494" y="88672"/>
                </a:cubicBezTo>
                <a:lnTo>
                  <a:pt x="88672" y="140494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6791325" y="3643313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Refinamiento Continuo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00825" y="3948112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IA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refina recomendaciones de tratamientos continuamente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adaptándose a nuevos datos de investigación.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67475" y="4686300"/>
            <a:ext cx="5105400" cy="742950"/>
          </a:xfrm>
          <a:custGeom>
            <a:avLst/>
            <a:gdLst/>
            <a:ahLst/>
            <a:cxnLst/>
            <a:rect l="l" t="t" r="r" b="b"/>
            <a:pathLst>
              <a:path w="5105400" h="742950">
                <a:moveTo>
                  <a:pt x="0" y="0"/>
                </a:moveTo>
                <a:lnTo>
                  <a:pt x="4991097" y="0"/>
                </a:lnTo>
                <a:cubicBezTo>
                  <a:pt x="5054183" y="0"/>
                  <a:pt x="5105400" y="51217"/>
                  <a:pt x="5105400" y="114303"/>
                </a:cubicBezTo>
                <a:lnTo>
                  <a:pt x="5105400" y="628647"/>
                </a:lnTo>
                <a:cubicBezTo>
                  <a:pt x="5105400" y="691733"/>
                  <a:pt x="5054183" y="742950"/>
                  <a:pt x="4991097" y="742950"/>
                </a:cubicBez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6467475" y="4686300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638925" y="4838700"/>
            <a:ext cx="4848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Resultado: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Precisiones altísimas en diagnósticos y terapias personalizadas para cada paciente.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5857875"/>
            <a:ext cx="11420475" cy="619125"/>
          </a:xfrm>
          <a:custGeom>
            <a:avLst/>
            <a:gdLst/>
            <a:ahLst/>
            <a:cxnLst/>
            <a:rect l="l" t="t" r="r" b="b"/>
            <a:pathLst>
              <a:path w="11420475" h="619125">
                <a:moveTo>
                  <a:pt x="114303" y="0"/>
                </a:moveTo>
                <a:lnTo>
                  <a:pt x="11306172" y="0"/>
                </a:lnTo>
                <a:cubicBezTo>
                  <a:pt x="11369258" y="0"/>
                  <a:pt x="11420475" y="51217"/>
                  <a:pt x="11420475" y="114303"/>
                </a:cubicBezTo>
                <a:lnTo>
                  <a:pt x="11420475" y="504822"/>
                </a:lnTo>
                <a:cubicBezTo>
                  <a:pt x="11420475" y="567908"/>
                  <a:pt x="11369258" y="619125"/>
                  <a:pt x="11306172" y="619125"/>
                </a:cubicBezTo>
                <a:lnTo>
                  <a:pt x="114303" y="619125"/>
                </a:lnTo>
                <a:cubicBezTo>
                  <a:pt x="51217" y="619125"/>
                  <a:pt x="0" y="567908"/>
                  <a:pt x="0" y="5048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37048" y="607218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9781" y="-4837"/>
                </a:moveTo>
                <a:cubicBezTo>
                  <a:pt x="85539" y="-5693"/>
                  <a:pt x="81186" y="-5693"/>
                  <a:pt x="76944" y="-4837"/>
                </a:cubicBezTo>
                <a:lnTo>
                  <a:pt x="7181" y="9116"/>
                </a:lnTo>
                <a:cubicBezTo>
                  <a:pt x="3014" y="9934"/>
                  <a:pt x="0" y="13618"/>
                  <a:pt x="0" y="17859"/>
                </a:cubicBezTo>
                <a:cubicBezTo>
                  <a:pt x="0" y="21692"/>
                  <a:pt x="2418" y="25040"/>
                  <a:pt x="5953" y="26268"/>
                </a:cubicBezTo>
                <a:lnTo>
                  <a:pt x="5953" y="53578"/>
                </a:lnTo>
                <a:lnTo>
                  <a:pt x="112" y="82823"/>
                </a:lnTo>
                <a:cubicBezTo>
                  <a:pt x="37" y="83158"/>
                  <a:pt x="0" y="83530"/>
                  <a:pt x="0" y="83902"/>
                </a:cubicBezTo>
                <a:cubicBezTo>
                  <a:pt x="0" y="86878"/>
                  <a:pt x="2418" y="89334"/>
                  <a:pt x="5432" y="89334"/>
                </a:cubicBezTo>
                <a:lnTo>
                  <a:pt x="18417" y="89334"/>
                </a:lnTo>
                <a:cubicBezTo>
                  <a:pt x="21394" y="89334"/>
                  <a:pt x="23850" y="86916"/>
                  <a:pt x="23850" y="83902"/>
                </a:cubicBezTo>
                <a:cubicBezTo>
                  <a:pt x="23850" y="83530"/>
                  <a:pt x="23812" y="83195"/>
                  <a:pt x="23738" y="82823"/>
                </a:cubicBezTo>
                <a:lnTo>
                  <a:pt x="17859" y="53578"/>
                </a:lnTo>
                <a:lnTo>
                  <a:pt x="17859" y="28761"/>
                </a:lnTo>
                <a:lnTo>
                  <a:pt x="35719" y="32333"/>
                </a:lnTo>
                <a:lnTo>
                  <a:pt x="35719" y="53578"/>
                </a:lnTo>
                <a:cubicBezTo>
                  <a:pt x="35719" y="79883"/>
                  <a:pt x="57038" y="101203"/>
                  <a:pt x="83344" y="101203"/>
                </a:cubicBezTo>
                <a:cubicBezTo>
                  <a:pt x="109649" y="101203"/>
                  <a:pt x="130969" y="79883"/>
                  <a:pt x="130969" y="53578"/>
                </a:cubicBezTo>
                <a:lnTo>
                  <a:pt x="130969" y="32333"/>
                </a:lnTo>
                <a:lnTo>
                  <a:pt x="159507" y="26640"/>
                </a:lnTo>
                <a:cubicBezTo>
                  <a:pt x="163674" y="25784"/>
                  <a:pt x="166688" y="22101"/>
                  <a:pt x="166688" y="17859"/>
                </a:cubicBezTo>
                <a:cubicBezTo>
                  <a:pt x="166688" y="13618"/>
                  <a:pt x="163674" y="9934"/>
                  <a:pt x="159507" y="9116"/>
                </a:cubicBezTo>
                <a:lnTo>
                  <a:pt x="89781" y="-4837"/>
                </a:lnTo>
                <a:close/>
                <a:moveTo>
                  <a:pt x="83344" y="83344"/>
                </a:moveTo>
                <a:cubicBezTo>
                  <a:pt x="66898" y="83344"/>
                  <a:pt x="53578" y="70024"/>
                  <a:pt x="53578" y="53578"/>
                </a:cubicBezTo>
                <a:lnTo>
                  <a:pt x="113109" y="53578"/>
                </a:lnTo>
                <a:cubicBezTo>
                  <a:pt x="113109" y="70024"/>
                  <a:pt x="99789" y="83344"/>
                  <a:pt x="83344" y="83344"/>
                </a:cubicBezTo>
                <a:close/>
                <a:moveTo>
                  <a:pt x="44686" y="119100"/>
                </a:moveTo>
                <a:cubicBezTo>
                  <a:pt x="21841" y="129592"/>
                  <a:pt x="5953" y="152660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74414" y="190500"/>
                </a:lnTo>
                <a:lnTo>
                  <a:pt x="74414" y="136178"/>
                </a:lnTo>
                <a:lnTo>
                  <a:pt x="53057" y="120179"/>
                </a:lnTo>
                <a:cubicBezTo>
                  <a:pt x="50639" y="118356"/>
                  <a:pt x="47402" y="117872"/>
                  <a:pt x="44648" y="119137"/>
                </a:cubicBezTo>
                <a:close/>
                <a:moveTo>
                  <a:pt x="92273" y="190500"/>
                </a:move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2660"/>
                  <a:pt x="144847" y="129592"/>
                  <a:pt x="122002" y="119137"/>
                </a:cubicBezTo>
                <a:cubicBezTo>
                  <a:pt x="119249" y="117872"/>
                  <a:pt x="116012" y="118356"/>
                  <a:pt x="113593" y="120179"/>
                </a:cubicBezTo>
                <a:lnTo>
                  <a:pt x="92236" y="136178"/>
                </a:lnTo>
                <a:lnTo>
                  <a:pt x="92236" y="19050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2653754" y="6053138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Personalizado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33640" y="6015038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12271" y="607218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17859"/>
                </a:moveTo>
                <a:cubicBezTo>
                  <a:pt x="11906" y="8000"/>
                  <a:pt x="19906" y="0"/>
                  <a:pt x="29766" y="0"/>
                </a:cubicBezTo>
                <a:lnTo>
                  <a:pt x="47625" y="0"/>
                </a:lnTo>
                <a:cubicBezTo>
                  <a:pt x="54211" y="0"/>
                  <a:pt x="59531" y="5321"/>
                  <a:pt x="59531" y="11906"/>
                </a:cubicBezTo>
                <a:cubicBezTo>
                  <a:pt x="59531" y="18492"/>
                  <a:pt x="54211" y="23812"/>
                  <a:pt x="47625" y="23812"/>
                </a:cubicBezTo>
                <a:lnTo>
                  <a:pt x="35719" y="23812"/>
                </a:lnTo>
                <a:lnTo>
                  <a:pt x="35719" y="71438"/>
                </a:lnTo>
                <a:cubicBezTo>
                  <a:pt x="35719" y="91157"/>
                  <a:pt x="51718" y="107156"/>
                  <a:pt x="71438" y="107156"/>
                </a:cubicBezTo>
                <a:cubicBezTo>
                  <a:pt x="91157" y="107156"/>
                  <a:pt x="107156" y="91157"/>
                  <a:pt x="107156" y="71438"/>
                </a:cubicBezTo>
                <a:lnTo>
                  <a:pt x="107156" y="23812"/>
                </a:lnTo>
                <a:lnTo>
                  <a:pt x="95250" y="23812"/>
                </a:lnTo>
                <a:cubicBezTo>
                  <a:pt x="88664" y="23812"/>
                  <a:pt x="83344" y="18492"/>
                  <a:pt x="83344" y="11906"/>
                </a:cubicBezTo>
                <a:cubicBezTo>
                  <a:pt x="83344" y="5321"/>
                  <a:pt x="88664" y="0"/>
                  <a:pt x="95250" y="0"/>
                </a:cubicBezTo>
                <a:lnTo>
                  <a:pt x="113109" y="0"/>
                </a:lnTo>
                <a:cubicBezTo>
                  <a:pt x="122969" y="0"/>
                  <a:pt x="130969" y="8000"/>
                  <a:pt x="130969" y="17859"/>
                </a:cubicBezTo>
                <a:lnTo>
                  <a:pt x="130969" y="71438"/>
                </a:lnTo>
                <a:cubicBezTo>
                  <a:pt x="130969" y="100236"/>
                  <a:pt x="110505" y="124271"/>
                  <a:pt x="83344" y="129778"/>
                </a:cubicBezTo>
                <a:lnTo>
                  <a:pt x="83344" y="136922"/>
                </a:lnTo>
                <a:cubicBezTo>
                  <a:pt x="83344" y="159953"/>
                  <a:pt x="101984" y="178594"/>
                  <a:pt x="125016" y="178594"/>
                </a:cubicBezTo>
                <a:cubicBezTo>
                  <a:pt x="148047" y="178594"/>
                  <a:pt x="166688" y="159953"/>
                  <a:pt x="166688" y="136922"/>
                </a:cubicBezTo>
                <a:lnTo>
                  <a:pt x="166688" y="105110"/>
                </a:lnTo>
                <a:cubicBezTo>
                  <a:pt x="152809" y="100199"/>
                  <a:pt x="142875" y="86990"/>
                  <a:pt x="142875" y="71438"/>
                </a:cubicBezTo>
                <a:cubicBezTo>
                  <a:pt x="142875" y="51718"/>
                  <a:pt x="158874" y="35719"/>
                  <a:pt x="178594" y="35719"/>
                </a:cubicBezTo>
                <a:cubicBezTo>
                  <a:pt x="198313" y="35719"/>
                  <a:pt x="214313" y="51718"/>
                  <a:pt x="214313" y="71438"/>
                </a:cubicBezTo>
                <a:cubicBezTo>
                  <a:pt x="214313" y="86990"/>
                  <a:pt x="204378" y="100236"/>
                  <a:pt x="190500" y="105110"/>
                </a:cubicBezTo>
                <a:lnTo>
                  <a:pt x="190500" y="136922"/>
                </a:lnTo>
                <a:cubicBezTo>
                  <a:pt x="190500" y="173087"/>
                  <a:pt x="161181" y="202406"/>
                  <a:pt x="125016" y="202406"/>
                </a:cubicBezTo>
                <a:cubicBezTo>
                  <a:pt x="88850" y="202406"/>
                  <a:pt x="59531" y="173087"/>
                  <a:pt x="59531" y="136922"/>
                </a:cubicBezTo>
                <a:lnTo>
                  <a:pt x="59531" y="129778"/>
                </a:lnTo>
                <a:cubicBezTo>
                  <a:pt x="32370" y="124271"/>
                  <a:pt x="11906" y="100236"/>
                  <a:pt x="11906" y="71438"/>
                </a:cubicBezTo>
                <a:lnTo>
                  <a:pt x="11906" y="17859"/>
                </a:lnTo>
                <a:close/>
                <a:moveTo>
                  <a:pt x="178594" y="83344"/>
                </a:moveTo>
                <a:cubicBezTo>
                  <a:pt x="185165" y="83344"/>
                  <a:pt x="190500" y="78009"/>
                  <a:pt x="190500" y="71438"/>
                </a:cubicBezTo>
                <a:cubicBezTo>
                  <a:pt x="190500" y="64866"/>
                  <a:pt x="185165" y="59531"/>
                  <a:pt x="178594" y="59531"/>
                </a:cubicBezTo>
                <a:cubicBezTo>
                  <a:pt x="172023" y="59531"/>
                  <a:pt x="166688" y="64866"/>
                  <a:pt x="166688" y="71438"/>
                </a:cubicBezTo>
                <a:cubicBezTo>
                  <a:pt x="166688" y="78009"/>
                  <a:pt x="172023" y="83344"/>
                  <a:pt x="178594" y="8334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5652790" y="6053138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Tratamientos Personalizados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986117" y="6015038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476655" y="60721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5" name="Text 43"/>
          <p:cNvSpPr/>
          <p:nvPr/>
        </p:nvSpPr>
        <p:spPr>
          <a:xfrm>
            <a:off x="8805267" y="6053138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 Continua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Recursos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Herramientas para Experimentar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3676650" cy="3476625"/>
          </a:xfrm>
          <a:custGeom>
            <a:avLst/>
            <a:gdLst/>
            <a:ahLst/>
            <a:cxnLst/>
            <a:rect l="l" t="t" r="r" b="b"/>
            <a:pathLst>
              <a:path w="3676650" h="3476625">
                <a:moveTo>
                  <a:pt x="152415" y="0"/>
                </a:moveTo>
                <a:lnTo>
                  <a:pt x="3524235" y="0"/>
                </a:lnTo>
                <a:cubicBezTo>
                  <a:pt x="3608411" y="0"/>
                  <a:pt x="3676650" y="68239"/>
                  <a:pt x="3676650" y="152415"/>
                </a:cubicBezTo>
                <a:lnTo>
                  <a:pt x="3676650" y="3324210"/>
                </a:lnTo>
                <a:cubicBezTo>
                  <a:pt x="3676650" y="3408386"/>
                  <a:pt x="3608411" y="3476625"/>
                  <a:pt x="3524235" y="3476625"/>
                </a:cubicBezTo>
                <a:lnTo>
                  <a:pt x="152415" y="3476625"/>
                </a:lnTo>
                <a:cubicBezTo>
                  <a:pt x="68239" y="3476625"/>
                  <a:pt x="0" y="3408386"/>
                  <a:pt x="0" y="3324210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495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7713" y="165735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5719" y="53578"/>
                </a:moveTo>
                <a:cubicBezTo>
                  <a:pt x="35719" y="33877"/>
                  <a:pt x="51736" y="17859"/>
                  <a:pt x="71438" y="17859"/>
                </a:cubicBezTo>
                <a:lnTo>
                  <a:pt x="285750" y="17859"/>
                </a:lnTo>
                <a:cubicBezTo>
                  <a:pt x="305451" y="17859"/>
                  <a:pt x="321469" y="33877"/>
                  <a:pt x="321469" y="53578"/>
                </a:cubicBezTo>
                <a:lnTo>
                  <a:pt x="321469" y="187523"/>
                </a:lnTo>
                <a:lnTo>
                  <a:pt x="285750" y="187523"/>
                </a:lnTo>
                <a:lnTo>
                  <a:pt x="285750" y="53578"/>
                </a:lnTo>
                <a:lnTo>
                  <a:pt x="71438" y="53578"/>
                </a:lnTo>
                <a:lnTo>
                  <a:pt x="71438" y="187523"/>
                </a:lnTo>
                <a:lnTo>
                  <a:pt x="35719" y="187523"/>
                </a:lnTo>
                <a:lnTo>
                  <a:pt x="35719" y="53578"/>
                </a:lnTo>
                <a:close/>
                <a:moveTo>
                  <a:pt x="0" y="225028"/>
                </a:moveTo>
                <a:cubicBezTo>
                  <a:pt x="0" y="219112"/>
                  <a:pt x="4800" y="214313"/>
                  <a:pt x="10716" y="214313"/>
                </a:cubicBezTo>
                <a:lnTo>
                  <a:pt x="346472" y="214313"/>
                </a:lnTo>
                <a:cubicBezTo>
                  <a:pt x="352388" y="214313"/>
                  <a:pt x="357188" y="219112"/>
                  <a:pt x="357188" y="225028"/>
                </a:cubicBezTo>
                <a:cubicBezTo>
                  <a:pt x="357188" y="248692"/>
                  <a:pt x="337989" y="267891"/>
                  <a:pt x="314325" y="267891"/>
                </a:cubicBezTo>
                <a:lnTo>
                  <a:pt x="42863" y="267891"/>
                </a:lnTo>
                <a:cubicBezTo>
                  <a:pt x="19199" y="267891"/>
                  <a:pt x="0" y="248692"/>
                  <a:pt x="0" y="225028"/>
                </a:cubicBezTo>
                <a:close/>
                <a:moveTo>
                  <a:pt x="156828" y="116644"/>
                </a:moveTo>
                <a:lnTo>
                  <a:pt x="139526" y="133945"/>
                </a:lnTo>
                <a:lnTo>
                  <a:pt x="156828" y="151247"/>
                </a:lnTo>
                <a:cubicBezTo>
                  <a:pt x="162074" y="156493"/>
                  <a:pt x="162074" y="164976"/>
                  <a:pt x="156828" y="170166"/>
                </a:cubicBezTo>
                <a:cubicBezTo>
                  <a:pt x="151581" y="175357"/>
                  <a:pt x="143098" y="175413"/>
                  <a:pt x="137908" y="170166"/>
                </a:cubicBezTo>
                <a:lnTo>
                  <a:pt x="111119" y="143377"/>
                </a:lnTo>
                <a:cubicBezTo>
                  <a:pt x="105873" y="138131"/>
                  <a:pt x="105873" y="129648"/>
                  <a:pt x="111119" y="124458"/>
                </a:cubicBezTo>
                <a:lnTo>
                  <a:pt x="137908" y="97668"/>
                </a:lnTo>
                <a:cubicBezTo>
                  <a:pt x="143154" y="92422"/>
                  <a:pt x="151637" y="92422"/>
                  <a:pt x="156828" y="97668"/>
                </a:cubicBezTo>
                <a:cubicBezTo>
                  <a:pt x="162018" y="102915"/>
                  <a:pt x="162074" y="111398"/>
                  <a:pt x="156828" y="116588"/>
                </a:cubicBezTo>
                <a:close/>
                <a:moveTo>
                  <a:pt x="219335" y="97668"/>
                </a:moveTo>
                <a:lnTo>
                  <a:pt x="246125" y="124458"/>
                </a:lnTo>
                <a:cubicBezTo>
                  <a:pt x="251371" y="129704"/>
                  <a:pt x="251371" y="138187"/>
                  <a:pt x="246125" y="143377"/>
                </a:cubicBezTo>
                <a:lnTo>
                  <a:pt x="219335" y="170166"/>
                </a:lnTo>
                <a:cubicBezTo>
                  <a:pt x="214089" y="175413"/>
                  <a:pt x="205606" y="175413"/>
                  <a:pt x="200416" y="170166"/>
                </a:cubicBezTo>
                <a:cubicBezTo>
                  <a:pt x="195225" y="164920"/>
                  <a:pt x="195169" y="156437"/>
                  <a:pt x="200416" y="151247"/>
                </a:cubicBezTo>
                <a:lnTo>
                  <a:pt x="217717" y="133945"/>
                </a:lnTo>
                <a:lnTo>
                  <a:pt x="200416" y="116644"/>
                </a:lnTo>
                <a:cubicBezTo>
                  <a:pt x="195169" y="111398"/>
                  <a:pt x="195169" y="102915"/>
                  <a:pt x="200416" y="97724"/>
                </a:cubicBezTo>
                <a:cubicBezTo>
                  <a:pt x="205662" y="92534"/>
                  <a:pt x="214145" y="92478"/>
                  <a:pt x="219335" y="97724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1571625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Kaggle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1125" y="183832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Datasets + Notebooks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" y="2295525"/>
            <a:ext cx="3209925" cy="666750"/>
          </a:xfrm>
          <a:custGeom>
            <a:avLst/>
            <a:gdLst/>
            <a:ahLst/>
            <a:cxnLst/>
            <a:rect l="l" t="t" r="r" b="b"/>
            <a:pathLst>
              <a:path w="3209925" h="666750">
                <a:moveTo>
                  <a:pt x="76203" y="0"/>
                </a:moveTo>
                <a:lnTo>
                  <a:pt x="3133722" y="0"/>
                </a:lnTo>
                <a:cubicBezTo>
                  <a:pt x="3175780" y="0"/>
                  <a:pt x="3209925" y="34145"/>
                  <a:pt x="3209925" y="76203"/>
                </a:cubicBezTo>
                <a:lnTo>
                  <a:pt x="3209925" y="590547"/>
                </a:lnTo>
                <a:cubicBezTo>
                  <a:pt x="3209925" y="632605"/>
                  <a:pt x="3175780" y="666750"/>
                  <a:pt x="313372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3425" y="2409825"/>
            <a:ext cx="3048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Acceso a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datasets grandes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notebooks con ejemplos de "incremental learning".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125" y="3071813"/>
            <a:ext cx="3209925" cy="762000"/>
          </a:xfrm>
          <a:custGeom>
            <a:avLst/>
            <a:gdLst/>
            <a:ahLst/>
            <a:cxnLst/>
            <a:rect l="l" t="t" r="r" b="b"/>
            <a:pathLst>
              <a:path w="3209925" h="762000">
                <a:moveTo>
                  <a:pt x="76200" y="0"/>
                </a:moveTo>
                <a:lnTo>
                  <a:pt x="3133725" y="0"/>
                </a:lnTo>
                <a:cubicBezTo>
                  <a:pt x="3175781" y="0"/>
                  <a:pt x="3209925" y="34144"/>
                  <a:pt x="3209925" y="76200"/>
                </a:cubicBezTo>
                <a:lnTo>
                  <a:pt x="3209925" y="685800"/>
                </a:lnTo>
                <a:cubicBezTo>
                  <a:pt x="3209925" y="727856"/>
                  <a:pt x="3175781" y="762000"/>
                  <a:pt x="31337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3425" y="3186113"/>
            <a:ext cx="3038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Busca: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3338513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"online learning scikit-learn"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3425" y="3529013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"continual learning PyTorch"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125" y="4157663"/>
            <a:ext cx="3209925" cy="9525"/>
          </a:xfrm>
          <a:custGeom>
            <a:avLst/>
            <a:gdLst/>
            <a:ahLst/>
            <a:cxnLst/>
            <a:rect l="l" t="t" r="r" b="b"/>
            <a:pathLst>
              <a:path w="3209925" h="9525">
                <a:moveTo>
                  <a:pt x="0" y="0"/>
                </a:moveTo>
                <a:lnTo>
                  <a:pt x="3209925" y="0"/>
                </a:lnTo>
                <a:lnTo>
                  <a:pt x="32099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4D399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8175" y="4333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6439" y="5894"/>
                </a:moveTo>
                <a:cubicBezTo>
                  <a:pt x="87928" y="2322"/>
                  <a:pt x="91410" y="0"/>
                  <a:pt x="95250" y="0"/>
                </a:cubicBezTo>
                <a:lnTo>
                  <a:pt x="142875" y="0"/>
                </a:lnTo>
                <a:cubicBezTo>
                  <a:pt x="148144" y="0"/>
                  <a:pt x="152400" y="4256"/>
                  <a:pt x="152400" y="9525"/>
                </a:cubicBezTo>
                <a:lnTo>
                  <a:pt x="152400" y="57150"/>
                </a:lnTo>
                <a:cubicBezTo>
                  <a:pt x="152400" y="60990"/>
                  <a:pt x="150078" y="64472"/>
                  <a:pt x="146506" y="65961"/>
                </a:cubicBezTo>
                <a:cubicBezTo>
                  <a:pt x="142935" y="67449"/>
                  <a:pt x="138857" y="66615"/>
                  <a:pt x="136118" y="63907"/>
                </a:cubicBezTo>
                <a:lnTo>
                  <a:pt x="119062" y="46821"/>
                </a:lnTo>
                <a:lnTo>
                  <a:pt x="73402" y="92452"/>
                </a:lnTo>
                <a:cubicBezTo>
                  <a:pt x="69681" y="96173"/>
                  <a:pt x="63639" y="96173"/>
                  <a:pt x="59918" y="92452"/>
                </a:cubicBezTo>
                <a:cubicBezTo>
                  <a:pt x="56198" y="88731"/>
                  <a:pt x="56198" y="82689"/>
                  <a:pt x="59918" y="78968"/>
                </a:cubicBezTo>
                <a:lnTo>
                  <a:pt x="105579" y="33338"/>
                </a:lnTo>
                <a:lnTo>
                  <a:pt x="88523" y="16252"/>
                </a:lnTo>
                <a:cubicBezTo>
                  <a:pt x="85785" y="13514"/>
                  <a:pt x="84981" y="9436"/>
                  <a:pt x="86469" y="5864"/>
                </a:cubicBezTo>
                <a:close/>
                <a:moveTo>
                  <a:pt x="0" y="52388"/>
                </a:moveTo>
                <a:cubicBezTo>
                  <a:pt x="0" y="39231"/>
                  <a:pt x="10656" y="28575"/>
                  <a:pt x="23813" y="28575"/>
                </a:cubicBezTo>
                <a:lnTo>
                  <a:pt x="47625" y="28575"/>
                </a:lnTo>
                <a:cubicBezTo>
                  <a:pt x="52894" y="28575"/>
                  <a:pt x="57150" y="32831"/>
                  <a:pt x="57150" y="38100"/>
                </a:cubicBezTo>
                <a:cubicBezTo>
                  <a:pt x="57150" y="43369"/>
                  <a:pt x="52894" y="47625"/>
                  <a:pt x="47625" y="47625"/>
                </a:cubicBezTo>
                <a:lnTo>
                  <a:pt x="23813" y="47625"/>
                </a:lnTo>
                <a:cubicBezTo>
                  <a:pt x="21193" y="47625"/>
                  <a:pt x="19050" y="49768"/>
                  <a:pt x="19050" y="52388"/>
                </a:cubicBezTo>
                <a:lnTo>
                  <a:pt x="19050" y="128588"/>
                </a:lnTo>
                <a:cubicBezTo>
                  <a:pt x="19050" y="131207"/>
                  <a:pt x="21193" y="133350"/>
                  <a:pt x="23813" y="133350"/>
                </a:cubicBezTo>
                <a:lnTo>
                  <a:pt x="100013" y="133350"/>
                </a:lnTo>
                <a:cubicBezTo>
                  <a:pt x="102632" y="133350"/>
                  <a:pt x="104775" y="131207"/>
                  <a:pt x="104775" y="128588"/>
                </a:cubicBezTo>
                <a:lnTo>
                  <a:pt x="104775" y="104775"/>
                </a:lnTo>
                <a:cubicBezTo>
                  <a:pt x="104775" y="99506"/>
                  <a:pt x="109031" y="95250"/>
                  <a:pt x="114300" y="95250"/>
                </a:cubicBezTo>
                <a:cubicBezTo>
                  <a:pt x="119569" y="95250"/>
                  <a:pt x="123825" y="99506"/>
                  <a:pt x="123825" y="104775"/>
                </a:cubicBezTo>
                <a:lnTo>
                  <a:pt x="123825" y="128588"/>
                </a:lnTo>
                <a:cubicBezTo>
                  <a:pt x="123825" y="141744"/>
                  <a:pt x="113169" y="152400"/>
                  <a:pt x="100013" y="152400"/>
                </a:cubicBezTo>
                <a:lnTo>
                  <a:pt x="23813" y="152400"/>
                </a:lnTo>
                <a:cubicBezTo>
                  <a:pt x="10656" y="152400"/>
                  <a:pt x="0" y="141744"/>
                  <a:pt x="0" y="128588"/>
                </a:cubicBezTo>
                <a:lnTo>
                  <a:pt x="0" y="52388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885825" y="4314825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kaggle.com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59163" y="1262063"/>
            <a:ext cx="3676650" cy="3476625"/>
          </a:xfrm>
          <a:custGeom>
            <a:avLst/>
            <a:gdLst/>
            <a:ahLst/>
            <a:cxnLst/>
            <a:rect l="l" t="t" r="r" b="b"/>
            <a:pathLst>
              <a:path w="3676650" h="3476625">
                <a:moveTo>
                  <a:pt x="152415" y="0"/>
                </a:moveTo>
                <a:lnTo>
                  <a:pt x="3524235" y="0"/>
                </a:lnTo>
                <a:cubicBezTo>
                  <a:pt x="3608411" y="0"/>
                  <a:pt x="3676650" y="68239"/>
                  <a:pt x="3676650" y="152415"/>
                </a:cubicBezTo>
                <a:lnTo>
                  <a:pt x="3676650" y="3324210"/>
                </a:lnTo>
                <a:cubicBezTo>
                  <a:pt x="3676650" y="3408386"/>
                  <a:pt x="3608411" y="3476625"/>
                  <a:pt x="3524235" y="3476625"/>
                </a:cubicBezTo>
                <a:lnTo>
                  <a:pt x="152415" y="3476625"/>
                </a:lnTo>
                <a:cubicBezTo>
                  <a:pt x="68239" y="3476625"/>
                  <a:pt x="0" y="3408386"/>
                  <a:pt x="0" y="3324210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2526" y="1495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56832" y="16573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53578"/>
                </a:moveTo>
                <a:cubicBezTo>
                  <a:pt x="0" y="43700"/>
                  <a:pt x="7981" y="35719"/>
                  <a:pt x="17859" y="35719"/>
                </a:cubicBezTo>
                <a:lnTo>
                  <a:pt x="232172" y="35719"/>
                </a:lnTo>
                <a:cubicBezTo>
                  <a:pt x="242050" y="35719"/>
                  <a:pt x="250031" y="43700"/>
                  <a:pt x="250031" y="53578"/>
                </a:cubicBezTo>
                <a:cubicBezTo>
                  <a:pt x="250031" y="63457"/>
                  <a:pt x="242050" y="71438"/>
                  <a:pt x="232172" y="71438"/>
                </a:cubicBezTo>
                <a:lnTo>
                  <a:pt x="17859" y="71438"/>
                </a:lnTo>
                <a:cubicBezTo>
                  <a:pt x="7981" y="71438"/>
                  <a:pt x="0" y="63457"/>
                  <a:pt x="0" y="53578"/>
                </a:cubicBezTo>
                <a:close/>
                <a:moveTo>
                  <a:pt x="35719" y="142875"/>
                </a:moveTo>
                <a:cubicBezTo>
                  <a:pt x="35719" y="132997"/>
                  <a:pt x="43700" y="125016"/>
                  <a:pt x="53578" y="125016"/>
                </a:cubicBezTo>
                <a:lnTo>
                  <a:pt x="267891" y="125016"/>
                </a:lnTo>
                <a:cubicBezTo>
                  <a:pt x="277769" y="125016"/>
                  <a:pt x="285750" y="132997"/>
                  <a:pt x="285750" y="142875"/>
                </a:cubicBezTo>
                <a:cubicBezTo>
                  <a:pt x="285750" y="152753"/>
                  <a:pt x="277769" y="160734"/>
                  <a:pt x="267891" y="160734"/>
                </a:cubicBezTo>
                <a:lnTo>
                  <a:pt x="53578" y="160734"/>
                </a:lnTo>
                <a:cubicBezTo>
                  <a:pt x="43700" y="160734"/>
                  <a:pt x="35719" y="152753"/>
                  <a:pt x="35719" y="142875"/>
                </a:cubicBezTo>
                <a:close/>
                <a:moveTo>
                  <a:pt x="250031" y="232172"/>
                </a:moveTo>
                <a:cubicBezTo>
                  <a:pt x="250031" y="242050"/>
                  <a:pt x="242050" y="250031"/>
                  <a:pt x="232172" y="250031"/>
                </a:cubicBezTo>
                <a:lnTo>
                  <a:pt x="17859" y="250031"/>
                </a:lnTo>
                <a:cubicBezTo>
                  <a:pt x="7981" y="250031"/>
                  <a:pt x="0" y="242050"/>
                  <a:pt x="0" y="232172"/>
                </a:cubicBezTo>
                <a:cubicBezTo>
                  <a:pt x="0" y="222293"/>
                  <a:pt x="7981" y="214313"/>
                  <a:pt x="17859" y="214313"/>
                </a:cubicBezTo>
                <a:lnTo>
                  <a:pt x="232172" y="214313"/>
                </a:lnTo>
                <a:cubicBezTo>
                  <a:pt x="242050" y="214313"/>
                  <a:pt x="250031" y="222293"/>
                  <a:pt x="250031" y="23217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254526" y="157162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River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4526" y="183832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ML Library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92526" y="2295525"/>
            <a:ext cx="3209925" cy="666750"/>
          </a:xfrm>
          <a:custGeom>
            <a:avLst/>
            <a:gdLst/>
            <a:ahLst/>
            <a:cxnLst/>
            <a:rect l="l" t="t" r="r" b="b"/>
            <a:pathLst>
              <a:path w="3209925" h="666750">
                <a:moveTo>
                  <a:pt x="76203" y="0"/>
                </a:moveTo>
                <a:lnTo>
                  <a:pt x="3133722" y="0"/>
                </a:lnTo>
                <a:cubicBezTo>
                  <a:pt x="3175780" y="0"/>
                  <a:pt x="3209925" y="34145"/>
                  <a:pt x="3209925" y="76203"/>
                </a:cubicBezTo>
                <a:lnTo>
                  <a:pt x="3209925" y="590547"/>
                </a:lnTo>
                <a:cubicBezTo>
                  <a:pt x="3209925" y="632605"/>
                  <a:pt x="3175780" y="666750"/>
                  <a:pt x="313372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06826" y="2409825"/>
            <a:ext cx="3048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Biblioteca especializada en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machine learning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Python.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92526" y="3071813"/>
            <a:ext cx="3209925" cy="762000"/>
          </a:xfrm>
          <a:custGeom>
            <a:avLst/>
            <a:gdLst/>
            <a:ahLst/>
            <a:cxnLst/>
            <a:rect l="l" t="t" r="r" b="b"/>
            <a:pathLst>
              <a:path w="3209925" h="762000">
                <a:moveTo>
                  <a:pt x="76200" y="0"/>
                </a:moveTo>
                <a:lnTo>
                  <a:pt x="3133725" y="0"/>
                </a:lnTo>
                <a:cubicBezTo>
                  <a:pt x="3175781" y="0"/>
                  <a:pt x="3209925" y="34144"/>
                  <a:pt x="3209925" y="76200"/>
                </a:cubicBezTo>
                <a:lnTo>
                  <a:pt x="3209925" y="685800"/>
                </a:lnTo>
                <a:cubicBezTo>
                  <a:pt x="3209925" y="727856"/>
                  <a:pt x="3175781" y="762000"/>
                  <a:pt x="31337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06826" y="3186113"/>
            <a:ext cx="3038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 para: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06826" y="3338513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incremental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06826" y="3529013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 de datos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92526" y="4157663"/>
            <a:ext cx="3209925" cy="9525"/>
          </a:xfrm>
          <a:custGeom>
            <a:avLst/>
            <a:gdLst/>
            <a:ahLst/>
            <a:cxnLst/>
            <a:rect l="l" t="t" r="r" b="b"/>
            <a:pathLst>
              <a:path w="3209925" h="9525">
                <a:moveTo>
                  <a:pt x="0" y="0"/>
                </a:moveTo>
                <a:lnTo>
                  <a:pt x="3209925" y="0"/>
                </a:lnTo>
                <a:lnTo>
                  <a:pt x="32099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11576" y="4333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1762" y="118289"/>
                </a:moveTo>
                <a:cubicBezTo>
                  <a:pt x="51762" y="118884"/>
                  <a:pt x="51078" y="119360"/>
                  <a:pt x="50215" y="119360"/>
                </a:cubicBezTo>
                <a:cubicBezTo>
                  <a:pt x="49232" y="119449"/>
                  <a:pt x="48548" y="118973"/>
                  <a:pt x="48548" y="118289"/>
                </a:cubicBezTo>
                <a:cubicBezTo>
                  <a:pt x="48548" y="117693"/>
                  <a:pt x="49232" y="117217"/>
                  <a:pt x="50096" y="117217"/>
                </a:cubicBezTo>
                <a:cubicBezTo>
                  <a:pt x="50989" y="117128"/>
                  <a:pt x="51762" y="117604"/>
                  <a:pt x="51762" y="118289"/>
                </a:cubicBezTo>
                <a:close/>
                <a:moveTo>
                  <a:pt x="42505" y="116949"/>
                </a:moveTo>
                <a:cubicBezTo>
                  <a:pt x="42297" y="117544"/>
                  <a:pt x="42892" y="118229"/>
                  <a:pt x="43785" y="118408"/>
                </a:cubicBezTo>
                <a:cubicBezTo>
                  <a:pt x="44559" y="118705"/>
                  <a:pt x="45452" y="118408"/>
                  <a:pt x="45631" y="117812"/>
                </a:cubicBezTo>
                <a:cubicBezTo>
                  <a:pt x="45809" y="117217"/>
                  <a:pt x="45244" y="116532"/>
                  <a:pt x="44351" y="116265"/>
                </a:cubicBezTo>
                <a:cubicBezTo>
                  <a:pt x="43577" y="116056"/>
                  <a:pt x="42714" y="116354"/>
                  <a:pt x="42505" y="116949"/>
                </a:cubicBezTo>
                <a:close/>
                <a:moveTo>
                  <a:pt x="55662" y="116443"/>
                </a:moveTo>
                <a:cubicBezTo>
                  <a:pt x="54799" y="116651"/>
                  <a:pt x="54203" y="117217"/>
                  <a:pt x="54293" y="117902"/>
                </a:cubicBezTo>
                <a:cubicBezTo>
                  <a:pt x="54382" y="118497"/>
                  <a:pt x="55156" y="118884"/>
                  <a:pt x="56049" y="118676"/>
                </a:cubicBezTo>
                <a:cubicBezTo>
                  <a:pt x="56912" y="118467"/>
                  <a:pt x="57507" y="117902"/>
                  <a:pt x="57418" y="117306"/>
                </a:cubicBezTo>
                <a:cubicBezTo>
                  <a:pt x="57329" y="116741"/>
                  <a:pt x="56525" y="116354"/>
                  <a:pt x="55662" y="116443"/>
                </a:cubicBezTo>
                <a:close/>
                <a:moveTo>
                  <a:pt x="75248" y="2381"/>
                </a:moveTo>
                <a:cubicBezTo>
                  <a:pt x="33963" y="2381"/>
                  <a:pt x="2381" y="33724"/>
                  <a:pt x="2381" y="75009"/>
                </a:cubicBezTo>
                <a:cubicBezTo>
                  <a:pt x="2381" y="108019"/>
                  <a:pt x="23158" y="136267"/>
                  <a:pt x="52834" y="146209"/>
                </a:cubicBezTo>
                <a:cubicBezTo>
                  <a:pt x="56644" y="146893"/>
                  <a:pt x="57983" y="144542"/>
                  <a:pt x="57983" y="142607"/>
                </a:cubicBezTo>
                <a:cubicBezTo>
                  <a:pt x="57983" y="140762"/>
                  <a:pt x="57894" y="130582"/>
                  <a:pt x="57894" y="124331"/>
                </a:cubicBezTo>
                <a:cubicBezTo>
                  <a:pt x="57894" y="124331"/>
                  <a:pt x="37058" y="128796"/>
                  <a:pt x="32683" y="115461"/>
                </a:cubicBezTo>
                <a:cubicBezTo>
                  <a:pt x="32683" y="115461"/>
                  <a:pt x="29289" y="106799"/>
                  <a:pt x="24408" y="104567"/>
                </a:cubicBezTo>
                <a:cubicBezTo>
                  <a:pt x="24408" y="104567"/>
                  <a:pt x="17591" y="99893"/>
                  <a:pt x="24884" y="99983"/>
                </a:cubicBezTo>
                <a:cubicBezTo>
                  <a:pt x="24884" y="99983"/>
                  <a:pt x="32296" y="100578"/>
                  <a:pt x="36374" y="107662"/>
                </a:cubicBezTo>
                <a:cubicBezTo>
                  <a:pt x="42892" y="119152"/>
                  <a:pt x="53816" y="115848"/>
                  <a:pt x="58073" y="113883"/>
                </a:cubicBezTo>
                <a:cubicBezTo>
                  <a:pt x="58757" y="109121"/>
                  <a:pt x="60692" y="105817"/>
                  <a:pt x="62835" y="103852"/>
                </a:cubicBezTo>
                <a:cubicBezTo>
                  <a:pt x="46196" y="102007"/>
                  <a:pt x="29408" y="99596"/>
                  <a:pt x="29408" y="70961"/>
                </a:cubicBezTo>
                <a:cubicBezTo>
                  <a:pt x="29408" y="62776"/>
                  <a:pt x="31671" y="58668"/>
                  <a:pt x="36433" y="53429"/>
                </a:cubicBezTo>
                <a:cubicBezTo>
                  <a:pt x="35659" y="51495"/>
                  <a:pt x="33129" y="43517"/>
                  <a:pt x="37207" y="33218"/>
                </a:cubicBezTo>
                <a:cubicBezTo>
                  <a:pt x="43428" y="31284"/>
                  <a:pt x="57745" y="41255"/>
                  <a:pt x="57745" y="41255"/>
                </a:cubicBezTo>
                <a:cubicBezTo>
                  <a:pt x="63698" y="39588"/>
                  <a:pt x="70098" y="38725"/>
                  <a:pt x="76438" y="38725"/>
                </a:cubicBezTo>
                <a:cubicBezTo>
                  <a:pt x="82778" y="38725"/>
                  <a:pt x="89178" y="39588"/>
                  <a:pt x="95131" y="41255"/>
                </a:cubicBezTo>
                <a:cubicBezTo>
                  <a:pt x="95131" y="41255"/>
                  <a:pt x="109448" y="31254"/>
                  <a:pt x="115669" y="33218"/>
                </a:cubicBezTo>
                <a:cubicBezTo>
                  <a:pt x="119747" y="43547"/>
                  <a:pt x="117217" y="51495"/>
                  <a:pt x="116443" y="53429"/>
                </a:cubicBezTo>
                <a:cubicBezTo>
                  <a:pt x="121206" y="58698"/>
                  <a:pt x="124123" y="62805"/>
                  <a:pt x="124123" y="70961"/>
                </a:cubicBezTo>
                <a:cubicBezTo>
                  <a:pt x="124123" y="99685"/>
                  <a:pt x="106591" y="101977"/>
                  <a:pt x="89952" y="103852"/>
                </a:cubicBezTo>
                <a:cubicBezTo>
                  <a:pt x="92690" y="106204"/>
                  <a:pt x="95012" y="110669"/>
                  <a:pt x="95012" y="117664"/>
                </a:cubicBezTo>
                <a:cubicBezTo>
                  <a:pt x="95012" y="127695"/>
                  <a:pt x="94923" y="140107"/>
                  <a:pt x="94923" y="142548"/>
                </a:cubicBezTo>
                <a:cubicBezTo>
                  <a:pt x="94923" y="144482"/>
                  <a:pt x="96292" y="146834"/>
                  <a:pt x="100072" y="146149"/>
                </a:cubicBezTo>
                <a:cubicBezTo>
                  <a:pt x="129838" y="136267"/>
                  <a:pt x="150019" y="108019"/>
                  <a:pt x="150019" y="75009"/>
                </a:cubicBezTo>
                <a:cubicBezTo>
                  <a:pt x="150019" y="33724"/>
                  <a:pt x="116532" y="2381"/>
                  <a:pt x="75248" y="2381"/>
                </a:cubicBezTo>
                <a:close/>
                <a:moveTo>
                  <a:pt x="31313" y="105043"/>
                </a:moveTo>
                <a:cubicBezTo>
                  <a:pt x="30926" y="105341"/>
                  <a:pt x="31016" y="106025"/>
                  <a:pt x="31522" y="106591"/>
                </a:cubicBezTo>
                <a:cubicBezTo>
                  <a:pt x="31998" y="107067"/>
                  <a:pt x="32683" y="107275"/>
                  <a:pt x="33070" y="106888"/>
                </a:cubicBezTo>
                <a:cubicBezTo>
                  <a:pt x="33457" y="106591"/>
                  <a:pt x="33367" y="105906"/>
                  <a:pt x="32861" y="105341"/>
                </a:cubicBezTo>
                <a:cubicBezTo>
                  <a:pt x="32385" y="104864"/>
                  <a:pt x="31700" y="104656"/>
                  <a:pt x="31313" y="105043"/>
                </a:cubicBezTo>
                <a:close/>
                <a:moveTo>
                  <a:pt x="28099" y="102632"/>
                </a:moveTo>
                <a:cubicBezTo>
                  <a:pt x="27890" y="103019"/>
                  <a:pt x="28188" y="103495"/>
                  <a:pt x="28783" y="103793"/>
                </a:cubicBezTo>
                <a:cubicBezTo>
                  <a:pt x="29260" y="104090"/>
                  <a:pt x="29855" y="104001"/>
                  <a:pt x="30063" y="103584"/>
                </a:cubicBezTo>
                <a:cubicBezTo>
                  <a:pt x="30272" y="103197"/>
                  <a:pt x="29974" y="102721"/>
                  <a:pt x="29379" y="102424"/>
                </a:cubicBezTo>
                <a:cubicBezTo>
                  <a:pt x="28783" y="102245"/>
                  <a:pt x="28307" y="102334"/>
                  <a:pt x="28099" y="102632"/>
                </a:cubicBezTo>
                <a:close/>
                <a:moveTo>
                  <a:pt x="37743" y="113228"/>
                </a:moveTo>
                <a:cubicBezTo>
                  <a:pt x="37267" y="113615"/>
                  <a:pt x="37445" y="114508"/>
                  <a:pt x="38130" y="115074"/>
                </a:cubicBezTo>
                <a:cubicBezTo>
                  <a:pt x="38814" y="115759"/>
                  <a:pt x="39678" y="115848"/>
                  <a:pt x="40065" y="115372"/>
                </a:cubicBezTo>
                <a:cubicBezTo>
                  <a:pt x="40451" y="114985"/>
                  <a:pt x="40273" y="114092"/>
                  <a:pt x="39678" y="113526"/>
                </a:cubicBezTo>
                <a:cubicBezTo>
                  <a:pt x="39023" y="112841"/>
                  <a:pt x="38130" y="112752"/>
                  <a:pt x="37743" y="113228"/>
                </a:cubicBezTo>
                <a:close/>
                <a:moveTo>
                  <a:pt x="34350" y="108853"/>
                </a:moveTo>
                <a:cubicBezTo>
                  <a:pt x="33873" y="109151"/>
                  <a:pt x="33873" y="109924"/>
                  <a:pt x="34350" y="110609"/>
                </a:cubicBezTo>
                <a:cubicBezTo>
                  <a:pt x="34826" y="111294"/>
                  <a:pt x="35629" y="111591"/>
                  <a:pt x="36016" y="111294"/>
                </a:cubicBezTo>
                <a:cubicBezTo>
                  <a:pt x="36493" y="110907"/>
                  <a:pt x="36493" y="110133"/>
                  <a:pt x="36016" y="109448"/>
                </a:cubicBezTo>
                <a:cubicBezTo>
                  <a:pt x="35600" y="108764"/>
                  <a:pt x="34826" y="108466"/>
                  <a:pt x="34350" y="10885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759226" y="4314825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riverml.xyz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32713" y="1262063"/>
            <a:ext cx="3676650" cy="3476625"/>
          </a:xfrm>
          <a:custGeom>
            <a:avLst/>
            <a:gdLst/>
            <a:ahLst/>
            <a:cxnLst/>
            <a:rect l="l" t="t" r="r" b="b"/>
            <a:pathLst>
              <a:path w="3676650" h="3476625">
                <a:moveTo>
                  <a:pt x="152415" y="0"/>
                </a:moveTo>
                <a:lnTo>
                  <a:pt x="3524235" y="0"/>
                </a:lnTo>
                <a:cubicBezTo>
                  <a:pt x="3608411" y="0"/>
                  <a:pt x="3676650" y="68239"/>
                  <a:pt x="3676650" y="152415"/>
                </a:cubicBezTo>
                <a:lnTo>
                  <a:pt x="3676650" y="3324210"/>
                </a:lnTo>
                <a:cubicBezTo>
                  <a:pt x="3676650" y="3408386"/>
                  <a:pt x="3608411" y="3476625"/>
                  <a:pt x="3524235" y="3476625"/>
                </a:cubicBezTo>
                <a:lnTo>
                  <a:pt x="152415" y="3476625"/>
                </a:lnTo>
                <a:cubicBezTo>
                  <a:pt x="68239" y="3476625"/>
                  <a:pt x="0" y="3408386"/>
                  <a:pt x="0" y="3324210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075" y="1495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530382" y="16573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3154" y="0"/>
                </a:moveTo>
                <a:cubicBezTo>
                  <a:pt x="151358" y="0"/>
                  <a:pt x="158893" y="4521"/>
                  <a:pt x="162799" y="11720"/>
                </a:cubicBezTo>
                <a:lnTo>
                  <a:pt x="283350" y="234962"/>
                </a:lnTo>
                <a:cubicBezTo>
                  <a:pt x="287089" y="241883"/>
                  <a:pt x="286922" y="250254"/>
                  <a:pt x="282904" y="257008"/>
                </a:cubicBezTo>
                <a:cubicBezTo>
                  <a:pt x="278885" y="263761"/>
                  <a:pt x="271574" y="267891"/>
                  <a:pt x="263761" y="267891"/>
                </a:cubicBezTo>
                <a:lnTo>
                  <a:pt x="22659" y="267891"/>
                </a:lnTo>
                <a:cubicBezTo>
                  <a:pt x="14790" y="267891"/>
                  <a:pt x="7534" y="263761"/>
                  <a:pt x="3516" y="257008"/>
                </a:cubicBezTo>
                <a:cubicBezTo>
                  <a:pt x="-502" y="250254"/>
                  <a:pt x="-670" y="241883"/>
                  <a:pt x="3070" y="234962"/>
                </a:cubicBezTo>
                <a:lnTo>
                  <a:pt x="123620" y="11720"/>
                </a:lnTo>
                <a:lnTo>
                  <a:pt x="125239" y="9153"/>
                </a:lnTo>
                <a:cubicBezTo>
                  <a:pt x="129313" y="3460"/>
                  <a:pt x="135954" y="0"/>
                  <a:pt x="143154" y="0"/>
                </a:cubicBezTo>
                <a:close/>
                <a:moveTo>
                  <a:pt x="95101" y="139471"/>
                </a:moveTo>
                <a:lnTo>
                  <a:pt x="110058" y="154428"/>
                </a:lnTo>
                <a:cubicBezTo>
                  <a:pt x="113519" y="157888"/>
                  <a:pt x="119211" y="157888"/>
                  <a:pt x="122672" y="154428"/>
                </a:cubicBezTo>
                <a:lnTo>
                  <a:pt x="146838" y="130262"/>
                </a:lnTo>
                <a:cubicBezTo>
                  <a:pt x="150186" y="126913"/>
                  <a:pt x="154707" y="125016"/>
                  <a:pt x="159451" y="125016"/>
                </a:cubicBezTo>
                <a:lnTo>
                  <a:pt x="183338" y="125016"/>
                </a:lnTo>
                <a:lnTo>
                  <a:pt x="143098" y="50509"/>
                </a:lnTo>
                <a:lnTo>
                  <a:pt x="95045" y="139471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6" name="Text 34"/>
          <p:cNvSpPr/>
          <p:nvPr/>
        </p:nvSpPr>
        <p:spPr>
          <a:xfrm>
            <a:off x="9128075" y="1571625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Avalanche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28075" y="1838325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Continual Learning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66075" y="2295525"/>
            <a:ext cx="3209925" cy="447675"/>
          </a:xfrm>
          <a:custGeom>
            <a:avLst/>
            <a:gdLst/>
            <a:ahLst/>
            <a:cxnLst/>
            <a:rect l="l" t="t" r="r" b="b"/>
            <a:pathLst>
              <a:path w="3209925" h="447675">
                <a:moveTo>
                  <a:pt x="76199" y="0"/>
                </a:moveTo>
                <a:lnTo>
                  <a:pt x="3133726" y="0"/>
                </a:lnTo>
                <a:cubicBezTo>
                  <a:pt x="3175810" y="0"/>
                  <a:pt x="3209925" y="34115"/>
                  <a:pt x="3209925" y="76199"/>
                </a:cubicBezTo>
                <a:lnTo>
                  <a:pt x="3209925" y="371476"/>
                </a:lnTo>
                <a:cubicBezTo>
                  <a:pt x="3209925" y="413560"/>
                  <a:pt x="3175810" y="447675"/>
                  <a:pt x="313372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480375" y="2409825"/>
            <a:ext cx="3048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 para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continual learning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PyTorch.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66075" y="2855119"/>
            <a:ext cx="3209925" cy="762000"/>
          </a:xfrm>
          <a:custGeom>
            <a:avLst/>
            <a:gdLst/>
            <a:ahLst/>
            <a:cxnLst/>
            <a:rect l="l" t="t" r="r" b="b"/>
            <a:pathLst>
              <a:path w="3209925" h="762000">
                <a:moveTo>
                  <a:pt x="76200" y="0"/>
                </a:moveTo>
                <a:lnTo>
                  <a:pt x="3133725" y="0"/>
                </a:lnTo>
                <a:cubicBezTo>
                  <a:pt x="3175781" y="0"/>
                  <a:pt x="3209925" y="34144"/>
                  <a:pt x="3209925" y="76200"/>
                </a:cubicBezTo>
                <a:lnTo>
                  <a:pt x="3209925" y="685800"/>
                </a:lnTo>
                <a:cubicBezTo>
                  <a:pt x="3209925" y="727856"/>
                  <a:pt x="3175781" y="762000"/>
                  <a:pt x="31337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480375" y="2969419"/>
            <a:ext cx="3038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 para: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80375" y="3121819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Evitar olvido catastrófico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80375" y="3312319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Benchmarks de CL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66075" y="4157663"/>
            <a:ext cx="3209925" cy="9525"/>
          </a:xfrm>
          <a:custGeom>
            <a:avLst/>
            <a:gdLst/>
            <a:ahLst/>
            <a:cxnLst/>
            <a:rect l="l" t="t" r="r" b="b"/>
            <a:pathLst>
              <a:path w="3209925" h="9525">
                <a:moveTo>
                  <a:pt x="0" y="0"/>
                </a:moveTo>
                <a:lnTo>
                  <a:pt x="3209925" y="0"/>
                </a:lnTo>
                <a:lnTo>
                  <a:pt x="32099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4D399">
              <a:alpha val="3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85125" y="4333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1762" y="118289"/>
                </a:moveTo>
                <a:cubicBezTo>
                  <a:pt x="51762" y="118884"/>
                  <a:pt x="51078" y="119360"/>
                  <a:pt x="50215" y="119360"/>
                </a:cubicBezTo>
                <a:cubicBezTo>
                  <a:pt x="49232" y="119449"/>
                  <a:pt x="48548" y="118973"/>
                  <a:pt x="48548" y="118289"/>
                </a:cubicBezTo>
                <a:cubicBezTo>
                  <a:pt x="48548" y="117693"/>
                  <a:pt x="49232" y="117217"/>
                  <a:pt x="50096" y="117217"/>
                </a:cubicBezTo>
                <a:cubicBezTo>
                  <a:pt x="50989" y="117128"/>
                  <a:pt x="51762" y="117604"/>
                  <a:pt x="51762" y="118289"/>
                </a:cubicBezTo>
                <a:close/>
                <a:moveTo>
                  <a:pt x="42505" y="116949"/>
                </a:moveTo>
                <a:cubicBezTo>
                  <a:pt x="42297" y="117544"/>
                  <a:pt x="42892" y="118229"/>
                  <a:pt x="43785" y="118408"/>
                </a:cubicBezTo>
                <a:cubicBezTo>
                  <a:pt x="44559" y="118705"/>
                  <a:pt x="45452" y="118408"/>
                  <a:pt x="45631" y="117812"/>
                </a:cubicBezTo>
                <a:cubicBezTo>
                  <a:pt x="45809" y="117217"/>
                  <a:pt x="45244" y="116532"/>
                  <a:pt x="44351" y="116265"/>
                </a:cubicBezTo>
                <a:cubicBezTo>
                  <a:pt x="43577" y="116056"/>
                  <a:pt x="42714" y="116354"/>
                  <a:pt x="42505" y="116949"/>
                </a:cubicBezTo>
                <a:close/>
                <a:moveTo>
                  <a:pt x="55662" y="116443"/>
                </a:moveTo>
                <a:cubicBezTo>
                  <a:pt x="54799" y="116651"/>
                  <a:pt x="54203" y="117217"/>
                  <a:pt x="54293" y="117902"/>
                </a:cubicBezTo>
                <a:cubicBezTo>
                  <a:pt x="54382" y="118497"/>
                  <a:pt x="55156" y="118884"/>
                  <a:pt x="56049" y="118676"/>
                </a:cubicBezTo>
                <a:cubicBezTo>
                  <a:pt x="56912" y="118467"/>
                  <a:pt x="57507" y="117902"/>
                  <a:pt x="57418" y="117306"/>
                </a:cubicBezTo>
                <a:cubicBezTo>
                  <a:pt x="57329" y="116741"/>
                  <a:pt x="56525" y="116354"/>
                  <a:pt x="55662" y="116443"/>
                </a:cubicBezTo>
                <a:close/>
                <a:moveTo>
                  <a:pt x="75248" y="2381"/>
                </a:moveTo>
                <a:cubicBezTo>
                  <a:pt x="33963" y="2381"/>
                  <a:pt x="2381" y="33724"/>
                  <a:pt x="2381" y="75009"/>
                </a:cubicBezTo>
                <a:cubicBezTo>
                  <a:pt x="2381" y="108019"/>
                  <a:pt x="23158" y="136267"/>
                  <a:pt x="52834" y="146209"/>
                </a:cubicBezTo>
                <a:cubicBezTo>
                  <a:pt x="56644" y="146893"/>
                  <a:pt x="57983" y="144542"/>
                  <a:pt x="57983" y="142607"/>
                </a:cubicBezTo>
                <a:cubicBezTo>
                  <a:pt x="57983" y="140762"/>
                  <a:pt x="57894" y="130582"/>
                  <a:pt x="57894" y="124331"/>
                </a:cubicBezTo>
                <a:cubicBezTo>
                  <a:pt x="57894" y="124331"/>
                  <a:pt x="37058" y="128796"/>
                  <a:pt x="32683" y="115461"/>
                </a:cubicBezTo>
                <a:cubicBezTo>
                  <a:pt x="32683" y="115461"/>
                  <a:pt x="29289" y="106799"/>
                  <a:pt x="24408" y="104567"/>
                </a:cubicBezTo>
                <a:cubicBezTo>
                  <a:pt x="24408" y="104567"/>
                  <a:pt x="17591" y="99893"/>
                  <a:pt x="24884" y="99983"/>
                </a:cubicBezTo>
                <a:cubicBezTo>
                  <a:pt x="24884" y="99983"/>
                  <a:pt x="32296" y="100578"/>
                  <a:pt x="36374" y="107662"/>
                </a:cubicBezTo>
                <a:cubicBezTo>
                  <a:pt x="42892" y="119152"/>
                  <a:pt x="53816" y="115848"/>
                  <a:pt x="58073" y="113883"/>
                </a:cubicBezTo>
                <a:cubicBezTo>
                  <a:pt x="58757" y="109121"/>
                  <a:pt x="60692" y="105817"/>
                  <a:pt x="62835" y="103852"/>
                </a:cubicBezTo>
                <a:cubicBezTo>
                  <a:pt x="46196" y="102007"/>
                  <a:pt x="29408" y="99596"/>
                  <a:pt x="29408" y="70961"/>
                </a:cubicBezTo>
                <a:cubicBezTo>
                  <a:pt x="29408" y="62776"/>
                  <a:pt x="31671" y="58668"/>
                  <a:pt x="36433" y="53429"/>
                </a:cubicBezTo>
                <a:cubicBezTo>
                  <a:pt x="35659" y="51495"/>
                  <a:pt x="33129" y="43517"/>
                  <a:pt x="37207" y="33218"/>
                </a:cubicBezTo>
                <a:cubicBezTo>
                  <a:pt x="43428" y="31284"/>
                  <a:pt x="57745" y="41255"/>
                  <a:pt x="57745" y="41255"/>
                </a:cubicBezTo>
                <a:cubicBezTo>
                  <a:pt x="63698" y="39588"/>
                  <a:pt x="70098" y="38725"/>
                  <a:pt x="76438" y="38725"/>
                </a:cubicBezTo>
                <a:cubicBezTo>
                  <a:pt x="82778" y="38725"/>
                  <a:pt x="89178" y="39588"/>
                  <a:pt x="95131" y="41255"/>
                </a:cubicBezTo>
                <a:cubicBezTo>
                  <a:pt x="95131" y="41255"/>
                  <a:pt x="109448" y="31254"/>
                  <a:pt x="115669" y="33218"/>
                </a:cubicBezTo>
                <a:cubicBezTo>
                  <a:pt x="119747" y="43547"/>
                  <a:pt x="117217" y="51495"/>
                  <a:pt x="116443" y="53429"/>
                </a:cubicBezTo>
                <a:cubicBezTo>
                  <a:pt x="121206" y="58698"/>
                  <a:pt x="124123" y="62805"/>
                  <a:pt x="124123" y="70961"/>
                </a:cubicBezTo>
                <a:cubicBezTo>
                  <a:pt x="124123" y="99685"/>
                  <a:pt x="106591" y="101977"/>
                  <a:pt x="89952" y="103852"/>
                </a:cubicBezTo>
                <a:cubicBezTo>
                  <a:pt x="92690" y="106204"/>
                  <a:pt x="95012" y="110669"/>
                  <a:pt x="95012" y="117664"/>
                </a:cubicBezTo>
                <a:cubicBezTo>
                  <a:pt x="95012" y="127695"/>
                  <a:pt x="94923" y="140107"/>
                  <a:pt x="94923" y="142548"/>
                </a:cubicBezTo>
                <a:cubicBezTo>
                  <a:pt x="94923" y="144482"/>
                  <a:pt x="96292" y="146834"/>
                  <a:pt x="100072" y="146149"/>
                </a:cubicBezTo>
                <a:cubicBezTo>
                  <a:pt x="129838" y="136267"/>
                  <a:pt x="150019" y="108019"/>
                  <a:pt x="150019" y="75009"/>
                </a:cubicBezTo>
                <a:cubicBezTo>
                  <a:pt x="150019" y="33724"/>
                  <a:pt x="116532" y="2381"/>
                  <a:pt x="75248" y="2381"/>
                </a:cubicBezTo>
                <a:close/>
                <a:moveTo>
                  <a:pt x="31313" y="105043"/>
                </a:moveTo>
                <a:cubicBezTo>
                  <a:pt x="30926" y="105341"/>
                  <a:pt x="31016" y="106025"/>
                  <a:pt x="31522" y="106591"/>
                </a:cubicBezTo>
                <a:cubicBezTo>
                  <a:pt x="31998" y="107067"/>
                  <a:pt x="32683" y="107275"/>
                  <a:pt x="33070" y="106888"/>
                </a:cubicBezTo>
                <a:cubicBezTo>
                  <a:pt x="33457" y="106591"/>
                  <a:pt x="33367" y="105906"/>
                  <a:pt x="32861" y="105341"/>
                </a:cubicBezTo>
                <a:cubicBezTo>
                  <a:pt x="32385" y="104864"/>
                  <a:pt x="31700" y="104656"/>
                  <a:pt x="31313" y="105043"/>
                </a:cubicBezTo>
                <a:close/>
                <a:moveTo>
                  <a:pt x="28099" y="102632"/>
                </a:moveTo>
                <a:cubicBezTo>
                  <a:pt x="27890" y="103019"/>
                  <a:pt x="28188" y="103495"/>
                  <a:pt x="28783" y="103793"/>
                </a:cubicBezTo>
                <a:cubicBezTo>
                  <a:pt x="29260" y="104090"/>
                  <a:pt x="29855" y="104001"/>
                  <a:pt x="30063" y="103584"/>
                </a:cubicBezTo>
                <a:cubicBezTo>
                  <a:pt x="30272" y="103197"/>
                  <a:pt x="29974" y="102721"/>
                  <a:pt x="29379" y="102424"/>
                </a:cubicBezTo>
                <a:cubicBezTo>
                  <a:pt x="28783" y="102245"/>
                  <a:pt x="28307" y="102334"/>
                  <a:pt x="28099" y="102632"/>
                </a:cubicBezTo>
                <a:close/>
                <a:moveTo>
                  <a:pt x="37743" y="113228"/>
                </a:moveTo>
                <a:cubicBezTo>
                  <a:pt x="37267" y="113615"/>
                  <a:pt x="37445" y="114508"/>
                  <a:pt x="38130" y="115074"/>
                </a:cubicBezTo>
                <a:cubicBezTo>
                  <a:pt x="38814" y="115759"/>
                  <a:pt x="39678" y="115848"/>
                  <a:pt x="40065" y="115372"/>
                </a:cubicBezTo>
                <a:cubicBezTo>
                  <a:pt x="40451" y="114985"/>
                  <a:pt x="40273" y="114092"/>
                  <a:pt x="39678" y="113526"/>
                </a:cubicBezTo>
                <a:cubicBezTo>
                  <a:pt x="39023" y="112841"/>
                  <a:pt x="38130" y="112752"/>
                  <a:pt x="37743" y="113228"/>
                </a:cubicBezTo>
                <a:close/>
                <a:moveTo>
                  <a:pt x="34350" y="108853"/>
                </a:moveTo>
                <a:cubicBezTo>
                  <a:pt x="33873" y="109151"/>
                  <a:pt x="33873" y="109924"/>
                  <a:pt x="34350" y="110609"/>
                </a:cubicBezTo>
                <a:cubicBezTo>
                  <a:pt x="34826" y="111294"/>
                  <a:pt x="35629" y="111591"/>
                  <a:pt x="36016" y="111294"/>
                </a:cubicBezTo>
                <a:cubicBezTo>
                  <a:pt x="36493" y="110907"/>
                  <a:pt x="36493" y="110133"/>
                  <a:pt x="36016" y="109448"/>
                </a:cubicBezTo>
                <a:cubicBezTo>
                  <a:pt x="35600" y="108764"/>
                  <a:pt x="34826" y="108466"/>
                  <a:pt x="34350" y="108853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6" name="Text 44"/>
          <p:cNvSpPr/>
          <p:nvPr/>
        </p:nvSpPr>
        <p:spPr>
          <a:xfrm>
            <a:off x="8632775" y="4314825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avalanche.continualai.org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5763" y="4938713"/>
            <a:ext cx="11420475" cy="1533525"/>
          </a:xfrm>
          <a:custGeom>
            <a:avLst/>
            <a:gdLst/>
            <a:ahLst/>
            <a:cxnLst/>
            <a:rect l="l" t="t" r="r" b="b"/>
            <a:pathLst>
              <a:path w="11420475" h="1533525">
                <a:moveTo>
                  <a:pt x="114294" y="0"/>
                </a:moveTo>
                <a:lnTo>
                  <a:pt x="11306181" y="0"/>
                </a:lnTo>
                <a:cubicBezTo>
                  <a:pt x="11369304" y="0"/>
                  <a:pt x="11420475" y="51171"/>
                  <a:pt x="11420475" y="114294"/>
                </a:cubicBezTo>
                <a:lnTo>
                  <a:pt x="11420475" y="1419231"/>
                </a:lnTo>
                <a:cubicBezTo>
                  <a:pt x="11420475" y="1482354"/>
                  <a:pt x="11369304" y="1533525"/>
                  <a:pt x="11306181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1025" y="51339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47713" y="52863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1266825" y="5133975"/>
            <a:ext cx="1042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Ejercicio Práctico para Principiantes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66825" y="5476875"/>
            <a:ext cx="10420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Empieza con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simple de reseñas de productos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entrena un clasificador de sentimientos y simula "datos nuevos" agregando reseñas recientes para ver cómo mejora la precisión sin reentrenar todo.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285875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3" name="Text 51"/>
          <p:cNvSpPr/>
          <p:nvPr/>
        </p:nvSpPr>
        <p:spPr>
          <a:xfrm>
            <a:off x="1533525" y="6086475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Colab (gratuito)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115121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5" name="Text 53"/>
          <p:cNvSpPr/>
          <p:nvPr/>
        </p:nvSpPr>
        <p:spPr>
          <a:xfrm>
            <a:off x="3362771" y="6086475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básico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18261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7" name="Text 55"/>
          <p:cNvSpPr/>
          <p:nvPr/>
        </p:nvSpPr>
        <p:spPr>
          <a:xfrm>
            <a:off x="4665911" y="6086475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público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5efbf3576fc750e48712db00456f44a629abe0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783634" y="800100"/>
            <a:ext cx="2628900" cy="428625"/>
          </a:xfrm>
          <a:custGeom>
            <a:avLst/>
            <a:gdLst/>
            <a:ahLst/>
            <a:cxnLst/>
            <a:rect l="l" t="t" r="r" b="b"/>
            <a:pathLst>
              <a:path w="2628900" h="428625">
                <a:moveTo>
                  <a:pt x="214313" y="0"/>
                </a:moveTo>
                <a:lnTo>
                  <a:pt x="2414588" y="0"/>
                </a:lnTo>
                <a:cubicBezTo>
                  <a:pt x="2532870" y="0"/>
                  <a:pt x="2628900" y="96030"/>
                  <a:pt x="2628900" y="214313"/>
                </a:cubicBezTo>
                <a:lnTo>
                  <a:pt x="2628900" y="214313"/>
                </a:lnTo>
                <a:cubicBezTo>
                  <a:pt x="2628900" y="332595"/>
                  <a:pt x="2532870" y="428625"/>
                  <a:pt x="241458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16996" y="97631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" name="Text 3"/>
          <p:cNvSpPr/>
          <p:nvPr/>
        </p:nvSpPr>
        <p:spPr>
          <a:xfrm>
            <a:off x="5174159" y="919162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spc="105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Futuro es Adaptativo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50257" y="1462088"/>
            <a:ext cx="5695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 Modelos de IA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 No Son Estáticos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35982" y="3119438"/>
            <a:ext cx="5524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Son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dinámicos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precisos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mejoran solos con el tiempo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23963" y="3800475"/>
            <a:ext cx="2257425" cy="1685925"/>
          </a:xfrm>
          <a:custGeom>
            <a:avLst/>
            <a:gdLst/>
            <a:ahLst/>
            <a:cxnLst/>
            <a:rect l="l" t="t" r="r" b="b"/>
            <a:pathLst>
              <a:path w="2257425" h="1685925">
                <a:moveTo>
                  <a:pt x="152408" y="0"/>
                </a:moveTo>
                <a:lnTo>
                  <a:pt x="2105017" y="0"/>
                </a:lnTo>
                <a:cubicBezTo>
                  <a:pt x="2189190" y="0"/>
                  <a:pt x="2257425" y="68235"/>
                  <a:pt x="2257425" y="152408"/>
                </a:cubicBezTo>
                <a:lnTo>
                  <a:pt x="2257425" y="1533517"/>
                </a:lnTo>
                <a:cubicBezTo>
                  <a:pt x="2257425" y="1617690"/>
                  <a:pt x="2189190" y="1685925"/>
                  <a:pt x="2105017" y="1685925"/>
                </a:cubicBezTo>
                <a:lnTo>
                  <a:pt x="152408" y="1685925"/>
                </a:lnTo>
                <a:cubicBezTo>
                  <a:pt x="68235" y="1685925"/>
                  <a:pt x="0" y="1617690"/>
                  <a:pt x="0" y="1533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81225" y="403383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1" name="Text 8"/>
          <p:cNvSpPr/>
          <p:nvPr/>
        </p:nvSpPr>
        <p:spPr>
          <a:xfrm>
            <a:off x="1409700" y="4529138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Finanzas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23988" y="4872038"/>
            <a:ext cx="1857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Detección de fraudes en tiempo real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719512" y="3800475"/>
            <a:ext cx="2257425" cy="1685925"/>
          </a:xfrm>
          <a:custGeom>
            <a:avLst/>
            <a:gdLst/>
            <a:ahLst/>
            <a:cxnLst/>
            <a:rect l="l" t="t" r="r" b="b"/>
            <a:pathLst>
              <a:path w="2257425" h="1685925">
                <a:moveTo>
                  <a:pt x="152408" y="0"/>
                </a:moveTo>
                <a:lnTo>
                  <a:pt x="2105017" y="0"/>
                </a:lnTo>
                <a:cubicBezTo>
                  <a:pt x="2189190" y="0"/>
                  <a:pt x="2257425" y="68235"/>
                  <a:pt x="2257425" y="152408"/>
                </a:cubicBezTo>
                <a:lnTo>
                  <a:pt x="2257425" y="1533517"/>
                </a:lnTo>
                <a:cubicBezTo>
                  <a:pt x="2257425" y="1617690"/>
                  <a:pt x="2189190" y="1685925"/>
                  <a:pt x="2105017" y="1685925"/>
                </a:cubicBezTo>
                <a:lnTo>
                  <a:pt x="152408" y="1685925"/>
                </a:lnTo>
                <a:cubicBezTo>
                  <a:pt x="68235" y="1685925"/>
                  <a:pt x="0" y="1617690"/>
                  <a:pt x="0" y="1533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76775" y="403383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72263"/>
                </a:moveTo>
                <a:lnTo>
                  <a:pt x="161404" y="58333"/>
                </a:lnTo>
                <a:cubicBezTo>
                  <a:pt x="144661" y="35161"/>
                  <a:pt x="117805" y="21431"/>
                  <a:pt x="89141" y="21431"/>
                </a:cubicBezTo>
                <a:cubicBezTo>
                  <a:pt x="39916" y="21431"/>
                  <a:pt x="0" y="61347"/>
                  <a:pt x="0" y="110572"/>
                </a:cubicBezTo>
                <a:lnTo>
                  <a:pt x="0" y="112313"/>
                </a:lnTo>
                <a:cubicBezTo>
                  <a:pt x="0" y="128119"/>
                  <a:pt x="4152" y="144460"/>
                  <a:pt x="11117" y="160734"/>
                </a:cubicBezTo>
                <a:lnTo>
                  <a:pt x="82108" y="160734"/>
                </a:lnTo>
                <a:cubicBezTo>
                  <a:pt x="84252" y="160734"/>
                  <a:pt x="86194" y="159462"/>
                  <a:pt x="87064" y="157453"/>
                </a:cubicBezTo>
                <a:lnTo>
                  <a:pt x="108362" y="106353"/>
                </a:lnTo>
                <a:cubicBezTo>
                  <a:pt x="110840" y="100459"/>
                  <a:pt x="116599" y="96575"/>
                  <a:pt x="122962" y="96441"/>
                </a:cubicBezTo>
                <a:cubicBezTo>
                  <a:pt x="129324" y="96307"/>
                  <a:pt x="135218" y="100057"/>
                  <a:pt x="137830" y="105884"/>
                </a:cubicBezTo>
                <a:lnTo>
                  <a:pt x="172187" y="182166"/>
                </a:lnTo>
                <a:lnTo>
                  <a:pt x="199913" y="126712"/>
                </a:lnTo>
                <a:cubicBezTo>
                  <a:pt x="202659" y="121287"/>
                  <a:pt x="208218" y="117805"/>
                  <a:pt x="214313" y="117805"/>
                </a:cubicBezTo>
                <a:cubicBezTo>
                  <a:pt x="220407" y="117805"/>
                  <a:pt x="225966" y="121221"/>
                  <a:pt x="228712" y="126712"/>
                </a:cubicBezTo>
                <a:lnTo>
                  <a:pt x="244249" y="157721"/>
                </a:lnTo>
                <a:cubicBezTo>
                  <a:pt x="245187" y="159529"/>
                  <a:pt x="246995" y="160667"/>
                  <a:pt x="249071" y="160667"/>
                </a:cubicBezTo>
                <a:lnTo>
                  <a:pt x="331850" y="160667"/>
                </a:lnTo>
                <a:cubicBezTo>
                  <a:pt x="338882" y="144393"/>
                  <a:pt x="342967" y="128052"/>
                  <a:pt x="342967" y="112246"/>
                </a:cubicBezTo>
                <a:lnTo>
                  <a:pt x="342967" y="110505"/>
                </a:lnTo>
                <a:cubicBezTo>
                  <a:pt x="342900" y="61347"/>
                  <a:pt x="302984" y="21431"/>
                  <a:pt x="253759" y="21431"/>
                </a:cubicBezTo>
                <a:cubicBezTo>
                  <a:pt x="225162" y="21431"/>
                  <a:pt x="198239" y="35161"/>
                  <a:pt x="181496" y="58333"/>
                </a:cubicBezTo>
                <a:lnTo>
                  <a:pt x="171450" y="72197"/>
                </a:lnTo>
                <a:close/>
                <a:moveTo>
                  <a:pt x="314504" y="192881"/>
                </a:moveTo>
                <a:lnTo>
                  <a:pt x="249004" y="192881"/>
                </a:lnTo>
                <a:cubicBezTo>
                  <a:pt x="234806" y="192881"/>
                  <a:pt x="221813" y="184845"/>
                  <a:pt x="215451" y="172120"/>
                </a:cubicBezTo>
                <a:lnTo>
                  <a:pt x="214313" y="169843"/>
                </a:lnTo>
                <a:lnTo>
                  <a:pt x="185849" y="226836"/>
                </a:lnTo>
                <a:cubicBezTo>
                  <a:pt x="183103" y="232395"/>
                  <a:pt x="177344" y="235878"/>
                  <a:pt x="171115" y="235744"/>
                </a:cubicBezTo>
                <a:cubicBezTo>
                  <a:pt x="164887" y="235610"/>
                  <a:pt x="159328" y="231926"/>
                  <a:pt x="156783" y="226301"/>
                </a:cubicBezTo>
                <a:lnTo>
                  <a:pt x="123765" y="152966"/>
                </a:lnTo>
                <a:lnTo>
                  <a:pt x="116733" y="169843"/>
                </a:lnTo>
                <a:cubicBezTo>
                  <a:pt x="110907" y="183840"/>
                  <a:pt x="97244" y="192948"/>
                  <a:pt x="82108" y="192948"/>
                </a:cubicBezTo>
                <a:lnTo>
                  <a:pt x="28396" y="192948"/>
                </a:lnTo>
                <a:cubicBezTo>
                  <a:pt x="60008" y="242374"/>
                  <a:pt x="110773" y="287848"/>
                  <a:pt x="142518" y="312093"/>
                </a:cubicBezTo>
                <a:cubicBezTo>
                  <a:pt x="150822" y="318388"/>
                  <a:pt x="161002" y="321536"/>
                  <a:pt x="171383" y="321536"/>
                </a:cubicBezTo>
                <a:cubicBezTo>
                  <a:pt x="181764" y="321536"/>
                  <a:pt x="192011" y="318455"/>
                  <a:pt x="200248" y="312093"/>
                </a:cubicBezTo>
                <a:cubicBezTo>
                  <a:pt x="232127" y="287782"/>
                  <a:pt x="282892" y="242307"/>
                  <a:pt x="314504" y="19288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3905250" y="4529138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Salud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919537" y="4872038"/>
            <a:ext cx="1857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Medicina de precisión personalizada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5063" y="3800475"/>
            <a:ext cx="2257425" cy="1685925"/>
          </a:xfrm>
          <a:custGeom>
            <a:avLst/>
            <a:gdLst/>
            <a:ahLst/>
            <a:cxnLst/>
            <a:rect l="l" t="t" r="r" b="b"/>
            <a:pathLst>
              <a:path w="2257425" h="1685925">
                <a:moveTo>
                  <a:pt x="152408" y="0"/>
                </a:moveTo>
                <a:lnTo>
                  <a:pt x="2105017" y="0"/>
                </a:lnTo>
                <a:cubicBezTo>
                  <a:pt x="2189190" y="0"/>
                  <a:pt x="2257425" y="68235"/>
                  <a:pt x="2257425" y="152408"/>
                </a:cubicBezTo>
                <a:lnTo>
                  <a:pt x="2257425" y="1533517"/>
                </a:lnTo>
                <a:cubicBezTo>
                  <a:pt x="2257425" y="1617690"/>
                  <a:pt x="2189190" y="1685925"/>
                  <a:pt x="2105017" y="1685925"/>
                </a:cubicBezTo>
                <a:lnTo>
                  <a:pt x="152408" y="1685925"/>
                </a:lnTo>
                <a:cubicBezTo>
                  <a:pt x="68235" y="1685925"/>
                  <a:pt x="0" y="1617690"/>
                  <a:pt x="0" y="1533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34D399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72325" y="403383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0547" y="78626"/>
                </a:moveTo>
                <a:lnTo>
                  <a:pt x="73067" y="128588"/>
                </a:lnTo>
                <a:lnTo>
                  <a:pt x="269833" y="128588"/>
                </a:lnTo>
                <a:lnTo>
                  <a:pt x="252353" y="78626"/>
                </a:lnTo>
                <a:cubicBezTo>
                  <a:pt x="249339" y="70053"/>
                  <a:pt x="241236" y="64294"/>
                  <a:pt x="232127" y="64294"/>
                </a:cubicBezTo>
                <a:lnTo>
                  <a:pt x="110773" y="64294"/>
                </a:lnTo>
                <a:cubicBezTo>
                  <a:pt x="101664" y="64294"/>
                  <a:pt x="93561" y="70053"/>
                  <a:pt x="90547" y="78626"/>
                </a:cubicBezTo>
                <a:close/>
                <a:moveTo>
                  <a:pt x="26521" y="131802"/>
                </a:moveTo>
                <a:lnTo>
                  <a:pt x="50096" y="64495"/>
                </a:lnTo>
                <a:cubicBezTo>
                  <a:pt x="59137" y="38710"/>
                  <a:pt x="83448" y="21431"/>
                  <a:pt x="110773" y="21431"/>
                </a:cubicBezTo>
                <a:lnTo>
                  <a:pt x="232127" y="21431"/>
                </a:lnTo>
                <a:cubicBezTo>
                  <a:pt x="259452" y="21431"/>
                  <a:pt x="283763" y="38710"/>
                  <a:pt x="292804" y="64495"/>
                </a:cubicBezTo>
                <a:lnTo>
                  <a:pt x="316379" y="131802"/>
                </a:lnTo>
                <a:cubicBezTo>
                  <a:pt x="331916" y="138232"/>
                  <a:pt x="342900" y="153568"/>
                  <a:pt x="342900" y="171450"/>
                </a:cubicBezTo>
                <a:lnTo>
                  <a:pt x="342900" y="300038"/>
                </a:lnTo>
                <a:cubicBezTo>
                  <a:pt x="342900" y="311892"/>
                  <a:pt x="333323" y="321469"/>
                  <a:pt x="321469" y="321469"/>
                </a:cubicBezTo>
                <a:lnTo>
                  <a:pt x="300038" y="321469"/>
                </a:lnTo>
                <a:cubicBezTo>
                  <a:pt x="288183" y="321469"/>
                  <a:pt x="278606" y="311892"/>
                  <a:pt x="278606" y="300038"/>
                </a:cubicBezTo>
                <a:lnTo>
                  <a:pt x="278606" y="278606"/>
                </a:lnTo>
                <a:lnTo>
                  <a:pt x="64294" y="278606"/>
                </a:lnTo>
                <a:lnTo>
                  <a:pt x="64294" y="300038"/>
                </a:lnTo>
                <a:cubicBezTo>
                  <a:pt x="64294" y="311892"/>
                  <a:pt x="54717" y="321469"/>
                  <a:pt x="42863" y="321469"/>
                </a:cubicBezTo>
                <a:lnTo>
                  <a:pt x="21431" y="321469"/>
                </a:lnTo>
                <a:cubicBezTo>
                  <a:pt x="9577" y="321469"/>
                  <a:pt x="0" y="311892"/>
                  <a:pt x="0" y="300038"/>
                </a:cubicBezTo>
                <a:lnTo>
                  <a:pt x="0" y="171450"/>
                </a:lnTo>
                <a:cubicBezTo>
                  <a:pt x="0" y="153568"/>
                  <a:pt x="10984" y="138232"/>
                  <a:pt x="26521" y="131802"/>
                </a:cubicBezTo>
                <a:close/>
                <a:moveTo>
                  <a:pt x="85725" y="203597"/>
                </a:moveTo>
                <a:cubicBezTo>
                  <a:pt x="85725" y="191769"/>
                  <a:pt x="76122" y="182166"/>
                  <a:pt x="64294" y="182166"/>
                </a:cubicBezTo>
                <a:cubicBezTo>
                  <a:pt x="52466" y="182166"/>
                  <a:pt x="42863" y="191769"/>
                  <a:pt x="42863" y="203597"/>
                </a:cubicBezTo>
                <a:cubicBezTo>
                  <a:pt x="42863" y="215425"/>
                  <a:pt x="52466" y="225028"/>
                  <a:pt x="64294" y="225028"/>
                </a:cubicBezTo>
                <a:cubicBezTo>
                  <a:pt x="76122" y="225028"/>
                  <a:pt x="85725" y="215425"/>
                  <a:pt x="85725" y="203597"/>
                </a:cubicBezTo>
                <a:close/>
                <a:moveTo>
                  <a:pt x="278606" y="225028"/>
                </a:moveTo>
                <a:cubicBezTo>
                  <a:pt x="290434" y="225028"/>
                  <a:pt x="300038" y="215425"/>
                  <a:pt x="300038" y="203597"/>
                </a:cubicBezTo>
                <a:cubicBezTo>
                  <a:pt x="300038" y="191769"/>
                  <a:pt x="290434" y="182166"/>
                  <a:pt x="278606" y="182166"/>
                </a:cubicBezTo>
                <a:cubicBezTo>
                  <a:pt x="266778" y="182166"/>
                  <a:pt x="257175" y="191769"/>
                  <a:pt x="257175" y="203597"/>
                </a:cubicBezTo>
                <a:cubicBezTo>
                  <a:pt x="257175" y="215425"/>
                  <a:pt x="266778" y="225028"/>
                  <a:pt x="278606" y="225028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4529138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15088" y="4872038"/>
            <a:ext cx="1857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Vehículos autónomos adaptativos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710613" y="3800475"/>
            <a:ext cx="2257425" cy="1685925"/>
          </a:xfrm>
          <a:custGeom>
            <a:avLst/>
            <a:gdLst/>
            <a:ahLst/>
            <a:cxnLst/>
            <a:rect l="l" t="t" r="r" b="b"/>
            <a:pathLst>
              <a:path w="2257425" h="1685925">
                <a:moveTo>
                  <a:pt x="152408" y="0"/>
                </a:moveTo>
                <a:lnTo>
                  <a:pt x="2105017" y="0"/>
                </a:lnTo>
                <a:cubicBezTo>
                  <a:pt x="2189190" y="0"/>
                  <a:pt x="2257425" y="68235"/>
                  <a:pt x="2257425" y="152408"/>
                </a:cubicBezTo>
                <a:lnTo>
                  <a:pt x="2257425" y="1533517"/>
                </a:lnTo>
                <a:cubicBezTo>
                  <a:pt x="2257425" y="1617690"/>
                  <a:pt x="2189190" y="1685925"/>
                  <a:pt x="2105017" y="1685925"/>
                </a:cubicBezTo>
                <a:lnTo>
                  <a:pt x="152408" y="1685925"/>
                </a:lnTo>
                <a:cubicBezTo>
                  <a:pt x="68235" y="1685925"/>
                  <a:pt x="0" y="1617690"/>
                  <a:pt x="0" y="1533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46444" y="4033837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32147" y="131132"/>
                </a:moveTo>
                <a:lnTo>
                  <a:pt x="172254" y="188796"/>
                </a:lnTo>
                <a:cubicBezTo>
                  <a:pt x="178817" y="191475"/>
                  <a:pt x="185782" y="192881"/>
                  <a:pt x="192881" y="192881"/>
                </a:cubicBezTo>
                <a:cubicBezTo>
                  <a:pt x="199980" y="192881"/>
                  <a:pt x="206946" y="191475"/>
                  <a:pt x="213509" y="188796"/>
                </a:cubicBezTo>
                <a:lnTo>
                  <a:pt x="375851" y="121957"/>
                </a:lnTo>
                <a:cubicBezTo>
                  <a:pt x="381878" y="119479"/>
                  <a:pt x="385763" y="113653"/>
                  <a:pt x="385763" y="107156"/>
                </a:cubicBezTo>
                <a:cubicBezTo>
                  <a:pt x="385763" y="100660"/>
                  <a:pt x="381878" y="94833"/>
                  <a:pt x="375851" y="92355"/>
                </a:cubicBezTo>
                <a:lnTo>
                  <a:pt x="213509" y="25517"/>
                </a:lnTo>
                <a:cubicBezTo>
                  <a:pt x="206946" y="22838"/>
                  <a:pt x="199980" y="21431"/>
                  <a:pt x="192881" y="21431"/>
                </a:cubicBezTo>
                <a:cubicBezTo>
                  <a:pt x="185782" y="21431"/>
                  <a:pt x="178817" y="22838"/>
                  <a:pt x="172254" y="25517"/>
                </a:cubicBezTo>
                <a:lnTo>
                  <a:pt x="9912" y="92355"/>
                </a:lnTo>
                <a:cubicBezTo>
                  <a:pt x="3884" y="94833"/>
                  <a:pt x="0" y="100660"/>
                  <a:pt x="0" y="107156"/>
                </a:cubicBezTo>
                <a:lnTo>
                  <a:pt x="0" y="305395"/>
                </a:lnTo>
                <a:cubicBezTo>
                  <a:pt x="0" y="314303"/>
                  <a:pt x="7166" y="321469"/>
                  <a:pt x="16073" y="321469"/>
                </a:cubicBezTo>
                <a:cubicBezTo>
                  <a:pt x="24981" y="321469"/>
                  <a:pt x="32147" y="314303"/>
                  <a:pt x="32147" y="305395"/>
                </a:cubicBezTo>
                <a:lnTo>
                  <a:pt x="32147" y="131132"/>
                </a:lnTo>
                <a:close/>
                <a:moveTo>
                  <a:pt x="64294" y="179152"/>
                </a:moveTo>
                <a:lnTo>
                  <a:pt x="64294" y="257175"/>
                </a:lnTo>
                <a:cubicBezTo>
                  <a:pt x="64294" y="292671"/>
                  <a:pt x="121890" y="321469"/>
                  <a:pt x="192881" y="321469"/>
                </a:cubicBezTo>
                <a:cubicBezTo>
                  <a:pt x="263872" y="321469"/>
                  <a:pt x="321469" y="292671"/>
                  <a:pt x="321469" y="257175"/>
                </a:cubicBezTo>
                <a:lnTo>
                  <a:pt x="321469" y="179085"/>
                </a:lnTo>
                <a:lnTo>
                  <a:pt x="225765" y="218532"/>
                </a:lnTo>
                <a:cubicBezTo>
                  <a:pt x="215317" y="222818"/>
                  <a:pt x="204200" y="225028"/>
                  <a:pt x="192881" y="225028"/>
                </a:cubicBezTo>
                <a:cubicBezTo>
                  <a:pt x="181563" y="225028"/>
                  <a:pt x="170445" y="222818"/>
                  <a:pt x="159998" y="218532"/>
                </a:cubicBezTo>
                <a:lnTo>
                  <a:pt x="64294" y="17908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8896350" y="4529138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Educación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910638" y="4872038"/>
            <a:ext cx="1857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personalizado continuo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676948" y="5910263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4D399"/>
              </a:gs>
              <a:gs pos="100000">
                <a:srgbClr val="F59E0B"/>
              </a:gs>
            </a:gsLst>
            <a:lin ang="0" scaled="1"/>
          </a:gradFill>
          <a:ln/>
        </p:spPr>
      </p:sp>
      <p:sp>
        <p:nvSpPr>
          <p:cNvPr id="26" name="Text 23"/>
          <p:cNvSpPr/>
          <p:nvPr/>
        </p:nvSpPr>
        <p:spPr>
          <a:xfrm>
            <a:off x="4548485" y="5795963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+ IA = Modelos que evolucionan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752904" y="5910263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4D399"/>
              </a:gs>
              <a:gs pos="100000">
                <a:srgbClr val="F59E0B"/>
              </a:gs>
            </a:gsLst>
            <a:lin ang="1080000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Generación de Modelos más Precisos y Adaptables</dc:title>
  <dc:subject>Generación de Modelos más Precisos y Adaptables</dc:subject>
  <dc:creator>Kimi</dc:creator>
  <cp:lastModifiedBy>Kimi</cp:lastModifiedBy>
  <cp:revision>1</cp:revision>
  <dcterms:created xsi:type="dcterms:W3CDTF">2026-02-19T12:04:47Z</dcterms:created>
  <dcterms:modified xsi:type="dcterms:W3CDTF">2026-02-19T12:04:47Z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{"Label":"Generación de Modelos más Precisos y Adaptables","ContentProducer":"001191110108MACG2KBH8F10000","ProduceID":"19c75c45-8b02-8474-8000-000067e4b9db","ReservedCode1":"","ContentPropagator":"001191110108MACG2KBH8F20000","PropagateID":"19c75c45-8b02-8474-8000-000067e4b9db","ReservedCode2":""}</vt:lpwstr>
  </property>
</Properties>
</file>